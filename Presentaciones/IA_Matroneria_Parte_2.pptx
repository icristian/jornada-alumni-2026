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3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x="9144000" cy="5143500" type="screen16x9"/>
  <p:notesSz cx="6858000" cy="9144000"/>
  <p:embeddedFontLst>
    <p:embeddedFont>
      <p:font typeface="Swis721 Cn BT" panose="020B0506020202030204" pitchFamily="34" charset="0"/>
      <p:regular r:id="rId34"/>
      <p:bold r:id="rId35"/>
      <p:italic r:id="rId36"/>
      <p:boldItalic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717E"/>
    <a:srgbClr val="003C58"/>
    <a:srgbClr val="0F3F8B"/>
    <a:srgbClr val="0E3F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F612AE-FB78-5E48-9F81-52356B9ACB9D}" v="5" dt="2026-06-25T19:06:12.0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282"/>
    <p:restoredTop sz="96266"/>
  </p:normalViewPr>
  <p:slideViewPr>
    <p:cSldViewPr snapToGrid="0" snapToObjects="1">
      <p:cViewPr>
        <p:scale>
          <a:sx n="144" d="100"/>
          <a:sy n="144" d="100"/>
        </p:scale>
        <p:origin x="272" y="3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1.fntdata"/><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679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Bienvenida a la segunda parte del taller. En la Parte 1 aprendimos a pedirle a la IA protocolos y materiales educativos con el método PARTO. Hoy usamos el mismo método para algo muy visible: que nuestros folletos, afiches, presentaciones y publicaciones se vean profesionales y coherentes, con la identidad de nuestro servicio, sin necesidad de saber diseño.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Recorremos cinco hitos. Primero, por qué vale la pena cuidar la imagen de lo que entregamos. Luego armamos el kit de marca, conocemos el prompt Mi Marca, vemos seis recetas para distintos materiales y terminamos con la revisión y la descarga de todo por QR.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el puente con la Parte 1. El método PARTO no cambia: lo que cambia es el producto. La gran diferencia está en la O: las observaciones y límites ya vienen escritos dentro del prompt como reglas fijas de marca, así que nadie tiene que saber de diseño para cumplirlas.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Primera sección: por qué vale la pena cuidar el diseño de lo que entregamos.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Cuando pensamos en marca pensamos en el logo, pero el logo es solo una de seis piezas. Lo que hace reconocible a un servicio es que todas coincidan: los mismos colores, las mismas letras, el mismo tipo de fotos y la misma forma de hablar. Los estudios sobre logos y color muestran que el diseño influye en el reconocimiento y en la impresión de profesionalismo.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Tres números que vamos a ver en las reglas. El contraste de 4,5 a 1 es el mínimo internacional para que un texto se lea bien. Cerca de un 8 % de los hombres de ascendencia europea tiene dificultad para distinguir rojo y verde: por eso nunca damos un mensaje solo con color. Y la escala INFLESZ, validada en español, indica que los textos de salud con más de 55 puntos tienen más probabilidad de ser leídos y comprendidos.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Antes de empezar, cada una identifica su situación. Si el servicio tiene manual de marca, ese manual manda y la IA solo completa. Si hay logo pero no manual, la IA propone un sistema a partir del logo. Y si no hay logo, la IA puede proponer colores y estilo, pero el logo conviene encargarlo a una persona o a la institución. En hospitales y CESFAM, los logos se usan según su manual y con autorización.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Segunda sección: qué información necesita la IA y cómo se ve el resultado.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es la ficha que va dentro del prompt. Son diez preguntas en lenguaje cotidiano. Se pueden responder a mano en la hoja impresa y después escribirlas en el prompt. Si no saben una respuesta, escriben «no sé»: el prompt le pide a la IA que pregunte con opciones.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ejemplo ficticio para que vean el resultado. La tarjeta trae los colores con sus códigos y su contraste ya revisado, las letras con tamaños mínimos y el tono. Fíjense en el aviso: Ciruela y Verde agua se ven distintos, pero tienen casi la misma claridad; en un gráfico o impresos en blanco y negro se confunden. Los contrastes se calcularon con la fórmula de WCAG 2.2.</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Tercera sección: el prompt y por qué funciona aunque no sepamos de diseño.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Este es todo el flujo. Los pasos azules los hace cada una; los claros, la IA. Completar la ficha, pegar el prompt, responder, recibir la tarjeta y guardarla se hace una sola vez. Desde ahí, cada material empieza pegando la tarjeta junto a una receta.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son las reglas fijas que trae la tarjeta de marca. Resumen todo lo que revisamos en la versión técnica: logo intacto, datos reales, contraste, no depender del color, cuidado de las personas en las fotos, lenguaje claro, medidas de imprenta y que la IA pregunte y avise. Una idea por pieza también tiene respaldo: quitar lo decorativo ayuda a aprender.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misma comparación de la Parte 1, ahora con un afiche. El pedido vago deja todo a la suerte: colores al azar, logos deformados y, peor, teléfonos inventados. Con la tarjeta y una receta, la IA usa los colores y el logo reales, deja lo que falta como POR CONFIRMAR y entrega las medidas para la imprenta.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Cuarta sección: las recetas para cada material y la actividad práctica.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son las seis recetas de la guía. Cada una trae el prompt con los espacios entre corchetes para completar, las medidas más comunes y qué revisar. Todas empiezan igual: se pega la tarjeta de marca.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tabla para tener a mano. Lo más importante para imprenta son los 3 milímetros de sangrado y la prueba de color. En redes, el tamaño exacto en píxeles y no poner nada importante en los bordes. Las medidas de redes cambian con frecuencia: conviene revisarlas al publicar.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Así se ve una receta completa, la R1 aplicada a un folleto. Tiene cuatro partes, que corresponden al método PARTO: la tarjeta de marca trae el papel y los antecedentes; luego viene qué material, sobre qué y para quién; el formato y los límites; y qué queremos recibir, incluida la lista de lo que debemos confirmar.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Igual que en la Parte 1, elegimos por capacidad y no por marca. Si la plataforma crea archivos, se le pide el archivo listo. Si solo escribe, se le pide el texto y los pasos para armarlo en PowerPoint, Canva o Word. Si genera imágenes, conviene usarla solo para fondos o ilustraciones: el texto y el logo los ponemos nosotras. Para imprenta, siempre PDF con sangrado y prueba de color.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Actividad práctica sugerida de unos 25 minutos. Cada una completa su ficha, crea su tarjeta y prueba una receta. Al final, revisan en pareja con la lista. Quien no tenga cuenta en una plataforma de IA trabaja con una compañera. Los tiempos son referenciales y se ajustan al grupo.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Quinta sección: revisar, corregir y descargar todo.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técnica de la Parte 1: una mejora a la vez. Seis frases listas para los problemas más comunes. La última es la más importante: si aparece un dato que no reconocemos, se pregunta de dónde sale y se quita si no estaba en lo que entregamos.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lista de cotejo de la Parte 1, adaptada al diseño. Se recorre antes de imprimir o publicar. Dos puntos que suelen olvidarse: probar el código QR en la prueba impresa y pedirle a una persona del público que lea el material y diga con sus palabras qué entendió. Si una casilla queda vacía, el material sigue siendo un borrador.</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semáforo de la Parte 1, ahora para diseño. En verde, todo lo que es proponer y bosquejar. En amarillo, lo que necesita autorización o validación: logos institucionales, fotos de personas, contenido clínico y cifras. En rojo, lo que no se hace: inventar o redibujar logos institucionales, usar fotos o datos de pacientes sin consentimiento, mostrar menores identificables, copiar diseños ajenos o publicar sin revisión.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Todos los materiales están en GitHub, de descarga libre y sin necesidad de cuenta. Al escanear el código se abre la página con la tabla de materiales. La guía se abre como página y cada prompt tiene un botón para copiar. Los PDF y el PowerPoint se descargan con el botón de la flecha.</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Cerramos con tres ideas. La marca es un sistema y no solo un logo. La tarjeta de marca se crea una vez y sirve con cualquier plataforma. Y, como en la Parte 1, todo lo que hace la IA es un borrador hasta que una matrona lo revisa.</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en estilo Vancouver. Todos los DOI se verificaron en Crossref el 27 de octubre de 2026.</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en estilo Vancouver. Todos los DOI se verificaron en Crossref el 27 de octubre de 2026.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542D0C7B-D9AB-4419-8015-0BBAD1479323}"/>
              </a:ext>
            </a:extLst>
          </p:cNvPr>
          <p:cNvSpPr>
            <a:spLocks noGrp="1"/>
          </p:cNvSpPr>
          <p:nvPr>
            <p:ph type="title" hasCustomPrompt="1"/>
          </p:nvPr>
        </p:nvSpPr>
        <p:spPr>
          <a:xfrm>
            <a:off x="4267199" y="2469458"/>
            <a:ext cx="4734533" cy="701759"/>
          </a:xfrm>
        </p:spPr>
        <p:txBody>
          <a:bodyPr>
            <a:normAutofit/>
          </a:bodyPr>
          <a:lstStyle>
            <a:lvl1pPr>
              <a:defRPr sz="2500" b="1">
                <a:solidFill>
                  <a:srgbClr val="003C58"/>
                </a:solidFill>
                <a:latin typeface="Swis721 Cn BT" panose="020B0506020202030204" pitchFamily="34" charset="0"/>
              </a:defRPr>
            </a:lvl1pPr>
          </a:lstStyle>
          <a:p>
            <a:r>
              <a:rPr lang="es-MX" dirty="0"/>
              <a:t>Título de la Presentación</a:t>
            </a:r>
            <a:endParaRPr lang="es-CL" dirty="0"/>
          </a:p>
        </p:txBody>
      </p:sp>
      <p:sp>
        <p:nvSpPr>
          <p:cNvPr id="11" name="Marcador de texto 10">
            <a:extLst>
              <a:ext uri="{FF2B5EF4-FFF2-40B4-BE49-F238E27FC236}">
                <a16:creationId xmlns:a16="http://schemas.microsoft.com/office/drawing/2014/main" id="{930B57BC-0C29-46CA-BE8A-EF8E668D0B7B}"/>
              </a:ext>
            </a:extLst>
          </p:cNvPr>
          <p:cNvSpPr>
            <a:spLocks noGrp="1"/>
          </p:cNvSpPr>
          <p:nvPr>
            <p:ph type="body" sz="quarter" idx="10" hasCustomPrompt="1"/>
          </p:nvPr>
        </p:nvSpPr>
        <p:spPr>
          <a:xfrm>
            <a:off x="4267200" y="3281363"/>
            <a:ext cx="4733925" cy="972867"/>
          </a:xfrm>
        </p:spPr>
        <p:txBody>
          <a:bodyPr>
            <a:normAutofit/>
          </a:bodyPr>
          <a:lstStyle>
            <a:lvl1pPr marL="0" indent="0">
              <a:buNone/>
              <a:defRPr sz="1600">
                <a:solidFill>
                  <a:srgbClr val="003C58"/>
                </a:solidFill>
                <a:latin typeface="Swis721 Cn BT" panose="020B0506020202030204" pitchFamily="34" charset="0"/>
              </a:defRPr>
            </a:lvl1pPr>
          </a:lstStyle>
          <a:p>
            <a:pPr lvl="0"/>
            <a:r>
              <a:rPr lang="es-CL" dirty="0"/>
              <a:t>Nombre Expositor</a:t>
            </a:r>
          </a:p>
          <a:p>
            <a:pPr lvl="0"/>
            <a:r>
              <a:rPr lang="es-CL" dirty="0"/>
              <a:t>Filiación</a:t>
            </a:r>
          </a:p>
          <a:p>
            <a:pPr lvl="0"/>
            <a:r>
              <a:rPr lang="es-CL" dirty="0"/>
              <a:t>Correo</a:t>
            </a:r>
          </a:p>
        </p:txBody>
      </p:sp>
      <p:sp>
        <p:nvSpPr>
          <p:cNvPr id="17" name="Marcador de texto 10">
            <a:extLst>
              <a:ext uri="{FF2B5EF4-FFF2-40B4-BE49-F238E27FC236}">
                <a16:creationId xmlns:a16="http://schemas.microsoft.com/office/drawing/2014/main" id="{30BEE87E-415E-48E9-BE6B-B62A1A70F21D}"/>
              </a:ext>
            </a:extLst>
          </p:cNvPr>
          <p:cNvSpPr>
            <a:spLocks noGrp="1"/>
          </p:cNvSpPr>
          <p:nvPr>
            <p:ph type="body" sz="quarter" idx="11" hasCustomPrompt="1"/>
          </p:nvPr>
        </p:nvSpPr>
        <p:spPr>
          <a:xfrm>
            <a:off x="549612" y="4659279"/>
            <a:ext cx="2130088" cy="445040"/>
          </a:xfrm>
        </p:spPr>
        <p:txBody>
          <a:bodyPr anchor="ctr">
            <a:normAutofit/>
          </a:bodyPr>
          <a:lstStyle>
            <a:lvl1pPr marL="0" indent="0" algn="l">
              <a:buNone/>
              <a:defRPr sz="1100">
                <a:solidFill>
                  <a:srgbClr val="003C58"/>
                </a:solidFill>
                <a:latin typeface="Swis721 Cn BT" panose="020B0506020202030204" pitchFamily="34" charset="0"/>
              </a:defRPr>
            </a:lvl1pPr>
          </a:lstStyle>
          <a:p>
            <a:pPr lvl="0"/>
            <a:r>
              <a:rPr lang="es-CL" dirty="0"/>
              <a:t>Facultad de Medicina</a:t>
            </a:r>
            <a:br>
              <a:rPr lang="es-CL" dirty="0"/>
            </a:br>
            <a:r>
              <a:rPr lang="es-CL" dirty="0"/>
              <a:t>Escuela de Obstetricia y Puericultura</a:t>
            </a:r>
          </a:p>
        </p:txBody>
      </p:sp>
      <p:pic>
        <p:nvPicPr>
          <p:cNvPr id="3" name="Imagen 2">
            <a:extLst>
              <a:ext uri="{FF2B5EF4-FFF2-40B4-BE49-F238E27FC236}">
                <a16:creationId xmlns:a16="http://schemas.microsoft.com/office/drawing/2014/main" id="{F2BD42B4-7588-DB67-749B-36EAFDF03BB8}"/>
              </a:ext>
            </a:extLst>
          </p:cNvPr>
          <p:cNvPicPr>
            <a:picLocks noChangeAspect="1"/>
          </p:cNvPicPr>
          <p:nvPr userDrawn="1"/>
        </p:nvPicPr>
        <p:blipFill>
          <a:blip r:embed="rId3"/>
          <a:stretch>
            <a:fillRect/>
          </a:stretch>
        </p:blipFill>
        <p:spPr>
          <a:xfrm>
            <a:off x="549612" y="3686411"/>
            <a:ext cx="2856745" cy="972868"/>
          </a:xfrm>
          <a:prstGeom prst="rect">
            <a:avLst/>
          </a:prstGeom>
        </p:spPr>
      </p:pic>
      <p:sp>
        <p:nvSpPr>
          <p:cNvPr id="6" name="Rectángulo 5">
            <a:extLst>
              <a:ext uri="{FF2B5EF4-FFF2-40B4-BE49-F238E27FC236}">
                <a16:creationId xmlns:a16="http://schemas.microsoft.com/office/drawing/2014/main" id="{E2123478-5D68-22B3-5D6C-4091D4DF5135}"/>
              </a:ext>
            </a:extLst>
          </p:cNvPr>
          <p:cNvSpPr/>
          <p:nvPr userDrawn="1"/>
        </p:nvSpPr>
        <p:spPr>
          <a:xfrm>
            <a:off x="6279502" y="765110"/>
            <a:ext cx="2314886" cy="69197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4" name="Imagen 3">
            <a:extLst>
              <a:ext uri="{FF2B5EF4-FFF2-40B4-BE49-F238E27FC236}">
                <a16:creationId xmlns:a16="http://schemas.microsoft.com/office/drawing/2014/main" id="{BE0FF747-2284-F17B-39E4-44F58284E729}"/>
              </a:ext>
            </a:extLst>
          </p:cNvPr>
          <p:cNvPicPr>
            <a:picLocks noChangeAspect="1"/>
          </p:cNvPicPr>
          <p:nvPr userDrawn="1"/>
        </p:nvPicPr>
        <p:blipFill>
          <a:blip r:embed="rId4"/>
          <a:stretch>
            <a:fillRect/>
          </a:stretch>
        </p:blipFill>
        <p:spPr>
          <a:xfrm>
            <a:off x="6335485" y="765110"/>
            <a:ext cx="2661039" cy="801791"/>
          </a:xfrm>
          <a:prstGeom prst="rect">
            <a:avLst/>
          </a:prstGeom>
        </p:spPr>
      </p:pic>
      <p:sp>
        <p:nvSpPr>
          <p:cNvPr id="7" name="Rectángulo 6">
            <a:extLst>
              <a:ext uri="{FF2B5EF4-FFF2-40B4-BE49-F238E27FC236}">
                <a16:creationId xmlns:a16="http://schemas.microsoft.com/office/drawing/2014/main" id="{EB74028D-94FA-2E05-0657-330A628AC0BB}"/>
              </a:ext>
            </a:extLst>
          </p:cNvPr>
          <p:cNvSpPr/>
          <p:nvPr userDrawn="1"/>
        </p:nvSpPr>
        <p:spPr>
          <a:xfrm>
            <a:off x="6727364" y="4383988"/>
            <a:ext cx="2286000" cy="7595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extLst>
      <p:ext uri="{BB962C8B-B14F-4D97-AF65-F5344CB8AC3E}">
        <p14:creationId xmlns:p14="http://schemas.microsoft.com/office/powerpoint/2010/main" val="1838461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02393"/>
            <a:ext cx="6692900" cy="408384"/>
          </a:xfrm>
        </p:spPr>
        <p:txBody>
          <a:bodyPr>
            <a:normAutofit/>
          </a:bodyPr>
          <a:lstStyle>
            <a:lvl1pPr>
              <a:defRPr sz="1600" b="1">
                <a:solidFill>
                  <a:schemeClr val="bg1"/>
                </a:solidFill>
                <a:latin typeface="Swis721 Cn BT" panose="020B0506020202030204" pitchFamily="34" charset="0"/>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8650" y="661481"/>
            <a:ext cx="7886700" cy="3670570"/>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0" name="Marcador de texto 10">
            <a:extLst>
              <a:ext uri="{FF2B5EF4-FFF2-40B4-BE49-F238E27FC236}">
                <a16:creationId xmlns:a16="http://schemas.microsoft.com/office/drawing/2014/main" id="{8C754907-7BE7-444F-9522-5BAA2D6A1B7A}"/>
              </a:ext>
            </a:extLst>
          </p:cNvPr>
          <p:cNvSpPr>
            <a:spLocks noGrp="1"/>
          </p:cNvSpPr>
          <p:nvPr>
            <p:ph type="body" sz="quarter" idx="11" hasCustomPrompt="1"/>
          </p:nvPr>
        </p:nvSpPr>
        <p:spPr>
          <a:xfrm>
            <a:off x="1616412" y="4494179"/>
            <a:ext cx="5335622" cy="445040"/>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383939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15376"/>
            <a:ext cx="7886700" cy="2139553"/>
          </a:xfrm>
        </p:spPr>
        <p:txBody>
          <a:bodyPr anchor="b"/>
          <a:lstStyle>
            <a:lvl1pPr>
              <a:defRPr sz="4500">
                <a:latin typeface="Swis721 Cn BT" panose="020B0506020202030204" pitchFamily="34" charset="0"/>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2975170"/>
            <a:ext cx="7886700" cy="1125140"/>
          </a:xfrm>
        </p:spPr>
        <p:txBody>
          <a:bodyPr/>
          <a:lstStyle>
            <a:lvl1pPr marL="0" indent="0">
              <a:buNone/>
              <a:defRPr sz="1800">
                <a:solidFill>
                  <a:schemeClr val="tx1">
                    <a:tint val="75000"/>
                  </a:schemeClr>
                </a:solidFill>
                <a:latin typeface="Swis721 Cn BT" panose="020B050602020203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dirty="0"/>
              <a:t>Haga clic para modificar los estilos de texto del patrón</a:t>
            </a:r>
          </a:p>
        </p:txBody>
      </p:sp>
      <p:sp>
        <p:nvSpPr>
          <p:cNvPr id="9" name="Marcador de texto 10">
            <a:extLst>
              <a:ext uri="{FF2B5EF4-FFF2-40B4-BE49-F238E27FC236}">
                <a16:creationId xmlns:a16="http://schemas.microsoft.com/office/drawing/2014/main" id="{65122DAE-6F18-4CC9-951B-FBCDCE4E1243}"/>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602280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102394"/>
            <a:ext cx="7188200" cy="408384"/>
          </a:xfrm>
        </p:spPr>
        <p:txBody>
          <a:bodyPr>
            <a:noAutofit/>
          </a:bodyPr>
          <a:lstStyle>
            <a:lvl1pPr>
              <a:defRPr sz="2500" b="1">
                <a:solidFill>
                  <a:schemeClr val="bg1"/>
                </a:solidFill>
                <a:latin typeface="Swis721 Cn BT" panose="020B0506020202030204" pitchFamily="34" charset="0"/>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667966"/>
            <a:ext cx="3886200" cy="3690025"/>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667966"/>
            <a:ext cx="3886200" cy="3690025"/>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0" name="Marcador de texto 10">
            <a:extLst>
              <a:ext uri="{FF2B5EF4-FFF2-40B4-BE49-F238E27FC236}">
                <a16:creationId xmlns:a16="http://schemas.microsoft.com/office/drawing/2014/main" id="{F9790584-FD47-4138-92E2-914E2B3EA47D}"/>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373822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73565"/>
            <a:ext cx="7086600" cy="477669"/>
          </a:xfrm>
        </p:spPr>
        <p:txBody>
          <a:bodyPr>
            <a:normAutofit/>
          </a:bodyPr>
          <a:lstStyle>
            <a:lvl1pPr>
              <a:defRPr sz="2500" b="1">
                <a:solidFill>
                  <a:schemeClr val="bg1"/>
                </a:solidFill>
                <a:latin typeface="Swis721 Cn BT" panose="020B0506020202030204" pitchFamily="34"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29842" y="676250"/>
            <a:ext cx="3868340" cy="617934"/>
          </a:xfrm>
        </p:spPr>
        <p:txBody>
          <a:bodyPr anchor="b"/>
          <a:lstStyle>
            <a:lvl1pPr marL="0" indent="0">
              <a:buNone/>
              <a:defRPr sz="1800" b="1">
                <a:latin typeface="Swis721 Cn BT" panose="020B050602020203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dirty="0"/>
              <a:t>Haga clic para modificar los estilos de texto del patrón</a:t>
            </a:r>
          </a:p>
        </p:txBody>
      </p:sp>
      <p:sp>
        <p:nvSpPr>
          <p:cNvPr id="4" name="Content Placeholder 3"/>
          <p:cNvSpPr>
            <a:spLocks noGrp="1"/>
          </p:cNvSpPr>
          <p:nvPr>
            <p:ph sz="half" idx="2"/>
          </p:nvPr>
        </p:nvSpPr>
        <p:spPr>
          <a:xfrm>
            <a:off x="629842" y="1305279"/>
            <a:ext cx="3868340" cy="2987861"/>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676250"/>
            <a:ext cx="3887391" cy="617934"/>
          </a:xfrm>
        </p:spPr>
        <p:txBody>
          <a:bodyPr anchor="b"/>
          <a:lstStyle>
            <a:lvl1pPr marL="0" indent="0">
              <a:buNone/>
              <a:defRPr sz="1800" b="1">
                <a:latin typeface="Swis721 Cn BT" panose="020B0506020202030204"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1305279"/>
            <a:ext cx="3887391" cy="2987861"/>
          </a:xfrm>
        </p:spPr>
        <p:txBody>
          <a:bodyPr/>
          <a:lstStyle>
            <a:lvl1pPr>
              <a:defRPr>
                <a:latin typeface="Swis721 Cn BT" panose="020B0506020202030204" pitchFamily="34" charset="0"/>
              </a:defRPr>
            </a:lvl1pPr>
            <a:lvl2pPr>
              <a:defRPr>
                <a:latin typeface="Swis721 Cn BT" panose="020B0506020202030204" pitchFamily="34" charset="0"/>
              </a:defRPr>
            </a:lvl2pPr>
            <a:lvl3pPr>
              <a:defRPr>
                <a:latin typeface="Swis721 Cn BT" panose="020B0506020202030204" pitchFamily="34" charset="0"/>
              </a:defRPr>
            </a:lvl3pPr>
            <a:lvl4pPr>
              <a:defRPr>
                <a:latin typeface="Swis721 Cn BT" panose="020B0506020202030204" pitchFamily="34" charset="0"/>
              </a:defRPr>
            </a:lvl4pPr>
            <a:lvl5pPr>
              <a:defRPr>
                <a:latin typeface="Swis721 Cn BT" panose="020B0506020202030204" pitchFamily="34"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2" name="Marcador de texto 10">
            <a:extLst>
              <a:ext uri="{FF2B5EF4-FFF2-40B4-BE49-F238E27FC236}">
                <a16:creationId xmlns:a16="http://schemas.microsoft.com/office/drawing/2014/main" id="{26B6826A-E42C-41E7-AAFF-80672AC6E3E6}"/>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321175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lo el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59835"/>
            <a:ext cx="7169150" cy="457200"/>
          </a:xfrm>
        </p:spPr>
        <p:txBody>
          <a:bodyPr>
            <a:normAutofit/>
          </a:bodyPr>
          <a:lstStyle>
            <a:lvl1pPr>
              <a:defRPr sz="2500" b="1">
                <a:solidFill>
                  <a:schemeClr val="bg1"/>
                </a:solidFill>
                <a:latin typeface="Swis721 Cn BT" panose="020B0506020202030204" pitchFamily="34" charset="0"/>
              </a:defRPr>
            </a:lvl1pPr>
          </a:lstStyle>
          <a:p>
            <a:r>
              <a:rPr lang="es-ES" dirty="0"/>
              <a:t>Haga clic para modificar el estilo de título del patrón</a:t>
            </a:r>
            <a:endParaRPr lang="en-US" dirty="0"/>
          </a:p>
        </p:txBody>
      </p:sp>
      <p:sp>
        <p:nvSpPr>
          <p:cNvPr id="8" name="Marcador de texto 10">
            <a:extLst>
              <a:ext uri="{FF2B5EF4-FFF2-40B4-BE49-F238E27FC236}">
                <a16:creationId xmlns:a16="http://schemas.microsoft.com/office/drawing/2014/main" id="{BF67CE14-A5D1-4B2D-B89B-0E145842DBF0}"/>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2654513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 blanc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Marcador de texto 10">
            <a:extLst>
              <a:ext uri="{FF2B5EF4-FFF2-40B4-BE49-F238E27FC236}">
                <a16:creationId xmlns:a16="http://schemas.microsoft.com/office/drawing/2014/main" id="{4787A401-A02F-4CD2-8846-F08DC2168657}"/>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2324257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9841" y="723874"/>
            <a:ext cx="2949178" cy="926965"/>
          </a:xfrm>
        </p:spPr>
        <p:txBody>
          <a:bodyPr anchor="b">
            <a:normAutofit/>
          </a:bodyPr>
          <a:lstStyle>
            <a:lvl1pPr>
              <a:defRPr sz="2000">
                <a:latin typeface="Swis721 Cn BT" panose="020B0506020202030204" pitchFamily="34" charset="0"/>
              </a:defRPr>
            </a:lvl1pPr>
          </a:lstStyle>
          <a:p>
            <a:r>
              <a:rPr lang="es-ES" dirty="0"/>
              <a:t>Haga clic para modificar el estilo de título del patrón</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atin typeface="Swis721 Cn BT" panose="020B0506020202030204" pitchFamily="34" charset="0"/>
              </a:defRPr>
            </a:lvl1pPr>
            <a:lvl2pPr>
              <a:defRPr sz="2100">
                <a:latin typeface="Swis721 Cn BT" panose="020B0506020202030204" pitchFamily="34" charset="0"/>
              </a:defRPr>
            </a:lvl2pPr>
            <a:lvl3pPr>
              <a:defRPr sz="1800">
                <a:latin typeface="Swis721 Cn BT" panose="020B0506020202030204" pitchFamily="34" charset="0"/>
              </a:defRPr>
            </a:lvl3pPr>
            <a:lvl4pPr>
              <a:defRPr sz="1500">
                <a:latin typeface="Swis721 Cn BT" panose="020B0506020202030204" pitchFamily="34" charset="0"/>
              </a:defRPr>
            </a:lvl4pPr>
            <a:lvl5pPr>
              <a:defRPr sz="1500">
                <a:latin typeface="Swis721 Cn BT" panose="020B0506020202030204" pitchFamily="34" charset="0"/>
              </a:defRPr>
            </a:lvl5pPr>
            <a:lvl6pPr>
              <a:defRPr sz="1500"/>
            </a:lvl6pPr>
            <a:lvl7pPr>
              <a:defRPr sz="1500"/>
            </a:lvl7pPr>
            <a:lvl8pPr>
              <a:defRPr sz="1500"/>
            </a:lvl8pPr>
            <a:lvl9pPr>
              <a:defRPr sz="1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1725038"/>
            <a:ext cx="2949178" cy="2676703"/>
          </a:xfrm>
        </p:spPr>
        <p:txBody>
          <a:bodyPr/>
          <a:lstStyle>
            <a:lvl1pPr marL="0" indent="0">
              <a:buNone/>
              <a:defRPr sz="1200">
                <a:latin typeface="Swis721 Cn BT" panose="020B0506020202030204"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dirty="0"/>
              <a:t>Haga clic para modificar los estilos de texto del patrón</a:t>
            </a:r>
          </a:p>
        </p:txBody>
      </p:sp>
      <p:sp>
        <p:nvSpPr>
          <p:cNvPr id="10" name="Marcador de texto 10">
            <a:extLst>
              <a:ext uri="{FF2B5EF4-FFF2-40B4-BE49-F238E27FC236}">
                <a16:creationId xmlns:a16="http://schemas.microsoft.com/office/drawing/2014/main" id="{032CC20D-9E56-472C-9665-0F2BF8E19DA2}"/>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898756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740568"/>
            <a:ext cx="2949178" cy="802481"/>
          </a:xfrm>
        </p:spPr>
        <p:txBody>
          <a:bodyPr anchor="b"/>
          <a:lstStyle>
            <a:lvl1pPr>
              <a:defRPr sz="1600">
                <a:solidFill>
                  <a:srgbClr val="003C58"/>
                </a:solidFill>
              </a:defRPr>
            </a:lvl1pPr>
          </a:lstStyle>
          <a:p>
            <a:r>
              <a:rPr lang="es-ES" dirty="0"/>
              <a:t>Haga clic para modificar el estilo de título del patrón</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9" name="Marcador de texto 10">
            <a:extLst>
              <a:ext uri="{FF2B5EF4-FFF2-40B4-BE49-F238E27FC236}">
                <a16:creationId xmlns:a16="http://schemas.microsoft.com/office/drawing/2014/main" id="{7F1314DE-EBE6-4287-955A-EBEBC589ED63}"/>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889583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y texto vertic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79290"/>
            <a:ext cx="7245350" cy="465459"/>
          </a:xfrm>
        </p:spPr>
        <p:txBody>
          <a:bodyPr>
            <a:normAutofit/>
          </a:bodyPr>
          <a:lstStyle>
            <a:lvl1pPr>
              <a:defRPr sz="2500" b="1">
                <a:solidFill>
                  <a:schemeClr val="bg1"/>
                </a:solidFill>
                <a:latin typeface="Swis721 Cn BT" panose="020B0506020202030204" pitchFamily="34" charset="0"/>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655856"/>
            <a:ext cx="7886700" cy="3611343"/>
          </a:xfrm>
        </p:spPr>
        <p:txBody>
          <a:bodyPr vert="eaVert"/>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9" name="Marcador de texto 10">
            <a:extLst>
              <a:ext uri="{FF2B5EF4-FFF2-40B4-BE49-F238E27FC236}">
                <a16:creationId xmlns:a16="http://schemas.microsoft.com/office/drawing/2014/main" id="{5BC3FB6E-5DC7-4EF4-B301-6A5F1AD3B902}"/>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26481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71675" cy="3735421"/>
          </a:xfrm>
        </p:spPr>
        <p:txBody>
          <a:bodyPr vert="eaVert"/>
          <a:lstStyle>
            <a:lvl1pPr>
              <a:defRPr>
                <a:solidFill>
                  <a:srgbClr val="003C58"/>
                </a:solidFil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609600"/>
            <a:ext cx="5800725" cy="3735421"/>
          </a:xfrm>
        </p:spPr>
        <p:txBody>
          <a:bodyPr vert="eaVert"/>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Marcador de texto 10">
            <a:extLst>
              <a:ext uri="{FF2B5EF4-FFF2-40B4-BE49-F238E27FC236}">
                <a16:creationId xmlns:a16="http://schemas.microsoft.com/office/drawing/2014/main" id="{B0C4A44D-33ED-49C3-A2D4-76C44342262E}"/>
              </a:ext>
            </a:extLst>
          </p:cNvPr>
          <p:cNvSpPr>
            <a:spLocks noGrp="1"/>
          </p:cNvSpPr>
          <p:nvPr>
            <p:ph type="body" sz="quarter" idx="11" hasCustomPrompt="1"/>
          </p:nvPr>
        </p:nvSpPr>
        <p:spPr>
          <a:xfrm>
            <a:off x="1616412" y="4462564"/>
            <a:ext cx="5335622" cy="476655"/>
          </a:xfrm>
        </p:spPr>
        <p:txBody>
          <a:bodyPr anchor="ctr">
            <a:normAutofit/>
          </a:bodyPr>
          <a:lstStyle>
            <a:lvl1pPr marL="0" indent="0" algn="ctr">
              <a:buNone/>
              <a:defRPr sz="1100">
                <a:solidFill>
                  <a:srgbClr val="003C58"/>
                </a:solidFill>
                <a:latin typeface="Swis721 Cn BT" panose="020B0506020202030204" pitchFamily="34" charset="0"/>
              </a:defRPr>
            </a:lvl1pPr>
          </a:lstStyle>
          <a:p>
            <a:pPr lvl="0"/>
            <a:r>
              <a:rPr lang="es-CL" dirty="0"/>
              <a:t>Postítulo y Postgrado</a:t>
            </a:r>
            <a:br>
              <a:rPr lang="es-CL" dirty="0"/>
            </a:br>
            <a:r>
              <a:rPr lang="es-CL" dirty="0"/>
              <a:t>Escuela de Obstetricia y Puericultura</a:t>
            </a:r>
          </a:p>
        </p:txBody>
      </p:sp>
    </p:spTree>
    <p:extLst>
      <p:ext uri="{BB962C8B-B14F-4D97-AF65-F5344CB8AC3E}">
        <p14:creationId xmlns:p14="http://schemas.microsoft.com/office/powerpoint/2010/main" val="1995531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79291"/>
            <a:ext cx="6830514" cy="478428"/>
          </a:xfrm>
          <a:prstGeom prst="rect">
            <a:avLst/>
          </a:prstGeom>
        </p:spPr>
        <p:txBody>
          <a:bodyPr vert="horz" lIns="91440" tIns="45720" rIns="91440" bIns="45720" rtlCol="0" anchor="ctr">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28650" y="675314"/>
            <a:ext cx="7886700" cy="326350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Imagen 5">
            <a:extLst>
              <a:ext uri="{FF2B5EF4-FFF2-40B4-BE49-F238E27FC236}">
                <a16:creationId xmlns:a16="http://schemas.microsoft.com/office/drawing/2014/main" id="{14957CCC-1448-ED00-EC47-382E7141EEC8}"/>
              </a:ext>
            </a:extLst>
          </p:cNvPr>
          <p:cNvPicPr>
            <a:picLocks noChangeAspect="1"/>
          </p:cNvPicPr>
          <p:nvPr userDrawn="1"/>
        </p:nvPicPr>
        <p:blipFill>
          <a:blip r:embed="rId14"/>
          <a:stretch>
            <a:fillRect/>
          </a:stretch>
        </p:blipFill>
        <p:spPr>
          <a:xfrm>
            <a:off x="7459164" y="0"/>
            <a:ext cx="1684836" cy="557719"/>
          </a:xfrm>
          <a:prstGeom prst="rect">
            <a:avLst/>
          </a:prstGeom>
        </p:spPr>
      </p:pic>
      <p:sp>
        <p:nvSpPr>
          <p:cNvPr id="8" name="Rectángulo 7">
            <a:extLst>
              <a:ext uri="{FF2B5EF4-FFF2-40B4-BE49-F238E27FC236}">
                <a16:creationId xmlns:a16="http://schemas.microsoft.com/office/drawing/2014/main" id="{494CBDEA-5BC1-837E-A18A-71C942BF3D77}"/>
              </a:ext>
            </a:extLst>
          </p:cNvPr>
          <p:cNvSpPr/>
          <p:nvPr userDrawn="1"/>
        </p:nvSpPr>
        <p:spPr>
          <a:xfrm>
            <a:off x="6727364" y="4383988"/>
            <a:ext cx="2286000" cy="67192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9" name="Imagen 8">
            <a:extLst>
              <a:ext uri="{FF2B5EF4-FFF2-40B4-BE49-F238E27FC236}">
                <a16:creationId xmlns:a16="http://schemas.microsoft.com/office/drawing/2014/main" id="{09C2338A-9357-2F0F-0403-2BEFE81B79AE}"/>
              </a:ext>
            </a:extLst>
          </p:cNvPr>
          <p:cNvPicPr>
            <a:picLocks noChangeAspect="1"/>
          </p:cNvPicPr>
          <p:nvPr userDrawn="1"/>
        </p:nvPicPr>
        <p:blipFill>
          <a:blip r:embed="rId15"/>
          <a:stretch>
            <a:fillRect/>
          </a:stretch>
        </p:blipFill>
        <p:spPr>
          <a:xfrm>
            <a:off x="6783347" y="4410951"/>
            <a:ext cx="2230017" cy="671920"/>
          </a:xfrm>
          <a:prstGeom prst="rect">
            <a:avLst/>
          </a:prstGeom>
        </p:spPr>
      </p:pic>
    </p:spTree>
    <p:extLst>
      <p:ext uri="{BB962C8B-B14F-4D97-AF65-F5344CB8AC3E}">
        <p14:creationId xmlns:p14="http://schemas.microsoft.com/office/powerpoint/2010/main" val="30144637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2500" b="1" kern="1200">
          <a:solidFill>
            <a:schemeClr val="bg1"/>
          </a:solidFill>
          <a:latin typeface="Swis721 Cn BT" panose="020B050602020203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Swis721 Cn BT" panose="020B050602020203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Swis721 Cn BT" panose="020B050602020203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Swis721 Cn BT" panose="020B050602020203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10.png"/><Relationship Id="rId9" Type="http://schemas.openxmlformats.org/officeDocument/2006/relationships/image" Target="../media/image2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7.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19.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p:txBody>
          <a:bodyPr/>
          <a:lstStyle/>
          <a:p>
            <a:pPr algn="l">
              <a:spcAft>
                <a:spcPts val="0"/>
              </a:spcAft>
            </a:pPr>
            <a:r>
              <a:rPr sz="1050" b="0" i="0">
                <a:solidFill>
                  <a:srgbClr val="003C58"/>
                </a:solidFill>
                <a:latin typeface="Swis721 Cn BT"/>
              </a:rPr>
              <a:t>Escuela de Obstetricia y Puericultura</a:t>
            </a:r>
          </a:p>
        </p:txBody>
      </p:sp>
      <p:sp>
        <p:nvSpPr>
          <p:cNvPr id="12" name="Text Placeholder 2">
            <a:extLst>
              <a:ext uri="{FF2B5EF4-FFF2-40B4-BE49-F238E27FC236}">
                <a16:creationId xmlns:a16="http://schemas.microsoft.com/office/drawing/2014/main" id="{9DD71D4E-DF9F-986B-5E0A-D2E884669028}"/>
              </a:ext>
            </a:extLst>
          </p:cNvPr>
          <p:cNvSpPr>
            <a:spLocks noGrp="1"/>
          </p:cNvSpPr>
          <p:nvPr>
            <p:ph type="body" sz="quarter" idx="10"/>
          </p:nvPr>
        </p:nvSpPr>
        <p:spPr>
          <a:xfrm>
            <a:off x="4267200" y="3147238"/>
            <a:ext cx="4876800" cy="600355"/>
          </a:xfrm>
        </p:spPr>
        <p:txBody>
          <a:bodyPr>
            <a:normAutofit lnSpcReduction="10000"/>
          </a:bodyPr>
          <a:lstStyle/>
          <a:p>
            <a:r>
              <a:rPr lang="es-419" b="1" i="0" dirty="0">
                <a:latin typeface="Swis721 Cn BT"/>
              </a:rPr>
              <a:t>[</a:t>
            </a:r>
            <a:r>
              <a:rPr lang="es-CL" b="1" dirty="0">
                <a:solidFill>
                  <a:srgbClr val="06717E"/>
                </a:solidFill>
                <a:latin typeface="Swis721 Cn BT"/>
              </a:rPr>
              <a:t>Tu marca con IA: materiales con identidad propia</a:t>
            </a:r>
            <a:r>
              <a:rPr lang="es-419" b="1" i="0" dirty="0">
                <a:latin typeface="Swis721 Cn BT"/>
              </a:rPr>
              <a:t>]</a:t>
            </a:r>
            <a:endParaRPr b="1" i="0" dirty="0">
              <a:latin typeface="Swis721 Cn BT"/>
            </a:endParaRPr>
          </a:p>
          <a:p>
            <a:pPr algn="l">
              <a:spcAft>
                <a:spcPts val="0"/>
              </a:spcAft>
            </a:pPr>
            <a:r>
              <a:rPr sz="1400" b="0" i="0" dirty="0">
                <a:solidFill>
                  <a:srgbClr val="003C58"/>
                </a:solidFill>
                <a:latin typeface="Swis721 Cn BT"/>
              </a:rPr>
              <a:t>Jornada Alumni 2026 · </a:t>
            </a:r>
            <a:r>
              <a:rPr sz="1400" b="0" i="0" dirty="0" err="1">
                <a:solidFill>
                  <a:srgbClr val="003C58"/>
                </a:solidFill>
                <a:latin typeface="Swis721 Cn BT"/>
              </a:rPr>
              <a:t>Capacitación</a:t>
            </a:r>
            <a:endParaRPr sz="1400" b="0" i="0" dirty="0">
              <a:solidFill>
                <a:srgbClr val="003C58"/>
              </a:solidFill>
              <a:latin typeface="Swis721 Cn BT"/>
            </a:endParaRPr>
          </a:p>
        </p:txBody>
      </p:sp>
      <p:sp>
        <p:nvSpPr>
          <p:cNvPr id="13" name="Marcador de texto 5">
            <a:extLst>
              <a:ext uri="{FF2B5EF4-FFF2-40B4-BE49-F238E27FC236}">
                <a16:creationId xmlns:a16="http://schemas.microsoft.com/office/drawing/2014/main" id="{5DB14B32-504C-6FE8-D9DB-874AD8FBC4DC}"/>
              </a:ext>
            </a:extLst>
          </p:cNvPr>
          <p:cNvSpPr txBox="1">
            <a:spLocks/>
          </p:cNvSpPr>
          <p:nvPr/>
        </p:nvSpPr>
        <p:spPr>
          <a:xfrm>
            <a:off x="4267199" y="4141694"/>
            <a:ext cx="4733925" cy="962625"/>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rgbClr val="003C58"/>
                </a:solidFill>
                <a:latin typeface="Swis721 Cn BT" panose="020B050602020203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Swis721 Cn BT" panose="020B050602020203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Swis721 Cn BT" panose="020B050602020203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Swis721 Cn BT" panose="020B050602020203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s-CL" sz="1200" b="1" dirty="0" err="1"/>
              <a:t>Guicelle</a:t>
            </a:r>
            <a:r>
              <a:rPr lang="es-CL" sz="1200" b="1" dirty="0"/>
              <a:t> Aravena​ </a:t>
            </a:r>
            <a:r>
              <a:rPr lang="es-CL" sz="1200" b="1" dirty="0">
                <a:solidFill>
                  <a:srgbClr val="06717E"/>
                </a:solidFill>
              </a:rPr>
              <a:t>|</a:t>
            </a:r>
            <a:r>
              <a:rPr lang="es-CL" sz="1200" b="1" dirty="0"/>
              <a:t> </a:t>
            </a:r>
            <a:r>
              <a:rPr lang="es-CL" sz="1200" b="1" dirty="0" err="1"/>
              <a:t>guicelle.aravena@uv.cl</a:t>
            </a:r>
            <a:br>
              <a:rPr lang="es-CL" sz="1200" dirty="0"/>
            </a:br>
            <a:r>
              <a:rPr lang="es-CL" sz="1200" dirty="0">
                <a:solidFill>
                  <a:srgbClr val="06717E"/>
                </a:solidFill>
              </a:rPr>
              <a:t>Títulos y Grados.​</a:t>
            </a:r>
          </a:p>
        </p:txBody>
      </p:sp>
      <p:cxnSp>
        <p:nvCxnSpPr>
          <p:cNvPr id="14" name="Conector recto 13">
            <a:extLst>
              <a:ext uri="{FF2B5EF4-FFF2-40B4-BE49-F238E27FC236}">
                <a16:creationId xmlns:a16="http://schemas.microsoft.com/office/drawing/2014/main" id="{E93FF50B-7D19-9835-6A11-CCD3E41A5D90}"/>
              </a:ext>
            </a:extLst>
          </p:cNvPr>
          <p:cNvCxnSpPr/>
          <p:nvPr/>
        </p:nvCxnSpPr>
        <p:spPr>
          <a:xfrm>
            <a:off x="4329953" y="4025155"/>
            <a:ext cx="4527176" cy="0"/>
          </a:xfrm>
          <a:prstGeom prst="line">
            <a:avLst/>
          </a:prstGeom>
          <a:ln w="38100">
            <a:solidFill>
              <a:srgbClr val="06717E"/>
            </a:solidFill>
          </a:ln>
        </p:spPr>
        <p:style>
          <a:lnRef idx="1">
            <a:schemeClr val="accent1"/>
          </a:lnRef>
          <a:fillRef idx="0">
            <a:schemeClr val="accent1"/>
          </a:fillRef>
          <a:effectRef idx="0">
            <a:schemeClr val="accent1"/>
          </a:effectRef>
          <a:fontRef idx="minor">
            <a:schemeClr val="tx1"/>
          </a:fontRef>
        </p:style>
      </p:cxnSp>
      <p:sp>
        <p:nvSpPr>
          <p:cNvPr id="16" name="Título 15">
            <a:extLst>
              <a:ext uri="{FF2B5EF4-FFF2-40B4-BE49-F238E27FC236}">
                <a16:creationId xmlns:a16="http://schemas.microsoft.com/office/drawing/2014/main" id="{E3F3C6BA-A6AF-816B-7555-68486DFC009F}"/>
              </a:ext>
            </a:extLst>
          </p:cNvPr>
          <p:cNvSpPr>
            <a:spLocks noGrp="1"/>
          </p:cNvSpPr>
          <p:nvPr>
            <p:ph type="title"/>
          </p:nvPr>
        </p:nvSpPr>
        <p:spPr>
          <a:xfrm>
            <a:off x="4267199" y="2439868"/>
            <a:ext cx="4734533" cy="701759"/>
          </a:xfrm>
        </p:spPr>
        <p:txBody>
          <a:bodyPr>
            <a:noAutofit/>
          </a:bodyPr>
          <a:lstStyle/>
          <a:p>
            <a:r>
              <a:rPr lang="es-CL" sz="2000" dirty="0">
                <a:latin typeface="Swis721 Cn BT"/>
              </a:rPr>
              <a:t>IA generativa en Matronería: elaboración de protocolos y material educativo</a:t>
            </a:r>
            <a:endParaRPr lang="es-ES_tradnl"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Ruta de hoy: de tu logo a tus materiales</a:t>
            </a:r>
          </a:p>
        </p:txBody>
      </p:sp>
      <p:cxnSp>
        <p:nvCxnSpPr>
          <p:cNvPr id="3" name="Connector 2"/>
          <p:cNvCxnSpPr/>
          <p:nvPr/>
        </p:nvCxnSpPr>
        <p:spPr>
          <a:xfrm>
            <a:off x="1188720" y="1371600"/>
            <a:ext cx="6364224" cy="0"/>
          </a:xfrm>
          <a:prstGeom prst="line">
            <a:avLst/>
          </a:prstGeom>
          <a:ln w="50800">
            <a:solidFill>
              <a:srgbClr val="C9DAE3"/>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754380" y="937259"/>
            <a:ext cx="868680" cy="86868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Palette"/>
          <p:cNvPicPr>
            <a:picLocks noChangeAspect="1"/>
          </p:cNvPicPr>
          <p:nvPr/>
        </p:nvPicPr>
        <p:blipFill>
          <a:blip r:embed="rId3"/>
          <a:stretch>
            <a:fillRect/>
          </a:stretch>
        </p:blipFill>
        <p:spPr>
          <a:xfrm>
            <a:off x="936802" y="1119682"/>
            <a:ext cx="503834" cy="503834"/>
          </a:xfrm>
          <a:prstGeom prst="rect">
            <a:avLst/>
          </a:prstGeom>
        </p:spPr>
      </p:pic>
      <p:sp>
        <p:nvSpPr>
          <p:cNvPr id="6" name="Oval 5"/>
          <p:cNvSpPr/>
          <p:nvPr/>
        </p:nvSpPr>
        <p:spPr>
          <a:xfrm>
            <a:off x="1362456" y="868680"/>
            <a:ext cx="310896" cy="310896"/>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1</a:t>
            </a:r>
          </a:p>
        </p:txBody>
      </p:sp>
      <p:sp>
        <p:nvSpPr>
          <p:cNvPr id="7" name="TextBox 6"/>
          <p:cNvSpPr txBox="1"/>
          <p:nvPr/>
        </p:nvSpPr>
        <p:spPr>
          <a:xfrm>
            <a:off x="402335"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Por qué una marca</a:t>
            </a:r>
          </a:p>
        </p:txBody>
      </p:sp>
      <p:sp>
        <p:nvSpPr>
          <p:cNvPr id="8" name="TextBox 7"/>
          <p:cNvSpPr txBox="1"/>
          <p:nvPr/>
        </p:nvSpPr>
        <p:spPr>
          <a:xfrm>
            <a:off x="402335"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lo que se ve también comunica</a:t>
            </a:r>
          </a:p>
        </p:txBody>
      </p:sp>
      <p:sp>
        <p:nvSpPr>
          <p:cNvPr id="9" name="Oval 8"/>
          <p:cNvSpPr/>
          <p:nvPr/>
        </p:nvSpPr>
        <p:spPr>
          <a:xfrm>
            <a:off x="2345436" y="937259"/>
            <a:ext cx="868680" cy="868680"/>
          </a:xfrm>
          <a:prstGeom prst="ellipse">
            <a:avLst/>
          </a:prstGeom>
          <a:solidFill>
            <a:srgbClr val="0671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0" name="Picture 9" descr="Ícono Badge"/>
          <p:cNvPicPr>
            <a:picLocks noChangeAspect="1"/>
          </p:cNvPicPr>
          <p:nvPr/>
        </p:nvPicPr>
        <p:blipFill>
          <a:blip r:embed="rId4"/>
          <a:stretch>
            <a:fillRect/>
          </a:stretch>
        </p:blipFill>
        <p:spPr>
          <a:xfrm>
            <a:off x="2527858" y="1119682"/>
            <a:ext cx="503834" cy="503834"/>
          </a:xfrm>
          <a:prstGeom prst="rect">
            <a:avLst/>
          </a:prstGeom>
        </p:spPr>
      </p:pic>
      <p:sp>
        <p:nvSpPr>
          <p:cNvPr id="11" name="Oval 10"/>
          <p:cNvSpPr/>
          <p:nvPr/>
        </p:nvSpPr>
        <p:spPr>
          <a:xfrm>
            <a:off x="2953512" y="868680"/>
            <a:ext cx="310896" cy="310896"/>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2</a:t>
            </a:r>
          </a:p>
        </p:txBody>
      </p:sp>
      <p:sp>
        <p:nvSpPr>
          <p:cNvPr id="12" name="TextBox 11"/>
          <p:cNvSpPr txBox="1"/>
          <p:nvPr/>
        </p:nvSpPr>
        <p:spPr>
          <a:xfrm>
            <a:off x="1993391"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Tu kit de marca</a:t>
            </a:r>
          </a:p>
        </p:txBody>
      </p:sp>
      <p:sp>
        <p:nvSpPr>
          <p:cNvPr id="13" name="TextBox 12"/>
          <p:cNvSpPr txBox="1"/>
          <p:nvPr/>
        </p:nvSpPr>
        <p:spPr>
          <a:xfrm>
            <a:off x="1993391"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logo, colores, letras y tono</a:t>
            </a:r>
          </a:p>
        </p:txBody>
      </p:sp>
      <p:sp>
        <p:nvSpPr>
          <p:cNvPr id="14" name="Oval 13"/>
          <p:cNvSpPr/>
          <p:nvPr/>
        </p:nvSpPr>
        <p:spPr>
          <a:xfrm>
            <a:off x="3936491" y="937259"/>
            <a:ext cx="868680" cy="86868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5" name="Picture 14" descr="Ícono AutoAwesome"/>
          <p:cNvPicPr>
            <a:picLocks noChangeAspect="1"/>
          </p:cNvPicPr>
          <p:nvPr/>
        </p:nvPicPr>
        <p:blipFill>
          <a:blip r:embed="rId5"/>
          <a:stretch>
            <a:fillRect/>
          </a:stretch>
        </p:blipFill>
        <p:spPr>
          <a:xfrm>
            <a:off x="4118914" y="1119682"/>
            <a:ext cx="503834" cy="503834"/>
          </a:xfrm>
          <a:prstGeom prst="rect">
            <a:avLst/>
          </a:prstGeom>
        </p:spPr>
      </p:pic>
      <p:sp>
        <p:nvSpPr>
          <p:cNvPr id="16" name="Oval 15"/>
          <p:cNvSpPr/>
          <p:nvPr/>
        </p:nvSpPr>
        <p:spPr>
          <a:xfrm>
            <a:off x="4544568" y="868680"/>
            <a:ext cx="310896" cy="310896"/>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3</a:t>
            </a:r>
          </a:p>
        </p:txBody>
      </p:sp>
      <p:sp>
        <p:nvSpPr>
          <p:cNvPr id="17" name="TextBox 16"/>
          <p:cNvSpPr txBox="1"/>
          <p:nvPr/>
        </p:nvSpPr>
        <p:spPr>
          <a:xfrm>
            <a:off x="3584448"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El prompt Mi Marca</a:t>
            </a:r>
          </a:p>
        </p:txBody>
      </p:sp>
      <p:sp>
        <p:nvSpPr>
          <p:cNvPr id="18" name="TextBox 17"/>
          <p:cNvSpPr txBox="1"/>
          <p:nvPr/>
        </p:nvSpPr>
        <p:spPr>
          <a:xfrm>
            <a:off x="3584448"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PARTO aplicado a tu identidad</a:t>
            </a:r>
          </a:p>
        </p:txBody>
      </p:sp>
      <p:sp>
        <p:nvSpPr>
          <p:cNvPr id="19" name="Oval 18"/>
          <p:cNvSpPr/>
          <p:nvPr/>
        </p:nvSpPr>
        <p:spPr>
          <a:xfrm>
            <a:off x="5527548" y="937259"/>
            <a:ext cx="868680" cy="868680"/>
          </a:xfrm>
          <a:prstGeom prst="ellipse">
            <a:avLst/>
          </a:prstGeom>
          <a:solidFill>
            <a:srgbClr val="0671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0" name="Picture 19" descr="Ícono MenuBook"/>
          <p:cNvPicPr>
            <a:picLocks noChangeAspect="1"/>
          </p:cNvPicPr>
          <p:nvPr/>
        </p:nvPicPr>
        <p:blipFill>
          <a:blip r:embed="rId6"/>
          <a:stretch>
            <a:fillRect/>
          </a:stretch>
        </p:blipFill>
        <p:spPr>
          <a:xfrm>
            <a:off x="5709970" y="1119682"/>
            <a:ext cx="503834" cy="503834"/>
          </a:xfrm>
          <a:prstGeom prst="rect">
            <a:avLst/>
          </a:prstGeom>
        </p:spPr>
      </p:pic>
      <p:sp>
        <p:nvSpPr>
          <p:cNvPr id="21" name="Oval 20"/>
          <p:cNvSpPr/>
          <p:nvPr/>
        </p:nvSpPr>
        <p:spPr>
          <a:xfrm>
            <a:off x="6135624" y="868680"/>
            <a:ext cx="310896" cy="310896"/>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4</a:t>
            </a:r>
          </a:p>
        </p:txBody>
      </p:sp>
      <p:sp>
        <p:nvSpPr>
          <p:cNvPr id="22" name="TextBox 21"/>
          <p:cNvSpPr txBox="1"/>
          <p:nvPr/>
        </p:nvSpPr>
        <p:spPr>
          <a:xfrm>
            <a:off x="5175504"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Seis recetas</a:t>
            </a:r>
          </a:p>
        </p:txBody>
      </p:sp>
      <p:sp>
        <p:nvSpPr>
          <p:cNvPr id="23" name="TextBox 22"/>
          <p:cNvSpPr txBox="1"/>
          <p:nvPr/>
        </p:nvSpPr>
        <p:spPr>
          <a:xfrm>
            <a:off x="5175504"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folletos, láminas, redes y más</a:t>
            </a:r>
          </a:p>
        </p:txBody>
      </p:sp>
      <p:sp>
        <p:nvSpPr>
          <p:cNvPr id="24" name="Oval 23"/>
          <p:cNvSpPr/>
          <p:nvPr/>
        </p:nvSpPr>
        <p:spPr>
          <a:xfrm>
            <a:off x="7118604" y="937259"/>
            <a:ext cx="868680" cy="86868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5" name="Picture 24" descr="Ícono FactCheck"/>
          <p:cNvPicPr>
            <a:picLocks noChangeAspect="1"/>
          </p:cNvPicPr>
          <p:nvPr/>
        </p:nvPicPr>
        <p:blipFill>
          <a:blip r:embed="rId7"/>
          <a:stretch>
            <a:fillRect/>
          </a:stretch>
        </p:blipFill>
        <p:spPr>
          <a:xfrm>
            <a:off x="7301026" y="1119682"/>
            <a:ext cx="503834" cy="503834"/>
          </a:xfrm>
          <a:prstGeom prst="rect">
            <a:avLst/>
          </a:prstGeom>
        </p:spPr>
      </p:pic>
      <p:sp>
        <p:nvSpPr>
          <p:cNvPr id="26" name="Oval 25"/>
          <p:cNvSpPr/>
          <p:nvPr/>
        </p:nvSpPr>
        <p:spPr>
          <a:xfrm>
            <a:off x="7726679" y="868680"/>
            <a:ext cx="310896" cy="310896"/>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5</a:t>
            </a:r>
          </a:p>
        </p:txBody>
      </p:sp>
      <p:sp>
        <p:nvSpPr>
          <p:cNvPr id="27" name="TextBox 26"/>
          <p:cNvSpPr txBox="1"/>
          <p:nvPr/>
        </p:nvSpPr>
        <p:spPr>
          <a:xfrm>
            <a:off x="6766560" y="1901952"/>
            <a:ext cx="1572768" cy="292608"/>
          </a:xfrm>
          <a:prstGeom prst="rect">
            <a:avLst/>
          </a:prstGeom>
          <a:noFill/>
        </p:spPr>
        <p:txBody>
          <a:bodyPr wrap="square" lIns="0" tIns="0" rIns="0" bIns="0" anchor="t">
            <a:noAutofit/>
          </a:bodyPr>
          <a:lstStyle/>
          <a:p>
            <a:pPr algn="ctr">
              <a:spcAft>
                <a:spcPts val="0"/>
              </a:spcAft>
            </a:pPr>
            <a:r>
              <a:rPr sz="1300" b="1" i="0">
                <a:solidFill>
                  <a:srgbClr val="003C58"/>
                </a:solidFill>
                <a:latin typeface="Swis721 Cn BT"/>
              </a:rPr>
              <a:t>Revisión y QR</a:t>
            </a:r>
          </a:p>
        </p:txBody>
      </p:sp>
      <p:sp>
        <p:nvSpPr>
          <p:cNvPr id="28" name="TextBox 27"/>
          <p:cNvSpPr txBox="1"/>
          <p:nvPr/>
        </p:nvSpPr>
        <p:spPr>
          <a:xfrm>
            <a:off x="6766560" y="2194560"/>
            <a:ext cx="1572768" cy="457200"/>
          </a:xfrm>
          <a:prstGeom prst="rect">
            <a:avLst/>
          </a:prstGeom>
          <a:noFill/>
        </p:spPr>
        <p:txBody>
          <a:bodyPr wrap="square" lIns="0" tIns="0" rIns="0" bIns="0" anchor="t">
            <a:noAutofit/>
          </a:bodyPr>
          <a:lstStyle/>
          <a:p>
            <a:pPr algn="ctr">
              <a:spcAft>
                <a:spcPts val="0"/>
              </a:spcAft>
            </a:pPr>
            <a:r>
              <a:rPr sz="1150" b="0" i="0">
                <a:solidFill>
                  <a:srgbClr val="5B6B73"/>
                </a:solidFill>
                <a:latin typeface="Swis721 Cn BT"/>
              </a:rPr>
              <a:t>lista de revisión y descarga</a:t>
            </a:r>
          </a:p>
        </p:txBody>
      </p:sp>
      <p:sp>
        <p:nvSpPr>
          <p:cNvPr id="29" name="Rounded Rectangle 28"/>
          <p:cNvSpPr/>
          <p:nvPr/>
        </p:nvSpPr>
        <p:spPr>
          <a:xfrm>
            <a:off x="502920" y="2971800"/>
            <a:ext cx="8138160" cy="1051560"/>
          </a:xfrm>
          <a:prstGeom prst="roundRect">
            <a:avLst>
              <a:gd name="adj" fmla="val 13333"/>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0" name="Rounded Rectangle 29"/>
          <p:cNvSpPr/>
          <p:nvPr/>
        </p:nvSpPr>
        <p:spPr>
          <a:xfrm>
            <a:off x="685800" y="3200400"/>
            <a:ext cx="1051560" cy="329184"/>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Objetivo</a:t>
            </a:r>
          </a:p>
        </p:txBody>
      </p:sp>
      <p:sp>
        <p:nvSpPr>
          <p:cNvPr id="31" name="TextBox 30"/>
          <p:cNvSpPr txBox="1"/>
          <p:nvPr/>
        </p:nvSpPr>
        <p:spPr>
          <a:xfrm>
            <a:off x="1920240" y="3072384"/>
            <a:ext cx="6537960" cy="868680"/>
          </a:xfrm>
          <a:prstGeom prst="rect">
            <a:avLst/>
          </a:prstGeom>
          <a:noFill/>
        </p:spPr>
        <p:txBody>
          <a:bodyPr wrap="square" lIns="0" tIns="0" rIns="0" bIns="0" anchor="ctr">
            <a:noAutofit/>
          </a:bodyPr>
          <a:lstStyle/>
          <a:p>
            <a:pPr algn="l">
              <a:spcAft>
                <a:spcPts val="0"/>
              </a:spcAft>
            </a:pPr>
            <a:r>
              <a:rPr sz="1500" b="0" i="0">
                <a:solidFill>
                  <a:srgbClr val="FFFFFF"/>
                </a:solidFill>
                <a:latin typeface="Swis721 Cn BT"/>
              </a:rPr>
              <a:t>Al terminar podrás crear la </a:t>
            </a:r>
            <a:r>
              <a:rPr sz="1500" b="1" i="0">
                <a:solidFill>
                  <a:srgbClr val="F2B705"/>
                </a:solidFill>
                <a:latin typeface="Swis721 Cn BT"/>
              </a:rPr>
              <a:t>tarjeta de marca</a:t>
            </a:r>
            <a:r>
              <a:rPr sz="1500" b="0" i="0">
                <a:solidFill>
                  <a:srgbClr val="FFFFFF"/>
                </a:solidFill>
                <a:latin typeface="Swis721 Cn BT"/>
              </a:rPr>
              <a:t> de tu servicio y usarla con </a:t>
            </a:r>
            <a:r>
              <a:rPr sz="1500" b="1" i="0">
                <a:solidFill>
                  <a:srgbClr val="F2B705"/>
                </a:solidFill>
                <a:latin typeface="Swis721 Cn BT"/>
              </a:rPr>
              <a:t>cualquier plataforma de IA</a:t>
            </a:r>
            <a:r>
              <a:rPr sz="1500" b="0" i="0">
                <a:solidFill>
                  <a:srgbClr val="FFFFFF"/>
                </a:solidFill>
                <a:latin typeface="Swis721 Cn BT"/>
              </a:rPr>
              <a:t> para hacer materiales coherentes, legibles y seguros.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 la Parte 1 a la Parte 2: el mismo método, otro producto</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[1] Meskó, 2023 · [2] Liu et al., 2025</a:t>
            </a:r>
          </a:p>
        </p:txBody>
      </p:sp>
      <p:sp>
        <p:nvSpPr>
          <p:cNvPr id="5" name="TextBox 4"/>
          <p:cNvSpPr txBox="1"/>
          <p:nvPr/>
        </p:nvSpPr>
        <p:spPr>
          <a:xfrm>
            <a:off x="2743200" y="804672"/>
            <a:ext cx="2697480" cy="237744"/>
          </a:xfrm>
          <a:prstGeom prst="rect">
            <a:avLst/>
          </a:prstGeom>
          <a:noFill/>
        </p:spPr>
        <p:txBody>
          <a:bodyPr wrap="square" lIns="0" tIns="0" rIns="0" bIns="0" anchor="t">
            <a:noAutofit/>
          </a:bodyPr>
          <a:lstStyle/>
          <a:p>
            <a:pPr algn="l">
              <a:spcAft>
                <a:spcPts val="0"/>
              </a:spcAft>
            </a:pPr>
            <a:r>
              <a:rPr sz="1100" b="1" i="0">
                <a:solidFill>
                  <a:srgbClr val="5B6B73"/>
                </a:solidFill>
                <a:latin typeface="Swis721 Cn BT"/>
              </a:rPr>
              <a:t>Parte 1 · protocolos</a:t>
            </a:r>
          </a:p>
        </p:txBody>
      </p:sp>
      <p:sp>
        <p:nvSpPr>
          <p:cNvPr id="6" name="TextBox 5"/>
          <p:cNvSpPr txBox="1"/>
          <p:nvPr/>
        </p:nvSpPr>
        <p:spPr>
          <a:xfrm>
            <a:off x="5577840" y="804672"/>
            <a:ext cx="3063240" cy="237744"/>
          </a:xfrm>
          <a:prstGeom prst="rect">
            <a:avLst/>
          </a:prstGeom>
          <a:noFill/>
        </p:spPr>
        <p:txBody>
          <a:bodyPr wrap="square" lIns="0" tIns="0" rIns="0" bIns="0" anchor="t">
            <a:noAutofit/>
          </a:bodyPr>
          <a:lstStyle/>
          <a:p>
            <a:pPr algn="l">
              <a:spcAft>
                <a:spcPts val="0"/>
              </a:spcAft>
            </a:pPr>
            <a:r>
              <a:rPr sz="1100" b="1" i="0">
                <a:solidFill>
                  <a:srgbClr val="003C58"/>
                </a:solidFill>
                <a:latin typeface="Swis721 Cn BT"/>
              </a:rPr>
              <a:t>Parte 2 · tu marca</a:t>
            </a:r>
          </a:p>
        </p:txBody>
      </p:sp>
      <p:sp>
        <p:nvSpPr>
          <p:cNvPr id="7" name="Rounded Rectangle 6"/>
          <p:cNvSpPr/>
          <p:nvPr/>
        </p:nvSpPr>
        <p:spPr>
          <a:xfrm>
            <a:off x="502920" y="1097280"/>
            <a:ext cx="457200" cy="457200"/>
          </a:xfrm>
          <a:prstGeom prst="roundRect">
            <a:avLst>
              <a:gd name="adj" fmla="val 16666"/>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2200" b="1" i="0">
                <a:solidFill>
                  <a:srgbClr val="FFFFFF"/>
                </a:solidFill>
                <a:latin typeface="Swis721 Cn BT"/>
              </a:rPr>
              <a:t>P</a:t>
            </a:r>
          </a:p>
        </p:txBody>
      </p:sp>
      <p:sp>
        <p:nvSpPr>
          <p:cNvPr id="8" name="TextBox 7"/>
          <p:cNvSpPr txBox="1"/>
          <p:nvPr/>
        </p:nvSpPr>
        <p:spPr>
          <a:xfrm>
            <a:off x="1078992" y="1115568"/>
            <a:ext cx="1600200" cy="45720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Papel</a:t>
            </a:r>
          </a:p>
          <a:p>
            <a:pPr algn="l">
              <a:spcAft>
                <a:spcPts val="0"/>
              </a:spcAft>
            </a:pPr>
            <a:r>
              <a:rPr sz="1000" b="0" i="0">
                <a:solidFill>
                  <a:srgbClr val="5B6B73"/>
                </a:solidFill>
                <a:latin typeface="Swis721 Cn BT"/>
              </a:rPr>
              <a:t>quién debe ser la IA</a:t>
            </a:r>
          </a:p>
        </p:txBody>
      </p:sp>
      <p:sp>
        <p:nvSpPr>
          <p:cNvPr id="9" name="Rounded Rectangle 8"/>
          <p:cNvSpPr/>
          <p:nvPr/>
        </p:nvSpPr>
        <p:spPr>
          <a:xfrm>
            <a:off x="2743200" y="1097280"/>
            <a:ext cx="2697480" cy="4572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5B6B73"/>
                </a:solidFill>
                <a:latin typeface="Swis721 Cn BT"/>
              </a:rPr>
              <a:t>«Matrona experta en el tema»</a:t>
            </a:r>
          </a:p>
        </p:txBody>
      </p:sp>
      <p:sp>
        <p:nvSpPr>
          <p:cNvPr id="10" name="Rounded Rectangle 9"/>
          <p:cNvSpPr/>
          <p:nvPr/>
        </p:nvSpPr>
        <p:spPr>
          <a:xfrm>
            <a:off x="5577840" y="1097280"/>
            <a:ext cx="3063240" cy="45720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1F2A30"/>
                </a:solidFill>
                <a:latin typeface="Swis721 Cn BT"/>
              </a:rPr>
              <a:t>«Diseñadora gráfica para salud»</a:t>
            </a:r>
          </a:p>
        </p:txBody>
      </p:sp>
      <p:sp>
        <p:nvSpPr>
          <p:cNvPr id="11" name="Rounded Rectangle 10"/>
          <p:cNvSpPr/>
          <p:nvPr/>
        </p:nvSpPr>
        <p:spPr>
          <a:xfrm>
            <a:off x="502920" y="1691640"/>
            <a:ext cx="457200" cy="457200"/>
          </a:xfrm>
          <a:prstGeom prst="roundRect">
            <a:avLst>
              <a:gd name="adj" fmla="val 16666"/>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2200" b="1" i="0">
                <a:solidFill>
                  <a:srgbClr val="FFFFFF"/>
                </a:solidFill>
                <a:latin typeface="Swis721 Cn BT"/>
              </a:rPr>
              <a:t>A</a:t>
            </a:r>
          </a:p>
        </p:txBody>
      </p:sp>
      <p:sp>
        <p:nvSpPr>
          <p:cNvPr id="12" name="TextBox 11"/>
          <p:cNvSpPr txBox="1"/>
          <p:nvPr/>
        </p:nvSpPr>
        <p:spPr>
          <a:xfrm>
            <a:off x="1078992" y="1709928"/>
            <a:ext cx="1600200" cy="45720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Antecedentes</a:t>
            </a:r>
          </a:p>
          <a:p>
            <a:pPr algn="l">
              <a:spcAft>
                <a:spcPts val="0"/>
              </a:spcAft>
            </a:pPr>
            <a:r>
              <a:rPr sz="1000" b="0" i="0">
                <a:solidFill>
                  <a:srgbClr val="5B6B73"/>
                </a:solidFill>
                <a:latin typeface="Swis721 Cn BT"/>
              </a:rPr>
              <a:t>contexto y fuentes</a:t>
            </a:r>
          </a:p>
        </p:txBody>
      </p:sp>
      <p:sp>
        <p:nvSpPr>
          <p:cNvPr id="13" name="Rounded Rectangle 12"/>
          <p:cNvSpPr/>
          <p:nvPr/>
        </p:nvSpPr>
        <p:spPr>
          <a:xfrm>
            <a:off x="2743200" y="1691640"/>
            <a:ext cx="2697480" cy="4572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5B6B73"/>
                </a:solidFill>
                <a:latin typeface="Swis721 Cn BT"/>
              </a:rPr>
              <a:t>«La norma y tus protocolos»</a:t>
            </a:r>
          </a:p>
        </p:txBody>
      </p:sp>
      <p:sp>
        <p:nvSpPr>
          <p:cNvPr id="14" name="Rounded Rectangle 13"/>
          <p:cNvSpPr/>
          <p:nvPr/>
        </p:nvSpPr>
        <p:spPr>
          <a:xfrm>
            <a:off x="5577840" y="1691640"/>
            <a:ext cx="3063240" cy="45720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1F2A30"/>
                </a:solidFill>
                <a:latin typeface="Swis721 Cn BT"/>
              </a:rPr>
              <a:t>«Tu ficha, tu logo y el manual de tu institución»</a:t>
            </a:r>
          </a:p>
        </p:txBody>
      </p:sp>
      <p:sp>
        <p:nvSpPr>
          <p:cNvPr id="15" name="Rounded Rectangle 14"/>
          <p:cNvSpPr/>
          <p:nvPr/>
        </p:nvSpPr>
        <p:spPr>
          <a:xfrm>
            <a:off x="502920" y="2286000"/>
            <a:ext cx="457200" cy="457200"/>
          </a:xfrm>
          <a:prstGeom prst="roundRect">
            <a:avLst>
              <a:gd name="adj" fmla="val 16666"/>
            </a:avLst>
          </a:prstGeom>
          <a:solidFill>
            <a:srgbClr val="BF21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2200" b="1" i="0">
                <a:solidFill>
                  <a:srgbClr val="FFFFFF"/>
                </a:solidFill>
                <a:latin typeface="Swis721 Cn BT"/>
              </a:rPr>
              <a:t>R</a:t>
            </a:r>
          </a:p>
        </p:txBody>
      </p:sp>
      <p:sp>
        <p:nvSpPr>
          <p:cNvPr id="16" name="TextBox 15"/>
          <p:cNvSpPr txBox="1"/>
          <p:nvPr/>
        </p:nvSpPr>
        <p:spPr>
          <a:xfrm>
            <a:off x="1078992" y="2304288"/>
            <a:ext cx="1600200" cy="45720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Requerimiento</a:t>
            </a:r>
          </a:p>
          <a:p>
            <a:pPr algn="l">
              <a:spcAft>
                <a:spcPts val="0"/>
              </a:spcAft>
            </a:pPr>
            <a:r>
              <a:rPr sz="1000" b="0" i="0">
                <a:solidFill>
                  <a:srgbClr val="5B6B73"/>
                </a:solidFill>
                <a:latin typeface="Swis721 Cn BT"/>
              </a:rPr>
              <a:t>la tarea concreta</a:t>
            </a:r>
          </a:p>
        </p:txBody>
      </p:sp>
      <p:sp>
        <p:nvSpPr>
          <p:cNvPr id="17" name="Rounded Rectangle 16"/>
          <p:cNvSpPr/>
          <p:nvPr/>
        </p:nvSpPr>
        <p:spPr>
          <a:xfrm>
            <a:off x="2743200" y="2286000"/>
            <a:ext cx="2697480" cy="4572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5B6B73"/>
                </a:solidFill>
                <a:latin typeface="Swis721 Cn BT"/>
              </a:rPr>
              <a:t>«Redactar o actualizar un protocolo»</a:t>
            </a:r>
          </a:p>
        </p:txBody>
      </p:sp>
      <p:sp>
        <p:nvSpPr>
          <p:cNvPr id="18" name="Rounded Rectangle 17"/>
          <p:cNvSpPr/>
          <p:nvPr/>
        </p:nvSpPr>
        <p:spPr>
          <a:xfrm>
            <a:off x="5577840" y="2286000"/>
            <a:ext cx="3063240" cy="45720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1F2A30"/>
                </a:solidFill>
                <a:latin typeface="Swis721 Cn BT"/>
              </a:rPr>
              <a:t>«Crear tu tarjeta de marca o un material»</a:t>
            </a:r>
          </a:p>
        </p:txBody>
      </p:sp>
      <p:sp>
        <p:nvSpPr>
          <p:cNvPr id="19" name="Rounded Rectangle 18"/>
          <p:cNvSpPr/>
          <p:nvPr/>
        </p:nvSpPr>
        <p:spPr>
          <a:xfrm>
            <a:off x="502920" y="2880360"/>
            <a:ext cx="457200" cy="457200"/>
          </a:xfrm>
          <a:prstGeom prst="roundRect">
            <a:avLst>
              <a:gd name="adj" fmla="val 16666"/>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2200" b="1" i="0">
                <a:solidFill>
                  <a:srgbClr val="1F2A30"/>
                </a:solidFill>
                <a:latin typeface="Swis721 Cn BT"/>
              </a:rPr>
              <a:t>T</a:t>
            </a:r>
          </a:p>
        </p:txBody>
      </p:sp>
      <p:sp>
        <p:nvSpPr>
          <p:cNvPr id="20" name="TextBox 19"/>
          <p:cNvSpPr txBox="1"/>
          <p:nvPr/>
        </p:nvSpPr>
        <p:spPr>
          <a:xfrm>
            <a:off x="1078992" y="2898648"/>
            <a:ext cx="1600200" cy="45720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Tono y formato</a:t>
            </a:r>
          </a:p>
          <a:p>
            <a:pPr algn="l">
              <a:spcAft>
                <a:spcPts val="0"/>
              </a:spcAft>
            </a:pPr>
            <a:r>
              <a:rPr sz="1000" b="0" i="0">
                <a:solidFill>
                  <a:srgbClr val="5B6B73"/>
                </a:solidFill>
                <a:latin typeface="Swis721 Cn BT"/>
              </a:rPr>
              <a:t>cómo quieres la salida</a:t>
            </a:r>
          </a:p>
        </p:txBody>
      </p:sp>
      <p:sp>
        <p:nvSpPr>
          <p:cNvPr id="21" name="Rounded Rectangle 20"/>
          <p:cNvSpPr/>
          <p:nvPr/>
        </p:nvSpPr>
        <p:spPr>
          <a:xfrm>
            <a:off x="2743200" y="2880360"/>
            <a:ext cx="2697480" cy="4572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5B6B73"/>
                </a:solidFill>
                <a:latin typeface="Swis721 Cn BT"/>
              </a:rPr>
              <a:t>«Secciones del protocolo»</a:t>
            </a:r>
          </a:p>
        </p:txBody>
      </p:sp>
      <p:sp>
        <p:nvSpPr>
          <p:cNvPr id="22" name="Rounded Rectangle 21"/>
          <p:cNvSpPr/>
          <p:nvPr/>
        </p:nvSpPr>
        <p:spPr>
          <a:xfrm>
            <a:off x="5577840" y="2880360"/>
            <a:ext cx="3063240" cy="45720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1F2A30"/>
                </a:solidFill>
                <a:latin typeface="Swis721 Cn BT"/>
              </a:rPr>
              <a:t>«Medidas, formato y público»</a:t>
            </a:r>
          </a:p>
        </p:txBody>
      </p:sp>
      <p:sp>
        <p:nvSpPr>
          <p:cNvPr id="23" name="Rounded Rectangle 22"/>
          <p:cNvSpPr/>
          <p:nvPr/>
        </p:nvSpPr>
        <p:spPr>
          <a:xfrm>
            <a:off x="502920" y="3474720"/>
            <a:ext cx="457200" cy="457200"/>
          </a:xfrm>
          <a:prstGeom prst="roundRect">
            <a:avLst>
              <a:gd name="adj" fmla="val 16666"/>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2200" b="1" i="0">
                <a:solidFill>
                  <a:srgbClr val="FFFFFF"/>
                </a:solidFill>
                <a:latin typeface="Swis721 Cn BT"/>
              </a:rPr>
              <a:t>O</a:t>
            </a:r>
          </a:p>
        </p:txBody>
      </p:sp>
      <p:sp>
        <p:nvSpPr>
          <p:cNvPr id="24" name="TextBox 23"/>
          <p:cNvSpPr txBox="1"/>
          <p:nvPr/>
        </p:nvSpPr>
        <p:spPr>
          <a:xfrm>
            <a:off x="1078992" y="3493008"/>
            <a:ext cx="1600200" cy="45720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Observaciones</a:t>
            </a:r>
          </a:p>
          <a:p>
            <a:pPr algn="l">
              <a:spcAft>
                <a:spcPts val="0"/>
              </a:spcAft>
            </a:pPr>
            <a:r>
              <a:rPr sz="1000" b="0" i="0">
                <a:solidFill>
                  <a:srgbClr val="5B6B73"/>
                </a:solidFill>
                <a:latin typeface="Swis721 Cn BT"/>
              </a:rPr>
              <a:t>límites y verificación</a:t>
            </a:r>
          </a:p>
        </p:txBody>
      </p:sp>
      <p:sp>
        <p:nvSpPr>
          <p:cNvPr id="25" name="Rounded Rectangle 24"/>
          <p:cNvSpPr/>
          <p:nvPr/>
        </p:nvSpPr>
        <p:spPr>
          <a:xfrm>
            <a:off x="2743200" y="3474720"/>
            <a:ext cx="2697480" cy="4572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0" i="1">
                <a:solidFill>
                  <a:srgbClr val="5B6B73"/>
                </a:solidFill>
                <a:latin typeface="Swis721 Cn BT"/>
              </a:rPr>
              <a:t>«Solo los adjuntos; marcar [VERIFICAR]»</a:t>
            </a:r>
          </a:p>
        </p:txBody>
      </p:sp>
      <p:sp>
        <p:nvSpPr>
          <p:cNvPr id="26" name="Rounded Rectangle 25"/>
          <p:cNvSpPr/>
          <p:nvPr/>
        </p:nvSpPr>
        <p:spPr>
          <a:xfrm>
            <a:off x="5577840" y="3474720"/>
            <a:ext cx="3063240" cy="45720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noAutofit/>
          </a:bodyPr>
          <a:lstStyle/>
          <a:p>
            <a:pPr algn="l">
              <a:spcAft>
                <a:spcPts val="0"/>
              </a:spcAft>
            </a:pPr>
            <a:r>
              <a:rPr sz="1100" b="1" i="1">
                <a:solidFill>
                  <a:srgbClr val="1F2A30"/>
                </a:solidFill>
                <a:latin typeface="Swis721 Cn BT"/>
              </a:rPr>
              <a:t>«Reglas fijas de marca, ya escritas»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1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01</a:t>
            </a:r>
          </a:p>
        </p:txBody>
      </p:sp>
      <p:sp>
        <p:nvSpPr>
          <p:cNvPr id="4" name="Oval 3"/>
          <p:cNvSpPr/>
          <p:nvPr/>
        </p:nvSpPr>
        <p:spPr>
          <a:xfrm>
            <a:off x="822960" y="2514600"/>
            <a:ext cx="1005840" cy="1005840"/>
          </a:xfrm>
          <a:prstGeom prst="ellipse">
            <a:avLst/>
          </a:prstGeom>
          <a:solidFill>
            <a:srgbClr val="0671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Palette"/>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Lo que se ve también comunica</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¿Por qué cuidar el diseño de nuestros materiales?</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Una marca es un sistema</a:t>
            </a:r>
          </a:p>
        </p:txBody>
      </p:sp>
      <p:sp>
        <p:nvSpPr>
          <p:cNvPr id="11" name="Oval 10"/>
          <p:cNvSpPr/>
          <p:nvPr/>
        </p:nvSpPr>
        <p:spPr>
          <a:xfrm>
            <a:off x="2633472" y="318211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Tres números que protegen a quien lee</a:t>
            </a:r>
          </a:p>
        </p:txBody>
      </p:sp>
      <p:sp>
        <p:nvSpPr>
          <p:cNvPr id="13" name="Oval 12"/>
          <p:cNvSpPr/>
          <p:nvPr/>
        </p:nvSpPr>
        <p:spPr>
          <a:xfrm>
            <a:off x="2633472" y="3493008"/>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TextBox 13"/>
          <p:cNvSpPr txBox="1"/>
          <p:nvPr/>
        </p:nvSpPr>
        <p:spPr>
          <a:xfrm>
            <a:off x="2880360" y="3410712"/>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Tres situaciones de partida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Una marca es un sistema, no solo un logo</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[3] Henderson y Cote, 1998 · [4] Labrecque y Milne, 2012 · [5] Melewar et al., 2018</a:t>
            </a:r>
          </a:p>
        </p:txBody>
      </p:sp>
      <p:sp>
        <p:nvSpPr>
          <p:cNvPr id="5" name="Rounded Rectangle 4"/>
          <p:cNvSpPr/>
          <p:nvPr/>
        </p:nvSpPr>
        <p:spPr>
          <a:xfrm>
            <a:off x="502920" y="868680"/>
            <a:ext cx="2606040" cy="1170432"/>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6" name="Oval 5"/>
          <p:cNvSpPr/>
          <p:nvPr/>
        </p:nvSpPr>
        <p:spPr>
          <a:xfrm>
            <a:off x="667512" y="1033271"/>
            <a:ext cx="457200" cy="45720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7" name="Picture 6" descr="Ícono Verified"/>
          <p:cNvPicPr>
            <a:picLocks noChangeAspect="1"/>
          </p:cNvPicPr>
          <p:nvPr/>
        </p:nvPicPr>
        <p:blipFill>
          <a:blip r:embed="rId3"/>
          <a:stretch>
            <a:fillRect/>
          </a:stretch>
        </p:blipFill>
        <p:spPr>
          <a:xfrm>
            <a:off x="763524" y="1129284"/>
            <a:ext cx="265176" cy="265176"/>
          </a:xfrm>
          <a:prstGeom prst="rect">
            <a:avLst/>
          </a:prstGeom>
        </p:spPr>
      </p:pic>
      <p:sp>
        <p:nvSpPr>
          <p:cNvPr id="8" name="TextBox 7"/>
          <p:cNvSpPr txBox="1"/>
          <p:nvPr/>
        </p:nvSpPr>
        <p:spPr>
          <a:xfrm>
            <a:off x="1252728" y="1033271"/>
            <a:ext cx="1737360" cy="45720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Logo</a:t>
            </a:r>
          </a:p>
        </p:txBody>
      </p:sp>
      <p:sp>
        <p:nvSpPr>
          <p:cNvPr id="9" name="TextBox 8"/>
          <p:cNvSpPr txBox="1"/>
          <p:nvPr/>
        </p:nvSpPr>
        <p:spPr>
          <a:xfrm>
            <a:off x="667512" y="1563624"/>
            <a:ext cx="2286000" cy="438912"/>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La firma de tu servicio: original, sin deformar y en su orden.</a:t>
            </a:r>
          </a:p>
        </p:txBody>
      </p:sp>
      <p:sp>
        <p:nvSpPr>
          <p:cNvPr id="10" name="Rounded Rectangle 9"/>
          <p:cNvSpPr/>
          <p:nvPr/>
        </p:nvSpPr>
        <p:spPr>
          <a:xfrm>
            <a:off x="3268980" y="868680"/>
            <a:ext cx="2606040" cy="1170432"/>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1" name="Oval 10"/>
          <p:cNvSpPr/>
          <p:nvPr/>
        </p:nvSpPr>
        <p:spPr>
          <a:xfrm>
            <a:off x="3433572" y="1033271"/>
            <a:ext cx="457200" cy="457200"/>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2" name="Picture 11" descr="Ícono Palette"/>
          <p:cNvPicPr>
            <a:picLocks noChangeAspect="1"/>
          </p:cNvPicPr>
          <p:nvPr/>
        </p:nvPicPr>
        <p:blipFill>
          <a:blip r:embed="rId4"/>
          <a:stretch>
            <a:fillRect/>
          </a:stretch>
        </p:blipFill>
        <p:spPr>
          <a:xfrm>
            <a:off x="3529584" y="1129284"/>
            <a:ext cx="265176" cy="265176"/>
          </a:xfrm>
          <a:prstGeom prst="rect">
            <a:avLst/>
          </a:prstGeom>
        </p:spPr>
      </p:pic>
      <p:sp>
        <p:nvSpPr>
          <p:cNvPr id="13" name="TextBox 12"/>
          <p:cNvSpPr txBox="1"/>
          <p:nvPr/>
        </p:nvSpPr>
        <p:spPr>
          <a:xfrm>
            <a:off x="4018788" y="1033271"/>
            <a:ext cx="1737360" cy="45720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Colores</a:t>
            </a:r>
          </a:p>
        </p:txBody>
      </p:sp>
      <p:sp>
        <p:nvSpPr>
          <p:cNvPr id="14" name="TextBox 13"/>
          <p:cNvSpPr txBox="1"/>
          <p:nvPr/>
        </p:nvSpPr>
        <p:spPr>
          <a:xfrm>
            <a:off x="3433572" y="1563624"/>
            <a:ext cx="2286000" cy="438912"/>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Uno principal, uno o dos de apoyo y neutros, siempre iguales.</a:t>
            </a:r>
          </a:p>
        </p:txBody>
      </p:sp>
      <p:sp>
        <p:nvSpPr>
          <p:cNvPr id="15" name="Rounded Rectangle 14"/>
          <p:cNvSpPr/>
          <p:nvPr/>
        </p:nvSpPr>
        <p:spPr>
          <a:xfrm>
            <a:off x="6035040" y="868680"/>
            <a:ext cx="2606040" cy="1170432"/>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6" name="Oval 15"/>
          <p:cNvSpPr/>
          <p:nvPr/>
        </p:nvSpPr>
        <p:spPr>
          <a:xfrm>
            <a:off x="6199631" y="1033271"/>
            <a:ext cx="457200" cy="45720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7" name="Picture 16" descr="Ícono TextFields"/>
          <p:cNvPicPr>
            <a:picLocks noChangeAspect="1"/>
          </p:cNvPicPr>
          <p:nvPr/>
        </p:nvPicPr>
        <p:blipFill>
          <a:blip r:embed="rId5"/>
          <a:stretch>
            <a:fillRect/>
          </a:stretch>
        </p:blipFill>
        <p:spPr>
          <a:xfrm>
            <a:off x="6295644" y="1129284"/>
            <a:ext cx="265176" cy="265176"/>
          </a:xfrm>
          <a:prstGeom prst="rect">
            <a:avLst/>
          </a:prstGeom>
        </p:spPr>
      </p:pic>
      <p:sp>
        <p:nvSpPr>
          <p:cNvPr id="18" name="TextBox 17"/>
          <p:cNvSpPr txBox="1"/>
          <p:nvPr/>
        </p:nvSpPr>
        <p:spPr>
          <a:xfrm>
            <a:off x="6784848" y="1033271"/>
            <a:ext cx="1737360" cy="45720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Letras</a:t>
            </a:r>
          </a:p>
        </p:txBody>
      </p:sp>
      <p:sp>
        <p:nvSpPr>
          <p:cNvPr id="19" name="TextBox 18"/>
          <p:cNvSpPr txBox="1"/>
          <p:nvPr/>
        </p:nvSpPr>
        <p:spPr>
          <a:xfrm>
            <a:off x="6199631" y="1563624"/>
            <a:ext cx="2286000" cy="438912"/>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Una para títulos y otra para textos, legibles y gratuitas.</a:t>
            </a:r>
          </a:p>
        </p:txBody>
      </p:sp>
      <p:sp>
        <p:nvSpPr>
          <p:cNvPr id="20" name="Rounded Rectangle 19"/>
          <p:cNvSpPr/>
          <p:nvPr/>
        </p:nvSpPr>
        <p:spPr>
          <a:xfrm>
            <a:off x="502920" y="2130552"/>
            <a:ext cx="2606040" cy="1170432"/>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1" name="Oval 20"/>
          <p:cNvSpPr/>
          <p:nvPr/>
        </p:nvSpPr>
        <p:spPr>
          <a:xfrm>
            <a:off x="667512" y="2295144"/>
            <a:ext cx="457200" cy="457200"/>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2" name="Picture 21" descr="Ícono PhotoCamera"/>
          <p:cNvPicPr>
            <a:picLocks noChangeAspect="1"/>
          </p:cNvPicPr>
          <p:nvPr/>
        </p:nvPicPr>
        <p:blipFill>
          <a:blip r:embed="rId6"/>
          <a:stretch>
            <a:fillRect/>
          </a:stretch>
        </p:blipFill>
        <p:spPr>
          <a:xfrm>
            <a:off x="763524" y="2391156"/>
            <a:ext cx="265176" cy="265176"/>
          </a:xfrm>
          <a:prstGeom prst="rect">
            <a:avLst/>
          </a:prstGeom>
        </p:spPr>
      </p:pic>
      <p:sp>
        <p:nvSpPr>
          <p:cNvPr id="23" name="TextBox 22"/>
          <p:cNvSpPr txBox="1"/>
          <p:nvPr/>
        </p:nvSpPr>
        <p:spPr>
          <a:xfrm>
            <a:off x="1252728" y="2295144"/>
            <a:ext cx="1737360" cy="45720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Imágenes</a:t>
            </a:r>
          </a:p>
        </p:txBody>
      </p:sp>
      <p:sp>
        <p:nvSpPr>
          <p:cNvPr id="24" name="TextBox 23"/>
          <p:cNvSpPr txBox="1"/>
          <p:nvPr/>
        </p:nvSpPr>
        <p:spPr>
          <a:xfrm>
            <a:off x="667512" y="2825496"/>
            <a:ext cx="2286000" cy="438912"/>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Fotos reales y autorizadas, o ilustraciones simples.</a:t>
            </a:r>
          </a:p>
        </p:txBody>
      </p:sp>
      <p:sp>
        <p:nvSpPr>
          <p:cNvPr id="25" name="Rounded Rectangle 24"/>
          <p:cNvSpPr/>
          <p:nvPr/>
        </p:nvSpPr>
        <p:spPr>
          <a:xfrm>
            <a:off x="3268980" y="2130552"/>
            <a:ext cx="2606040" cy="1170432"/>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6" name="Oval 25"/>
          <p:cNvSpPr/>
          <p:nvPr/>
        </p:nvSpPr>
        <p:spPr>
          <a:xfrm>
            <a:off x="3433572" y="2295144"/>
            <a:ext cx="457200" cy="45720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7" name="Picture 26" descr="Ícono RecordVoiceOver"/>
          <p:cNvPicPr>
            <a:picLocks noChangeAspect="1"/>
          </p:cNvPicPr>
          <p:nvPr/>
        </p:nvPicPr>
        <p:blipFill>
          <a:blip r:embed="rId7"/>
          <a:stretch>
            <a:fillRect/>
          </a:stretch>
        </p:blipFill>
        <p:spPr>
          <a:xfrm>
            <a:off x="3529584" y="2391156"/>
            <a:ext cx="265176" cy="265176"/>
          </a:xfrm>
          <a:prstGeom prst="rect">
            <a:avLst/>
          </a:prstGeom>
        </p:spPr>
      </p:pic>
      <p:sp>
        <p:nvSpPr>
          <p:cNvPr id="28" name="TextBox 27"/>
          <p:cNvSpPr txBox="1"/>
          <p:nvPr/>
        </p:nvSpPr>
        <p:spPr>
          <a:xfrm>
            <a:off x="4018788" y="2295144"/>
            <a:ext cx="1737360" cy="45720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Tono</a:t>
            </a:r>
          </a:p>
        </p:txBody>
      </p:sp>
      <p:sp>
        <p:nvSpPr>
          <p:cNvPr id="29" name="TextBox 28"/>
          <p:cNvSpPr txBox="1"/>
          <p:nvPr/>
        </p:nvSpPr>
        <p:spPr>
          <a:xfrm>
            <a:off x="3433572" y="2825496"/>
            <a:ext cx="2286000" cy="438912"/>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Cómo hablamos: cercano, claro y respetuoso.</a:t>
            </a:r>
          </a:p>
        </p:txBody>
      </p:sp>
      <p:sp>
        <p:nvSpPr>
          <p:cNvPr id="30" name="Rounded Rectangle 29"/>
          <p:cNvSpPr/>
          <p:nvPr/>
        </p:nvSpPr>
        <p:spPr>
          <a:xfrm>
            <a:off x="6035040" y="2130552"/>
            <a:ext cx="2606040" cy="1170432"/>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1" name="Oval 30"/>
          <p:cNvSpPr/>
          <p:nvPr/>
        </p:nvSpPr>
        <p:spPr>
          <a:xfrm>
            <a:off x="6199631" y="2295144"/>
            <a:ext cx="457200" cy="457200"/>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32" name="Picture 31" descr="Ícono Rule"/>
          <p:cNvPicPr>
            <a:picLocks noChangeAspect="1"/>
          </p:cNvPicPr>
          <p:nvPr/>
        </p:nvPicPr>
        <p:blipFill>
          <a:blip r:embed="rId8"/>
          <a:stretch>
            <a:fillRect/>
          </a:stretch>
        </p:blipFill>
        <p:spPr>
          <a:xfrm>
            <a:off x="6295644" y="2391156"/>
            <a:ext cx="265176" cy="265176"/>
          </a:xfrm>
          <a:prstGeom prst="rect">
            <a:avLst/>
          </a:prstGeom>
        </p:spPr>
      </p:pic>
      <p:sp>
        <p:nvSpPr>
          <p:cNvPr id="33" name="TextBox 32"/>
          <p:cNvSpPr txBox="1"/>
          <p:nvPr/>
        </p:nvSpPr>
        <p:spPr>
          <a:xfrm>
            <a:off x="6784848" y="2295144"/>
            <a:ext cx="1737360" cy="457200"/>
          </a:xfrm>
          <a:prstGeom prst="rect">
            <a:avLst/>
          </a:prstGeom>
          <a:noFill/>
        </p:spPr>
        <p:txBody>
          <a:bodyPr wrap="square" lIns="0" tIns="0" rIns="0" bIns="0" anchor="ctr">
            <a:noAutofit/>
          </a:bodyPr>
          <a:lstStyle/>
          <a:p>
            <a:pPr algn="l">
              <a:spcAft>
                <a:spcPts val="0"/>
              </a:spcAft>
            </a:pPr>
            <a:r>
              <a:rPr sz="1400" b="1" i="0">
                <a:solidFill>
                  <a:srgbClr val="003C58"/>
                </a:solidFill>
                <a:latin typeface="Swis721 Cn BT"/>
              </a:rPr>
              <a:t>Reglas</a:t>
            </a:r>
          </a:p>
        </p:txBody>
      </p:sp>
      <p:sp>
        <p:nvSpPr>
          <p:cNvPr id="34" name="TextBox 33"/>
          <p:cNvSpPr txBox="1"/>
          <p:nvPr/>
        </p:nvSpPr>
        <p:spPr>
          <a:xfrm>
            <a:off x="6199631" y="2825496"/>
            <a:ext cx="2286000" cy="438912"/>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Lo que nunca cambia: datos reales, contraste y cuidado.</a:t>
            </a:r>
          </a:p>
        </p:txBody>
      </p:sp>
      <p:sp>
        <p:nvSpPr>
          <p:cNvPr id="35" name="Rounded Rectangle 34"/>
          <p:cNvSpPr/>
          <p:nvPr/>
        </p:nvSpPr>
        <p:spPr>
          <a:xfrm>
            <a:off x="502920" y="3438144"/>
            <a:ext cx="8138160" cy="630936"/>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6" name="Oval 35"/>
          <p:cNvSpPr/>
          <p:nvPr/>
        </p:nvSpPr>
        <p:spPr>
          <a:xfrm>
            <a:off x="658368" y="3525011"/>
            <a:ext cx="457200" cy="45720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37" name="Picture 36" descr="Ícono Lightbulb"/>
          <p:cNvPicPr>
            <a:picLocks noChangeAspect="1"/>
          </p:cNvPicPr>
          <p:nvPr/>
        </p:nvPicPr>
        <p:blipFill>
          <a:blip r:embed="rId9"/>
          <a:stretch>
            <a:fillRect/>
          </a:stretch>
        </p:blipFill>
        <p:spPr>
          <a:xfrm>
            <a:off x="754380" y="3621023"/>
            <a:ext cx="265176" cy="265176"/>
          </a:xfrm>
          <a:prstGeom prst="rect">
            <a:avLst/>
          </a:prstGeom>
        </p:spPr>
      </p:pic>
      <p:sp>
        <p:nvSpPr>
          <p:cNvPr id="38" name="TextBox 37"/>
          <p:cNvSpPr txBox="1"/>
          <p:nvPr/>
        </p:nvSpPr>
        <p:spPr>
          <a:xfrm>
            <a:off x="1280160" y="3474720"/>
            <a:ext cx="7178040" cy="557784"/>
          </a:xfrm>
          <a:prstGeom prst="rect">
            <a:avLst/>
          </a:prstGeom>
          <a:noFill/>
        </p:spPr>
        <p:txBody>
          <a:bodyPr wrap="square" lIns="0" tIns="0" rIns="0" bIns="0" anchor="ctr">
            <a:noAutofit/>
          </a:bodyPr>
          <a:lstStyle/>
          <a:p>
            <a:pPr algn="l">
              <a:spcAft>
                <a:spcPts val="0"/>
              </a:spcAft>
            </a:pPr>
            <a:r>
              <a:rPr sz="1350" b="0" i="0">
                <a:solidFill>
                  <a:srgbClr val="1F2A30"/>
                </a:solidFill>
                <a:latin typeface="Swis721 Cn BT"/>
              </a:rPr>
              <a:t>Cuando todo coincide, tu servicio se </a:t>
            </a:r>
            <a:r>
              <a:rPr sz="1350" b="1" i="0">
                <a:solidFill>
                  <a:srgbClr val="BF210C"/>
                </a:solidFill>
                <a:latin typeface="Swis721 Cn BT"/>
              </a:rPr>
              <a:t>reconoce a primera vista</a:t>
            </a:r>
            <a:r>
              <a:rPr sz="1350" b="0" i="0">
                <a:solidFill>
                  <a:srgbClr val="1F2A30"/>
                </a:solidFill>
                <a:latin typeface="Swis721 Cn BT"/>
              </a:rPr>
              <a:t> y tus materiales se ven </a:t>
            </a:r>
            <a:r>
              <a:rPr sz="1350" b="1" i="0">
                <a:solidFill>
                  <a:srgbClr val="BF210C"/>
                </a:solidFill>
                <a:latin typeface="Swis721 Cn BT"/>
              </a:rPr>
              <a:t>profesionales</a:t>
            </a:r>
            <a:r>
              <a:rPr sz="1350" b="0" i="0">
                <a:solidFill>
                  <a:srgbClr val="1F2A30"/>
                </a:solidFill>
                <a:latin typeface="Swis721 Cn BT"/>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Tres números que protegen a quien lee</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[6] Birch, 2012 · [7] W3C, 2023 · [8] Barrio-Cantalejo et al., 2008</a:t>
            </a:r>
          </a:p>
        </p:txBody>
      </p:sp>
      <p:sp>
        <p:nvSpPr>
          <p:cNvPr id="5" name="Rounded Rectangle 4"/>
          <p:cNvSpPr/>
          <p:nvPr/>
        </p:nvSpPr>
        <p:spPr>
          <a:xfrm>
            <a:off x="502920" y="868680"/>
            <a:ext cx="2606040" cy="237744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6" name="TextBox 5"/>
          <p:cNvSpPr txBox="1"/>
          <p:nvPr/>
        </p:nvSpPr>
        <p:spPr>
          <a:xfrm>
            <a:off x="704088" y="978408"/>
            <a:ext cx="2194560" cy="685800"/>
          </a:xfrm>
          <a:prstGeom prst="rect">
            <a:avLst/>
          </a:prstGeom>
          <a:noFill/>
        </p:spPr>
        <p:txBody>
          <a:bodyPr wrap="square" lIns="0" tIns="0" rIns="0" bIns="0" anchor="t">
            <a:noAutofit/>
          </a:bodyPr>
          <a:lstStyle/>
          <a:p>
            <a:pPr algn="l">
              <a:spcAft>
                <a:spcPts val="0"/>
              </a:spcAft>
            </a:pPr>
            <a:r>
              <a:rPr sz="4000" b="1" i="0">
                <a:solidFill>
                  <a:srgbClr val="003C58"/>
                </a:solidFill>
                <a:latin typeface="Swis721 Cn BT"/>
              </a:rPr>
              <a:t>4,5 : 1</a:t>
            </a:r>
          </a:p>
        </p:txBody>
      </p:sp>
      <p:sp>
        <p:nvSpPr>
          <p:cNvPr id="7" name="TextBox 6"/>
          <p:cNvSpPr txBox="1"/>
          <p:nvPr/>
        </p:nvSpPr>
        <p:spPr>
          <a:xfrm>
            <a:off x="704088" y="1673352"/>
            <a:ext cx="2240280" cy="292608"/>
          </a:xfrm>
          <a:prstGeom prst="rect">
            <a:avLst/>
          </a:prstGeom>
          <a:noFill/>
        </p:spPr>
        <p:txBody>
          <a:bodyPr wrap="square" lIns="0" tIns="0" rIns="0" bIns="0" anchor="t">
            <a:noAutofit/>
          </a:bodyPr>
          <a:lstStyle/>
          <a:p>
            <a:pPr algn="l">
              <a:spcAft>
                <a:spcPts val="0"/>
              </a:spcAft>
            </a:pPr>
            <a:r>
              <a:rPr sz="1400" b="1" i="0">
                <a:solidFill>
                  <a:srgbClr val="003C58"/>
                </a:solidFill>
                <a:latin typeface="Swis721 Cn BT"/>
              </a:rPr>
              <a:t>contraste mínimo</a:t>
            </a:r>
          </a:p>
        </p:txBody>
      </p:sp>
      <p:sp>
        <p:nvSpPr>
          <p:cNvPr id="8" name="TextBox 7"/>
          <p:cNvSpPr txBox="1"/>
          <p:nvPr/>
        </p:nvSpPr>
        <p:spPr>
          <a:xfrm>
            <a:off x="704088" y="1984248"/>
            <a:ext cx="2240280" cy="91440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entre texto y fondo (3 : 1 en títulos grandes). Por debajo, a muchas personas les cuesta leer.</a:t>
            </a:r>
          </a:p>
        </p:txBody>
      </p:sp>
      <p:sp>
        <p:nvSpPr>
          <p:cNvPr id="9" name="TextBox 8"/>
          <p:cNvSpPr txBox="1"/>
          <p:nvPr/>
        </p:nvSpPr>
        <p:spPr>
          <a:xfrm>
            <a:off x="704088" y="2898648"/>
            <a:ext cx="2240280" cy="256032"/>
          </a:xfrm>
          <a:prstGeom prst="rect">
            <a:avLst/>
          </a:prstGeom>
          <a:noFill/>
        </p:spPr>
        <p:txBody>
          <a:bodyPr wrap="square" lIns="0" tIns="0" rIns="0" bIns="0" anchor="t">
            <a:noAutofit/>
          </a:bodyPr>
          <a:lstStyle/>
          <a:p>
            <a:pPr algn="l">
              <a:spcAft>
                <a:spcPts val="0"/>
              </a:spcAft>
            </a:pPr>
            <a:r>
              <a:rPr sz="1000" b="0" i="1">
                <a:solidFill>
                  <a:srgbClr val="5B6B73"/>
                </a:solidFill>
                <a:latin typeface="Swis721 Cn BT"/>
              </a:rPr>
              <a:t>WCAG 2.2 · W3C, 2023</a:t>
            </a:r>
          </a:p>
        </p:txBody>
      </p:sp>
      <p:sp>
        <p:nvSpPr>
          <p:cNvPr id="10" name="Rounded Rectangle 9"/>
          <p:cNvSpPr/>
          <p:nvPr/>
        </p:nvSpPr>
        <p:spPr>
          <a:xfrm>
            <a:off x="3273552" y="868680"/>
            <a:ext cx="2606040" cy="237744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1" name="TextBox 10"/>
          <p:cNvSpPr txBox="1"/>
          <p:nvPr/>
        </p:nvSpPr>
        <p:spPr>
          <a:xfrm>
            <a:off x="3474720" y="978408"/>
            <a:ext cx="2194560" cy="685800"/>
          </a:xfrm>
          <a:prstGeom prst="rect">
            <a:avLst/>
          </a:prstGeom>
          <a:noFill/>
        </p:spPr>
        <p:txBody>
          <a:bodyPr wrap="square" lIns="0" tIns="0" rIns="0" bIns="0" anchor="t">
            <a:noAutofit/>
          </a:bodyPr>
          <a:lstStyle/>
          <a:p>
            <a:pPr algn="l">
              <a:spcAft>
                <a:spcPts val="0"/>
              </a:spcAft>
            </a:pPr>
            <a:r>
              <a:rPr sz="4000" b="1" i="0">
                <a:solidFill>
                  <a:srgbClr val="BF210C"/>
                </a:solidFill>
                <a:latin typeface="Swis721 Cn BT"/>
              </a:rPr>
              <a:t>≈ 8 %</a:t>
            </a:r>
          </a:p>
        </p:txBody>
      </p:sp>
      <p:sp>
        <p:nvSpPr>
          <p:cNvPr id="12" name="TextBox 11"/>
          <p:cNvSpPr txBox="1"/>
          <p:nvPr/>
        </p:nvSpPr>
        <p:spPr>
          <a:xfrm>
            <a:off x="3474720" y="1673352"/>
            <a:ext cx="2240280" cy="292608"/>
          </a:xfrm>
          <a:prstGeom prst="rect">
            <a:avLst/>
          </a:prstGeom>
          <a:noFill/>
        </p:spPr>
        <p:txBody>
          <a:bodyPr wrap="square" lIns="0" tIns="0" rIns="0" bIns="0" anchor="t">
            <a:noAutofit/>
          </a:bodyPr>
          <a:lstStyle/>
          <a:p>
            <a:pPr algn="l">
              <a:spcAft>
                <a:spcPts val="0"/>
              </a:spcAft>
            </a:pPr>
            <a:r>
              <a:rPr sz="1400" b="1" i="0">
                <a:solidFill>
                  <a:srgbClr val="003C58"/>
                </a:solidFill>
                <a:latin typeface="Swis721 Cn BT"/>
              </a:rPr>
              <a:t>de los hombres</a:t>
            </a:r>
          </a:p>
        </p:txBody>
      </p:sp>
      <p:sp>
        <p:nvSpPr>
          <p:cNvPr id="13" name="TextBox 12"/>
          <p:cNvSpPr txBox="1"/>
          <p:nvPr/>
        </p:nvSpPr>
        <p:spPr>
          <a:xfrm>
            <a:off x="3474720" y="1984248"/>
            <a:ext cx="2240280" cy="91440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de ascendencia europea tiene dificultad para distinguir rojo y verde: nunca uses solo el color.</a:t>
            </a:r>
          </a:p>
        </p:txBody>
      </p:sp>
      <p:sp>
        <p:nvSpPr>
          <p:cNvPr id="14" name="TextBox 13"/>
          <p:cNvSpPr txBox="1"/>
          <p:nvPr/>
        </p:nvSpPr>
        <p:spPr>
          <a:xfrm>
            <a:off x="3474720" y="2898648"/>
            <a:ext cx="2240280" cy="256032"/>
          </a:xfrm>
          <a:prstGeom prst="rect">
            <a:avLst/>
          </a:prstGeom>
          <a:noFill/>
        </p:spPr>
        <p:txBody>
          <a:bodyPr wrap="square" lIns="0" tIns="0" rIns="0" bIns="0" anchor="t">
            <a:noAutofit/>
          </a:bodyPr>
          <a:lstStyle/>
          <a:p>
            <a:pPr algn="l">
              <a:spcAft>
                <a:spcPts val="0"/>
              </a:spcAft>
            </a:pPr>
            <a:r>
              <a:rPr sz="1000" b="0" i="1">
                <a:solidFill>
                  <a:srgbClr val="5B6B73"/>
                </a:solidFill>
                <a:latin typeface="Swis721 Cn BT"/>
              </a:rPr>
              <a:t>Revisión mundial · Birch, 2012</a:t>
            </a:r>
          </a:p>
        </p:txBody>
      </p:sp>
      <p:sp>
        <p:nvSpPr>
          <p:cNvPr id="15" name="Rounded Rectangle 14"/>
          <p:cNvSpPr/>
          <p:nvPr/>
        </p:nvSpPr>
        <p:spPr>
          <a:xfrm>
            <a:off x="6035040" y="868680"/>
            <a:ext cx="2606040" cy="237744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6" name="TextBox 15"/>
          <p:cNvSpPr txBox="1"/>
          <p:nvPr/>
        </p:nvSpPr>
        <p:spPr>
          <a:xfrm>
            <a:off x="6236207" y="978408"/>
            <a:ext cx="2194560" cy="685800"/>
          </a:xfrm>
          <a:prstGeom prst="rect">
            <a:avLst/>
          </a:prstGeom>
          <a:noFill/>
        </p:spPr>
        <p:txBody>
          <a:bodyPr wrap="square" lIns="0" tIns="0" rIns="0" bIns="0" anchor="t">
            <a:noAutofit/>
          </a:bodyPr>
          <a:lstStyle/>
          <a:p>
            <a:pPr algn="l">
              <a:spcAft>
                <a:spcPts val="0"/>
              </a:spcAft>
            </a:pPr>
            <a:r>
              <a:rPr sz="4000" b="1" i="0">
                <a:solidFill>
                  <a:srgbClr val="003C58"/>
                </a:solidFill>
                <a:latin typeface="Swis721 Cn BT"/>
              </a:rPr>
              <a:t>&gt; 55</a:t>
            </a:r>
          </a:p>
        </p:txBody>
      </p:sp>
      <p:sp>
        <p:nvSpPr>
          <p:cNvPr id="17" name="TextBox 16"/>
          <p:cNvSpPr txBox="1"/>
          <p:nvPr/>
        </p:nvSpPr>
        <p:spPr>
          <a:xfrm>
            <a:off x="6236207" y="1673352"/>
            <a:ext cx="2240280" cy="292608"/>
          </a:xfrm>
          <a:prstGeom prst="rect">
            <a:avLst/>
          </a:prstGeom>
          <a:noFill/>
        </p:spPr>
        <p:txBody>
          <a:bodyPr wrap="square" lIns="0" tIns="0" rIns="0" bIns="0" anchor="t">
            <a:noAutofit/>
          </a:bodyPr>
          <a:lstStyle/>
          <a:p>
            <a:pPr algn="l">
              <a:spcAft>
                <a:spcPts val="0"/>
              </a:spcAft>
            </a:pPr>
            <a:r>
              <a:rPr sz="1400" b="1" i="0">
                <a:solidFill>
                  <a:srgbClr val="003C58"/>
                </a:solidFill>
                <a:latin typeface="Swis721 Cn BT"/>
              </a:rPr>
              <a:t>puntos INFLESZ</a:t>
            </a:r>
          </a:p>
        </p:txBody>
      </p:sp>
      <p:sp>
        <p:nvSpPr>
          <p:cNvPr id="18" name="TextBox 17"/>
          <p:cNvSpPr txBox="1"/>
          <p:nvPr/>
        </p:nvSpPr>
        <p:spPr>
          <a:xfrm>
            <a:off x="6236207" y="1984248"/>
            <a:ext cx="2240280" cy="91440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Los textos de salud con ese puntaje tienen más probabilidad de ser leídos y comprendidos.</a:t>
            </a:r>
          </a:p>
        </p:txBody>
      </p:sp>
      <p:sp>
        <p:nvSpPr>
          <p:cNvPr id="19" name="TextBox 18"/>
          <p:cNvSpPr txBox="1"/>
          <p:nvPr/>
        </p:nvSpPr>
        <p:spPr>
          <a:xfrm>
            <a:off x="6236207" y="2898648"/>
            <a:ext cx="2240280" cy="256032"/>
          </a:xfrm>
          <a:prstGeom prst="rect">
            <a:avLst/>
          </a:prstGeom>
          <a:noFill/>
        </p:spPr>
        <p:txBody>
          <a:bodyPr wrap="square" lIns="0" tIns="0" rIns="0" bIns="0" anchor="t">
            <a:noAutofit/>
          </a:bodyPr>
          <a:lstStyle/>
          <a:p>
            <a:pPr algn="l">
              <a:spcAft>
                <a:spcPts val="0"/>
              </a:spcAft>
            </a:pPr>
            <a:r>
              <a:rPr sz="1000" b="0" i="1">
                <a:solidFill>
                  <a:srgbClr val="5B6B73"/>
                </a:solidFill>
                <a:latin typeface="Swis721 Cn BT"/>
              </a:rPr>
              <a:t>Validación en español · 2008</a:t>
            </a:r>
          </a:p>
        </p:txBody>
      </p:sp>
      <p:sp>
        <p:nvSpPr>
          <p:cNvPr id="20" name="Rounded Rectangle 19"/>
          <p:cNvSpPr/>
          <p:nvPr/>
        </p:nvSpPr>
        <p:spPr>
          <a:xfrm>
            <a:off x="502920" y="3401568"/>
            <a:ext cx="8138160" cy="667512"/>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1" name="Oval 20"/>
          <p:cNvSpPr/>
          <p:nvPr/>
        </p:nvSpPr>
        <p:spPr>
          <a:xfrm>
            <a:off x="658368" y="3506724"/>
            <a:ext cx="457200" cy="45720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2" name="Picture 21" descr="Ícono Lightbulb"/>
          <p:cNvPicPr>
            <a:picLocks noChangeAspect="1"/>
          </p:cNvPicPr>
          <p:nvPr/>
        </p:nvPicPr>
        <p:blipFill>
          <a:blip r:embed="rId3"/>
          <a:stretch>
            <a:fillRect/>
          </a:stretch>
        </p:blipFill>
        <p:spPr>
          <a:xfrm>
            <a:off x="754380" y="3602736"/>
            <a:ext cx="265176" cy="265176"/>
          </a:xfrm>
          <a:prstGeom prst="rect">
            <a:avLst/>
          </a:prstGeom>
        </p:spPr>
      </p:pic>
      <p:sp>
        <p:nvSpPr>
          <p:cNvPr id="23" name="TextBox 22"/>
          <p:cNvSpPr txBox="1"/>
          <p:nvPr/>
        </p:nvSpPr>
        <p:spPr>
          <a:xfrm>
            <a:off x="1280160" y="3438144"/>
            <a:ext cx="7178040" cy="594360"/>
          </a:xfrm>
          <a:prstGeom prst="rect">
            <a:avLst/>
          </a:prstGeom>
          <a:noFill/>
        </p:spPr>
        <p:txBody>
          <a:bodyPr wrap="square" lIns="0" tIns="0" rIns="0" bIns="0" anchor="ctr">
            <a:noAutofit/>
          </a:bodyPr>
          <a:lstStyle/>
          <a:p>
            <a:pPr algn="l">
              <a:spcAft>
                <a:spcPts val="0"/>
              </a:spcAft>
            </a:pPr>
            <a:r>
              <a:rPr sz="1300" b="1" i="0">
                <a:solidFill>
                  <a:srgbClr val="1F2A30"/>
                </a:solidFill>
                <a:latin typeface="Swis721 Cn BT"/>
              </a:rPr>
              <a:t>La buena noticia: </a:t>
            </a:r>
            <a:r>
              <a:rPr sz="1300" b="0" i="0">
                <a:solidFill>
                  <a:srgbClr val="1F2A30"/>
                </a:solidFill>
                <a:latin typeface="Swis721 Cn BT"/>
              </a:rPr>
              <a:t>tu tarjeta de marca trae estas reglas; la IA las aplica y te avisa qué revisar.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Tres situaciones de partida</a:t>
            </a:r>
          </a:p>
        </p:txBody>
      </p:sp>
      <p:sp>
        <p:nvSpPr>
          <p:cNvPr id="3" name="Rounded Rectangle 2"/>
          <p:cNvSpPr/>
          <p:nvPr/>
        </p:nvSpPr>
        <p:spPr>
          <a:xfrm>
            <a:off x="502920" y="868680"/>
            <a:ext cx="2606040" cy="25146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Oval 3"/>
          <p:cNvSpPr/>
          <p:nvPr/>
        </p:nvSpPr>
        <p:spPr>
          <a:xfrm>
            <a:off x="685800" y="1024128"/>
            <a:ext cx="475488" cy="475488"/>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LibraryBooks"/>
          <p:cNvPicPr>
            <a:picLocks noChangeAspect="1"/>
          </p:cNvPicPr>
          <p:nvPr/>
        </p:nvPicPr>
        <p:blipFill>
          <a:blip r:embed="rId3"/>
          <a:stretch>
            <a:fillRect/>
          </a:stretch>
        </p:blipFill>
        <p:spPr>
          <a:xfrm>
            <a:off x="785652" y="1123980"/>
            <a:ext cx="275783" cy="275783"/>
          </a:xfrm>
          <a:prstGeom prst="rect">
            <a:avLst/>
          </a:prstGeom>
        </p:spPr>
      </p:pic>
      <p:sp>
        <p:nvSpPr>
          <p:cNvPr id="6" name="TextBox 5"/>
          <p:cNvSpPr txBox="1"/>
          <p:nvPr/>
        </p:nvSpPr>
        <p:spPr>
          <a:xfrm>
            <a:off x="1280160" y="987552"/>
            <a:ext cx="1691640" cy="548640"/>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Mi servicio tiene manual de marca</a:t>
            </a:r>
          </a:p>
        </p:txBody>
      </p:sp>
      <p:sp>
        <p:nvSpPr>
          <p:cNvPr id="7" name="TextBox 6"/>
          <p:cNvSpPr txBox="1"/>
          <p:nvPr/>
        </p:nvSpPr>
        <p:spPr>
          <a:xfrm>
            <a:off x="685800" y="1691640"/>
            <a:ext cx="2240280" cy="96012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El manual manda: la IA toma de ahí logos, colores y letras, y solo completa lo que falte.</a:t>
            </a:r>
          </a:p>
        </p:txBody>
      </p:sp>
      <p:sp>
        <p:nvSpPr>
          <p:cNvPr id="8" name="TextBox 7"/>
          <p:cNvSpPr txBox="1"/>
          <p:nvPr/>
        </p:nvSpPr>
        <p:spPr>
          <a:xfrm>
            <a:off x="685800" y="2697480"/>
            <a:ext cx="2240280" cy="594360"/>
          </a:xfrm>
          <a:prstGeom prst="rect">
            <a:avLst/>
          </a:prstGeom>
          <a:noFill/>
        </p:spPr>
        <p:txBody>
          <a:bodyPr wrap="square" lIns="0" tIns="0" rIns="0" bIns="0" anchor="t">
            <a:noAutofit/>
          </a:bodyPr>
          <a:lstStyle/>
          <a:p>
            <a:pPr algn="l">
              <a:spcAft>
                <a:spcPts val="0"/>
              </a:spcAft>
            </a:pPr>
            <a:r>
              <a:rPr sz="1100" b="1" i="0">
                <a:solidFill>
                  <a:srgbClr val="BF210C"/>
                </a:solidFill>
                <a:latin typeface="Swis721 Cn BT"/>
              </a:rPr>
              <a:t>Tu acción: </a:t>
            </a:r>
            <a:r>
              <a:rPr sz="1100" b="0" i="0">
                <a:solidFill>
                  <a:srgbClr val="1F2A30"/>
                </a:solidFill>
                <a:latin typeface="Swis721 Cn BT"/>
              </a:rPr>
              <a:t>pide el manual a comunicaciones y adjúntalo.</a:t>
            </a:r>
          </a:p>
        </p:txBody>
      </p:sp>
      <p:sp>
        <p:nvSpPr>
          <p:cNvPr id="9" name="Rounded Rectangle 8"/>
          <p:cNvSpPr/>
          <p:nvPr/>
        </p:nvSpPr>
        <p:spPr>
          <a:xfrm>
            <a:off x="3273552" y="868680"/>
            <a:ext cx="2606040" cy="25146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Oval 9"/>
          <p:cNvSpPr/>
          <p:nvPr/>
        </p:nvSpPr>
        <p:spPr>
          <a:xfrm>
            <a:off x="3456432" y="1024128"/>
            <a:ext cx="475488" cy="475488"/>
          </a:xfrm>
          <a:prstGeom prst="ellipse">
            <a:avLst/>
          </a:prstGeom>
          <a:solidFill>
            <a:srgbClr val="0671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1" name="Picture 10" descr="Ícono Verified"/>
          <p:cNvPicPr>
            <a:picLocks noChangeAspect="1"/>
          </p:cNvPicPr>
          <p:nvPr/>
        </p:nvPicPr>
        <p:blipFill>
          <a:blip r:embed="rId4"/>
          <a:stretch>
            <a:fillRect/>
          </a:stretch>
        </p:blipFill>
        <p:spPr>
          <a:xfrm>
            <a:off x="3556284" y="1123980"/>
            <a:ext cx="275783" cy="275783"/>
          </a:xfrm>
          <a:prstGeom prst="rect">
            <a:avLst/>
          </a:prstGeom>
        </p:spPr>
      </p:pic>
      <p:sp>
        <p:nvSpPr>
          <p:cNvPr id="12" name="TextBox 11"/>
          <p:cNvSpPr txBox="1"/>
          <p:nvPr/>
        </p:nvSpPr>
        <p:spPr>
          <a:xfrm>
            <a:off x="4050791" y="987552"/>
            <a:ext cx="1691640" cy="548640"/>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Tengo logo, pero no manual</a:t>
            </a:r>
          </a:p>
        </p:txBody>
      </p:sp>
      <p:sp>
        <p:nvSpPr>
          <p:cNvPr id="13" name="TextBox 12"/>
          <p:cNvSpPr txBox="1"/>
          <p:nvPr/>
        </p:nvSpPr>
        <p:spPr>
          <a:xfrm>
            <a:off x="3456432" y="1691640"/>
            <a:ext cx="2240280" cy="96012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La IA estudia las formas y los colores del logo y te propone un sistema que nace de él.</a:t>
            </a:r>
          </a:p>
        </p:txBody>
      </p:sp>
      <p:sp>
        <p:nvSpPr>
          <p:cNvPr id="14" name="TextBox 13"/>
          <p:cNvSpPr txBox="1"/>
          <p:nvPr/>
        </p:nvSpPr>
        <p:spPr>
          <a:xfrm>
            <a:off x="3456432" y="2697480"/>
            <a:ext cx="2240280" cy="594360"/>
          </a:xfrm>
          <a:prstGeom prst="rect">
            <a:avLst/>
          </a:prstGeom>
          <a:noFill/>
        </p:spPr>
        <p:txBody>
          <a:bodyPr wrap="square" lIns="0" tIns="0" rIns="0" bIns="0" anchor="t">
            <a:noAutofit/>
          </a:bodyPr>
          <a:lstStyle/>
          <a:p>
            <a:pPr algn="l">
              <a:spcAft>
                <a:spcPts val="0"/>
              </a:spcAft>
            </a:pPr>
            <a:r>
              <a:rPr sz="1100" b="1" i="0">
                <a:solidFill>
                  <a:srgbClr val="BF210C"/>
                </a:solidFill>
                <a:latin typeface="Swis721 Cn BT"/>
              </a:rPr>
              <a:t>Tu acción: </a:t>
            </a:r>
            <a:r>
              <a:rPr sz="1100" b="0" i="0">
                <a:solidFill>
                  <a:srgbClr val="1F2A30"/>
                </a:solidFill>
                <a:latin typeface="Swis721 Cn BT"/>
              </a:rPr>
              <a:t>adjunta el logo en buena calidad y elige entre sus opciones.</a:t>
            </a:r>
          </a:p>
        </p:txBody>
      </p:sp>
      <p:sp>
        <p:nvSpPr>
          <p:cNvPr id="15" name="Rounded Rectangle 14"/>
          <p:cNvSpPr/>
          <p:nvPr/>
        </p:nvSpPr>
        <p:spPr>
          <a:xfrm>
            <a:off x="6035040" y="868680"/>
            <a:ext cx="2606040" cy="25146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6" name="Oval 15"/>
          <p:cNvSpPr/>
          <p:nvPr/>
        </p:nvSpPr>
        <p:spPr>
          <a:xfrm>
            <a:off x="6217920" y="1024128"/>
            <a:ext cx="475488" cy="475488"/>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7" name="Picture 16" descr="Ícono Brush"/>
          <p:cNvPicPr>
            <a:picLocks noChangeAspect="1"/>
          </p:cNvPicPr>
          <p:nvPr/>
        </p:nvPicPr>
        <p:blipFill>
          <a:blip r:embed="rId5"/>
          <a:stretch>
            <a:fillRect/>
          </a:stretch>
        </p:blipFill>
        <p:spPr>
          <a:xfrm>
            <a:off x="6317772" y="1123980"/>
            <a:ext cx="275783" cy="275783"/>
          </a:xfrm>
          <a:prstGeom prst="rect">
            <a:avLst/>
          </a:prstGeom>
        </p:spPr>
      </p:pic>
      <p:sp>
        <p:nvSpPr>
          <p:cNvPr id="18" name="TextBox 17"/>
          <p:cNvSpPr txBox="1"/>
          <p:nvPr/>
        </p:nvSpPr>
        <p:spPr>
          <a:xfrm>
            <a:off x="6812279" y="987552"/>
            <a:ext cx="1691640" cy="548640"/>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Todavía no tengo logo</a:t>
            </a:r>
          </a:p>
        </p:txBody>
      </p:sp>
      <p:sp>
        <p:nvSpPr>
          <p:cNvPr id="19" name="TextBox 18"/>
          <p:cNvSpPr txBox="1"/>
          <p:nvPr/>
        </p:nvSpPr>
        <p:spPr>
          <a:xfrm>
            <a:off x="6217920" y="1691640"/>
            <a:ext cx="2240280" cy="96012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La IA puede proponer colores, letras y estilo. El logo conviene encargarlo a una persona o a tu institución.</a:t>
            </a:r>
          </a:p>
        </p:txBody>
      </p:sp>
      <p:sp>
        <p:nvSpPr>
          <p:cNvPr id="20" name="TextBox 19"/>
          <p:cNvSpPr txBox="1"/>
          <p:nvPr/>
        </p:nvSpPr>
        <p:spPr>
          <a:xfrm>
            <a:off x="6217920" y="2697480"/>
            <a:ext cx="2240280" cy="594360"/>
          </a:xfrm>
          <a:prstGeom prst="rect">
            <a:avLst/>
          </a:prstGeom>
          <a:noFill/>
        </p:spPr>
        <p:txBody>
          <a:bodyPr wrap="square" lIns="0" tIns="0" rIns="0" bIns="0" anchor="t">
            <a:noAutofit/>
          </a:bodyPr>
          <a:lstStyle/>
          <a:p>
            <a:pPr algn="l">
              <a:spcAft>
                <a:spcPts val="0"/>
              </a:spcAft>
            </a:pPr>
            <a:r>
              <a:rPr sz="1100" b="1" i="0">
                <a:solidFill>
                  <a:srgbClr val="BF210C"/>
                </a:solidFill>
                <a:latin typeface="Swis721 Cn BT"/>
              </a:rPr>
              <a:t>Tu acción: </a:t>
            </a:r>
            <a:r>
              <a:rPr sz="1100" b="0" i="0">
                <a:solidFill>
                  <a:srgbClr val="1F2A30"/>
                </a:solidFill>
                <a:latin typeface="Swis721 Cn BT"/>
              </a:rPr>
              <a:t>parte con el nombre y los colores; el logo, después.</a:t>
            </a:r>
          </a:p>
        </p:txBody>
      </p:sp>
      <p:sp>
        <p:nvSpPr>
          <p:cNvPr id="21" name="Rounded Rectangle 20"/>
          <p:cNvSpPr/>
          <p:nvPr/>
        </p:nvSpPr>
        <p:spPr>
          <a:xfrm>
            <a:off x="502920" y="3520440"/>
            <a:ext cx="8138160" cy="548640"/>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2" name="TextBox 21"/>
          <p:cNvSpPr txBox="1"/>
          <p:nvPr/>
        </p:nvSpPr>
        <p:spPr>
          <a:xfrm>
            <a:off x="731520" y="3557016"/>
            <a:ext cx="7726679" cy="475488"/>
          </a:xfrm>
          <a:prstGeom prst="rect">
            <a:avLst/>
          </a:prstGeom>
          <a:noFill/>
        </p:spPr>
        <p:txBody>
          <a:bodyPr wrap="square" lIns="0" tIns="0" rIns="0" bIns="0" anchor="ctr">
            <a:noAutofit/>
          </a:bodyPr>
          <a:lstStyle/>
          <a:p>
            <a:pPr algn="l">
              <a:spcAft>
                <a:spcPts val="0"/>
              </a:spcAft>
            </a:pPr>
            <a:r>
              <a:rPr sz="1350" b="0" i="0">
                <a:solidFill>
                  <a:srgbClr val="FFFFFF"/>
                </a:solidFill>
                <a:latin typeface="Swis721 Cn BT"/>
              </a:rPr>
              <a:t>En hospitales y CESFAM, los logos institucionales se usan </a:t>
            </a:r>
            <a:r>
              <a:rPr sz="1350" b="1" i="0">
                <a:solidFill>
                  <a:srgbClr val="F2B705"/>
                </a:solidFill>
                <a:latin typeface="Swis721 Cn BT"/>
              </a:rPr>
              <a:t>según su manual y con autorización</a:t>
            </a:r>
            <a:r>
              <a:rPr sz="1350" b="0" i="0">
                <a:solidFill>
                  <a:srgbClr val="FFFFFF"/>
                </a:solidFill>
                <a:latin typeface="Swis721 Cn BT"/>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2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02</a:t>
            </a:r>
          </a:p>
        </p:txBody>
      </p:sp>
      <p:sp>
        <p:nvSpPr>
          <p:cNvPr id="4" name="Oval 3"/>
          <p:cNvSpPr/>
          <p:nvPr/>
        </p:nvSpPr>
        <p:spPr>
          <a:xfrm>
            <a:off x="822960" y="2514600"/>
            <a:ext cx="1005840" cy="1005840"/>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Badge"/>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Tu kit de marca en una hoja</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¿Qué necesita saber la IA de tu servicio?</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La ficha Mi Marca: diez preguntas</a:t>
            </a:r>
          </a:p>
        </p:txBody>
      </p:sp>
      <p:sp>
        <p:nvSpPr>
          <p:cNvPr id="11" name="Oval 10"/>
          <p:cNvSpPr/>
          <p:nvPr/>
        </p:nvSpPr>
        <p:spPr>
          <a:xfrm>
            <a:off x="2633472" y="318211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Así se ve una tarjeta de marca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Ficha Mi Marca: diez preguntas simples</a:t>
            </a:r>
          </a:p>
        </p:txBody>
      </p:sp>
      <p:sp>
        <p:nvSpPr>
          <p:cNvPr id="3" name="Oval 2"/>
          <p:cNvSpPr/>
          <p:nvPr/>
        </p:nvSpPr>
        <p:spPr>
          <a:xfrm>
            <a:off x="502920" y="905256"/>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1</a:t>
            </a:r>
          </a:p>
        </p:txBody>
      </p:sp>
      <p:sp>
        <p:nvSpPr>
          <p:cNvPr id="4" name="TextBox 3"/>
          <p:cNvSpPr txBox="1"/>
          <p:nvPr/>
        </p:nvSpPr>
        <p:spPr>
          <a:xfrm>
            <a:off x="960120" y="841248"/>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Nombre de la marca</a:t>
            </a:r>
          </a:p>
          <a:p>
            <a:pPr algn="l">
              <a:spcAft>
                <a:spcPts val="0"/>
              </a:spcAft>
            </a:pPr>
            <a:r>
              <a:rPr sz="1100" b="0" i="0">
                <a:solidFill>
                  <a:srgbClr val="5B6B73"/>
                </a:solidFill>
                <a:latin typeface="Swis721 Cn BT"/>
              </a:rPr>
              <a:t>servicio, programa, unidad o consulta</a:t>
            </a:r>
          </a:p>
        </p:txBody>
      </p:sp>
      <p:sp>
        <p:nvSpPr>
          <p:cNvPr id="5" name="Oval 4"/>
          <p:cNvSpPr/>
          <p:nvPr/>
        </p:nvSpPr>
        <p:spPr>
          <a:xfrm>
            <a:off x="502920" y="1417320"/>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2</a:t>
            </a:r>
          </a:p>
        </p:txBody>
      </p:sp>
      <p:sp>
        <p:nvSpPr>
          <p:cNvPr id="6" name="TextBox 5"/>
          <p:cNvSpPr txBox="1"/>
          <p:nvPr/>
        </p:nvSpPr>
        <p:spPr>
          <a:xfrm>
            <a:off x="960120" y="1353312"/>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Institución</a:t>
            </a:r>
          </a:p>
          <a:p>
            <a:pPr algn="l">
              <a:spcAft>
                <a:spcPts val="0"/>
              </a:spcAft>
            </a:pPr>
            <a:r>
              <a:rPr sz="1100" b="0" i="0">
                <a:solidFill>
                  <a:srgbClr val="5B6B73"/>
                </a:solidFill>
                <a:latin typeface="Swis721 Cn BT"/>
              </a:rPr>
              <a:t>¿tiene manual o norma gráfica?</a:t>
            </a:r>
          </a:p>
        </p:txBody>
      </p:sp>
      <p:sp>
        <p:nvSpPr>
          <p:cNvPr id="7" name="Oval 6"/>
          <p:cNvSpPr/>
          <p:nvPr/>
        </p:nvSpPr>
        <p:spPr>
          <a:xfrm>
            <a:off x="502920" y="1929384"/>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3</a:t>
            </a:r>
          </a:p>
        </p:txBody>
      </p:sp>
      <p:sp>
        <p:nvSpPr>
          <p:cNvPr id="8" name="TextBox 7"/>
          <p:cNvSpPr txBox="1"/>
          <p:nvPr/>
        </p:nvSpPr>
        <p:spPr>
          <a:xfrm>
            <a:off x="960120" y="1865376"/>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Logos y su orden</a:t>
            </a:r>
          </a:p>
          <a:p>
            <a:pPr algn="l">
              <a:spcAft>
                <a:spcPts val="0"/>
              </a:spcAft>
            </a:pPr>
            <a:r>
              <a:rPr sz="1100" b="0" i="0">
                <a:solidFill>
                  <a:srgbClr val="5B6B73"/>
                </a:solidFill>
                <a:latin typeface="Swis721 Cn BT"/>
              </a:rPr>
              <a:t>de izquierda a derecha</a:t>
            </a:r>
          </a:p>
        </p:txBody>
      </p:sp>
      <p:sp>
        <p:nvSpPr>
          <p:cNvPr id="9" name="Oval 8"/>
          <p:cNvSpPr/>
          <p:nvPr/>
        </p:nvSpPr>
        <p:spPr>
          <a:xfrm>
            <a:off x="502920" y="2441448"/>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4</a:t>
            </a:r>
          </a:p>
        </p:txBody>
      </p:sp>
      <p:sp>
        <p:nvSpPr>
          <p:cNvPr id="10" name="TextBox 9"/>
          <p:cNvSpPr txBox="1"/>
          <p:nvPr/>
        </p:nvSpPr>
        <p:spPr>
          <a:xfrm>
            <a:off x="960120" y="2377440"/>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¿A quién le hablamos?</a:t>
            </a:r>
          </a:p>
          <a:p>
            <a:pPr algn="l">
              <a:spcAft>
                <a:spcPts val="0"/>
              </a:spcAft>
            </a:pPr>
            <a:r>
              <a:rPr sz="1100" b="0" i="0">
                <a:solidFill>
                  <a:srgbClr val="5B6B73"/>
                </a:solidFill>
                <a:latin typeface="Swis721 Cn BT"/>
              </a:rPr>
              <a:t>usuarias, gestantes, familias, equipo</a:t>
            </a:r>
          </a:p>
        </p:txBody>
      </p:sp>
      <p:sp>
        <p:nvSpPr>
          <p:cNvPr id="11" name="Oval 10"/>
          <p:cNvSpPr/>
          <p:nvPr/>
        </p:nvSpPr>
        <p:spPr>
          <a:xfrm>
            <a:off x="502920" y="2953512"/>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5</a:t>
            </a:r>
          </a:p>
        </p:txBody>
      </p:sp>
      <p:sp>
        <p:nvSpPr>
          <p:cNvPr id="12" name="TextBox 11"/>
          <p:cNvSpPr txBox="1"/>
          <p:nvPr/>
        </p:nvSpPr>
        <p:spPr>
          <a:xfrm>
            <a:off x="960120" y="2889504"/>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Tres palabras que nos describen</a:t>
            </a:r>
          </a:p>
          <a:p>
            <a:pPr algn="l">
              <a:spcAft>
                <a:spcPts val="0"/>
              </a:spcAft>
            </a:pPr>
            <a:r>
              <a:rPr sz="1100" b="0" i="0">
                <a:solidFill>
                  <a:srgbClr val="5B6B73"/>
                </a:solidFill>
                <a:latin typeface="Swis721 Cn BT"/>
              </a:rPr>
              <a:t>por ejemplo: cercana, segura, clara</a:t>
            </a:r>
          </a:p>
        </p:txBody>
      </p:sp>
      <p:sp>
        <p:nvSpPr>
          <p:cNvPr id="13" name="Oval 12"/>
          <p:cNvSpPr/>
          <p:nvPr/>
        </p:nvSpPr>
        <p:spPr>
          <a:xfrm>
            <a:off x="4617720" y="905256"/>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6</a:t>
            </a:r>
          </a:p>
        </p:txBody>
      </p:sp>
      <p:sp>
        <p:nvSpPr>
          <p:cNvPr id="14" name="TextBox 13"/>
          <p:cNvSpPr txBox="1"/>
          <p:nvPr/>
        </p:nvSpPr>
        <p:spPr>
          <a:xfrm>
            <a:off x="5074920" y="841248"/>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Colores</a:t>
            </a:r>
          </a:p>
          <a:p>
            <a:pPr algn="l">
              <a:spcAft>
                <a:spcPts val="0"/>
              </a:spcAft>
            </a:pPr>
            <a:r>
              <a:rPr sz="1100" b="0" i="0">
                <a:solidFill>
                  <a:srgbClr val="5B6B73"/>
                </a:solidFill>
                <a:latin typeface="Swis721 Cn BT"/>
              </a:rPr>
              <a:t>si no los sabes: «no sé»</a:t>
            </a:r>
          </a:p>
        </p:txBody>
      </p:sp>
      <p:sp>
        <p:nvSpPr>
          <p:cNvPr id="15" name="Oval 14"/>
          <p:cNvSpPr/>
          <p:nvPr/>
        </p:nvSpPr>
        <p:spPr>
          <a:xfrm>
            <a:off x="4617720" y="1417320"/>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7</a:t>
            </a:r>
          </a:p>
        </p:txBody>
      </p:sp>
      <p:sp>
        <p:nvSpPr>
          <p:cNvPr id="16" name="TextBox 15"/>
          <p:cNvSpPr txBox="1"/>
          <p:nvPr/>
        </p:nvSpPr>
        <p:spPr>
          <a:xfrm>
            <a:off x="5074920" y="1353312"/>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Letra o tipografía</a:t>
            </a:r>
          </a:p>
          <a:p>
            <a:pPr algn="l">
              <a:spcAft>
                <a:spcPts val="0"/>
              </a:spcAft>
            </a:pPr>
            <a:r>
              <a:rPr sz="1100" b="0" i="0">
                <a:solidFill>
                  <a:srgbClr val="5B6B73"/>
                </a:solidFill>
                <a:latin typeface="Swis721 Cn BT"/>
              </a:rPr>
              <a:t>si no la sabes: «no sé»</a:t>
            </a:r>
          </a:p>
        </p:txBody>
      </p:sp>
      <p:sp>
        <p:nvSpPr>
          <p:cNvPr id="17" name="Oval 16"/>
          <p:cNvSpPr/>
          <p:nvPr/>
        </p:nvSpPr>
        <p:spPr>
          <a:xfrm>
            <a:off x="4617720" y="1929384"/>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8</a:t>
            </a:r>
          </a:p>
        </p:txBody>
      </p:sp>
      <p:sp>
        <p:nvSpPr>
          <p:cNvPr id="18" name="TextBox 17"/>
          <p:cNvSpPr txBox="1"/>
          <p:nvPr/>
        </p:nvSpPr>
        <p:spPr>
          <a:xfrm>
            <a:off x="5074920" y="1865376"/>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Palabras preferidas y a evitar</a:t>
            </a:r>
          </a:p>
          <a:p>
            <a:pPr algn="l">
              <a:spcAft>
                <a:spcPts val="0"/>
              </a:spcAft>
            </a:pPr>
            <a:r>
              <a:rPr sz="1100" b="0" i="0">
                <a:solidFill>
                  <a:srgbClr val="5B6B73"/>
                </a:solidFill>
                <a:latin typeface="Swis721 Cn BT"/>
              </a:rPr>
              <a:t>«acompañar» sí; «debes» no</a:t>
            </a:r>
          </a:p>
        </p:txBody>
      </p:sp>
      <p:sp>
        <p:nvSpPr>
          <p:cNvPr id="19" name="Oval 18"/>
          <p:cNvSpPr/>
          <p:nvPr/>
        </p:nvSpPr>
        <p:spPr>
          <a:xfrm>
            <a:off x="4617720" y="2441448"/>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9</a:t>
            </a:r>
          </a:p>
        </p:txBody>
      </p:sp>
      <p:sp>
        <p:nvSpPr>
          <p:cNvPr id="20" name="TextBox 19"/>
          <p:cNvSpPr txBox="1"/>
          <p:nvPr/>
        </p:nvSpPr>
        <p:spPr>
          <a:xfrm>
            <a:off x="5074920" y="2377440"/>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Contacto real</a:t>
            </a:r>
          </a:p>
          <a:p>
            <a:pPr algn="l">
              <a:spcAft>
                <a:spcPts val="0"/>
              </a:spcAft>
            </a:pPr>
            <a:r>
              <a:rPr sz="1100" b="0" i="0">
                <a:solidFill>
                  <a:srgbClr val="5B6B73"/>
                </a:solidFill>
                <a:latin typeface="Swis721 Cn BT"/>
              </a:rPr>
              <a:t>teléfono, correo, dirección, web</a:t>
            </a:r>
          </a:p>
        </p:txBody>
      </p:sp>
      <p:sp>
        <p:nvSpPr>
          <p:cNvPr id="21" name="Oval 20"/>
          <p:cNvSpPr/>
          <p:nvPr/>
        </p:nvSpPr>
        <p:spPr>
          <a:xfrm>
            <a:off x="4617720" y="2953512"/>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10</a:t>
            </a:r>
          </a:p>
        </p:txBody>
      </p:sp>
      <p:sp>
        <p:nvSpPr>
          <p:cNvPr id="22" name="TextBox 21"/>
          <p:cNvSpPr txBox="1"/>
          <p:nvPr/>
        </p:nvSpPr>
        <p:spPr>
          <a:xfrm>
            <a:off x="5074920" y="2889504"/>
            <a:ext cx="3566160" cy="475488"/>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Gustos y lo que no queremos</a:t>
            </a:r>
          </a:p>
          <a:p>
            <a:pPr algn="l">
              <a:spcAft>
                <a:spcPts val="0"/>
              </a:spcAft>
            </a:pPr>
            <a:r>
              <a:rPr sz="1100" b="0" i="0">
                <a:solidFill>
                  <a:srgbClr val="5B6B73"/>
                </a:solidFill>
                <a:latin typeface="Swis721 Cn BT"/>
              </a:rPr>
              <a:t>por ejemplo: «sin fondos negros»</a:t>
            </a:r>
          </a:p>
        </p:txBody>
      </p:sp>
      <p:sp>
        <p:nvSpPr>
          <p:cNvPr id="23" name="Rounded Rectangle 22"/>
          <p:cNvSpPr/>
          <p:nvPr/>
        </p:nvSpPr>
        <p:spPr>
          <a:xfrm>
            <a:off x="502920" y="3493008"/>
            <a:ext cx="8138160" cy="576072"/>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4" name="TextBox 23"/>
          <p:cNvSpPr txBox="1"/>
          <p:nvPr/>
        </p:nvSpPr>
        <p:spPr>
          <a:xfrm>
            <a:off x="731520" y="3529584"/>
            <a:ext cx="7726679" cy="502920"/>
          </a:xfrm>
          <a:prstGeom prst="rect">
            <a:avLst/>
          </a:prstGeom>
          <a:noFill/>
        </p:spPr>
        <p:txBody>
          <a:bodyPr wrap="square" lIns="0" tIns="0" rIns="0" bIns="0" anchor="ctr">
            <a:noAutofit/>
          </a:bodyPr>
          <a:lstStyle/>
          <a:p>
            <a:pPr algn="l">
              <a:spcAft>
                <a:spcPts val="0"/>
              </a:spcAft>
            </a:pPr>
            <a:r>
              <a:rPr sz="1400" b="0" i="0">
                <a:solidFill>
                  <a:srgbClr val="FFFFFF"/>
                </a:solidFill>
                <a:latin typeface="Swis721 Cn BT"/>
              </a:rPr>
              <a:t>¿No sabes una respuesta? Escribe </a:t>
            </a:r>
            <a:r>
              <a:rPr sz="1400" b="1" i="0">
                <a:solidFill>
                  <a:srgbClr val="F2B705"/>
                </a:solidFill>
                <a:latin typeface="Swis721 Cn BT"/>
              </a:rPr>
              <a:t>«no sé»</a:t>
            </a:r>
            <a:r>
              <a:rPr sz="1400" b="0" i="0">
                <a:solidFill>
                  <a:srgbClr val="FFFFFF"/>
                </a:solidFill>
                <a:latin typeface="Swis721 Cn BT"/>
              </a:rPr>
              <a:t>: la IA te hará hasta 5 preguntas con opciones para elegir.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Así se ve una tarjeta de marca</a:t>
            </a:r>
          </a:p>
        </p:txBody>
      </p:sp>
      <p:sp>
        <p:nvSpPr>
          <p:cNvPr id="3" name="Rounded Rectangle 2"/>
          <p:cNvSpPr/>
          <p:nvPr/>
        </p:nvSpPr>
        <p:spPr>
          <a:xfrm>
            <a:off x="502920" y="804672"/>
            <a:ext cx="3108960" cy="292608"/>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100" b="1" i="0">
                <a:solidFill>
                  <a:srgbClr val="1F2A30"/>
                </a:solidFill>
                <a:latin typeface="Swis721 Cn BT"/>
              </a:rPr>
              <a:t>Ejemplo ficticio · Programa de Lactancia</a:t>
            </a:r>
          </a:p>
        </p:txBody>
      </p:sp>
      <p:sp>
        <p:nvSpPr>
          <p:cNvPr id="4" name="TextBox 3"/>
          <p:cNvSpPr txBox="1"/>
          <p:nvPr/>
        </p:nvSpPr>
        <p:spPr>
          <a:xfrm>
            <a:off x="502920" y="1207008"/>
            <a:ext cx="3749039" cy="256032"/>
          </a:xfrm>
          <a:prstGeom prst="rect">
            <a:avLst/>
          </a:prstGeom>
          <a:noFill/>
        </p:spPr>
        <p:txBody>
          <a:bodyPr wrap="square" lIns="0" tIns="0" rIns="0" bIns="0" anchor="t">
            <a:noAutofit/>
          </a:bodyPr>
          <a:lstStyle/>
          <a:p>
            <a:pPr algn="l">
              <a:spcAft>
                <a:spcPts val="0"/>
              </a:spcAft>
            </a:pPr>
            <a:r>
              <a:rPr sz="1250" b="1" i="0">
                <a:solidFill>
                  <a:srgbClr val="003C58"/>
                </a:solidFill>
                <a:latin typeface="Swis721 Cn BT"/>
              </a:rPr>
              <a:t>Colores y contraste</a:t>
            </a:r>
          </a:p>
        </p:txBody>
      </p:sp>
      <p:sp>
        <p:nvSpPr>
          <p:cNvPr id="5" name="Rounded Rectangle 4"/>
          <p:cNvSpPr/>
          <p:nvPr/>
        </p:nvSpPr>
        <p:spPr>
          <a:xfrm>
            <a:off x="502920" y="1536192"/>
            <a:ext cx="493776" cy="493776"/>
          </a:xfrm>
          <a:prstGeom prst="roundRect">
            <a:avLst>
              <a:gd name="adj" fmla="val 16666"/>
            </a:avLst>
          </a:prstGeom>
          <a:solidFill>
            <a:srgbClr val="8A2C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6" name="TextBox 5"/>
          <p:cNvSpPr txBox="1"/>
          <p:nvPr/>
        </p:nvSpPr>
        <p:spPr>
          <a:xfrm>
            <a:off x="1143000" y="1536192"/>
            <a:ext cx="1554480" cy="493776"/>
          </a:xfrm>
          <a:prstGeom prst="rect">
            <a:avLst/>
          </a:prstGeom>
          <a:noFill/>
        </p:spPr>
        <p:txBody>
          <a:bodyPr wrap="square" lIns="0" tIns="0" rIns="0" bIns="0" anchor="ctr">
            <a:noAutofit/>
          </a:bodyPr>
          <a:lstStyle/>
          <a:p>
            <a:pPr algn="l">
              <a:spcAft>
                <a:spcPts val="0"/>
              </a:spcAft>
            </a:pPr>
            <a:r>
              <a:rPr sz="1250" b="1" i="0">
                <a:solidFill>
                  <a:srgbClr val="1F2A30"/>
                </a:solidFill>
                <a:latin typeface="Swis721 Cn BT"/>
              </a:rPr>
              <a:t>Ciruela</a:t>
            </a:r>
          </a:p>
          <a:p>
            <a:pPr algn="l">
              <a:spcAft>
                <a:spcPts val="0"/>
              </a:spcAft>
            </a:pPr>
            <a:r>
              <a:rPr sz="1050" b="0" i="0">
                <a:solidFill>
                  <a:srgbClr val="5B6B73"/>
                </a:solidFill>
                <a:latin typeface="Swis721 Cn BT"/>
              </a:rPr>
              <a:t>#8A2C5B · principal</a:t>
            </a:r>
          </a:p>
        </p:txBody>
      </p:sp>
      <p:sp>
        <p:nvSpPr>
          <p:cNvPr id="7" name="Rounded Rectangle 6"/>
          <p:cNvSpPr/>
          <p:nvPr/>
        </p:nvSpPr>
        <p:spPr>
          <a:xfrm>
            <a:off x="2697480" y="1627632"/>
            <a:ext cx="1645920" cy="310896"/>
          </a:xfrm>
          <a:prstGeom prst="roundRect">
            <a:avLst>
              <a:gd name="adj" fmla="val 50000"/>
            </a:avLst>
          </a:prstGeom>
          <a:solidFill>
            <a:srgbClr val="E3F1E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Letra blanca: 8,1 : 1</a:t>
            </a:r>
          </a:p>
        </p:txBody>
      </p:sp>
      <p:sp>
        <p:nvSpPr>
          <p:cNvPr id="8" name="Rounded Rectangle 7"/>
          <p:cNvSpPr/>
          <p:nvPr/>
        </p:nvSpPr>
        <p:spPr>
          <a:xfrm>
            <a:off x="502920" y="2139696"/>
            <a:ext cx="493776" cy="493776"/>
          </a:xfrm>
          <a:prstGeom prst="roundRect">
            <a:avLst>
              <a:gd name="adj" fmla="val 16666"/>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9" name="TextBox 8"/>
          <p:cNvSpPr txBox="1"/>
          <p:nvPr/>
        </p:nvSpPr>
        <p:spPr>
          <a:xfrm>
            <a:off x="1143000" y="2139696"/>
            <a:ext cx="1554480" cy="493776"/>
          </a:xfrm>
          <a:prstGeom prst="rect">
            <a:avLst/>
          </a:prstGeom>
          <a:noFill/>
        </p:spPr>
        <p:txBody>
          <a:bodyPr wrap="square" lIns="0" tIns="0" rIns="0" bIns="0" anchor="ctr">
            <a:noAutofit/>
          </a:bodyPr>
          <a:lstStyle/>
          <a:p>
            <a:pPr algn="l">
              <a:spcAft>
                <a:spcPts val="0"/>
              </a:spcAft>
            </a:pPr>
            <a:r>
              <a:rPr sz="1250" b="1" i="0">
                <a:solidFill>
                  <a:srgbClr val="1F2A30"/>
                </a:solidFill>
                <a:latin typeface="Swis721 Cn BT"/>
              </a:rPr>
              <a:t>Verde agua</a:t>
            </a:r>
          </a:p>
          <a:p>
            <a:pPr algn="l">
              <a:spcAft>
                <a:spcPts val="0"/>
              </a:spcAft>
            </a:pPr>
            <a:r>
              <a:rPr sz="1050" b="0" i="0">
                <a:solidFill>
                  <a:srgbClr val="5B6B73"/>
                </a:solidFill>
                <a:latin typeface="Swis721 Cn BT"/>
              </a:rPr>
              <a:t>#1F6F6B · apoyo</a:t>
            </a:r>
          </a:p>
        </p:txBody>
      </p:sp>
      <p:sp>
        <p:nvSpPr>
          <p:cNvPr id="10" name="Rounded Rectangle 9"/>
          <p:cNvSpPr/>
          <p:nvPr/>
        </p:nvSpPr>
        <p:spPr>
          <a:xfrm>
            <a:off x="2697480" y="2231136"/>
            <a:ext cx="1645920" cy="310896"/>
          </a:xfrm>
          <a:prstGeom prst="roundRect">
            <a:avLst>
              <a:gd name="adj" fmla="val 50000"/>
            </a:avLst>
          </a:prstGeom>
          <a:solidFill>
            <a:srgbClr val="E3F1E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Letra blanca: 5,9 : 1</a:t>
            </a:r>
          </a:p>
        </p:txBody>
      </p:sp>
      <p:sp>
        <p:nvSpPr>
          <p:cNvPr id="11" name="Rounded Rectangle 10"/>
          <p:cNvSpPr/>
          <p:nvPr/>
        </p:nvSpPr>
        <p:spPr>
          <a:xfrm>
            <a:off x="502920" y="2743200"/>
            <a:ext cx="493776" cy="493776"/>
          </a:xfrm>
          <a:prstGeom prst="roundRect">
            <a:avLst>
              <a:gd name="adj" fmla="val 16666"/>
            </a:avLst>
          </a:prstGeom>
          <a:solidFill>
            <a:srgbClr val="F3F4F6"/>
          </a:solidFill>
          <a:ln w="15875">
            <a:solidFill>
              <a:srgbClr val="C9DAE3"/>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2" name="TextBox 11"/>
          <p:cNvSpPr txBox="1"/>
          <p:nvPr/>
        </p:nvSpPr>
        <p:spPr>
          <a:xfrm>
            <a:off x="1143000" y="2743200"/>
            <a:ext cx="1554480" cy="493776"/>
          </a:xfrm>
          <a:prstGeom prst="rect">
            <a:avLst/>
          </a:prstGeom>
          <a:noFill/>
        </p:spPr>
        <p:txBody>
          <a:bodyPr wrap="square" lIns="0" tIns="0" rIns="0" bIns="0" anchor="ctr">
            <a:noAutofit/>
          </a:bodyPr>
          <a:lstStyle/>
          <a:p>
            <a:pPr algn="l">
              <a:spcAft>
                <a:spcPts val="0"/>
              </a:spcAft>
            </a:pPr>
            <a:r>
              <a:rPr sz="1250" b="1" i="0">
                <a:solidFill>
                  <a:srgbClr val="1F2A30"/>
                </a:solidFill>
                <a:latin typeface="Swis721 Cn BT"/>
              </a:rPr>
              <a:t>Niebla</a:t>
            </a:r>
          </a:p>
          <a:p>
            <a:pPr algn="l">
              <a:spcAft>
                <a:spcPts val="0"/>
              </a:spcAft>
            </a:pPr>
            <a:r>
              <a:rPr sz="1050" b="0" i="0">
                <a:solidFill>
                  <a:srgbClr val="5B6B73"/>
                </a:solidFill>
                <a:latin typeface="Swis721 Cn BT"/>
              </a:rPr>
              <a:t>#F3F4F6 · fondos</a:t>
            </a:r>
          </a:p>
        </p:txBody>
      </p:sp>
      <p:sp>
        <p:nvSpPr>
          <p:cNvPr id="13" name="Rounded Rectangle 12"/>
          <p:cNvSpPr/>
          <p:nvPr/>
        </p:nvSpPr>
        <p:spPr>
          <a:xfrm>
            <a:off x="2697480" y="2834640"/>
            <a:ext cx="1645920" cy="310896"/>
          </a:xfrm>
          <a:prstGeom prst="roundRect">
            <a:avLst>
              <a:gd name="adj" fmla="val 50000"/>
            </a:avLst>
          </a:prstGeom>
          <a:solidFill>
            <a:srgbClr val="E3F1E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Letra grafito: 14,3 : 1</a:t>
            </a:r>
          </a:p>
        </p:txBody>
      </p:sp>
      <p:sp>
        <p:nvSpPr>
          <p:cNvPr id="14" name="Rounded Rectangle 13"/>
          <p:cNvSpPr/>
          <p:nvPr/>
        </p:nvSpPr>
        <p:spPr>
          <a:xfrm>
            <a:off x="502920" y="3346704"/>
            <a:ext cx="493776" cy="493776"/>
          </a:xfrm>
          <a:prstGeom prst="roundRect">
            <a:avLst>
              <a:gd name="adj" fmla="val 16666"/>
            </a:avLst>
          </a:prstGeom>
          <a:solidFill>
            <a:srgbClr val="1F232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5" name="TextBox 14"/>
          <p:cNvSpPr txBox="1"/>
          <p:nvPr/>
        </p:nvSpPr>
        <p:spPr>
          <a:xfrm>
            <a:off x="1143000" y="3346704"/>
            <a:ext cx="1554480" cy="493776"/>
          </a:xfrm>
          <a:prstGeom prst="rect">
            <a:avLst/>
          </a:prstGeom>
          <a:noFill/>
        </p:spPr>
        <p:txBody>
          <a:bodyPr wrap="square" lIns="0" tIns="0" rIns="0" bIns="0" anchor="ctr">
            <a:noAutofit/>
          </a:bodyPr>
          <a:lstStyle/>
          <a:p>
            <a:pPr algn="l">
              <a:spcAft>
                <a:spcPts val="0"/>
              </a:spcAft>
            </a:pPr>
            <a:r>
              <a:rPr sz="1250" b="1" i="0">
                <a:solidFill>
                  <a:srgbClr val="1F2A30"/>
                </a:solidFill>
                <a:latin typeface="Swis721 Cn BT"/>
              </a:rPr>
              <a:t>Grafito</a:t>
            </a:r>
          </a:p>
          <a:p>
            <a:pPr algn="l">
              <a:spcAft>
                <a:spcPts val="0"/>
              </a:spcAft>
            </a:pPr>
            <a:r>
              <a:rPr sz="1050" b="0" i="0">
                <a:solidFill>
                  <a:srgbClr val="5B6B73"/>
                </a:solidFill>
                <a:latin typeface="Swis721 Cn BT"/>
              </a:rPr>
              <a:t>#1F2328 · texto</a:t>
            </a:r>
          </a:p>
        </p:txBody>
      </p:sp>
      <p:sp>
        <p:nvSpPr>
          <p:cNvPr id="16" name="Rounded Rectangle 15"/>
          <p:cNvSpPr/>
          <p:nvPr/>
        </p:nvSpPr>
        <p:spPr>
          <a:xfrm>
            <a:off x="2697480" y="3438144"/>
            <a:ext cx="1645920" cy="310896"/>
          </a:xfrm>
          <a:prstGeom prst="roundRect">
            <a:avLst>
              <a:gd name="adj" fmla="val 50000"/>
            </a:avLst>
          </a:prstGeom>
          <a:solidFill>
            <a:srgbClr val="E3F1E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Sobre blanco: 15,7 : 1</a:t>
            </a:r>
          </a:p>
        </p:txBody>
      </p:sp>
      <p:sp>
        <p:nvSpPr>
          <p:cNvPr id="17" name="Rounded Rectangle 16"/>
          <p:cNvSpPr/>
          <p:nvPr/>
        </p:nvSpPr>
        <p:spPr>
          <a:xfrm>
            <a:off x="4526280" y="804672"/>
            <a:ext cx="4114800" cy="9144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8" name="TextBox 17"/>
          <p:cNvSpPr txBox="1"/>
          <p:nvPr/>
        </p:nvSpPr>
        <p:spPr>
          <a:xfrm>
            <a:off x="4709160" y="914400"/>
            <a:ext cx="3749039" cy="731520"/>
          </a:xfrm>
          <a:prstGeom prst="rect">
            <a:avLst/>
          </a:prstGeom>
          <a:noFill/>
        </p:spPr>
        <p:txBody>
          <a:bodyPr wrap="square" lIns="0" tIns="0" rIns="0" bIns="0" anchor="t">
            <a:noAutofit/>
          </a:bodyPr>
          <a:lstStyle/>
          <a:p>
            <a:pPr algn="l">
              <a:spcAft>
                <a:spcPts val="300"/>
              </a:spcAft>
            </a:pPr>
            <a:r>
              <a:rPr sz="1250" b="1" i="0">
                <a:solidFill>
                  <a:srgbClr val="003C58"/>
                </a:solidFill>
                <a:latin typeface="Swis721 Cn BT"/>
              </a:rPr>
              <a:t>Letras</a:t>
            </a:r>
          </a:p>
          <a:p>
            <a:pPr algn="l">
              <a:spcAft>
                <a:spcPts val="200"/>
              </a:spcAft>
            </a:pPr>
            <a:r>
              <a:rPr sz="1100" b="0" i="0">
                <a:solidFill>
                  <a:srgbClr val="1F2A30"/>
                </a:solidFill>
                <a:latin typeface="Swis721 Cn BT"/>
              </a:rPr>
              <a:t>Títulos: Montserrat Bold (gratuita) · Textos: Arial</a:t>
            </a:r>
          </a:p>
          <a:p>
            <a:pPr algn="l">
              <a:spcAft>
                <a:spcPts val="200"/>
              </a:spcAft>
            </a:pPr>
            <a:r>
              <a:rPr sz="1100" b="0" i="0">
                <a:solidFill>
                  <a:srgbClr val="1F2A30"/>
                </a:solidFill>
                <a:latin typeface="Swis721 Cn BT"/>
              </a:rPr>
              <a:t>Mínimos: 11 pt folleto · 18 pt presentación · 28 px redes</a:t>
            </a:r>
          </a:p>
        </p:txBody>
      </p:sp>
      <p:sp>
        <p:nvSpPr>
          <p:cNvPr id="19" name="Rounded Rectangle 18"/>
          <p:cNvSpPr/>
          <p:nvPr/>
        </p:nvSpPr>
        <p:spPr>
          <a:xfrm>
            <a:off x="4526280" y="1828800"/>
            <a:ext cx="4114800" cy="9144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0" name="TextBox 19"/>
          <p:cNvSpPr txBox="1"/>
          <p:nvPr/>
        </p:nvSpPr>
        <p:spPr>
          <a:xfrm>
            <a:off x="4709160" y="1938528"/>
            <a:ext cx="3749039" cy="731520"/>
          </a:xfrm>
          <a:prstGeom prst="rect">
            <a:avLst/>
          </a:prstGeom>
          <a:noFill/>
        </p:spPr>
        <p:txBody>
          <a:bodyPr wrap="square" lIns="0" tIns="0" rIns="0" bIns="0" anchor="t">
            <a:noAutofit/>
          </a:bodyPr>
          <a:lstStyle/>
          <a:p>
            <a:pPr algn="l">
              <a:spcAft>
                <a:spcPts val="300"/>
              </a:spcAft>
            </a:pPr>
            <a:r>
              <a:rPr sz="1250" b="1" i="0">
                <a:solidFill>
                  <a:srgbClr val="003C58"/>
                </a:solidFill>
                <a:latin typeface="Swis721 Cn BT"/>
              </a:rPr>
              <a:t>Tono</a:t>
            </a:r>
          </a:p>
          <a:p>
            <a:pPr algn="l">
              <a:spcAft>
                <a:spcPts val="200"/>
              </a:spcAft>
            </a:pPr>
            <a:r>
              <a:rPr sz="1100" b="0" i="0">
                <a:solidFill>
                  <a:srgbClr val="1F2A30"/>
                </a:solidFill>
                <a:latin typeface="Swis721 Cn BT"/>
              </a:rPr>
              <a:t>Cercano y seguro.</a:t>
            </a:r>
          </a:p>
          <a:p>
            <a:pPr algn="l">
              <a:spcAft>
                <a:spcPts val="200"/>
              </a:spcAft>
            </a:pPr>
            <a:r>
              <a:rPr sz="1100" b="0" i="0">
                <a:solidFill>
                  <a:srgbClr val="1F2A30"/>
                </a:solidFill>
                <a:latin typeface="Swis721 Cn BT"/>
              </a:rPr>
              <a:t>Sí: «acompañar», «tu bebé» · No: «debes», «fracaso»</a:t>
            </a:r>
          </a:p>
        </p:txBody>
      </p:sp>
      <p:sp>
        <p:nvSpPr>
          <p:cNvPr id="21" name="Rounded Rectangle 20"/>
          <p:cNvSpPr/>
          <p:nvPr/>
        </p:nvSpPr>
        <p:spPr>
          <a:xfrm>
            <a:off x="4526280" y="2852928"/>
            <a:ext cx="4114800" cy="1060704"/>
          </a:xfrm>
          <a:prstGeom prst="roundRect">
            <a:avLst>
              <a:gd name="adj" fmla="val 13333"/>
            </a:avLst>
          </a:prstGeom>
          <a:solidFill>
            <a:srgbClr val="F9E3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2" name="TextBox 21"/>
          <p:cNvSpPr txBox="1"/>
          <p:nvPr/>
        </p:nvSpPr>
        <p:spPr>
          <a:xfrm>
            <a:off x="4709160" y="2962656"/>
            <a:ext cx="3749039" cy="877824"/>
          </a:xfrm>
          <a:prstGeom prst="rect">
            <a:avLst/>
          </a:prstGeom>
          <a:noFill/>
        </p:spPr>
        <p:txBody>
          <a:bodyPr wrap="square" lIns="0" tIns="0" rIns="0" bIns="0" anchor="t">
            <a:noAutofit/>
          </a:bodyPr>
          <a:lstStyle/>
          <a:p>
            <a:pPr algn="l">
              <a:spcAft>
                <a:spcPts val="300"/>
              </a:spcAft>
            </a:pPr>
            <a:r>
              <a:rPr sz="1250" b="1" i="0">
                <a:solidFill>
                  <a:srgbClr val="BF210C"/>
                </a:solidFill>
                <a:latin typeface="Swis721 Cn BT"/>
              </a:rPr>
              <a:t>Ojo con esta pareja</a:t>
            </a:r>
          </a:p>
          <a:p>
            <a:pPr algn="l">
              <a:spcAft>
                <a:spcPts val="200"/>
              </a:spcAft>
            </a:pPr>
            <a:r>
              <a:rPr sz="1100" b="0" i="0">
                <a:solidFill>
                  <a:srgbClr val="1F2A30"/>
                </a:solidFill>
                <a:latin typeface="Swis721 Cn BT"/>
              </a:rPr>
              <a:t>Ciruela y Verde agua tienen casi la misma claridad (1,36 : 1): no sirven para distinguir información en un gráfico.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3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03</a:t>
            </a:r>
          </a:p>
        </p:txBody>
      </p:sp>
      <p:sp>
        <p:nvSpPr>
          <p:cNvPr id="4" name="Oval 3"/>
          <p:cNvSpPr/>
          <p:nvPr/>
        </p:nvSpPr>
        <p:spPr>
          <a:xfrm>
            <a:off x="822960" y="2514600"/>
            <a:ext cx="1005840" cy="1005840"/>
          </a:xfrm>
          <a:prstGeom prst="ellipse">
            <a:avLst/>
          </a:prstGeom>
          <a:solidFill>
            <a:srgbClr val="0671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AutoAwesome"/>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El prompt Mi Marca</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¿Cómo se lo pido a la IA sin saber de diseño?</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Dos pasos: crea una vez, usa siempre</a:t>
            </a:r>
          </a:p>
        </p:txBody>
      </p:sp>
      <p:sp>
        <p:nvSpPr>
          <p:cNvPr id="11" name="Oval 10"/>
          <p:cNvSpPr/>
          <p:nvPr/>
        </p:nvSpPr>
        <p:spPr>
          <a:xfrm>
            <a:off x="2633472" y="318211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Las reglas ya vienen escritas</a:t>
            </a:r>
          </a:p>
        </p:txBody>
      </p:sp>
      <p:sp>
        <p:nvSpPr>
          <p:cNvPr id="13" name="Oval 12"/>
          <p:cNvSpPr/>
          <p:nvPr/>
        </p:nvSpPr>
        <p:spPr>
          <a:xfrm>
            <a:off x="2633472" y="3493008"/>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TextBox 13"/>
          <p:cNvSpPr txBox="1"/>
          <p:nvPr/>
        </p:nvSpPr>
        <p:spPr>
          <a:xfrm>
            <a:off x="2880360" y="3410712"/>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Mismo pedido, distinto resultado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Dos pasos: crea tu tarjeta una vez, úsala siempre</a:t>
            </a:r>
          </a:p>
        </p:txBody>
      </p:sp>
      <p:sp>
        <p:nvSpPr>
          <p:cNvPr id="3" name="Rounded Rectangle 2"/>
          <p:cNvSpPr/>
          <p:nvPr/>
        </p:nvSpPr>
        <p:spPr>
          <a:xfrm>
            <a:off x="502920" y="868680"/>
            <a:ext cx="1261872" cy="2331720"/>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Oval 3"/>
          <p:cNvSpPr/>
          <p:nvPr/>
        </p:nvSpPr>
        <p:spPr>
          <a:xfrm>
            <a:off x="612648" y="978408"/>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1</a:t>
            </a:r>
          </a:p>
        </p:txBody>
      </p:sp>
      <p:pic>
        <p:nvPicPr>
          <p:cNvPr id="5" name="Picture 4" descr="Ícono EditNote"/>
          <p:cNvPicPr>
            <a:picLocks noChangeAspect="1"/>
          </p:cNvPicPr>
          <p:nvPr/>
        </p:nvPicPr>
        <p:blipFill>
          <a:blip r:embed="rId3"/>
          <a:stretch>
            <a:fillRect/>
          </a:stretch>
        </p:blipFill>
        <p:spPr>
          <a:xfrm>
            <a:off x="1325880" y="969264"/>
            <a:ext cx="347472" cy="347472"/>
          </a:xfrm>
          <a:prstGeom prst="rect">
            <a:avLst/>
          </a:prstGeom>
        </p:spPr>
      </p:pic>
      <p:sp>
        <p:nvSpPr>
          <p:cNvPr id="6" name="TextBox 5"/>
          <p:cNvSpPr txBox="1"/>
          <p:nvPr/>
        </p:nvSpPr>
        <p:spPr>
          <a:xfrm>
            <a:off x="612648" y="1435608"/>
            <a:ext cx="1060704" cy="457200"/>
          </a:xfrm>
          <a:prstGeom prst="rect">
            <a:avLst/>
          </a:prstGeom>
          <a:noFill/>
        </p:spPr>
        <p:txBody>
          <a:bodyPr wrap="square" lIns="0" tIns="0" rIns="0" bIns="0" anchor="t">
            <a:noAutofit/>
          </a:bodyPr>
          <a:lstStyle/>
          <a:p>
            <a:pPr algn="l">
              <a:spcAft>
                <a:spcPts val="0"/>
              </a:spcAft>
            </a:pPr>
            <a:r>
              <a:rPr sz="1250" b="1" i="0">
                <a:solidFill>
                  <a:srgbClr val="F2B705"/>
                </a:solidFill>
                <a:latin typeface="Swis721 Cn BT"/>
              </a:rPr>
              <a:t>Completar la ficha</a:t>
            </a:r>
          </a:p>
        </p:txBody>
      </p:sp>
      <p:sp>
        <p:nvSpPr>
          <p:cNvPr id="7" name="TextBox 6"/>
          <p:cNvSpPr txBox="1"/>
          <p:nvPr/>
        </p:nvSpPr>
        <p:spPr>
          <a:xfrm>
            <a:off x="612648" y="1892807"/>
            <a:ext cx="1060704" cy="914400"/>
          </a:xfrm>
          <a:prstGeom prst="rect">
            <a:avLst/>
          </a:prstGeom>
          <a:noFill/>
        </p:spPr>
        <p:txBody>
          <a:bodyPr wrap="square" lIns="0" tIns="0" rIns="0" bIns="0" anchor="t">
            <a:noAutofit/>
          </a:bodyPr>
          <a:lstStyle/>
          <a:p>
            <a:pPr algn="l">
              <a:spcAft>
                <a:spcPts val="0"/>
              </a:spcAft>
            </a:pPr>
            <a:r>
              <a:rPr sz="1050" b="0" i="0">
                <a:solidFill>
                  <a:srgbClr val="FFFFFF"/>
                </a:solidFill>
                <a:latin typeface="Swis721 Cn BT"/>
              </a:rPr>
              <a:t>Diez respuestas y tu logo en buena calidad</a:t>
            </a:r>
          </a:p>
        </p:txBody>
      </p:sp>
      <p:sp>
        <p:nvSpPr>
          <p:cNvPr id="8" name="Rounded Rectangle 7"/>
          <p:cNvSpPr/>
          <p:nvPr/>
        </p:nvSpPr>
        <p:spPr>
          <a:xfrm>
            <a:off x="612648" y="2834640"/>
            <a:ext cx="1042415" cy="256032"/>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Tú</a:t>
            </a:r>
          </a:p>
        </p:txBody>
      </p:sp>
      <p:sp>
        <p:nvSpPr>
          <p:cNvPr id="9" name="Rounded Rectangle 8"/>
          <p:cNvSpPr/>
          <p:nvPr/>
        </p:nvSpPr>
        <p:spPr>
          <a:xfrm>
            <a:off x="1874519" y="868680"/>
            <a:ext cx="1261872" cy="2331720"/>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Oval 9"/>
          <p:cNvSpPr/>
          <p:nvPr/>
        </p:nvSpPr>
        <p:spPr>
          <a:xfrm>
            <a:off x="1984248" y="978408"/>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2</a:t>
            </a:r>
          </a:p>
        </p:txBody>
      </p:sp>
      <p:pic>
        <p:nvPicPr>
          <p:cNvPr id="11" name="Picture 10" descr="Ícono ContentPaste"/>
          <p:cNvPicPr>
            <a:picLocks noChangeAspect="1"/>
          </p:cNvPicPr>
          <p:nvPr/>
        </p:nvPicPr>
        <p:blipFill>
          <a:blip r:embed="rId4"/>
          <a:stretch>
            <a:fillRect/>
          </a:stretch>
        </p:blipFill>
        <p:spPr>
          <a:xfrm>
            <a:off x="2697479" y="969264"/>
            <a:ext cx="347472" cy="347472"/>
          </a:xfrm>
          <a:prstGeom prst="rect">
            <a:avLst/>
          </a:prstGeom>
        </p:spPr>
      </p:pic>
      <p:sp>
        <p:nvSpPr>
          <p:cNvPr id="12" name="TextBox 11"/>
          <p:cNvSpPr txBox="1"/>
          <p:nvPr/>
        </p:nvSpPr>
        <p:spPr>
          <a:xfrm>
            <a:off x="1984248" y="1435608"/>
            <a:ext cx="1060704" cy="457200"/>
          </a:xfrm>
          <a:prstGeom prst="rect">
            <a:avLst/>
          </a:prstGeom>
          <a:noFill/>
        </p:spPr>
        <p:txBody>
          <a:bodyPr wrap="square" lIns="0" tIns="0" rIns="0" bIns="0" anchor="t">
            <a:noAutofit/>
          </a:bodyPr>
          <a:lstStyle/>
          <a:p>
            <a:pPr algn="l">
              <a:spcAft>
                <a:spcPts val="0"/>
              </a:spcAft>
            </a:pPr>
            <a:r>
              <a:rPr sz="1250" b="1" i="0">
                <a:solidFill>
                  <a:srgbClr val="F2B705"/>
                </a:solidFill>
                <a:latin typeface="Swis721 Cn BT"/>
              </a:rPr>
              <a:t>Pegar el prompt</a:t>
            </a:r>
          </a:p>
        </p:txBody>
      </p:sp>
      <p:sp>
        <p:nvSpPr>
          <p:cNvPr id="13" name="TextBox 12"/>
          <p:cNvSpPr txBox="1"/>
          <p:nvPr/>
        </p:nvSpPr>
        <p:spPr>
          <a:xfrm>
            <a:off x="1984248" y="1892807"/>
            <a:ext cx="1060704" cy="914400"/>
          </a:xfrm>
          <a:prstGeom prst="rect">
            <a:avLst/>
          </a:prstGeom>
          <a:noFill/>
        </p:spPr>
        <p:txBody>
          <a:bodyPr wrap="square" lIns="0" tIns="0" rIns="0" bIns="0" anchor="t">
            <a:noAutofit/>
          </a:bodyPr>
          <a:lstStyle/>
          <a:p>
            <a:pPr algn="l">
              <a:spcAft>
                <a:spcPts val="0"/>
              </a:spcAft>
            </a:pPr>
            <a:r>
              <a:rPr sz="1050" b="0" i="0">
                <a:solidFill>
                  <a:srgbClr val="FFFFFF"/>
                </a:solidFill>
                <a:latin typeface="Swis721 Cn BT"/>
              </a:rPr>
              <a:t>El del Paso 1, en cualquier IA</a:t>
            </a:r>
          </a:p>
        </p:txBody>
      </p:sp>
      <p:sp>
        <p:nvSpPr>
          <p:cNvPr id="14" name="Rounded Rectangle 13"/>
          <p:cNvSpPr/>
          <p:nvPr/>
        </p:nvSpPr>
        <p:spPr>
          <a:xfrm>
            <a:off x="1984248" y="2834640"/>
            <a:ext cx="1042415" cy="256032"/>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Tú</a:t>
            </a:r>
          </a:p>
        </p:txBody>
      </p:sp>
      <p:sp>
        <p:nvSpPr>
          <p:cNvPr id="15" name="Rounded Rectangle 14"/>
          <p:cNvSpPr/>
          <p:nvPr/>
        </p:nvSpPr>
        <p:spPr>
          <a:xfrm>
            <a:off x="3246120" y="868680"/>
            <a:ext cx="1261872" cy="2331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6" name="Oval 15"/>
          <p:cNvSpPr/>
          <p:nvPr/>
        </p:nvSpPr>
        <p:spPr>
          <a:xfrm>
            <a:off x="3355848" y="978408"/>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3</a:t>
            </a:r>
          </a:p>
        </p:txBody>
      </p:sp>
      <p:pic>
        <p:nvPicPr>
          <p:cNvPr id="17" name="Picture 16" descr="Ícono QuestionAnswer"/>
          <p:cNvPicPr>
            <a:picLocks noChangeAspect="1"/>
          </p:cNvPicPr>
          <p:nvPr/>
        </p:nvPicPr>
        <p:blipFill>
          <a:blip r:embed="rId5"/>
          <a:stretch>
            <a:fillRect/>
          </a:stretch>
        </p:blipFill>
        <p:spPr>
          <a:xfrm>
            <a:off x="4069080" y="969264"/>
            <a:ext cx="347472" cy="347472"/>
          </a:xfrm>
          <a:prstGeom prst="rect">
            <a:avLst/>
          </a:prstGeom>
        </p:spPr>
      </p:pic>
      <p:sp>
        <p:nvSpPr>
          <p:cNvPr id="18" name="TextBox 17"/>
          <p:cNvSpPr txBox="1"/>
          <p:nvPr/>
        </p:nvSpPr>
        <p:spPr>
          <a:xfrm>
            <a:off x="3355848" y="1435608"/>
            <a:ext cx="1060704" cy="457200"/>
          </a:xfrm>
          <a:prstGeom prst="rect">
            <a:avLst/>
          </a:prstGeom>
          <a:noFill/>
        </p:spPr>
        <p:txBody>
          <a:bodyPr wrap="square" lIns="0" tIns="0" rIns="0" bIns="0" anchor="t">
            <a:noAutofit/>
          </a:bodyPr>
          <a:lstStyle/>
          <a:p>
            <a:pPr algn="l">
              <a:spcAft>
                <a:spcPts val="0"/>
              </a:spcAft>
            </a:pPr>
            <a:r>
              <a:rPr sz="1250" b="1" i="0">
                <a:solidFill>
                  <a:srgbClr val="003C58"/>
                </a:solidFill>
                <a:latin typeface="Swis721 Cn BT"/>
              </a:rPr>
              <a:t>Responder</a:t>
            </a:r>
          </a:p>
        </p:txBody>
      </p:sp>
      <p:sp>
        <p:nvSpPr>
          <p:cNvPr id="19" name="TextBox 18"/>
          <p:cNvSpPr txBox="1"/>
          <p:nvPr/>
        </p:nvSpPr>
        <p:spPr>
          <a:xfrm>
            <a:off x="3355848" y="1892807"/>
            <a:ext cx="1060704" cy="914400"/>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La IA pregunta lo que falta, con opciones</a:t>
            </a:r>
          </a:p>
        </p:txBody>
      </p:sp>
      <p:sp>
        <p:nvSpPr>
          <p:cNvPr id="20" name="Rounded Rectangle 19"/>
          <p:cNvSpPr/>
          <p:nvPr/>
        </p:nvSpPr>
        <p:spPr>
          <a:xfrm>
            <a:off x="3355848" y="2834640"/>
            <a:ext cx="1042415" cy="256032"/>
          </a:xfrm>
          <a:prstGeom prst="roundRect">
            <a:avLst>
              <a:gd name="adj" fmla="val 50000"/>
            </a:avLst>
          </a:prstGeom>
          <a:solidFill>
            <a:srgbClr val="BF21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FFFFFF"/>
                </a:solidFill>
                <a:latin typeface="Swis721 Cn BT"/>
              </a:rPr>
              <a:t>IA</a:t>
            </a:r>
          </a:p>
        </p:txBody>
      </p:sp>
      <p:sp>
        <p:nvSpPr>
          <p:cNvPr id="21" name="Rounded Rectangle 20"/>
          <p:cNvSpPr/>
          <p:nvPr/>
        </p:nvSpPr>
        <p:spPr>
          <a:xfrm>
            <a:off x="4617720" y="868680"/>
            <a:ext cx="1261872" cy="2331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2" name="Oval 21"/>
          <p:cNvSpPr/>
          <p:nvPr/>
        </p:nvSpPr>
        <p:spPr>
          <a:xfrm>
            <a:off x="4727448" y="978408"/>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4</a:t>
            </a:r>
          </a:p>
        </p:txBody>
      </p:sp>
      <p:pic>
        <p:nvPicPr>
          <p:cNvPr id="23" name="Picture 22" descr="Ícono Badge"/>
          <p:cNvPicPr>
            <a:picLocks noChangeAspect="1"/>
          </p:cNvPicPr>
          <p:nvPr/>
        </p:nvPicPr>
        <p:blipFill>
          <a:blip r:embed="rId6"/>
          <a:stretch>
            <a:fillRect/>
          </a:stretch>
        </p:blipFill>
        <p:spPr>
          <a:xfrm>
            <a:off x="5440680" y="969264"/>
            <a:ext cx="347472" cy="347472"/>
          </a:xfrm>
          <a:prstGeom prst="rect">
            <a:avLst/>
          </a:prstGeom>
        </p:spPr>
      </p:pic>
      <p:sp>
        <p:nvSpPr>
          <p:cNvPr id="24" name="TextBox 23"/>
          <p:cNvSpPr txBox="1"/>
          <p:nvPr/>
        </p:nvSpPr>
        <p:spPr>
          <a:xfrm>
            <a:off x="4727448" y="1435608"/>
            <a:ext cx="1060704" cy="457200"/>
          </a:xfrm>
          <a:prstGeom prst="rect">
            <a:avLst/>
          </a:prstGeom>
          <a:noFill/>
        </p:spPr>
        <p:txBody>
          <a:bodyPr wrap="square" lIns="0" tIns="0" rIns="0" bIns="0" anchor="t">
            <a:noAutofit/>
          </a:bodyPr>
          <a:lstStyle/>
          <a:p>
            <a:pPr algn="l">
              <a:spcAft>
                <a:spcPts val="0"/>
              </a:spcAft>
            </a:pPr>
            <a:r>
              <a:rPr sz="1250" b="1" i="0">
                <a:solidFill>
                  <a:srgbClr val="003C58"/>
                </a:solidFill>
                <a:latin typeface="Swis721 Cn BT"/>
              </a:rPr>
              <a:t>Recibir la tarjeta</a:t>
            </a:r>
          </a:p>
        </p:txBody>
      </p:sp>
      <p:sp>
        <p:nvSpPr>
          <p:cNvPr id="25" name="TextBox 24"/>
          <p:cNvSpPr txBox="1"/>
          <p:nvPr/>
        </p:nvSpPr>
        <p:spPr>
          <a:xfrm>
            <a:off x="4727448" y="1892807"/>
            <a:ext cx="1060704" cy="914400"/>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Colores, letras, tono y reglas fijas</a:t>
            </a:r>
          </a:p>
        </p:txBody>
      </p:sp>
      <p:sp>
        <p:nvSpPr>
          <p:cNvPr id="26" name="Rounded Rectangle 25"/>
          <p:cNvSpPr/>
          <p:nvPr/>
        </p:nvSpPr>
        <p:spPr>
          <a:xfrm>
            <a:off x="4727448" y="2834640"/>
            <a:ext cx="1042415" cy="256032"/>
          </a:xfrm>
          <a:prstGeom prst="roundRect">
            <a:avLst>
              <a:gd name="adj" fmla="val 50000"/>
            </a:avLst>
          </a:prstGeom>
          <a:solidFill>
            <a:srgbClr val="BF21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FFFFFF"/>
                </a:solidFill>
                <a:latin typeface="Swis721 Cn BT"/>
              </a:rPr>
              <a:t>IA</a:t>
            </a:r>
          </a:p>
        </p:txBody>
      </p:sp>
      <p:sp>
        <p:nvSpPr>
          <p:cNvPr id="27" name="Rounded Rectangle 26"/>
          <p:cNvSpPr/>
          <p:nvPr/>
        </p:nvSpPr>
        <p:spPr>
          <a:xfrm>
            <a:off x="5989320" y="868680"/>
            <a:ext cx="1261872" cy="2331720"/>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8" name="Oval 27"/>
          <p:cNvSpPr/>
          <p:nvPr/>
        </p:nvSpPr>
        <p:spPr>
          <a:xfrm>
            <a:off x="6099048" y="978408"/>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5</a:t>
            </a:r>
          </a:p>
        </p:txBody>
      </p:sp>
      <p:pic>
        <p:nvPicPr>
          <p:cNvPr id="29" name="Picture 28" descr="Ícono Save"/>
          <p:cNvPicPr>
            <a:picLocks noChangeAspect="1"/>
          </p:cNvPicPr>
          <p:nvPr/>
        </p:nvPicPr>
        <p:blipFill>
          <a:blip r:embed="rId7"/>
          <a:stretch>
            <a:fillRect/>
          </a:stretch>
        </p:blipFill>
        <p:spPr>
          <a:xfrm>
            <a:off x="6812280" y="969264"/>
            <a:ext cx="347472" cy="347472"/>
          </a:xfrm>
          <a:prstGeom prst="rect">
            <a:avLst/>
          </a:prstGeom>
        </p:spPr>
      </p:pic>
      <p:sp>
        <p:nvSpPr>
          <p:cNvPr id="30" name="TextBox 29"/>
          <p:cNvSpPr txBox="1"/>
          <p:nvPr/>
        </p:nvSpPr>
        <p:spPr>
          <a:xfrm>
            <a:off x="6099048" y="1435608"/>
            <a:ext cx="1060704" cy="457200"/>
          </a:xfrm>
          <a:prstGeom prst="rect">
            <a:avLst/>
          </a:prstGeom>
          <a:noFill/>
        </p:spPr>
        <p:txBody>
          <a:bodyPr wrap="square" lIns="0" tIns="0" rIns="0" bIns="0" anchor="t">
            <a:noAutofit/>
          </a:bodyPr>
          <a:lstStyle/>
          <a:p>
            <a:pPr algn="l">
              <a:spcAft>
                <a:spcPts val="0"/>
              </a:spcAft>
            </a:pPr>
            <a:r>
              <a:rPr sz="1250" b="1" i="0">
                <a:solidFill>
                  <a:srgbClr val="F2B705"/>
                </a:solidFill>
                <a:latin typeface="Swis721 Cn BT"/>
              </a:rPr>
              <a:t>Guardarla</a:t>
            </a:r>
          </a:p>
        </p:txBody>
      </p:sp>
      <p:sp>
        <p:nvSpPr>
          <p:cNvPr id="31" name="TextBox 30"/>
          <p:cNvSpPr txBox="1"/>
          <p:nvPr/>
        </p:nvSpPr>
        <p:spPr>
          <a:xfrm>
            <a:off x="6099048" y="1892807"/>
            <a:ext cx="1060704" cy="914400"/>
          </a:xfrm>
          <a:prstGeom prst="rect">
            <a:avLst/>
          </a:prstGeom>
          <a:noFill/>
        </p:spPr>
        <p:txBody>
          <a:bodyPr wrap="square" lIns="0" tIns="0" rIns="0" bIns="0" anchor="t">
            <a:noAutofit/>
          </a:bodyPr>
          <a:lstStyle/>
          <a:p>
            <a:pPr algn="l">
              <a:spcAft>
                <a:spcPts val="0"/>
              </a:spcAft>
            </a:pPr>
            <a:r>
              <a:rPr sz="1050" b="0" i="0">
                <a:solidFill>
                  <a:srgbClr val="FFFFFF"/>
                </a:solidFill>
                <a:latin typeface="Swis721 Cn BT"/>
              </a:rPr>
              <a:t>En Word, en tus notas o en tu proyecto de IA</a:t>
            </a:r>
          </a:p>
        </p:txBody>
      </p:sp>
      <p:sp>
        <p:nvSpPr>
          <p:cNvPr id="32" name="Rounded Rectangle 31"/>
          <p:cNvSpPr/>
          <p:nvPr/>
        </p:nvSpPr>
        <p:spPr>
          <a:xfrm>
            <a:off x="6099048" y="2834640"/>
            <a:ext cx="1042415" cy="256032"/>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Tú</a:t>
            </a:r>
          </a:p>
        </p:txBody>
      </p:sp>
      <p:sp>
        <p:nvSpPr>
          <p:cNvPr id="33" name="Rounded Rectangle 32"/>
          <p:cNvSpPr/>
          <p:nvPr/>
        </p:nvSpPr>
        <p:spPr>
          <a:xfrm>
            <a:off x="7360920" y="868680"/>
            <a:ext cx="1261872" cy="2331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4" name="Oval 33"/>
          <p:cNvSpPr/>
          <p:nvPr/>
        </p:nvSpPr>
        <p:spPr>
          <a:xfrm>
            <a:off x="7470648" y="978408"/>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6</a:t>
            </a:r>
          </a:p>
        </p:txBody>
      </p:sp>
      <p:pic>
        <p:nvPicPr>
          <p:cNvPr id="35" name="Picture 34" descr="Ícono AutoAwesome"/>
          <p:cNvPicPr>
            <a:picLocks noChangeAspect="1"/>
          </p:cNvPicPr>
          <p:nvPr/>
        </p:nvPicPr>
        <p:blipFill>
          <a:blip r:embed="rId8"/>
          <a:stretch>
            <a:fillRect/>
          </a:stretch>
        </p:blipFill>
        <p:spPr>
          <a:xfrm>
            <a:off x="8183880" y="969264"/>
            <a:ext cx="347472" cy="347472"/>
          </a:xfrm>
          <a:prstGeom prst="rect">
            <a:avLst/>
          </a:prstGeom>
        </p:spPr>
      </p:pic>
      <p:sp>
        <p:nvSpPr>
          <p:cNvPr id="36" name="TextBox 35"/>
          <p:cNvSpPr txBox="1"/>
          <p:nvPr/>
        </p:nvSpPr>
        <p:spPr>
          <a:xfrm>
            <a:off x="7470648" y="1435608"/>
            <a:ext cx="1060704" cy="457200"/>
          </a:xfrm>
          <a:prstGeom prst="rect">
            <a:avLst/>
          </a:prstGeom>
          <a:noFill/>
        </p:spPr>
        <p:txBody>
          <a:bodyPr wrap="square" lIns="0" tIns="0" rIns="0" bIns="0" anchor="t">
            <a:noAutofit/>
          </a:bodyPr>
          <a:lstStyle/>
          <a:p>
            <a:pPr algn="l">
              <a:spcAft>
                <a:spcPts val="0"/>
              </a:spcAft>
            </a:pPr>
            <a:r>
              <a:rPr sz="1250" b="1" i="0">
                <a:solidFill>
                  <a:srgbClr val="003C58"/>
                </a:solidFill>
                <a:latin typeface="Swis721 Cn BT"/>
              </a:rPr>
              <a:t>Tarjeta + receta</a:t>
            </a:r>
          </a:p>
        </p:txBody>
      </p:sp>
      <p:sp>
        <p:nvSpPr>
          <p:cNvPr id="37" name="TextBox 36"/>
          <p:cNvSpPr txBox="1"/>
          <p:nvPr/>
        </p:nvSpPr>
        <p:spPr>
          <a:xfrm>
            <a:off x="7470648" y="1892807"/>
            <a:ext cx="1060704" cy="914400"/>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Cada vez que necesites un material</a:t>
            </a:r>
          </a:p>
        </p:txBody>
      </p:sp>
      <p:sp>
        <p:nvSpPr>
          <p:cNvPr id="38" name="Rounded Rectangle 37"/>
          <p:cNvSpPr/>
          <p:nvPr/>
        </p:nvSpPr>
        <p:spPr>
          <a:xfrm>
            <a:off x="7470648" y="2834640"/>
            <a:ext cx="1042415" cy="256032"/>
          </a:xfrm>
          <a:prstGeom prst="roundRect">
            <a:avLst>
              <a:gd name="adj" fmla="val 50000"/>
            </a:avLst>
          </a:prstGeom>
          <a:solidFill>
            <a:srgbClr val="BF21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FFFFFF"/>
                </a:solidFill>
                <a:latin typeface="Swis721 Cn BT"/>
              </a:rPr>
              <a:t>IA</a:t>
            </a:r>
          </a:p>
        </p:txBody>
      </p:sp>
      <p:sp>
        <p:nvSpPr>
          <p:cNvPr id="39" name="Rounded Rectangle 38"/>
          <p:cNvSpPr/>
          <p:nvPr/>
        </p:nvSpPr>
        <p:spPr>
          <a:xfrm>
            <a:off x="502920" y="3383280"/>
            <a:ext cx="8138160" cy="68580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0" name="TextBox 39"/>
          <p:cNvSpPr txBox="1"/>
          <p:nvPr/>
        </p:nvSpPr>
        <p:spPr>
          <a:xfrm>
            <a:off x="731520" y="3419856"/>
            <a:ext cx="7726679" cy="612648"/>
          </a:xfrm>
          <a:prstGeom prst="rect">
            <a:avLst/>
          </a:prstGeom>
          <a:noFill/>
        </p:spPr>
        <p:txBody>
          <a:bodyPr wrap="square" lIns="0" tIns="0" rIns="0" bIns="0" anchor="ctr">
            <a:noAutofit/>
          </a:bodyPr>
          <a:lstStyle/>
          <a:p>
            <a:pPr algn="l">
              <a:spcAft>
                <a:spcPts val="0"/>
              </a:spcAft>
            </a:pPr>
            <a:r>
              <a:rPr sz="1400" b="0" i="0">
                <a:solidFill>
                  <a:srgbClr val="1F2A30"/>
                </a:solidFill>
                <a:latin typeface="Swis721 Cn BT"/>
              </a:rPr>
              <a:t>Los pasos 1 a 5 se hacen </a:t>
            </a:r>
            <a:r>
              <a:rPr sz="1400" b="1" i="0">
                <a:solidFill>
                  <a:srgbClr val="BF210C"/>
                </a:solidFill>
                <a:latin typeface="Swis721 Cn BT"/>
              </a:rPr>
              <a:t>una sola vez</a:t>
            </a:r>
            <a:r>
              <a:rPr sz="1400" b="0" i="0">
                <a:solidFill>
                  <a:srgbClr val="1F2A30"/>
                </a:solidFill>
                <a:latin typeface="Swis721 Cn BT"/>
              </a:rPr>
              <a:t>. Después, cada material empieza con </a:t>
            </a:r>
            <a:r>
              <a:rPr sz="1400" b="1" i="0">
                <a:solidFill>
                  <a:srgbClr val="BF210C"/>
                </a:solidFill>
                <a:latin typeface="Swis721 Cn BT"/>
              </a:rPr>
              <a:t>copiar y pegar</a:t>
            </a:r>
            <a:r>
              <a:rPr sz="1400" b="0" i="0">
                <a:solidFill>
                  <a:srgbClr val="1F2A30"/>
                </a:solidFill>
                <a:latin typeface="Swis721 Cn BT"/>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Las reglas ya vienen escritas: la IA las cumple por ti</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[7] W3C, 2023 · [8] Barrio-Cantalejo et al., 2008 · [10] Mayer, 2021</a:t>
            </a:r>
          </a:p>
        </p:txBody>
      </p:sp>
      <p:sp>
        <p:nvSpPr>
          <p:cNvPr id="5" name="Rounded Rectangle 4"/>
          <p:cNvSpPr/>
          <p:nvPr/>
        </p:nvSpPr>
        <p:spPr>
          <a:xfrm>
            <a:off x="502920" y="868680"/>
            <a:ext cx="19202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6" name="Oval 5"/>
          <p:cNvSpPr/>
          <p:nvPr/>
        </p:nvSpPr>
        <p:spPr>
          <a:xfrm>
            <a:off x="640080" y="1005839"/>
            <a:ext cx="420624" cy="420624"/>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7" name="Picture 6" descr="Ícono Verified"/>
          <p:cNvPicPr>
            <a:picLocks noChangeAspect="1"/>
          </p:cNvPicPr>
          <p:nvPr/>
        </p:nvPicPr>
        <p:blipFill>
          <a:blip r:embed="rId3"/>
          <a:stretch>
            <a:fillRect/>
          </a:stretch>
        </p:blipFill>
        <p:spPr>
          <a:xfrm>
            <a:off x="728411" y="1094171"/>
            <a:ext cx="243961" cy="243961"/>
          </a:xfrm>
          <a:prstGeom prst="rect">
            <a:avLst/>
          </a:prstGeom>
        </p:spPr>
      </p:pic>
      <p:sp>
        <p:nvSpPr>
          <p:cNvPr id="8" name="TextBox 7"/>
          <p:cNvSpPr txBox="1"/>
          <p:nvPr/>
        </p:nvSpPr>
        <p:spPr>
          <a:xfrm>
            <a:off x="1143000" y="987552"/>
            <a:ext cx="1188720" cy="457200"/>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Logo intacto</a:t>
            </a:r>
          </a:p>
        </p:txBody>
      </p:sp>
      <p:sp>
        <p:nvSpPr>
          <p:cNvPr id="9" name="TextBox 8"/>
          <p:cNvSpPr txBox="1"/>
          <p:nvPr/>
        </p:nvSpPr>
        <p:spPr>
          <a:xfrm>
            <a:off x="640080" y="1527048"/>
            <a:ext cx="1645920" cy="475488"/>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Sin redibujar, deformar ni cambiar colores</a:t>
            </a:r>
          </a:p>
        </p:txBody>
      </p:sp>
      <p:sp>
        <p:nvSpPr>
          <p:cNvPr id="10" name="Rounded Rectangle 9"/>
          <p:cNvSpPr/>
          <p:nvPr/>
        </p:nvSpPr>
        <p:spPr>
          <a:xfrm>
            <a:off x="2575864" y="868680"/>
            <a:ext cx="19202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1" name="Oval 10"/>
          <p:cNvSpPr/>
          <p:nvPr/>
        </p:nvSpPr>
        <p:spPr>
          <a:xfrm>
            <a:off x="2713024" y="1005839"/>
            <a:ext cx="420624" cy="420624"/>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2" name="Picture 11" descr="Ícono FactCheck"/>
          <p:cNvPicPr>
            <a:picLocks noChangeAspect="1"/>
          </p:cNvPicPr>
          <p:nvPr/>
        </p:nvPicPr>
        <p:blipFill>
          <a:blip r:embed="rId4"/>
          <a:stretch>
            <a:fillRect/>
          </a:stretch>
        </p:blipFill>
        <p:spPr>
          <a:xfrm>
            <a:off x="2801355" y="1094171"/>
            <a:ext cx="243961" cy="243961"/>
          </a:xfrm>
          <a:prstGeom prst="rect">
            <a:avLst/>
          </a:prstGeom>
        </p:spPr>
      </p:pic>
      <p:sp>
        <p:nvSpPr>
          <p:cNvPr id="13" name="TextBox 12"/>
          <p:cNvSpPr txBox="1"/>
          <p:nvPr/>
        </p:nvSpPr>
        <p:spPr>
          <a:xfrm>
            <a:off x="3215944" y="987552"/>
            <a:ext cx="1188720" cy="457200"/>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Cero datos inventados</a:t>
            </a:r>
          </a:p>
        </p:txBody>
      </p:sp>
      <p:sp>
        <p:nvSpPr>
          <p:cNvPr id="14" name="TextBox 13"/>
          <p:cNvSpPr txBox="1"/>
          <p:nvPr/>
        </p:nvSpPr>
        <p:spPr>
          <a:xfrm>
            <a:off x="2713024" y="1527048"/>
            <a:ext cx="1645920" cy="475488"/>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Lo que falta queda</a:t>
            </a:r>
          </a:p>
          <a:p>
            <a:pPr algn="l">
              <a:spcAft>
                <a:spcPts val="0"/>
              </a:spcAft>
            </a:pPr>
            <a:r>
              <a:rPr sz="1050" b="0" i="0">
                <a:solidFill>
                  <a:srgbClr val="1F2A30"/>
                </a:solidFill>
                <a:latin typeface="Swis721 Cn BT"/>
              </a:rPr>
              <a:t>[POR CONFIRMAR]</a:t>
            </a:r>
          </a:p>
        </p:txBody>
      </p:sp>
      <p:sp>
        <p:nvSpPr>
          <p:cNvPr id="15" name="Rounded Rectangle 14"/>
          <p:cNvSpPr/>
          <p:nvPr/>
        </p:nvSpPr>
        <p:spPr>
          <a:xfrm>
            <a:off x="4648809" y="868680"/>
            <a:ext cx="19202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6" name="Oval 15"/>
          <p:cNvSpPr/>
          <p:nvPr/>
        </p:nvSpPr>
        <p:spPr>
          <a:xfrm>
            <a:off x="4785969" y="1005839"/>
            <a:ext cx="420624" cy="420624"/>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7" name="Picture 16" descr="Ícono Contrast"/>
          <p:cNvPicPr>
            <a:picLocks noChangeAspect="1"/>
          </p:cNvPicPr>
          <p:nvPr/>
        </p:nvPicPr>
        <p:blipFill>
          <a:blip r:embed="rId5"/>
          <a:stretch>
            <a:fillRect/>
          </a:stretch>
        </p:blipFill>
        <p:spPr>
          <a:xfrm>
            <a:off x="4874300" y="1094171"/>
            <a:ext cx="243961" cy="243961"/>
          </a:xfrm>
          <a:prstGeom prst="rect">
            <a:avLst/>
          </a:prstGeom>
        </p:spPr>
      </p:pic>
      <p:sp>
        <p:nvSpPr>
          <p:cNvPr id="18" name="TextBox 17"/>
          <p:cNvSpPr txBox="1"/>
          <p:nvPr/>
        </p:nvSpPr>
        <p:spPr>
          <a:xfrm>
            <a:off x="5288889" y="987552"/>
            <a:ext cx="1188720" cy="457200"/>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Texto legible</a:t>
            </a:r>
          </a:p>
        </p:txBody>
      </p:sp>
      <p:sp>
        <p:nvSpPr>
          <p:cNvPr id="19" name="TextBox 18"/>
          <p:cNvSpPr txBox="1"/>
          <p:nvPr/>
        </p:nvSpPr>
        <p:spPr>
          <a:xfrm>
            <a:off x="4785969" y="1527048"/>
            <a:ext cx="1645920" cy="475488"/>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Contraste 4,5 : 1 y letra grande</a:t>
            </a:r>
          </a:p>
        </p:txBody>
      </p:sp>
      <p:sp>
        <p:nvSpPr>
          <p:cNvPr id="20" name="Rounded Rectangle 19"/>
          <p:cNvSpPr/>
          <p:nvPr/>
        </p:nvSpPr>
        <p:spPr>
          <a:xfrm>
            <a:off x="6721754" y="868680"/>
            <a:ext cx="19202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1" name="Oval 20"/>
          <p:cNvSpPr/>
          <p:nvPr/>
        </p:nvSpPr>
        <p:spPr>
          <a:xfrm>
            <a:off x="6858914" y="1005839"/>
            <a:ext cx="420624" cy="420624"/>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2" name="Picture 21" descr="Ícono Visibility"/>
          <p:cNvPicPr>
            <a:picLocks noChangeAspect="1"/>
          </p:cNvPicPr>
          <p:nvPr/>
        </p:nvPicPr>
        <p:blipFill>
          <a:blip r:embed="rId6"/>
          <a:stretch>
            <a:fillRect/>
          </a:stretch>
        </p:blipFill>
        <p:spPr>
          <a:xfrm>
            <a:off x="6947245" y="1094171"/>
            <a:ext cx="243961" cy="243961"/>
          </a:xfrm>
          <a:prstGeom prst="rect">
            <a:avLst/>
          </a:prstGeom>
        </p:spPr>
      </p:pic>
      <p:sp>
        <p:nvSpPr>
          <p:cNvPr id="23" name="TextBox 22"/>
          <p:cNvSpPr txBox="1"/>
          <p:nvPr/>
        </p:nvSpPr>
        <p:spPr>
          <a:xfrm>
            <a:off x="7361834" y="987552"/>
            <a:ext cx="1188720" cy="457200"/>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No solo color</a:t>
            </a:r>
          </a:p>
        </p:txBody>
      </p:sp>
      <p:sp>
        <p:nvSpPr>
          <p:cNvPr id="24" name="TextBox 23"/>
          <p:cNvSpPr txBox="1"/>
          <p:nvPr/>
        </p:nvSpPr>
        <p:spPr>
          <a:xfrm>
            <a:off x="6858914" y="1527048"/>
            <a:ext cx="1645920" cy="475488"/>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Siempre con texto, ícono o forma</a:t>
            </a:r>
          </a:p>
        </p:txBody>
      </p:sp>
      <p:sp>
        <p:nvSpPr>
          <p:cNvPr id="25" name="Rounded Rectangle 24"/>
          <p:cNvSpPr/>
          <p:nvPr/>
        </p:nvSpPr>
        <p:spPr>
          <a:xfrm>
            <a:off x="502920" y="2167128"/>
            <a:ext cx="19202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6" name="Oval 25"/>
          <p:cNvSpPr/>
          <p:nvPr/>
        </p:nvSpPr>
        <p:spPr>
          <a:xfrm>
            <a:off x="640080" y="2304288"/>
            <a:ext cx="420624" cy="420624"/>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7" name="Picture 26" descr="Ícono Face"/>
          <p:cNvPicPr>
            <a:picLocks noChangeAspect="1"/>
          </p:cNvPicPr>
          <p:nvPr/>
        </p:nvPicPr>
        <p:blipFill>
          <a:blip r:embed="rId7"/>
          <a:stretch>
            <a:fillRect/>
          </a:stretch>
        </p:blipFill>
        <p:spPr>
          <a:xfrm>
            <a:off x="728411" y="2392619"/>
            <a:ext cx="243961" cy="243961"/>
          </a:xfrm>
          <a:prstGeom prst="rect">
            <a:avLst/>
          </a:prstGeom>
        </p:spPr>
      </p:pic>
      <p:sp>
        <p:nvSpPr>
          <p:cNvPr id="28" name="TextBox 27"/>
          <p:cNvSpPr txBox="1"/>
          <p:nvPr/>
        </p:nvSpPr>
        <p:spPr>
          <a:xfrm>
            <a:off x="1143000" y="2286000"/>
            <a:ext cx="1188720" cy="457200"/>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Personas cuidadas</a:t>
            </a:r>
          </a:p>
        </p:txBody>
      </p:sp>
      <p:sp>
        <p:nvSpPr>
          <p:cNvPr id="29" name="TextBox 28"/>
          <p:cNvSpPr txBox="1"/>
          <p:nvPr/>
        </p:nvSpPr>
        <p:spPr>
          <a:xfrm>
            <a:off x="640080" y="2825496"/>
            <a:ext cx="1645920" cy="475488"/>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Fotos autorizadas; nada sobre las caras</a:t>
            </a:r>
          </a:p>
        </p:txBody>
      </p:sp>
      <p:sp>
        <p:nvSpPr>
          <p:cNvPr id="30" name="Rounded Rectangle 29"/>
          <p:cNvSpPr/>
          <p:nvPr/>
        </p:nvSpPr>
        <p:spPr>
          <a:xfrm>
            <a:off x="2575864" y="2167128"/>
            <a:ext cx="19202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1" name="Oval 30"/>
          <p:cNvSpPr/>
          <p:nvPr/>
        </p:nvSpPr>
        <p:spPr>
          <a:xfrm>
            <a:off x="2713024" y="2304288"/>
            <a:ext cx="420624" cy="420624"/>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32" name="Picture 31" descr="Ícono Chat"/>
          <p:cNvPicPr>
            <a:picLocks noChangeAspect="1"/>
          </p:cNvPicPr>
          <p:nvPr/>
        </p:nvPicPr>
        <p:blipFill>
          <a:blip r:embed="rId8"/>
          <a:stretch>
            <a:fillRect/>
          </a:stretch>
        </p:blipFill>
        <p:spPr>
          <a:xfrm>
            <a:off x="2801355" y="2392619"/>
            <a:ext cx="243961" cy="243961"/>
          </a:xfrm>
          <a:prstGeom prst="rect">
            <a:avLst/>
          </a:prstGeom>
        </p:spPr>
      </p:pic>
      <p:sp>
        <p:nvSpPr>
          <p:cNvPr id="33" name="TextBox 32"/>
          <p:cNvSpPr txBox="1"/>
          <p:nvPr/>
        </p:nvSpPr>
        <p:spPr>
          <a:xfrm>
            <a:off x="3215944" y="2286000"/>
            <a:ext cx="1188720" cy="457200"/>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Lenguaje claro</a:t>
            </a:r>
          </a:p>
        </p:txBody>
      </p:sp>
      <p:sp>
        <p:nvSpPr>
          <p:cNvPr id="34" name="TextBox 33"/>
          <p:cNvSpPr txBox="1"/>
          <p:nvPr/>
        </p:nvSpPr>
        <p:spPr>
          <a:xfrm>
            <a:off x="2713024" y="2825496"/>
            <a:ext cx="1645920" cy="475488"/>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Nivel de 6.º básico para usuarias</a:t>
            </a:r>
          </a:p>
        </p:txBody>
      </p:sp>
      <p:sp>
        <p:nvSpPr>
          <p:cNvPr id="35" name="Rounded Rectangle 34"/>
          <p:cNvSpPr/>
          <p:nvPr/>
        </p:nvSpPr>
        <p:spPr>
          <a:xfrm>
            <a:off x="4648809" y="2167128"/>
            <a:ext cx="19202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6" name="Oval 35"/>
          <p:cNvSpPr/>
          <p:nvPr/>
        </p:nvSpPr>
        <p:spPr>
          <a:xfrm>
            <a:off x="4785969" y="2304288"/>
            <a:ext cx="420624" cy="420624"/>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37" name="Picture 36" descr="Ícono LocalPrintshop"/>
          <p:cNvPicPr>
            <a:picLocks noChangeAspect="1"/>
          </p:cNvPicPr>
          <p:nvPr/>
        </p:nvPicPr>
        <p:blipFill>
          <a:blip r:embed="rId9"/>
          <a:stretch>
            <a:fillRect/>
          </a:stretch>
        </p:blipFill>
        <p:spPr>
          <a:xfrm>
            <a:off x="4874300" y="2392619"/>
            <a:ext cx="243961" cy="243961"/>
          </a:xfrm>
          <a:prstGeom prst="rect">
            <a:avLst/>
          </a:prstGeom>
        </p:spPr>
      </p:pic>
      <p:sp>
        <p:nvSpPr>
          <p:cNvPr id="38" name="TextBox 37"/>
          <p:cNvSpPr txBox="1"/>
          <p:nvPr/>
        </p:nvSpPr>
        <p:spPr>
          <a:xfrm>
            <a:off x="5288889" y="2286000"/>
            <a:ext cx="1188720" cy="457200"/>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Listo para imprenta</a:t>
            </a:r>
          </a:p>
        </p:txBody>
      </p:sp>
      <p:sp>
        <p:nvSpPr>
          <p:cNvPr id="39" name="TextBox 38"/>
          <p:cNvSpPr txBox="1"/>
          <p:nvPr/>
        </p:nvSpPr>
        <p:spPr>
          <a:xfrm>
            <a:off x="4785969" y="2825496"/>
            <a:ext cx="1645920" cy="475488"/>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Medida exacta, 3 mm de sangrado, PDF</a:t>
            </a:r>
          </a:p>
        </p:txBody>
      </p:sp>
      <p:sp>
        <p:nvSpPr>
          <p:cNvPr id="40" name="Rounded Rectangle 39"/>
          <p:cNvSpPr/>
          <p:nvPr/>
        </p:nvSpPr>
        <p:spPr>
          <a:xfrm>
            <a:off x="6721754" y="2167128"/>
            <a:ext cx="19202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1" name="Oval 40"/>
          <p:cNvSpPr/>
          <p:nvPr/>
        </p:nvSpPr>
        <p:spPr>
          <a:xfrm>
            <a:off x="6858914" y="2304288"/>
            <a:ext cx="420624" cy="420624"/>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42" name="Picture 41" descr="Ícono QuestionAnswer"/>
          <p:cNvPicPr>
            <a:picLocks noChangeAspect="1"/>
          </p:cNvPicPr>
          <p:nvPr/>
        </p:nvPicPr>
        <p:blipFill>
          <a:blip r:embed="rId10"/>
          <a:stretch>
            <a:fillRect/>
          </a:stretch>
        </p:blipFill>
        <p:spPr>
          <a:xfrm>
            <a:off x="6947245" y="2392619"/>
            <a:ext cx="243961" cy="243961"/>
          </a:xfrm>
          <a:prstGeom prst="rect">
            <a:avLst/>
          </a:prstGeom>
        </p:spPr>
      </p:pic>
      <p:sp>
        <p:nvSpPr>
          <p:cNvPr id="43" name="TextBox 42"/>
          <p:cNvSpPr txBox="1"/>
          <p:nvPr/>
        </p:nvSpPr>
        <p:spPr>
          <a:xfrm>
            <a:off x="7361834" y="2286000"/>
            <a:ext cx="1188720" cy="457200"/>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Pregunta y avisa</a:t>
            </a:r>
          </a:p>
        </p:txBody>
      </p:sp>
      <p:sp>
        <p:nvSpPr>
          <p:cNvPr id="44" name="TextBox 43"/>
          <p:cNvSpPr txBox="1"/>
          <p:nvPr/>
        </p:nvSpPr>
        <p:spPr>
          <a:xfrm>
            <a:off x="6858914" y="2825496"/>
            <a:ext cx="1645920" cy="475488"/>
          </a:xfrm>
          <a:prstGeom prst="rect">
            <a:avLst/>
          </a:prstGeom>
          <a:noFill/>
        </p:spPr>
        <p:txBody>
          <a:bodyPr wrap="square" lIns="0" tIns="0" rIns="0" bIns="0" anchor="t">
            <a:noAutofit/>
          </a:bodyPr>
          <a:lstStyle/>
          <a:p>
            <a:pPr algn="l">
              <a:spcAft>
                <a:spcPts val="0"/>
              </a:spcAft>
            </a:pPr>
            <a:r>
              <a:rPr sz="1050" b="0" i="0">
                <a:solidFill>
                  <a:srgbClr val="1F2A30"/>
                </a:solidFill>
                <a:latin typeface="Swis721 Cn BT"/>
              </a:rPr>
              <a:t>Dice qué debes confirmar</a:t>
            </a:r>
          </a:p>
        </p:txBody>
      </p:sp>
      <p:sp>
        <p:nvSpPr>
          <p:cNvPr id="45" name="Rounded Rectangle 44"/>
          <p:cNvSpPr/>
          <p:nvPr/>
        </p:nvSpPr>
        <p:spPr>
          <a:xfrm>
            <a:off x="502920" y="3520440"/>
            <a:ext cx="8138160" cy="548640"/>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6" name="TextBox 45"/>
          <p:cNvSpPr txBox="1"/>
          <p:nvPr/>
        </p:nvSpPr>
        <p:spPr>
          <a:xfrm>
            <a:off x="731520" y="3557016"/>
            <a:ext cx="7726679" cy="475488"/>
          </a:xfrm>
          <a:prstGeom prst="rect">
            <a:avLst/>
          </a:prstGeom>
          <a:noFill/>
        </p:spPr>
        <p:txBody>
          <a:bodyPr wrap="square" lIns="0" tIns="0" rIns="0" bIns="0" anchor="ctr">
            <a:noAutofit/>
          </a:bodyPr>
          <a:lstStyle/>
          <a:p>
            <a:pPr algn="l">
              <a:spcAft>
                <a:spcPts val="0"/>
              </a:spcAft>
            </a:pPr>
            <a:r>
              <a:rPr sz="1400" b="0" i="0">
                <a:solidFill>
                  <a:srgbClr val="FFFFFF"/>
                </a:solidFill>
                <a:latin typeface="Swis721 Cn BT"/>
              </a:rPr>
              <a:t>No necesitas memorizarlas: están en el bloque </a:t>
            </a:r>
            <a:r>
              <a:rPr sz="1400" b="1" i="0">
                <a:solidFill>
                  <a:srgbClr val="F2B705"/>
                </a:solidFill>
                <a:latin typeface="Swis721 Cn BT"/>
              </a:rPr>
              <a:t>REGLAS FIJAS</a:t>
            </a:r>
            <a:r>
              <a:rPr sz="1400" b="0" i="0">
                <a:solidFill>
                  <a:srgbClr val="FFFFFF"/>
                </a:solidFill>
                <a:latin typeface="Swis721 Cn BT"/>
              </a:rPr>
              <a:t> de tu tarjeta de marca.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Mismo pedido, distinto resultado: tu tarjeta hace la diferencia</a:t>
            </a:r>
          </a:p>
        </p:txBody>
      </p:sp>
      <p:sp>
        <p:nvSpPr>
          <p:cNvPr id="3" name="Rounded Rectangle 2"/>
          <p:cNvSpPr/>
          <p:nvPr/>
        </p:nvSpPr>
        <p:spPr>
          <a:xfrm>
            <a:off x="502920" y="868680"/>
            <a:ext cx="3474720" cy="3200400"/>
          </a:xfrm>
          <a:prstGeom prst="roundRect">
            <a:avLst>
              <a:gd name="adj" fmla="val 13333"/>
            </a:avLst>
          </a:prstGeom>
          <a:solidFill>
            <a:srgbClr val="F9E3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Rounded Rectangle 3"/>
          <p:cNvSpPr/>
          <p:nvPr/>
        </p:nvSpPr>
        <p:spPr>
          <a:xfrm>
            <a:off x="685800" y="1033271"/>
            <a:ext cx="1417320" cy="310896"/>
          </a:xfrm>
          <a:prstGeom prst="roundRect">
            <a:avLst>
              <a:gd name="adj" fmla="val 50000"/>
            </a:avLst>
          </a:prstGeom>
          <a:solidFill>
            <a:srgbClr val="BF21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FFFFFF"/>
                </a:solidFill>
                <a:latin typeface="Swis721 Cn BT"/>
              </a:rPr>
              <a:t>Pedido vago</a:t>
            </a:r>
          </a:p>
        </p:txBody>
      </p:sp>
      <p:sp>
        <p:nvSpPr>
          <p:cNvPr id="5" name="TextBox 4"/>
          <p:cNvSpPr txBox="1"/>
          <p:nvPr/>
        </p:nvSpPr>
        <p:spPr>
          <a:xfrm>
            <a:off x="685800" y="1508760"/>
            <a:ext cx="3108960" cy="548640"/>
          </a:xfrm>
          <a:prstGeom prst="rect">
            <a:avLst/>
          </a:prstGeom>
          <a:noFill/>
        </p:spPr>
        <p:txBody>
          <a:bodyPr wrap="square" lIns="0" tIns="0" rIns="0" bIns="0" anchor="t">
            <a:noAutofit/>
          </a:bodyPr>
          <a:lstStyle/>
          <a:p>
            <a:pPr algn="l">
              <a:spcAft>
                <a:spcPts val="0"/>
              </a:spcAft>
            </a:pPr>
            <a:r>
              <a:rPr sz="1500" b="0" i="1">
                <a:solidFill>
                  <a:srgbClr val="1F2A30"/>
                </a:solidFill>
                <a:latin typeface="Swis721 Cn BT"/>
              </a:rPr>
              <a:t>«Hazme un afiche de lactancia.»</a:t>
            </a:r>
          </a:p>
        </p:txBody>
      </p:sp>
      <p:sp>
        <p:nvSpPr>
          <p:cNvPr id="6" name="TextBox 5"/>
          <p:cNvSpPr txBox="1"/>
          <p:nvPr/>
        </p:nvSpPr>
        <p:spPr>
          <a:xfrm>
            <a:off x="685800" y="2194560"/>
            <a:ext cx="3108960" cy="1783080"/>
          </a:xfrm>
          <a:prstGeom prst="rect">
            <a:avLst/>
          </a:prstGeom>
          <a:noFill/>
        </p:spPr>
        <p:txBody>
          <a:bodyPr wrap="square" lIns="0" tIns="0" rIns="0" bIns="0" anchor="t">
            <a:noAutofit/>
          </a:bodyPr>
          <a:lstStyle/>
          <a:p>
            <a:pPr algn="l">
              <a:spcAft>
                <a:spcPts val="400"/>
              </a:spcAft>
            </a:pPr>
            <a:r>
              <a:rPr sz="1250" b="1" i="0">
                <a:solidFill>
                  <a:srgbClr val="BF210C"/>
                </a:solidFill>
                <a:latin typeface="Swis721 Cn BT"/>
              </a:rPr>
              <a:t>Qué suele salir</a:t>
            </a:r>
          </a:p>
          <a:p>
            <a:pPr marL="155448" indent="-155448" algn="l">
              <a:spcAft>
                <a:spcPts val="400"/>
              </a:spcAft>
              <a:buClr>
                <a:srgbClr val="BF210C"/>
              </a:buClr>
              <a:buFont typeface="Arial"/>
              <a:buChar char="•"/>
            </a:pPr>
            <a:r>
              <a:rPr sz="1200" b="0" i="0">
                <a:solidFill>
                  <a:srgbClr val="1F2A30"/>
                </a:solidFill>
                <a:latin typeface="Swis721 Cn BT"/>
              </a:rPr>
              <a:t>Colores y letras al azar</a:t>
            </a:r>
          </a:p>
          <a:p>
            <a:pPr marL="155448" indent="-155448" algn="l">
              <a:spcAft>
                <a:spcPts val="400"/>
              </a:spcAft>
              <a:buClr>
                <a:srgbClr val="BF210C"/>
              </a:buClr>
              <a:buFont typeface="Arial"/>
              <a:buChar char="•"/>
            </a:pPr>
            <a:r>
              <a:rPr sz="1200" b="0" i="0">
                <a:solidFill>
                  <a:srgbClr val="1F2A30"/>
                </a:solidFill>
                <a:latin typeface="Swis721 Cn BT"/>
              </a:rPr>
              <a:t>Logo deformado o inventado</a:t>
            </a:r>
          </a:p>
          <a:p>
            <a:pPr marL="155448" indent="-155448" algn="l">
              <a:spcAft>
                <a:spcPts val="400"/>
              </a:spcAft>
              <a:buClr>
                <a:srgbClr val="BF210C"/>
              </a:buClr>
              <a:buFont typeface="Arial"/>
              <a:buChar char="•"/>
            </a:pPr>
            <a:r>
              <a:rPr sz="1200" b="0" i="0">
                <a:solidFill>
                  <a:srgbClr val="1F2A30"/>
                </a:solidFill>
                <a:latin typeface="Swis721 Cn BT"/>
              </a:rPr>
              <a:t>Teléfono o web inventados</a:t>
            </a:r>
          </a:p>
          <a:p>
            <a:pPr marL="155448" indent="-155448" algn="l">
              <a:spcAft>
                <a:spcPts val="400"/>
              </a:spcAft>
              <a:buClr>
                <a:srgbClr val="BF210C"/>
              </a:buClr>
              <a:buFont typeface="Arial"/>
              <a:buChar char="•"/>
            </a:pPr>
            <a:r>
              <a:rPr sz="1200" b="0" i="0">
                <a:solidFill>
                  <a:srgbClr val="1F2A30"/>
                </a:solidFill>
                <a:latin typeface="Swis721 Cn BT"/>
              </a:rPr>
              <a:t>Mucho texto y letra pequeña</a:t>
            </a:r>
          </a:p>
        </p:txBody>
      </p:sp>
      <p:sp>
        <p:nvSpPr>
          <p:cNvPr id="7" name="Rounded Rectangle 6"/>
          <p:cNvSpPr/>
          <p:nvPr/>
        </p:nvSpPr>
        <p:spPr>
          <a:xfrm>
            <a:off x="4206240" y="868680"/>
            <a:ext cx="4434840" cy="32004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8" name="Rounded Rectangle 7"/>
          <p:cNvSpPr/>
          <p:nvPr/>
        </p:nvSpPr>
        <p:spPr>
          <a:xfrm>
            <a:off x="4389120" y="1033271"/>
            <a:ext cx="2194560" cy="310896"/>
          </a:xfrm>
          <a:prstGeom prst="roundRect">
            <a:avLst>
              <a:gd name="adj" fmla="val 50000"/>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FFFFFF"/>
                </a:solidFill>
                <a:latin typeface="Swis721 Cn BT"/>
              </a:rPr>
              <a:t>Tarjeta de marca + receta</a:t>
            </a:r>
          </a:p>
        </p:txBody>
      </p:sp>
      <p:sp>
        <p:nvSpPr>
          <p:cNvPr id="9" name="TextBox 8"/>
          <p:cNvSpPr txBox="1"/>
          <p:nvPr/>
        </p:nvSpPr>
        <p:spPr>
          <a:xfrm>
            <a:off x="4389120" y="1463040"/>
            <a:ext cx="4069080" cy="1508760"/>
          </a:xfrm>
          <a:prstGeom prst="rect">
            <a:avLst/>
          </a:prstGeom>
          <a:noFill/>
        </p:spPr>
        <p:txBody>
          <a:bodyPr wrap="square" lIns="0" tIns="0" rIns="0" bIns="0" anchor="t">
            <a:noAutofit/>
          </a:bodyPr>
          <a:lstStyle/>
          <a:p>
            <a:pPr algn="l">
              <a:spcAft>
                <a:spcPts val="0"/>
              </a:spcAft>
            </a:pPr>
            <a:r>
              <a:rPr sz="1150" b="0" i="1">
                <a:solidFill>
                  <a:srgbClr val="1F2A30"/>
                </a:solidFill>
                <a:latin typeface="Swis721 Cn BT"/>
              </a:rPr>
              <a:t>«</a:t>
            </a:r>
            <a:r>
              <a:rPr sz="1150" b="1" i="1">
                <a:solidFill>
                  <a:srgbClr val="BF210C"/>
                </a:solidFill>
                <a:latin typeface="Swis721 Cn BT"/>
              </a:rPr>
              <a:t>[Tarjeta de marca]</a:t>
            </a:r>
            <a:r>
              <a:rPr sz="1150" b="0" i="1">
                <a:solidFill>
                  <a:srgbClr val="1F2A30"/>
                </a:solidFill>
                <a:latin typeface="Swis721 Cn BT"/>
              </a:rPr>
              <a:t> Con mi tarjeta y sus reglas fijas, diseña un afiche A3 sobre lactancia para gestantes del CESFAM. El mensaje principal se lee a 3 metros; máximo 3 niveles de texto; QR hacia </a:t>
            </a:r>
            <a:r>
              <a:rPr sz="1150" b="1" i="1">
                <a:solidFill>
                  <a:srgbClr val="BF210C"/>
                </a:solidFill>
                <a:latin typeface="Swis721 Cn BT"/>
              </a:rPr>
              <a:t>[formulario]</a:t>
            </a:r>
            <a:r>
              <a:rPr sz="1150" b="0" i="1">
                <a:solidFill>
                  <a:srgbClr val="1F2A30"/>
                </a:solidFill>
                <a:latin typeface="Swis721 Cn BT"/>
              </a:rPr>
              <a:t>. Entrégame cómo se ve, las medidas para la imprenta y qué debo confirmar.»</a:t>
            </a:r>
          </a:p>
        </p:txBody>
      </p:sp>
      <p:sp>
        <p:nvSpPr>
          <p:cNvPr id="10" name="TextBox 9"/>
          <p:cNvSpPr txBox="1"/>
          <p:nvPr/>
        </p:nvSpPr>
        <p:spPr>
          <a:xfrm>
            <a:off x="4389120" y="2788920"/>
            <a:ext cx="4069080" cy="1188720"/>
          </a:xfrm>
          <a:prstGeom prst="rect">
            <a:avLst/>
          </a:prstGeom>
          <a:noFill/>
        </p:spPr>
        <p:txBody>
          <a:bodyPr wrap="square" lIns="0" tIns="0" rIns="0" bIns="0" anchor="t">
            <a:noAutofit/>
          </a:bodyPr>
          <a:lstStyle/>
          <a:p>
            <a:pPr algn="l">
              <a:spcAft>
                <a:spcPts val="300"/>
              </a:spcAft>
            </a:pPr>
            <a:r>
              <a:rPr sz="1250" b="1" i="0">
                <a:solidFill>
                  <a:srgbClr val="003C58"/>
                </a:solidFill>
                <a:latin typeface="Swis721 Cn BT"/>
              </a:rPr>
              <a:t>Qué suele salir</a:t>
            </a:r>
          </a:p>
          <a:p>
            <a:pPr marL="155448" indent="-155448" algn="l">
              <a:spcAft>
                <a:spcPts val="200"/>
              </a:spcAft>
              <a:buClr>
                <a:srgbClr val="003C58"/>
              </a:buClr>
              <a:buFont typeface="Arial"/>
              <a:buChar char="•"/>
            </a:pPr>
            <a:r>
              <a:rPr sz="1150" b="0" i="0">
                <a:solidFill>
                  <a:srgbClr val="1F2A30"/>
                </a:solidFill>
                <a:latin typeface="Swis721 Cn BT"/>
              </a:rPr>
              <a:t>Tus colores, tus letras y tu logo original</a:t>
            </a:r>
          </a:p>
          <a:p>
            <a:pPr marL="155448" indent="-155448" algn="l">
              <a:spcAft>
                <a:spcPts val="200"/>
              </a:spcAft>
              <a:buClr>
                <a:srgbClr val="003C58"/>
              </a:buClr>
              <a:buFont typeface="Arial"/>
              <a:buChar char="•"/>
            </a:pPr>
            <a:r>
              <a:rPr sz="1150" b="0" i="0">
                <a:solidFill>
                  <a:srgbClr val="1F2A30"/>
                </a:solidFill>
                <a:latin typeface="Swis721 Cn BT"/>
              </a:rPr>
              <a:t>Datos reales o [POR CONFIRMAR]</a:t>
            </a:r>
          </a:p>
          <a:p>
            <a:pPr marL="155448" indent="-155448" algn="l">
              <a:spcAft>
                <a:spcPts val="200"/>
              </a:spcAft>
              <a:buClr>
                <a:srgbClr val="003C58"/>
              </a:buClr>
              <a:buFont typeface="Arial"/>
              <a:buChar char="•"/>
            </a:pPr>
            <a:r>
              <a:rPr sz="1150" b="0" i="0">
                <a:solidFill>
                  <a:srgbClr val="1F2A30"/>
                </a:solidFill>
                <a:latin typeface="Swis721 Cn BT"/>
              </a:rPr>
              <a:t>Medidas de imprenta y lo que debes confirmar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4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04</a:t>
            </a:r>
          </a:p>
        </p:txBody>
      </p:sp>
      <p:sp>
        <p:nvSpPr>
          <p:cNvPr id="4" name="Oval 3"/>
          <p:cNvSpPr/>
          <p:nvPr/>
        </p:nvSpPr>
        <p:spPr>
          <a:xfrm>
            <a:off x="822960" y="2514600"/>
            <a:ext cx="1005840" cy="1005840"/>
          </a:xfrm>
          <a:prstGeom prst="ellipse">
            <a:avLst/>
          </a:prstGeom>
          <a:solidFill>
            <a:srgbClr val="0671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MenuBook"/>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Seis recetas listas</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¿Qué materiales puedo crear con mi tarjeta?</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Seis recetas y sus medidas</a:t>
            </a:r>
          </a:p>
        </p:txBody>
      </p:sp>
      <p:sp>
        <p:nvSpPr>
          <p:cNvPr id="11" name="Oval 10"/>
          <p:cNvSpPr/>
          <p:nvPr/>
        </p:nvSpPr>
        <p:spPr>
          <a:xfrm>
            <a:off x="2633472" y="318211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Una receta por dentro</a:t>
            </a:r>
          </a:p>
        </p:txBody>
      </p:sp>
      <p:sp>
        <p:nvSpPr>
          <p:cNvPr id="13" name="Oval 12"/>
          <p:cNvSpPr/>
          <p:nvPr/>
        </p:nvSpPr>
        <p:spPr>
          <a:xfrm>
            <a:off x="2633472" y="3493008"/>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TextBox 13"/>
          <p:cNvSpPr txBox="1"/>
          <p:nvPr/>
        </p:nvSpPr>
        <p:spPr>
          <a:xfrm>
            <a:off x="2880360" y="3410712"/>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¿Y cómo obtengo el archivo?</a:t>
            </a:r>
          </a:p>
        </p:txBody>
      </p:sp>
      <p:sp>
        <p:nvSpPr>
          <p:cNvPr id="15" name="Oval 14"/>
          <p:cNvSpPr/>
          <p:nvPr/>
        </p:nvSpPr>
        <p:spPr>
          <a:xfrm>
            <a:off x="2633472" y="3803904"/>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6" name="TextBox 15"/>
          <p:cNvSpPr txBox="1"/>
          <p:nvPr/>
        </p:nvSpPr>
        <p:spPr>
          <a:xfrm>
            <a:off x="2880360" y="3721608"/>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Manos a la obra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Seis recetas para tus materiales</a:t>
            </a:r>
          </a:p>
        </p:txBody>
      </p:sp>
      <p:sp>
        <p:nvSpPr>
          <p:cNvPr id="3" name="Rounded Rectangle 2"/>
          <p:cNvSpPr/>
          <p:nvPr/>
        </p:nvSpPr>
        <p:spPr>
          <a:xfrm>
            <a:off x="502920" y="868680"/>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Oval 3"/>
          <p:cNvSpPr/>
          <p:nvPr/>
        </p:nvSpPr>
        <p:spPr>
          <a:xfrm>
            <a:off x="667512" y="1024127"/>
            <a:ext cx="475488" cy="475488"/>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AutoStories"/>
          <p:cNvPicPr>
            <a:picLocks noChangeAspect="1"/>
          </p:cNvPicPr>
          <p:nvPr/>
        </p:nvPicPr>
        <p:blipFill>
          <a:blip r:embed="rId3"/>
          <a:stretch>
            <a:fillRect/>
          </a:stretch>
        </p:blipFill>
        <p:spPr>
          <a:xfrm>
            <a:off x="767364" y="1123980"/>
            <a:ext cx="275783" cy="275783"/>
          </a:xfrm>
          <a:prstGeom prst="rect">
            <a:avLst/>
          </a:prstGeom>
        </p:spPr>
      </p:pic>
      <p:sp>
        <p:nvSpPr>
          <p:cNvPr id="6" name="Rounded Rectangle 5"/>
          <p:cNvSpPr/>
          <p:nvPr/>
        </p:nvSpPr>
        <p:spPr>
          <a:xfrm>
            <a:off x="2606039" y="996695"/>
            <a:ext cx="384048" cy="27432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R1</a:t>
            </a:r>
          </a:p>
        </p:txBody>
      </p:sp>
      <p:sp>
        <p:nvSpPr>
          <p:cNvPr id="7" name="TextBox 6"/>
          <p:cNvSpPr txBox="1"/>
          <p:nvPr/>
        </p:nvSpPr>
        <p:spPr>
          <a:xfrm>
            <a:off x="1289304" y="996695"/>
            <a:ext cx="1261872" cy="530352"/>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Folletos y documentos</a:t>
            </a:r>
          </a:p>
        </p:txBody>
      </p:sp>
      <p:sp>
        <p:nvSpPr>
          <p:cNvPr id="8" name="TextBox 7"/>
          <p:cNvSpPr txBox="1"/>
          <p:nvPr/>
        </p:nvSpPr>
        <p:spPr>
          <a:xfrm>
            <a:off x="667512" y="1600200"/>
            <a:ext cx="2331720" cy="219456"/>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Carta o A4 · 3 mm de sangrado</a:t>
            </a:r>
          </a:p>
        </p:txBody>
      </p:sp>
      <p:sp>
        <p:nvSpPr>
          <p:cNvPr id="9" name="TextBox 8"/>
          <p:cNvSpPr txBox="1"/>
          <p:nvPr/>
        </p:nvSpPr>
        <p:spPr>
          <a:xfrm>
            <a:off x="667512" y="1810512"/>
            <a:ext cx="2331720" cy="219456"/>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Díptico, tríptico y membrete</a:t>
            </a:r>
          </a:p>
        </p:txBody>
      </p:sp>
      <p:sp>
        <p:nvSpPr>
          <p:cNvPr id="10" name="Rounded Rectangle 9"/>
          <p:cNvSpPr/>
          <p:nvPr/>
        </p:nvSpPr>
        <p:spPr>
          <a:xfrm>
            <a:off x="3268980" y="868680"/>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1" name="Oval 10"/>
          <p:cNvSpPr/>
          <p:nvPr/>
        </p:nvSpPr>
        <p:spPr>
          <a:xfrm>
            <a:off x="3433572" y="1024127"/>
            <a:ext cx="475488" cy="475488"/>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2" name="Picture 11" descr="Ícono ContactPage"/>
          <p:cNvPicPr>
            <a:picLocks noChangeAspect="1"/>
          </p:cNvPicPr>
          <p:nvPr/>
        </p:nvPicPr>
        <p:blipFill>
          <a:blip r:embed="rId4"/>
          <a:stretch>
            <a:fillRect/>
          </a:stretch>
        </p:blipFill>
        <p:spPr>
          <a:xfrm>
            <a:off x="3533424" y="1123980"/>
            <a:ext cx="275783" cy="275783"/>
          </a:xfrm>
          <a:prstGeom prst="rect">
            <a:avLst/>
          </a:prstGeom>
        </p:spPr>
      </p:pic>
      <p:sp>
        <p:nvSpPr>
          <p:cNvPr id="13" name="Rounded Rectangle 12"/>
          <p:cNvSpPr/>
          <p:nvPr/>
        </p:nvSpPr>
        <p:spPr>
          <a:xfrm>
            <a:off x="5372100" y="996695"/>
            <a:ext cx="384048" cy="27432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R2</a:t>
            </a:r>
          </a:p>
        </p:txBody>
      </p:sp>
      <p:sp>
        <p:nvSpPr>
          <p:cNvPr id="14" name="TextBox 13"/>
          <p:cNvSpPr txBox="1"/>
          <p:nvPr/>
        </p:nvSpPr>
        <p:spPr>
          <a:xfrm>
            <a:off x="4055364" y="996695"/>
            <a:ext cx="1261872" cy="530352"/>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Tarjeta de presentación</a:t>
            </a:r>
          </a:p>
        </p:txBody>
      </p:sp>
      <p:sp>
        <p:nvSpPr>
          <p:cNvPr id="15" name="TextBox 14"/>
          <p:cNvSpPr txBox="1"/>
          <p:nvPr/>
        </p:nvSpPr>
        <p:spPr>
          <a:xfrm>
            <a:off x="3433572" y="1600200"/>
            <a:ext cx="2331720" cy="219456"/>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9 × 5 cm</a:t>
            </a:r>
          </a:p>
        </p:txBody>
      </p:sp>
      <p:sp>
        <p:nvSpPr>
          <p:cNvPr id="16" name="TextBox 15"/>
          <p:cNvSpPr txBox="1"/>
          <p:nvPr/>
        </p:nvSpPr>
        <p:spPr>
          <a:xfrm>
            <a:off x="3433572" y="1810512"/>
            <a:ext cx="2331720" cy="219456"/>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Tus datos tal cual, sin inventar</a:t>
            </a:r>
          </a:p>
        </p:txBody>
      </p:sp>
      <p:sp>
        <p:nvSpPr>
          <p:cNvPr id="17" name="Rounded Rectangle 16"/>
          <p:cNvSpPr/>
          <p:nvPr/>
        </p:nvSpPr>
        <p:spPr>
          <a:xfrm>
            <a:off x="6035040" y="868680"/>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8" name="Oval 17"/>
          <p:cNvSpPr/>
          <p:nvPr/>
        </p:nvSpPr>
        <p:spPr>
          <a:xfrm>
            <a:off x="6199631" y="1024127"/>
            <a:ext cx="475488" cy="475488"/>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9" name="Picture 18" descr="Ícono Slideshow"/>
          <p:cNvPicPr>
            <a:picLocks noChangeAspect="1"/>
          </p:cNvPicPr>
          <p:nvPr/>
        </p:nvPicPr>
        <p:blipFill>
          <a:blip r:embed="rId5"/>
          <a:stretch>
            <a:fillRect/>
          </a:stretch>
        </p:blipFill>
        <p:spPr>
          <a:xfrm>
            <a:off x="6299484" y="1123980"/>
            <a:ext cx="275783" cy="275783"/>
          </a:xfrm>
          <a:prstGeom prst="rect">
            <a:avLst/>
          </a:prstGeom>
        </p:spPr>
      </p:pic>
      <p:sp>
        <p:nvSpPr>
          <p:cNvPr id="20" name="Rounded Rectangle 19"/>
          <p:cNvSpPr/>
          <p:nvPr/>
        </p:nvSpPr>
        <p:spPr>
          <a:xfrm>
            <a:off x="8138159" y="996695"/>
            <a:ext cx="384048" cy="27432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R3</a:t>
            </a:r>
          </a:p>
        </p:txBody>
      </p:sp>
      <p:sp>
        <p:nvSpPr>
          <p:cNvPr id="21" name="TextBox 20"/>
          <p:cNvSpPr txBox="1"/>
          <p:nvPr/>
        </p:nvSpPr>
        <p:spPr>
          <a:xfrm>
            <a:off x="6821424" y="996695"/>
            <a:ext cx="1261872" cy="530352"/>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Presentación</a:t>
            </a:r>
          </a:p>
        </p:txBody>
      </p:sp>
      <p:sp>
        <p:nvSpPr>
          <p:cNvPr id="22" name="TextBox 21"/>
          <p:cNvSpPr txBox="1"/>
          <p:nvPr/>
        </p:nvSpPr>
        <p:spPr>
          <a:xfrm>
            <a:off x="6199631" y="1600200"/>
            <a:ext cx="2331720" cy="219456"/>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16:9 · letra de 18 pt o más</a:t>
            </a:r>
          </a:p>
        </p:txBody>
      </p:sp>
      <p:sp>
        <p:nvSpPr>
          <p:cNvPr id="23" name="TextBox 22"/>
          <p:cNvSpPr txBox="1"/>
          <p:nvPr/>
        </p:nvSpPr>
        <p:spPr>
          <a:xfrm>
            <a:off x="6199631" y="1810512"/>
            <a:ext cx="2331720" cy="219456"/>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Una idea por lámina, con notas</a:t>
            </a:r>
          </a:p>
        </p:txBody>
      </p:sp>
      <p:sp>
        <p:nvSpPr>
          <p:cNvPr id="24" name="Rounded Rectangle 23"/>
          <p:cNvSpPr/>
          <p:nvPr/>
        </p:nvSpPr>
        <p:spPr>
          <a:xfrm>
            <a:off x="502920" y="2167128"/>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5" name="Oval 24"/>
          <p:cNvSpPr/>
          <p:nvPr/>
        </p:nvSpPr>
        <p:spPr>
          <a:xfrm>
            <a:off x="667512" y="2322576"/>
            <a:ext cx="475488" cy="475488"/>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6" name="Picture 25" descr="Ícono Smartphone"/>
          <p:cNvPicPr>
            <a:picLocks noChangeAspect="1"/>
          </p:cNvPicPr>
          <p:nvPr/>
        </p:nvPicPr>
        <p:blipFill>
          <a:blip r:embed="rId6"/>
          <a:stretch>
            <a:fillRect/>
          </a:stretch>
        </p:blipFill>
        <p:spPr>
          <a:xfrm>
            <a:off x="767364" y="2422428"/>
            <a:ext cx="275783" cy="275783"/>
          </a:xfrm>
          <a:prstGeom prst="rect">
            <a:avLst/>
          </a:prstGeom>
        </p:spPr>
      </p:pic>
      <p:sp>
        <p:nvSpPr>
          <p:cNvPr id="27" name="Rounded Rectangle 26"/>
          <p:cNvSpPr/>
          <p:nvPr/>
        </p:nvSpPr>
        <p:spPr>
          <a:xfrm>
            <a:off x="2606039" y="2295144"/>
            <a:ext cx="384048" cy="27432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R4</a:t>
            </a:r>
          </a:p>
        </p:txBody>
      </p:sp>
      <p:sp>
        <p:nvSpPr>
          <p:cNvPr id="28" name="TextBox 27"/>
          <p:cNvSpPr txBox="1"/>
          <p:nvPr/>
        </p:nvSpPr>
        <p:spPr>
          <a:xfrm>
            <a:off x="1289304" y="2295144"/>
            <a:ext cx="1261872" cy="530352"/>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Redes sociales</a:t>
            </a:r>
          </a:p>
        </p:txBody>
      </p:sp>
      <p:sp>
        <p:nvSpPr>
          <p:cNvPr id="29" name="TextBox 28"/>
          <p:cNvSpPr txBox="1"/>
          <p:nvPr/>
        </p:nvSpPr>
        <p:spPr>
          <a:xfrm>
            <a:off x="667512" y="2898648"/>
            <a:ext cx="2331720" cy="219456"/>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1080 × 1350 px</a:t>
            </a:r>
          </a:p>
        </p:txBody>
      </p:sp>
      <p:sp>
        <p:nvSpPr>
          <p:cNvPr id="30" name="TextBox 29"/>
          <p:cNvSpPr txBox="1"/>
          <p:nvPr/>
        </p:nvSpPr>
        <p:spPr>
          <a:xfrm>
            <a:off x="667512" y="3108960"/>
            <a:ext cx="2331720" cy="219456"/>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Post, carrusel e historia</a:t>
            </a:r>
          </a:p>
        </p:txBody>
      </p:sp>
      <p:sp>
        <p:nvSpPr>
          <p:cNvPr id="31" name="Rounded Rectangle 30"/>
          <p:cNvSpPr/>
          <p:nvPr/>
        </p:nvSpPr>
        <p:spPr>
          <a:xfrm>
            <a:off x="3268980" y="2167128"/>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2" name="Oval 31"/>
          <p:cNvSpPr/>
          <p:nvPr/>
        </p:nvSpPr>
        <p:spPr>
          <a:xfrm>
            <a:off x="3433572" y="2322576"/>
            <a:ext cx="475488" cy="475488"/>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33" name="Picture 32" descr="Ícono School"/>
          <p:cNvPicPr>
            <a:picLocks noChangeAspect="1"/>
          </p:cNvPicPr>
          <p:nvPr/>
        </p:nvPicPr>
        <p:blipFill>
          <a:blip r:embed="rId7"/>
          <a:stretch>
            <a:fillRect/>
          </a:stretch>
        </p:blipFill>
        <p:spPr>
          <a:xfrm>
            <a:off x="3533424" y="2422428"/>
            <a:ext cx="275783" cy="275783"/>
          </a:xfrm>
          <a:prstGeom prst="rect">
            <a:avLst/>
          </a:prstGeom>
        </p:spPr>
      </p:pic>
      <p:sp>
        <p:nvSpPr>
          <p:cNvPr id="34" name="Rounded Rectangle 33"/>
          <p:cNvSpPr/>
          <p:nvPr/>
        </p:nvSpPr>
        <p:spPr>
          <a:xfrm>
            <a:off x="5372100" y="2295144"/>
            <a:ext cx="384048" cy="27432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R5</a:t>
            </a:r>
          </a:p>
        </p:txBody>
      </p:sp>
      <p:sp>
        <p:nvSpPr>
          <p:cNvPr id="35" name="TextBox 34"/>
          <p:cNvSpPr txBox="1"/>
          <p:nvPr/>
        </p:nvSpPr>
        <p:spPr>
          <a:xfrm>
            <a:off x="4055364" y="2295144"/>
            <a:ext cx="1261872" cy="530352"/>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Ficha educativa</a:t>
            </a:r>
          </a:p>
        </p:txBody>
      </p:sp>
      <p:sp>
        <p:nvSpPr>
          <p:cNvPr id="36" name="TextBox 35"/>
          <p:cNvSpPr txBox="1"/>
          <p:nvPr/>
        </p:nvSpPr>
        <p:spPr>
          <a:xfrm>
            <a:off x="3433572" y="2898648"/>
            <a:ext cx="2331720" cy="219456"/>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A4 o carta + celular</a:t>
            </a:r>
          </a:p>
        </p:txBody>
      </p:sp>
      <p:sp>
        <p:nvSpPr>
          <p:cNvPr id="37" name="TextBox 36"/>
          <p:cNvSpPr txBox="1"/>
          <p:nvPr/>
        </p:nvSpPr>
        <p:spPr>
          <a:xfrm>
            <a:off x="3433572" y="3108960"/>
            <a:ext cx="2331720" cy="219456"/>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Validada por una matrona</a:t>
            </a:r>
          </a:p>
        </p:txBody>
      </p:sp>
      <p:sp>
        <p:nvSpPr>
          <p:cNvPr id="38" name="Rounded Rectangle 37"/>
          <p:cNvSpPr/>
          <p:nvPr/>
        </p:nvSpPr>
        <p:spPr>
          <a:xfrm>
            <a:off x="6035040" y="2167128"/>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9" name="Oval 38"/>
          <p:cNvSpPr/>
          <p:nvPr/>
        </p:nvSpPr>
        <p:spPr>
          <a:xfrm>
            <a:off x="6199631" y="2322576"/>
            <a:ext cx="475488" cy="475488"/>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40" name="Picture 39" descr="Ícono LocalPrintshop"/>
          <p:cNvPicPr>
            <a:picLocks noChangeAspect="1"/>
          </p:cNvPicPr>
          <p:nvPr/>
        </p:nvPicPr>
        <p:blipFill>
          <a:blip r:embed="rId8"/>
          <a:stretch>
            <a:fillRect/>
          </a:stretch>
        </p:blipFill>
        <p:spPr>
          <a:xfrm>
            <a:off x="6299484" y="2422428"/>
            <a:ext cx="275783" cy="275783"/>
          </a:xfrm>
          <a:prstGeom prst="rect">
            <a:avLst/>
          </a:prstGeom>
        </p:spPr>
      </p:pic>
      <p:sp>
        <p:nvSpPr>
          <p:cNvPr id="41" name="Rounded Rectangle 40"/>
          <p:cNvSpPr/>
          <p:nvPr/>
        </p:nvSpPr>
        <p:spPr>
          <a:xfrm>
            <a:off x="8138159" y="2295144"/>
            <a:ext cx="384048" cy="27432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000" b="1" i="0">
                <a:solidFill>
                  <a:srgbClr val="1F2A30"/>
                </a:solidFill>
                <a:latin typeface="Swis721 Cn BT"/>
              </a:rPr>
              <a:t>R6</a:t>
            </a:r>
          </a:p>
        </p:txBody>
      </p:sp>
      <p:sp>
        <p:nvSpPr>
          <p:cNvPr id="42" name="TextBox 41"/>
          <p:cNvSpPr txBox="1"/>
          <p:nvPr/>
        </p:nvSpPr>
        <p:spPr>
          <a:xfrm>
            <a:off x="6821424" y="2295144"/>
            <a:ext cx="1261872" cy="530352"/>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Imprenta</a:t>
            </a:r>
          </a:p>
        </p:txBody>
      </p:sp>
      <p:sp>
        <p:nvSpPr>
          <p:cNvPr id="43" name="TextBox 42"/>
          <p:cNvSpPr txBox="1"/>
          <p:nvPr/>
        </p:nvSpPr>
        <p:spPr>
          <a:xfrm>
            <a:off x="6199631" y="2898648"/>
            <a:ext cx="2331720" cy="219456"/>
          </a:xfrm>
          <a:prstGeom prst="rect">
            <a:avLst/>
          </a:prstGeom>
          <a:noFill/>
        </p:spPr>
        <p:txBody>
          <a:bodyPr wrap="square" lIns="0" tIns="0" rIns="0" bIns="0" anchor="t">
            <a:noAutofit/>
          </a:bodyPr>
          <a:lstStyle/>
          <a:p>
            <a:pPr algn="l">
              <a:spcAft>
                <a:spcPts val="0"/>
              </a:spcAft>
            </a:pPr>
            <a:r>
              <a:rPr sz="1050" b="1" i="0">
                <a:solidFill>
                  <a:srgbClr val="BF210C"/>
                </a:solidFill>
                <a:latin typeface="Swis721 Cn BT"/>
              </a:rPr>
              <a:t>A3 · pendón 90 × 200 cm</a:t>
            </a:r>
          </a:p>
        </p:txBody>
      </p:sp>
      <p:sp>
        <p:nvSpPr>
          <p:cNvPr id="44" name="TextBox 43"/>
          <p:cNvSpPr txBox="1"/>
          <p:nvPr/>
        </p:nvSpPr>
        <p:spPr>
          <a:xfrm>
            <a:off x="6199631" y="3108960"/>
            <a:ext cx="2331720" cy="219456"/>
          </a:xfrm>
          <a:prstGeom prst="rect">
            <a:avLst/>
          </a:prstGeom>
          <a:noFill/>
        </p:spPr>
        <p:txBody>
          <a:bodyPr wrap="square" lIns="0" tIns="0" rIns="0" bIns="0" anchor="t">
            <a:noAutofit/>
          </a:bodyPr>
          <a:lstStyle/>
          <a:p>
            <a:pPr algn="l">
              <a:spcAft>
                <a:spcPts val="0"/>
              </a:spcAft>
            </a:pPr>
            <a:r>
              <a:rPr sz="1100" b="0" i="0">
                <a:solidFill>
                  <a:srgbClr val="1F2A30"/>
                </a:solidFill>
                <a:latin typeface="Swis721 Cn BT"/>
              </a:rPr>
              <a:t>Afiche, pendón, bolsa y libreta</a:t>
            </a:r>
          </a:p>
        </p:txBody>
      </p:sp>
      <p:sp>
        <p:nvSpPr>
          <p:cNvPr id="45" name="Rounded Rectangle 44"/>
          <p:cNvSpPr/>
          <p:nvPr/>
        </p:nvSpPr>
        <p:spPr>
          <a:xfrm>
            <a:off x="502920" y="3520440"/>
            <a:ext cx="8138160" cy="54864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6" name="TextBox 45"/>
          <p:cNvSpPr txBox="1"/>
          <p:nvPr/>
        </p:nvSpPr>
        <p:spPr>
          <a:xfrm>
            <a:off x="731520" y="3557016"/>
            <a:ext cx="7726679" cy="475488"/>
          </a:xfrm>
          <a:prstGeom prst="rect">
            <a:avLst/>
          </a:prstGeom>
          <a:noFill/>
        </p:spPr>
        <p:txBody>
          <a:bodyPr wrap="square" lIns="0" tIns="0" rIns="0" bIns="0" anchor="ctr">
            <a:noAutofit/>
          </a:bodyPr>
          <a:lstStyle/>
          <a:p>
            <a:pPr algn="l">
              <a:spcAft>
                <a:spcPts val="0"/>
              </a:spcAft>
            </a:pPr>
            <a:r>
              <a:rPr sz="1400" b="0" i="0">
                <a:solidFill>
                  <a:srgbClr val="1F2A30"/>
                </a:solidFill>
                <a:latin typeface="Swis721 Cn BT"/>
              </a:rPr>
              <a:t>Cada receta empieza igual: </a:t>
            </a:r>
            <a:r>
              <a:rPr sz="1400" b="1" i="0">
                <a:solidFill>
                  <a:srgbClr val="BF210C"/>
                </a:solidFill>
                <a:latin typeface="Swis721 Cn BT"/>
              </a:rPr>
              <a:t>pegas tu tarjeta de marca</a:t>
            </a:r>
            <a:r>
              <a:rPr sz="1400" b="0" i="0">
                <a:solidFill>
                  <a:srgbClr val="1F2A30"/>
                </a:solidFill>
                <a:latin typeface="Swis721 Cn BT"/>
              </a:rPr>
              <a:t> y completas los </a:t>
            </a:r>
            <a:r>
              <a:rPr sz="1400" b="1" i="0">
                <a:solidFill>
                  <a:srgbClr val="BF210C"/>
                </a:solidFill>
                <a:latin typeface="Swis721 Cn BT"/>
              </a:rPr>
              <a:t>[ ]</a:t>
            </a:r>
            <a:r>
              <a:rPr sz="1400" b="0" i="0">
                <a:solidFill>
                  <a:srgbClr val="1F2A30"/>
                </a:solidFill>
                <a:latin typeface="Swis721 Cn BT"/>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Medidas que conviene conocer</a:t>
            </a:r>
          </a:p>
        </p:txBody>
      </p:sp>
      <p:graphicFrame>
        <p:nvGraphicFramePr>
          <p:cNvPr id="3" name="Tabla de medidas"/>
          <p:cNvGraphicFramePr>
            <a:graphicFrameLocks noGrp="1"/>
          </p:cNvGraphicFramePr>
          <p:nvPr/>
        </p:nvGraphicFramePr>
        <p:xfrm>
          <a:off x="502920" y="841248"/>
          <a:ext cx="8138160" cy="2962656"/>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29184">
                <a:tc>
                  <a:txBody>
                    <a:bodyPr/>
                    <a:lstStyle/>
                    <a:p>
                      <a:r>
                        <a:rPr sz="1100" b="1" i="0">
                          <a:solidFill>
                            <a:srgbClr val="FFFFFF"/>
                          </a:solidFill>
                          <a:latin typeface="Swis721 Cn BT"/>
                        </a:rPr>
                        <a:t>Material</a:t>
                      </a:r>
                    </a:p>
                  </a:txBody>
                  <a:tcPr marL="73152" marR="73152" marT="18288" marB="18288" anchor="ctr">
                    <a:solidFill>
                      <a:srgbClr val="003C58"/>
                    </a:solidFill>
                  </a:tcPr>
                </a:tc>
                <a:tc>
                  <a:txBody>
                    <a:bodyPr/>
                    <a:lstStyle/>
                    <a:p>
                      <a:r>
                        <a:rPr sz="1100" b="1" i="0">
                          <a:solidFill>
                            <a:srgbClr val="FFFFFF"/>
                          </a:solidFill>
                          <a:latin typeface="Swis721 Cn BT"/>
                        </a:rPr>
                        <a:t>Medida</a:t>
                      </a:r>
                    </a:p>
                  </a:txBody>
                  <a:tcPr marL="73152" marR="73152" marT="18288" marB="18288" anchor="ctr">
                    <a:solidFill>
                      <a:srgbClr val="003C58"/>
                    </a:solidFill>
                  </a:tcPr>
                </a:tc>
                <a:tc>
                  <a:txBody>
                    <a:bodyPr/>
                    <a:lstStyle/>
                    <a:p>
                      <a:r>
                        <a:rPr sz="1100" b="1" i="0">
                          <a:solidFill>
                            <a:srgbClr val="FFFFFF"/>
                          </a:solidFill>
                          <a:latin typeface="Swis721 Cn BT"/>
                        </a:rPr>
                        <a:t>Para imprenta o red</a:t>
                      </a:r>
                    </a:p>
                  </a:txBody>
                  <a:tcPr marL="73152" marR="73152" marT="18288" marB="18288" anchor="ctr">
                    <a:solidFill>
                      <a:srgbClr val="003C58"/>
                    </a:solidFill>
                  </a:tcPr>
                </a:tc>
                <a:tc>
                  <a:txBody>
                    <a:bodyPr/>
                    <a:lstStyle/>
                    <a:p>
                      <a:r>
                        <a:rPr sz="1100" b="1" i="0">
                          <a:solidFill>
                            <a:srgbClr val="FFFFFF"/>
                          </a:solidFill>
                          <a:latin typeface="Swis721 Cn BT"/>
                        </a:rPr>
                        <a:t>Ojo con</a:t>
                      </a:r>
                    </a:p>
                  </a:txBody>
                  <a:tcPr marL="73152" marR="73152" marT="18288" marB="18288" anchor="ctr">
                    <a:solidFill>
                      <a:srgbClr val="003C58"/>
                    </a:solidFill>
                  </a:tcPr>
                </a:tc>
                <a:extLst>
                  <a:ext uri="{0D108BD9-81ED-4DB2-BD59-A6C34878D82A}">
                    <a16:rowId xmlns:a16="http://schemas.microsoft.com/office/drawing/2014/main" val="10000"/>
                  </a:ext>
                </a:extLst>
              </a:tr>
              <a:tr h="329184">
                <a:tc>
                  <a:txBody>
                    <a:bodyPr/>
                    <a:lstStyle/>
                    <a:p>
                      <a:r>
                        <a:rPr sz="1050" b="1" i="0">
                          <a:solidFill>
                            <a:srgbClr val="003C58"/>
                          </a:solidFill>
                          <a:latin typeface="Swis721 Cn BT"/>
                        </a:rPr>
                        <a:t>Tríptico carta</a:t>
                      </a:r>
                    </a:p>
                  </a:txBody>
                  <a:tcPr marL="73152" marR="73152" marT="18288" marB="18288" anchor="ctr">
                    <a:solidFill>
                      <a:srgbClr val="FFFFFF"/>
                    </a:solidFill>
                  </a:tcPr>
                </a:tc>
                <a:tc>
                  <a:txBody>
                    <a:bodyPr/>
                    <a:lstStyle/>
                    <a:p>
                      <a:r>
                        <a:rPr sz="1050" b="0" i="0">
                          <a:solidFill>
                            <a:srgbClr val="1F2A30"/>
                          </a:solidFill>
                          <a:latin typeface="Swis721 Cn BT"/>
                        </a:rPr>
                        <a:t>27,94 × 21,59 cm abierto</a:t>
                      </a:r>
                    </a:p>
                  </a:txBody>
                  <a:tcPr marL="73152" marR="73152" marT="18288" marB="18288" anchor="ctr">
                    <a:solidFill>
                      <a:srgbClr val="FFFFFF"/>
                    </a:solidFill>
                  </a:tcPr>
                </a:tc>
                <a:tc>
                  <a:txBody>
                    <a:bodyPr/>
                    <a:lstStyle/>
                    <a:p>
                      <a:r>
                        <a:rPr sz="1050" b="0" i="0">
                          <a:solidFill>
                            <a:srgbClr val="1F2A30"/>
                          </a:solidFill>
                          <a:latin typeface="Swis721 Cn BT"/>
                        </a:rPr>
                        <a:t>PDF con 3 mm de sangrado</a:t>
                      </a:r>
                    </a:p>
                  </a:txBody>
                  <a:tcPr marL="73152" marR="73152" marT="18288" marB="18288" anchor="ctr">
                    <a:solidFill>
                      <a:srgbClr val="FFFFFF"/>
                    </a:solidFill>
                  </a:tcPr>
                </a:tc>
                <a:tc>
                  <a:txBody>
                    <a:bodyPr/>
                    <a:lstStyle/>
                    <a:p>
                      <a:r>
                        <a:rPr sz="1050" b="0" i="0">
                          <a:solidFill>
                            <a:srgbClr val="1F2A30"/>
                          </a:solidFill>
                          <a:latin typeface="Swis721 Cn BT"/>
                        </a:rPr>
                        <a:t>Un panel es 2,6 mm más angosto</a:t>
                      </a:r>
                    </a:p>
                  </a:txBody>
                  <a:tcPr marL="73152" marR="73152" marT="18288" marB="18288" anchor="ctr">
                    <a:solidFill>
                      <a:srgbClr val="FFFFFF"/>
                    </a:solidFill>
                  </a:tcPr>
                </a:tc>
                <a:extLst>
                  <a:ext uri="{0D108BD9-81ED-4DB2-BD59-A6C34878D82A}">
                    <a16:rowId xmlns:a16="http://schemas.microsoft.com/office/drawing/2014/main" val="10001"/>
                  </a:ext>
                </a:extLst>
              </a:tr>
              <a:tr h="329184">
                <a:tc>
                  <a:txBody>
                    <a:bodyPr/>
                    <a:lstStyle/>
                    <a:p>
                      <a:r>
                        <a:rPr sz="1050" b="1" i="0">
                          <a:solidFill>
                            <a:srgbClr val="003C58"/>
                          </a:solidFill>
                          <a:latin typeface="Swis721 Cn BT"/>
                        </a:rPr>
                        <a:t>Tarjeta</a:t>
                      </a:r>
                    </a:p>
                  </a:txBody>
                  <a:tcPr marL="73152" marR="73152" marT="18288" marB="18288" anchor="ctr">
                    <a:solidFill>
                      <a:srgbClr val="E8F0F4"/>
                    </a:solidFill>
                  </a:tcPr>
                </a:tc>
                <a:tc>
                  <a:txBody>
                    <a:bodyPr/>
                    <a:lstStyle/>
                    <a:p>
                      <a:r>
                        <a:rPr sz="1050" b="0" i="0">
                          <a:solidFill>
                            <a:srgbClr val="1F2A30"/>
                          </a:solidFill>
                          <a:latin typeface="Swis721 Cn BT"/>
                        </a:rPr>
                        <a:t>9 × 5 cm</a:t>
                      </a:r>
                    </a:p>
                  </a:txBody>
                  <a:tcPr marL="73152" marR="73152" marT="18288" marB="18288" anchor="ctr">
                    <a:solidFill>
                      <a:srgbClr val="E8F0F4"/>
                    </a:solidFill>
                  </a:tcPr>
                </a:tc>
                <a:tc>
                  <a:txBody>
                    <a:bodyPr/>
                    <a:lstStyle/>
                    <a:p>
                      <a:r>
                        <a:rPr sz="1050" b="0" i="0">
                          <a:solidFill>
                            <a:srgbClr val="1F2A30"/>
                          </a:solidFill>
                          <a:latin typeface="Swis721 Cn BT"/>
                        </a:rPr>
                        <a:t>9,6 × 5,6 cm con sangrado</a:t>
                      </a:r>
                    </a:p>
                  </a:txBody>
                  <a:tcPr marL="73152" marR="73152" marT="18288" marB="18288" anchor="ctr">
                    <a:solidFill>
                      <a:srgbClr val="E8F0F4"/>
                    </a:solidFill>
                  </a:tcPr>
                </a:tc>
                <a:tc>
                  <a:txBody>
                    <a:bodyPr/>
                    <a:lstStyle/>
                    <a:p>
                      <a:r>
                        <a:rPr sz="1050" b="0" i="0">
                          <a:solidFill>
                            <a:srgbClr val="1F2A30"/>
                          </a:solidFill>
                          <a:latin typeface="Swis721 Cn BT"/>
                        </a:rPr>
                        <a:t>Letra de 7 pt o más; QR de 2 cm</a:t>
                      </a:r>
                    </a:p>
                  </a:txBody>
                  <a:tcPr marL="73152" marR="73152" marT="18288" marB="18288" anchor="ctr">
                    <a:solidFill>
                      <a:srgbClr val="E8F0F4"/>
                    </a:solidFill>
                  </a:tcPr>
                </a:tc>
                <a:extLst>
                  <a:ext uri="{0D108BD9-81ED-4DB2-BD59-A6C34878D82A}">
                    <a16:rowId xmlns:a16="http://schemas.microsoft.com/office/drawing/2014/main" val="10002"/>
                  </a:ext>
                </a:extLst>
              </a:tr>
              <a:tr h="329184">
                <a:tc>
                  <a:txBody>
                    <a:bodyPr/>
                    <a:lstStyle/>
                    <a:p>
                      <a:r>
                        <a:rPr sz="1050" b="1" i="0">
                          <a:solidFill>
                            <a:srgbClr val="003C58"/>
                          </a:solidFill>
                          <a:latin typeface="Swis721 Cn BT"/>
                        </a:rPr>
                        <a:t>Presentación</a:t>
                      </a:r>
                    </a:p>
                  </a:txBody>
                  <a:tcPr marL="73152" marR="73152" marT="18288" marB="18288" anchor="ctr">
                    <a:solidFill>
                      <a:srgbClr val="FFFFFF"/>
                    </a:solidFill>
                  </a:tcPr>
                </a:tc>
                <a:tc>
                  <a:txBody>
                    <a:bodyPr/>
                    <a:lstStyle/>
                    <a:p>
                      <a:r>
                        <a:rPr sz="1050" b="0" i="0">
                          <a:solidFill>
                            <a:srgbClr val="1F2A30"/>
                          </a:solidFill>
                          <a:latin typeface="Swis721 Cn BT"/>
                        </a:rPr>
                        <a:t>16:9</a:t>
                      </a:r>
                    </a:p>
                  </a:txBody>
                  <a:tcPr marL="73152" marR="73152" marT="18288" marB="18288" anchor="ctr">
                    <a:solidFill>
                      <a:srgbClr val="FFFFFF"/>
                    </a:solidFill>
                  </a:tcPr>
                </a:tc>
                <a:tc>
                  <a:txBody>
                    <a:bodyPr/>
                    <a:lstStyle/>
                    <a:p>
                      <a:r>
                        <a:rPr sz="1050" b="0" i="0">
                          <a:solidFill>
                            <a:srgbClr val="1F2A30"/>
                          </a:solidFill>
                          <a:latin typeface="Swis721 Cn BT"/>
                        </a:rPr>
                        <a:t>.pptx y PDF</a:t>
                      </a:r>
                    </a:p>
                  </a:txBody>
                  <a:tcPr marL="73152" marR="73152" marT="18288" marB="18288" anchor="ctr">
                    <a:solidFill>
                      <a:srgbClr val="FFFFFF"/>
                    </a:solidFill>
                  </a:tcPr>
                </a:tc>
                <a:tc>
                  <a:txBody>
                    <a:bodyPr/>
                    <a:lstStyle/>
                    <a:p>
                      <a:r>
                        <a:rPr sz="1050" b="0" i="0">
                          <a:solidFill>
                            <a:srgbClr val="1F2A30"/>
                          </a:solidFill>
                          <a:latin typeface="Swis721 Cn BT"/>
                        </a:rPr>
                        <a:t>Arial o Calibri si se comparte</a:t>
                      </a:r>
                    </a:p>
                  </a:txBody>
                  <a:tcPr marL="73152" marR="73152" marT="18288" marB="18288" anchor="ctr">
                    <a:solidFill>
                      <a:srgbClr val="FFFFFF"/>
                    </a:solidFill>
                  </a:tcPr>
                </a:tc>
                <a:extLst>
                  <a:ext uri="{0D108BD9-81ED-4DB2-BD59-A6C34878D82A}">
                    <a16:rowId xmlns:a16="http://schemas.microsoft.com/office/drawing/2014/main" val="10003"/>
                  </a:ext>
                </a:extLst>
              </a:tr>
              <a:tr h="329184">
                <a:tc>
                  <a:txBody>
                    <a:bodyPr/>
                    <a:lstStyle/>
                    <a:p>
                      <a:r>
                        <a:rPr sz="1050" b="1" i="0">
                          <a:solidFill>
                            <a:srgbClr val="003C58"/>
                          </a:solidFill>
                          <a:latin typeface="Swis721 Cn BT"/>
                        </a:rPr>
                        <a:t>Post y carrusel</a:t>
                      </a:r>
                    </a:p>
                  </a:txBody>
                  <a:tcPr marL="73152" marR="73152" marT="18288" marB="18288" anchor="ctr">
                    <a:solidFill>
                      <a:srgbClr val="E8F0F4"/>
                    </a:solidFill>
                  </a:tcPr>
                </a:tc>
                <a:tc>
                  <a:txBody>
                    <a:bodyPr/>
                    <a:lstStyle/>
                    <a:p>
                      <a:r>
                        <a:rPr sz="1050" b="0" i="0">
                          <a:solidFill>
                            <a:srgbClr val="1F2A30"/>
                          </a:solidFill>
                          <a:latin typeface="Swis721 Cn BT"/>
                        </a:rPr>
                        <a:t>1080 × 1350 px</a:t>
                      </a:r>
                    </a:p>
                  </a:txBody>
                  <a:tcPr marL="73152" marR="73152" marT="18288" marB="18288" anchor="ctr">
                    <a:solidFill>
                      <a:srgbClr val="E8F0F4"/>
                    </a:solidFill>
                  </a:tcPr>
                </a:tc>
                <a:tc>
                  <a:txBody>
                    <a:bodyPr/>
                    <a:lstStyle/>
                    <a:p>
                      <a:r>
                        <a:rPr sz="1050" b="0" i="0">
                          <a:solidFill>
                            <a:srgbClr val="1F2A30"/>
                          </a:solidFill>
                          <a:latin typeface="Swis721 Cn BT"/>
                        </a:rPr>
                        <a:t>PNG</a:t>
                      </a:r>
                    </a:p>
                  </a:txBody>
                  <a:tcPr marL="73152" marR="73152" marT="18288" marB="18288" anchor="ctr">
                    <a:solidFill>
                      <a:srgbClr val="E8F0F4"/>
                    </a:solidFill>
                  </a:tcPr>
                </a:tc>
                <a:tc>
                  <a:txBody>
                    <a:bodyPr/>
                    <a:lstStyle/>
                    <a:p>
                      <a:r>
                        <a:rPr sz="1050" b="0" i="0">
                          <a:solidFill>
                            <a:srgbClr val="1F2A30"/>
                          </a:solidFill>
                          <a:latin typeface="Swis721 Cn BT"/>
                        </a:rPr>
                        <a:t>Nada importante en los bordes</a:t>
                      </a:r>
                    </a:p>
                  </a:txBody>
                  <a:tcPr marL="73152" marR="73152" marT="18288" marB="18288" anchor="ctr">
                    <a:solidFill>
                      <a:srgbClr val="E8F0F4"/>
                    </a:solidFill>
                  </a:tcPr>
                </a:tc>
                <a:extLst>
                  <a:ext uri="{0D108BD9-81ED-4DB2-BD59-A6C34878D82A}">
                    <a16:rowId xmlns:a16="http://schemas.microsoft.com/office/drawing/2014/main" val="10004"/>
                  </a:ext>
                </a:extLst>
              </a:tr>
              <a:tr h="329184">
                <a:tc>
                  <a:txBody>
                    <a:bodyPr/>
                    <a:lstStyle/>
                    <a:p>
                      <a:r>
                        <a:rPr sz="1050" b="1" i="0">
                          <a:solidFill>
                            <a:srgbClr val="003C58"/>
                          </a:solidFill>
                          <a:latin typeface="Swis721 Cn BT"/>
                        </a:rPr>
                        <a:t>Historia</a:t>
                      </a:r>
                    </a:p>
                  </a:txBody>
                  <a:tcPr marL="73152" marR="73152" marT="18288" marB="18288" anchor="ctr">
                    <a:solidFill>
                      <a:srgbClr val="FFFFFF"/>
                    </a:solidFill>
                  </a:tcPr>
                </a:tc>
                <a:tc>
                  <a:txBody>
                    <a:bodyPr/>
                    <a:lstStyle/>
                    <a:p>
                      <a:r>
                        <a:rPr sz="1050" b="0" i="0">
                          <a:solidFill>
                            <a:srgbClr val="1F2A30"/>
                          </a:solidFill>
                          <a:latin typeface="Swis721 Cn BT"/>
                        </a:rPr>
                        <a:t>1080 × 1920 px</a:t>
                      </a:r>
                    </a:p>
                  </a:txBody>
                  <a:tcPr marL="73152" marR="73152" marT="18288" marB="18288" anchor="ctr">
                    <a:solidFill>
                      <a:srgbClr val="FFFFFF"/>
                    </a:solidFill>
                  </a:tcPr>
                </a:tc>
                <a:tc>
                  <a:txBody>
                    <a:bodyPr/>
                    <a:lstStyle/>
                    <a:p>
                      <a:r>
                        <a:rPr sz="1050" b="0" i="0">
                          <a:solidFill>
                            <a:srgbClr val="1F2A30"/>
                          </a:solidFill>
                          <a:latin typeface="Swis721 Cn BT"/>
                        </a:rPr>
                        <a:t>PNG</a:t>
                      </a:r>
                    </a:p>
                  </a:txBody>
                  <a:tcPr marL="73152" marR="73152" marT="18288" marB="18288" anchor="ctr">
                    <a:solidFill>
                      <a:srgbClr val="FFFFFF"/>
                    </a:solidFill>
                  </a:tcPr>
                </a:tc>
                <a:tc>
                  <a:txBody>
                    <a:bodyPr/>
                    <a:lstStyle/>
                    <a:p>
                      <a:r>
                        <a:rPr sz="1050" b="0" i="0">
                          <a:solidFill>
                            <a:srgbClr val="1F2A30"/>
                          </a:solidFill>
                          <a:latin typeface="Swis721 Cn BT"/>
                        </a:rPr>
                        <a:t>Libres 250 px arriba y 340 abajo</a:t>
                      </a:r>
                    </a:p>
                  </a:txBody>
                  <a:tcPr marL="73152" marR="73152" marT="18288" marB="18288" anchor="ctr">
                    <a:solidFill>
                      <a:srgbClr val="FFFFFF"/>
                    </a:solidFill>
                  </a:tcPr>
                </a:tc>
                <a:extLst>
                  <a:ext uri="{0D108BD9-81ED-4DB2-BD59-A6C34878D82A}">
                    <a16:rowId xmlns:a16="http://schemas.microsoft.com/office/drawing/2014/main" val="10005"/>
                  </a:ext>
                </a:extLst>
              </a:tr>
              <a:tr h="329184">
                <a:tc>
                  <a:txBody>
                    <a:bodyPr/>
                    <a:lstStyle/>
                    <a:p>
                      <a:r>
                        <a:rPr sz="1050" b="1" i="0">
                          <a:solidFill>
                            <a:srgbClr val="003C58"/>
                          </a:solidFill>
                          <a:latin typeface="Swis721 Cn BT"/>
                        </a:rPr>
                        <a:t>Afiche</a:t>
                      </a:r>
                    </a:p>
                  </a:txBody>
                  <a:tcPr marL="73152" marR="73152" marT="18288" marB="18288" anchor="ctr">
                    <a:solidFill>
                      <a:srgbClr val="E8F0F4"/>
                    </a:solidFill>
                  </a:tcPr>
                </a:tc>
                <a:tc>
                  <a:txBody>
                    <a:bodyPr/>
                    <a:lstStyle/>
                    <a:p>
                      <a:r>
                        <a:rPr sz="1050" b="0" i="0">
                          <a:solidFill>
                            <a:srgbClr val="1F2A30"/>
                          </a:solidFill>
                          <a:latin typeface="Swis721 Cn BT"/>
                        </a:rPr>
                        <a:t>A3 o 50 × 70 cm</a:t>
                      </a:r>
                    </a:p>
                  </a:txBody>
                  <a:tcPr marL="73152" marR="73152" marT="18288" marB="18288" anchor="ctr">
                    <a:solidFill>
                      <a:srgbClr val="E8F0F4"/>
                    </a:solidFill>
                  </a:tcPr>
                </a:tc>
                <a:tc>
                  <a:txBody>
                    <a:bodyPr/>
                    <a:lstStyle/>
                    <a:p>
                      <a:r>
                        <a:rPr sz="1050" b="0" i="0">
                          <a:solidFill>
                            <a:srgbClr val="1F2A30"/>
                          </a:solidFill>
                          <a:latin typeface="Swis721 Cn BT"/>
                        </a:rPr>
                        <a:t>PDF y prueba de color</a:t>
                      </a:r>
                    </a:p>
                  </a:txBody>
                  <a:tcPr marL="73152" marR="73152" marT="18288" marB="18288" anchor="ctr">
                    <a:solidFill>
                      <a:srgbClr val="E8F0F4"/>
                    </a:solidFill>
                  </a:tcPr>
                </a:tc>
                <a:tc>
                  <a:txBody>
                    <a:bodyPr/>
                    <a:lstStyle/>
                    <a:p>
                      <a:r>
                        <a:rPr sz="1050" b="0" i="0">
                          <a:solidFill>
                            <a:srgbClr val="1F2A30"/>
                          </a:solidFill>
                          <a:latin typeface="Swis721 Cn BT"/>
                        </a:rPr>
                        <a:t>Mensaje legible a distancia</a:t>
                      </a:r>
                    </a:p>
                  </a:txBody>
                  <a:tcPr marL="73152" marR="73152" marT="18288" marB="18288" anchor="ctr">
                    <a:solidFill>
                      <a:srgbClr val="E8F0F4"/>
                    </a:solidFill>
                  </a:tcPr>
                </a:tc>
                <a:extLst>
                  <a:ext uri="{0D108BD9-81ED-4DB2-BD59-A6C34878D82A}">
                    <a16:rowId xmlns:a16="http://schemas.microsoft.com/office/drawing/2014/main" val="10006"/>
                  </a:ext>
                </a:extLst>
              </a:tr>
              <a:tr h="329184">
                <a:tc>
                  <a:txBody>
                    <a:bodyPr/>
                    <a:lstStyle/>
                    <a:p>
                      <a:r>
                        <a:rPr sz="1050" b="1" i="0">
                          <a:solidFill>
                            <a:srgbClr val="003C58"/>
                          </a:solidFill>
                          <a:latin typeface="Swis721 Cn BT"/>
                        </a:rPr>
                        <a:t>Pendón</a:t>
                      </a:r>
                    </a:p>
                  </a:txBody>
                  <a:tcPr marL="73152" marR="73152" marT="18288" marB="18288" anchor="ctr">
                    <a:solidFill>
                      <a:srgbClr val="FFFFFF"/>
                    </a:solidFill>
                  </a:tcPr>
                </a:tc>
                <a:tc>
                  <a:txBody>
                    <a:bodyPr/>
                    <a:lstStyle/>
                    <a:p>
                      <a:r>
                        <a:rPr sz="1050" b="0" i="0">
                          <a:solidFill>
                            <a:srgbClr val="1F2A30"/>
                          </a:solidFill>
                          <a:latin typeface="Swis721 Cn BT"/>
                        </a:rPr>
                        <a:t>90 × 200 cm</a:t>
                      </a:r>
                    </a:p>
                  </a:txBody>
                  <a:tcPr marL="73152" marR="73152" marT="18288" marB="18288" anchor="ctr">
                    <a:solidFill>
                      <a:srgbClr val="FFFFFF"/>
                    </a:solidFill>
                  </a:tcPr>
                </a:tc>
                <a:tc>
                  <a:txBody>
                    <a:bodyPr/>
                    <a:lstStyle/>
                    <a:p>
                      <a:r>
                        <a:rPr sz="1050" b="0" i="0">
                          <a:solidFill>
                            <a:srgbClr val="1F2A30"/>
                          </a:solidFill>
                          <a:latin typeface="Swis721 Cn BT"/>
                        </a:rPr>
                        <a:t>Plantilla de la imprenta</a:t>
                      </a:r>
                    </a:p>
                  </a:txBody>
                  <a:tcPr marL="73152" marR="73152" marT="18288" marB="18288" anchor="ctr">
                    <a:solidFill>
                      <a:srgbClr val="FFFFFF"/>
                    </a:solidFill>
                  </a:tcPr>
                </a:tc>
                <a:tc>
                  <a:txBody>
                    <a:bodyPr/>
                    <a:lstStyle/>
                    <a:p>
                      <a:r>
                        <a:rPr sz="1050" b="0" i="0">
                          <a:solidFill>
                            <a:srgbClr val="1F2A30"/>
                          </a:solidFill>
                          <a:latin typeface="Swis721 Cn BT"/>
                        </a:rPr>
                        <a:t>La base tapa la franja inferior</a:t>
                      </a:r>
                    </a:p>
                  </a:txBody>
                  <a:tcPr marL="73152" marR="73152" marT="18288" marB="18288" anchor="ctr">
                    <a:solidFill>
                      <a:srgbClr val="FFFFFF"/>
                    </a:solidFill>
                  </a:tcPr>
                </a:tc>
                <a:extLst>
                  <a:ext uri="{0D108BD9-81ED-4DB2-BD59-A6C34878D82A}">
                    <a16:rowId xmlns:a16="http://schemas.microsoft.com/office/drawing/2014/main" val="10007"/>
                  </a:ext>
                </a:extLst>
              </a:tr>
              <a:tr h="329184">
                <a:tc>
                  <a:txBody>
                    <a:bodyPr/>
                    <a:lstStyle/>
                    <a:p>
                      <a:r>
                        <a:rPr sz="1050" b="1" i="0">
                          <a:solidFill>
                            <a:srgbClr val="003C58"/>
                          </a:solidFill>
                          <a:latin typeface="Swis721 Cn BT"/>
                        </a:rPr>
                        <a:t>Bolsa de tela</a:t>
                      </a:r>
                    </a:p>
                  </a:txBody>
                  <a:tcPr marL="73152" marR="73152" marT="18288" marB="18288" anchor="ctr">
                    <a:solidFill>
                      <a:srgbClr val="E8F0F4"/>
                    </a:solidFill>
                  </a:tcPr>
                </a:tc>
                <a:tc>
                  <a:txBody>
                    <a:bodyPr/>
                    <a:lstStyle/>
                    <a:p>
                      <a:r>
                        <a:rPr sz="1050" b="0" i="0">
                          <a:solidFill>
                            <a:srgbClr val="1F2A30"/>
                          </a:solidFill>
                          <a:latin typeface="Swis721 Cn BT"/>
                        </a:rPr>
                        <a:t>Según modelo</a:t>
                      </a:r>
                    </a:p>
                  </a:txBody>
                  <a:tcPr marL="73152" marR="73152" marT="18288" marB="18288" anchor="ctr">
                    <a:solidFill>
                      <a:srgbClr val="E8F0F4"/>
                    </a:solidFill>
                  </a:tcPr>
                </a:tc>
                <a:tc>
                  <a:txBody>
                    <a:bodyPr/>
                    <a:lstStyle/>
                    <a:p>
                      <a:r>
                        <a:rPr sz="1050" b="0" i="0">
                          <a:solidFill>
                            <a:srgbClr val="1F2A30"/>
                          </a:solidFill>
                          <a:latin typeface="Swis721 Cn BT"/>
                        </a:rPr>
                        <a:t>Dibujo vectorial</a:t>
                      </a:r>
                    </a:p>
                  </a:txBody>
                  <a:tcPr marL="73152" marR="73152" marT="18288" marB="18288" anchor="ctr">
                    <a:solidFill>
                      <a:srgbClr val="E8F0F4"/>
                    </a:solidFill>
                  </a:tcPr>
                </a:tc>
                <a:tc>
                  <a:txBody>
                    <a:bodyPr/>
                    <a:lstStyle/>
                    <a:p>
                      <a:r>
                        <a:rPr sz="1050" b="0" i="0">
                          <a:solidFill>
                            <a:srgbClr val="1F2A30"/>
                          </a:solidFill>
                          <a:latin typeface="Swis721 Cn BT"/>
                        </a:rPr>
                        <a:t>1 o 2 colores planos</a:t>
                      </a:r>
                    </a:p>
                  </a:txBody>
                  <a:tcPr marL="73152" marR="73152" marT="18288" marB="18288" anchor="ctr">
                    <a:solidFill>
                      <a:srgbClr val="E8F0F4"/>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Una receta por dentro: el folleto para usuarias</a:t>
            </a:r>
          </a:p>
        </p:txBody>
      </p:sp>
      <p:sp>
        <p:nvSpPr>
          <p:cNvPr id="3" name="Rounded Rectangle 2"/>
          <p:cNvSpPr/>
          <p:nvPr/>
        </p:nvSpPr>
        <p:spPr>
          <a:xfrm>
            <a:off x="502920" y="868680"/>
            <a:ext cx="4846320" cy="32004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Rounded Rectangle 3"/>
          <p:cNvSpPr/>
          <p:nvPr/>
        </p:nvSpPr>
        <p:spPr>
          <a:xfrm>
            <a:off x="685800" y="1005840"/>
            <a:ext cx="2651760" cy="292608"/>
          </a:xfrm>
          <a:prstGeom prst="roundRect">
            <a:avLst>
              <a:gd name="adj" fmla="val 50000"/>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FFFFFF"/>
                </a:solidFill>
                <a:latin typeface="Swis721 Cn BT"/>
              </a:rPr>
              <a:t>Receta R1 · folleto para usuarias</a:t>
            </a:r>
          </a:p>
        </p:txBody>
      </p:sp>
      <p:sp>
        <p:nvSpPr>
          <p:cNvPr id="5" name="TextBox 4"/>
          <p:cNvSpPr txBox="1"/>
          <p:nvPr/>
        </p:nvSpPr>
        <p:spPr>
          <a:xfrm>
            <a:off x="685800" y="1444752"/>
            <a:ext cx="4480560" cy="2560320"/>
          </a:xfrm>
          <a:prstGeom prst="rect">
            <a:avLst/>
          </a:prstGeom>
          <a:noFill/>
        </p:spPr>
        <p:txBody>
          <a:bodyPr wrap="square" lIns="0" tIns="0" rIns="0" bIns="0" anchor="t">
            <a:noAutofit/>
          </a:bodyPr>
          <a:lstStyle/>
          <a:p>
            <a:pPr algn="l">
              <a:spcAft>
                <a:spcPts val="800"/>
              </a:spcAft>
            </a:pPr>
            <a:r>
              <a:rPr sz="1250" b="1" i="0">
                <a:solidFill>
                  <a:srgbClr val="BF210C"/>
                </a:solidFill>
                <a:latin typeface="Swis721 Cn BT"/>
              </a:rPr>
              <a:t>[1] </a:t>
            </a:r>
            <a:r>
              <a:rPr sz="1250" b="0" i="1">
                <a:solidFill>
                  <a:srgbClr val="1F2A30"/>
                </a:solidFill>
                <a:latin typeface="Swis721 Cn BT"/>
              </a:rPr>
              <a:t>[Tarjeta de marca]</a:t>
            </a:r>
          </a:p>
          <a:p>
            <a:pPr algn="l">
              <a:spcAft>
                <a:spcPts val="800"/>
              </a:spcAft>
            </a:pPr>
            <a:r>
              <a:rPr sz="1250" b="1" i="0">
                <a:solidFill>
                  <a:srgbClr val="BF210C"/>
                </a:solidFill>
                <a:latin typeface="Swis721 Cn BT"/>
              </a:rPr>
              <a:t>[2] </a:t>
            </a:r>
            <a:r>
              <a:rPr sz="1250" b="0" i="1">
                <a:solidFill>
                  <a:srgbClr val="1F2A30"/>
                </a:solidFill>
                <a:latin typeface="Swis721 Cn BT"/>
              </a:rPr>
              <a:t>Con mi tarjeta de marca y sus reglas fijas, crea un tríptico sobre lactancia en los primeros días para gestantes del CESFAM.</a:t>
            </a:r>
          </a:p>
          <a:p>
            <a:pPr algn="l">
              <a:spcAft>
                <a:spcPts val="800"/>
              </a:spcAft>
            </a:pPr>
            <a:r>
              <a:rPr sz="1250" b="1" i="0">
                <a:solidFill>
                  <a:srgbClr val="BF210C"/>
                </a:solidFill>
                <a:latin typeface="Swis721 Cn BT"/>
              </a:rPr>
              <a:t>[3] </a:t>
            </a:r>
            <a:r>
              <a:rPr sz="1250" b="0" i="1">
                <a:solidFill>
                  <a:srgbClr val="1F2A30"/>
                </a:solidFill>
                <a:latin typeface="Swis721 Cn BT"/>
              </a:rPr>
              <a:t>Formato: carta, plegado en tres. Una idea por panel, máximo 90 palabras por panel, lenguaje de 6.º básico. Usa solo la guía adjunta y marca [VERIFICAR] lo que no esté respaldado.</a:t>
            </a:r>
          </a:p>
          <a:p>
            <a:pPr algn="l">
              <a:spcAft>
                <a:spcPts val="0"/>
              </a:spcAft>
            </a:pPr>
            <a:r>
              <a:rPr sz="1250" b="1" i="0">
                <a:solidFill>
                  <a:srgbClr val="BF210C"/>
                </a:solidFill>
                <a:latin typeface="Swis721 Cn BT"/>
              </a:rPr>
              <a:t>[4] </a:t>
            </a:r>
            <a:r>
              <a:rPr sz="1250" b="0" i="1">
                <a:solidFill>
                  <a:srgbClr val="1F2A30"/>
                </a:solidFill>
                <a:latin typeface="Swis721 Cn BT"/>
              </a:rPr>
              <a:t>Entrégame el texto panel por panel, cómo se ve cada panel, las medidas para la imprenta y qué debo confirmar.</a:t>
            </a:r>
          </a:p>
        </p:txBody>
      </p:sp>
      <p:sp>
        <p:nvSpPr>
          <p:cNvPr id="6" name="Rounded Rectangle 5"/>
          <p:cNvSpPr/>
          <p:nvPr/>
        </p:nvSpPr>
        <p:spPr>
          <a:xfrm>
            <a:off x="5532120" y="868680"/>
            <a:ext cx="3108960" cy="3200400"/>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7" name="TextBox 6"/>
          <p:cNvSpPr txBox="1"/>
          <p:nvPr/>
        </p:nvSpPr>
        <p:spPr>
          <a:xfrm>
            <a:off x="5715000" y="987552"/>
            <a:ext cx="2743200" cy="292608"/>
          </a:xfrm>
          <a:prstGeom prst="rect">
            <a:avLst/>
          </a:prstGeom>
          <a:noFill/>
        </p:spPr>
        <p:txBody>
          <a:bodyPr wrap="square" lIns="0" tIns="0" rIns="0" bIns="0" anchor="t">
            <a:noAutofit/>
          </a:bodyPr>
          <a:lstStyle/>
          <a:p>
            <a:pPr algn="l">
              <a:spcAft>
                <a:spcPts val="0"/>
              </a:spcAft>
            </a:pPr>
            <a:r>
              <a:rPr sz="1300" b="1" i="0">
                <a:solidFill>
                  <a:srgbClr val="F2B705"/>
                </a:solidFill>
                <a:latin typeface="Swis721 Cn BT"/>
              </a:rPr>
              <a:t>Las cuatro partes de toda receta</a:t>
            </a:r>
          </a:p>
        </p:txBody>
      </p:sp>
      <p:sp>
        <p:nvSpPr>
          <p:cNvPr id="8" name="Oval 7"/>
          <p:cNvSpPr/>
          <p:nvPr/>
        </p:nvSpPr>
        <p:spPr>
          <a:xfrm>
            <a:off x="5715000" y="1472184"/>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1</a:t>
            </a:r>
          </a:p>
        </p:txBody>
      </p:sp>
      <p:sp>
        <p:nvSpPr>
          <p:cNvPr id="9" name="TextBox 8"/>
          <p:cNvSpPr txBox="1"/>
          <p:nvPr/>
        </p:nvSpPr>
        <p:spPr>
          <a:xfrm>
            <a:off x="6172200" y="1417320"/>
            <a:ext cx="2331720" cy="548640"/>
          </a:xfrm>
          <a:prstGeom prst="rect">
            <a:avLst/>
          </a:prstGeom>
          <a:noFill/>
        </p:spPr>
        <p:txBody>
          <a:bodyPr wrap="square" lIns="0" tIns="0" rIns="0" bIns="0" anchor="ctr">
            <a:noAutofit/>
          </a:bodyPr>
          <a:lstStyle/>
          <a:p>
            <a:pPr algn="l">
              <a:spcAft>
                <a:spcPts val="0"/>
              </a:spcAft>
            </a:pPr>
            <a:r>
              <a:rPr sz="1250" b="1" i="0">
                <a:solidFill>
                  <a:srgbClr val="FFFFFF"/>
                </a:solidFill>
                <a:latin typeface="Swis721 Cn BT"/>
              </a:rPr>
              <a:t>Tu tarjeta de marca</a:t>
            </a:r>
          </a:p>
          <a:p>
            <a:pPr algn="l">
              <a:spcAft>
                <a:spcPts val="0"/>
              </a:spcAft>
            </a:pPr>
            <a:r>
              <a:rPr sz="1050" b="0" i="0">
                <a:solidFill>
                  <a:srgbClr val="C9DAE3"/>
                </a:solidFill>
                <a:latin typeface="Swis721 Cn BT"/>
              </a:rPr>
              <a:t>quién eres y tus reglas (P y A)</a:t>
            </a:r>
          </a:p>
        </p:txBody>
      </p:sp>
      <p:sp>
        <p:nvSpPr>
          <p:cNvPr id="10" name="Oval 9"/>
          <p:cNvSpPr/>
          <p:nvPr/>
        </p:nvSpPr>
        <p:spPr>
          <a:xfrm>
            <a:off x="5715000" y="2112264"/>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2</a:t>
            </a:r>
          </a:p>
        </p:txBody>
      </p:sp>
      <p:sp>
        <p:nvSpPr>
          <p:cNvPr id="11" name="TextBox 10"/>
          <p:cNvSpPr txBox="1"/>
          <p:nvPr/>
        </p:nvSpPr>
        <p:spPr>
          <a:xfrm>
            <a:off x="6172200" y="2057400"/>
            <a:ext cx="2331720" cy="548640"/>
          </a:xfrm>
          <a:prstGeom prst="rect">
            <a:avLst/>
          </a:prstGeom>
          <a:noFill/>
        </p:spPr>
        <p:txBody>
          <a:bodyPr wrap="square" lIns="0" tIns="0" rIns="0" bIns="0" anchor="ctr">
            <a:noAutofit/>
          </a:bodyPr>
          <a:lstStyle/>
          <a:p>
            <a:pPr algn="l">
              <a:spcAft>
                <a:spcPts val="0"/>
              </a:spcAft>
            </a:pPr>
            <a:r>
              <a:rPr sz="1250" b="1" i="0">
                <a:solidFill>
                  <a:srgbClr val="FFFFFF"/>
                </a:solidFill>
                <a:latin typeface="Swis721 Cn BT"/>
              </a:rPr>
              <a:t>Qué, sobre qué y para quién</a:t>
            </a:r>
          </a:p>
          <a:p>
            <a:pPr algn="l">
              <a:spcAft>
                <a:spcPts val="0"/>
              </a:spcAft>
            </a:pPr>
            <a:r>
              <a:rPr sz="1050" b="0" i="0">
                <a:solidFill>
                  <a:srgbClr val="C9DAE3"/>
                </a:solidFill>
                <a:latin typeface="Swis721 Cn BT"/>
              </a:rPr>
              <a:t>el material (R)</a:t>
            </a:r>
          </a:p>
        </p:txBody>
      </p:sp>
      <p:sp>
        <p:nvSpPr>
          <p:cNvPr id="12" name="Oval 11"/>
          <p:cNvSpPr/>
          <p:nvPr/>
        </p:nvSpPr>
        <p:spPr>
          <a:xfrm>
            <a:off x="5715000" y="2752344"/>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3</a:t>
            </a:r>
          </a:p>
        </p:txBody>
      </p:sp>
      <p:sp>
        <p:nvSpPr>
          <p:cNvPr id="13" name="TextBox 12"/>
          <p:cNvSpPr txBox="1"/>
          <p:nvPr/>
        </p:nvSpPr>
        <p:spPr>
          <a:xfrm>
            <a:off x="6172200" y="2697480"/>
            <a:ext cx="2331720" cy="548640"/>
          </a:xfrm>
          <a:prstGeom prst="rect">
            <a:avLst/>
          </a:prstGeom>
          <a:noFill/>
        </p:spPr>
        <p:txBody>
          <a:bodyPr wrap="square" lIns="0" tIns="0" rIns="0" bIns="0" anchor="ctr">
            <a:noAutofit/>
          </a:bodyPr>
          <a:lstStyle/>
          <a:p>
            <a:pPr algn="l">
              <a:spcAft>
                <a:spcPts val="0"/>
              </a:spcAft>
            </a:pPr>
            <a:r>
              <a:rPr sz="1250" b="1" i="0">
                <a:solidFill>
                  <a:srgbClr val="FFFFFF"/>
                </a:solidFill>
                <a:latin typeface="Swis721 Cn BT"/>
              </a:rPr>
              <a:t>Formato y límites</a:t>
            </a:r>
          </a:p>
          <a:p>
            <a:pPr algn="l">
              <a:spcAft>
                <a:spcPts val="0"/>
              </a:spcAft>
            </a:pPr>
            <a:r>
              <a:rPr sz="1050" b="0" i="0">
                <a:solidFill>
                  <a:srgbClr val="C9DAE3"/>
                </a:solidFill>
                <a:latin typeface="Swis721 Cn BT"/>
              </a:rPr>
              <a:t>medidas, extensión y fuente (T y O)</a:t>
            </a:r>
          </a:p>
        </p:txBody>
      </p:sp>
      <p:sp>
        <p:nvSpPr>
          <p:cNvPr id="14" name="Oval 13"/>
          <p:cNvSpPr/>
          <p:nvPr/>
        </p:nvSpPr>
        <p:spPr>
          <a:xfrm>
            <a:off x="5715000" y="3392423"/>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200" b="1" i="0">
                <a:solidFill>
                  <a:srgbClr val="1F2A30"/>
                </a:solidFill>
                <a:latin typeface="Swis721 Cn BT"/>
              </a:rPr>
              <a:t>4</a:t>
            </a:r>
          </a:p>
        </p:txBody>
      </p:sp>
      <p:sp>
        <p:nvSpPr>
          <p:cNvPr id="15" name="TextBox 14"/>
          <p:cNvSpPr txBox="1"/>
          <p:nvPr/>
        </p:nvSpPr>
        <p:spPr>
          <a:xfrm>
            <a:off x="6172200" y="3337559"/>
            <a:ext cx="2331720" cy="548640"/>
          </a:xfrm>
          <a:prstGeom prst="rect">
            <a:avLst/>
          </a:prstGeom>
          <a:noFill/>
        </p:spPr>
        <p:txBody>
          <a:bodyPr wrap="square" lIns="0" tIns="0" rIns="0" bIns="0" anchor="ctr">
            <a:noAutofit/>
          </a:bodyPr>
          <a:lstStyle/>
          <a:p>
            <a:pPr algn="l">
              <a:spcAft>
                <a:spcPts val="0"/>
              </a:spcAft>
            </a:pPr>
            <a:r>
              <a:rPr sz="1250" b="1" i="0">
                <a:solidFill>
                  <a:srgbClr val="FFFFFF"/>
                </a:solidFill>
                <a:latin typeface="Swis721 Cn BT"/>
              </a:rPr>
              <a:t>Qué te entrega</a:t>
            </a:r>
          </a:p>
          <a:p>
            <a:pPr algn="l">
              <a:spcAft>
                <a:spcPts val="0"/>
              </a:spcAft>
            </a:pPr>
            <a:r>
              <a:rPr sz="1050" b="0" i="0">
                <a:solidFill>
                  <a:srgbClr val="C9DAE3"/>
                </a:solidFill>
                <a:latin typeface="Swis721 Cn BT"/>
              </a:rPr>
              <a:t>y qué debes confirmar (O)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 cómo obtengo el archivo? Elige por capacidad</a:t>
            </a:r>
          </a:p>
        </p:txBody>
      </p:sp>
      <p:sp>
        <p:nvSpPr>
          <p:cNvPr id="3" name="Rounded Rectangle 2"/>
          <p:cNvSpPr/>
          <p:nvPr/>
        </p:nvSpPr>
        <p:spPr>
          <a:xfrm>
            <a:off x="502920" y="868680"/>
            <a:ext cx="2606040" cy="25146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Oval 3"/>
          <p:cNvSpPr/>
          <p:nvPr/>
        </p:nvSpPr>
        <p:spPr>
          <a:xfrm>
            <a:off x="685800" y="1024128"/>
            <a:ext cx="475488" cy="475488"/>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InsertDriveFile"/>
          <p:cNvPicPr>
            <a:picLocks noChangeAspect="1"/>
          </p:cNvPicPr>
          <p:nvPr/>
        </p:nvPicPr>
        <p:blipFill>
          <a:blip r:embed="rId3"/>
          <a:stretch>
            <a:fillRect/>
          </a:stretch>
        </p:blipFill>
        <p:spPr>
          <a:xfrm>
            <a:off x="785652" y="1123980"/>
            <a:ext cx="275783" cy="275783"/>
          </a:xfrm>
          <a:prstGeom prst="rect">
            <a:avLst/>
          </a:prstGeom>
        </p:spPr>
      </p:pic>
      <p:sp>
        <p:nvSpPr>
          <p:cNvPr id="6" name="TextBox 5"/>
          <p:cNvSpPr txBox="1"/>
          <p:nvPr/>
        </p:nvSpPr>
        <p:spPr>
          <a:xfrm>
            <a:off x="1280160" y="987552"/>
            <a:ext cx="1691640" cy="548640"/>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Si tu IA crea archivos</a:t>
            </a:r>
          </a:p>
        </p:txBody>
      </p:sp>
      <p:sp>
        <p:nvSpPr>
          <p:cNvPr id="7" name="TextBox 6"/>
          <p:cNvSpPr txBox="1"/>
          <p:nvPr/>
        </p:nvSpPr>
        <p:spPr>
          <a:xfrm>
            <a:off x="685800" y="1691640"/>
            <a:ext cx="2240280" cy="1600200"/>
          </a:xfrm>
          <a:prstGeom prst="rect">
            <a:avLst/>
          </a:prstGeom>
          <a:noFill/>
        </p:spPr>
        <p:txBody>
          <a:bodyPr wrap="square" lIns="0" tIns="0" rIns="0" bIns="0" anchor="t">
            <a:noAutofit/>
          </a:bodyPr>
          <a:lstStyle/>
          <a:p>
            <a:pPr algn="l">
              <a:spcAft>
                <a:spcPts val="200"/>
              </a:spcAft>
            </a:pPr>
            <a:r>
              <a:rPr sz="1100" b="1" i="0">
                <a:solidFill>
                  <a:srgbClr val="BF210C"/>
                </a:solidFill>
                <a:latin typeface="Swis721 Cn BT"/>
              </a:rPr>
              <a:t>Pídele</a:t>
            </a:r>
          </a:p>
          <a:p>
            <a:pPr algn="l">
              <a:spcAft>
                <a:spcPts val="800"/>
              </a:spcAft>
            </a:pPr>
            <a:r>
              <a:rPr sz="1150" b="0" i="1">
                <a:solidFill>
                  <a:srgbClr val="1F2A30"/>
                </a:solidFill>
                <a:latin typeface="Swis721 Cn BT"/>
              </a:rPr>
              <a:t>«Entrégame el archivo .pptx, .pdf o .png listo.»</a:t>
            </a:r>
          </a:p>
          <a:p>
            <a:pPr algn="l">
              <a:spcAft>
                <a:spcPts val="200"/>
              </a:spcAft>
            </a:pPr>
            <a:r>
              <a:rPr sz="1100" b="1" i="0">
                <a:solidFill>
                  <a:srgbClr val="003C58"/>
                </a:solidFill>
                <a:latin typeface="Swis721 Cn BT"/>
              </a:rPr>
              <a:t>Después</a:t>
            </a:r>
          </a:p>
          <a:p>
            <a:pPr algn="l">
              <a:spcAft>
                <a:spcPts val="0"/>
              </a:spcAft>
            </a:pPr>
            <a:r>
              <a:rPr sz="1150" b="0" i="0">
                <a:solidFill>
                  <a:srgbClr val="1F2A30"/>
                </a:solidFill>
                <a:latin typeface="Swis721 Cn BT"/>
              </a:rPr>
              <a:t>Ábrelo, revisa y ajusta.</a:t>
            </a:r>
          </a:p>
        </p:txBody>
      </p:sp>
      <p:sp>
        <p:nvSpPr>
          <p:cNvPr id="8" name="Rounded Rectangle 7"/>
          <p:cNvSpPr/>
          <p:nvPr/>
        </p:nvSpPr>
        <p:spPr>
          <a:xfrm>
            <a:off x="3273552" y="868680"/>
            <a:ext cx="2606040" cy="25146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9" name="Oval 8"/>
          <p:cNvSpPr/>
          <p:nvPr/>
        </p:nvSpPr>
        <p:spPr>
          <a:xfrm>
            <a:off x="3456432" y="1024128"/>
            <a:ext cx="475488" cy="475488"/>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0" name="Picture 9" descr="Ícono Notes"/>
          <p:cNvPicPr>
            <a:picLocks noChangeAspect="1"/>
          </p:cNvPicPr>
          <p:nvPr/>
        </p:nvPicPr>
        <p:blipFill>
          <a:blip r:embed="rId4"/>
          <a:stretch>
            <a:fillRect/>
          </a:stretch>
        </p:blipFill>
        <p:spPr>
          <a:xfrm>
            <a:off x="3556284" y="1123980"/>
            <a:ext cx="275783" cy="275783"/>
          </a:xfrm>
          <a:prstGeom prst="rect">
            <a:avLst/>
          </a:prstGeom>
        </p:spPr>
      </p:pic>
      <p:sp>
        <p:nvSpPr>
          <p:cNvPr id="11" name="TextBox 10"/>
          <p:cNvSpPr txBox="1"/>
          <p:nvPr/>
        </p:nvSpPr>
        <p:spPr>
          <a:xfrm>
            <a:off x="4050791" y="987552"/>
            <a:ext cx="1691640" cy="548640"/>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Si tu IA solo escribe</a:t>
            </a:r>
          </a:p>
        </p:txBody>
      </p:sp>
      <p:sp>
        <p:nvSpPr>
          <p:cNvPr id="12" name="TextBox 11"/>
          <p:cNvSpPr txBox="1"/>
          <p:nvPr/>
        </p:nvSpPr>
        <p:spPr>
          <a:xfrm>
            <a:off x="3456432" y="1691640"/>
            <a:ext cx="2240280" cy="1600200"/>
          </a:xfrm>
          <a:prstGeom prst="rect">
            <a:avLst/>
          </a:prstGeom>
          <a:noFill/>
        </p:spPr>
        <p:txBody>
          <a:bodyPr wrap="square" lIns="0" tIns="0" rIns="0" bIns="0" anchor="t">
            <a:noAutofit/>
          </a:bodyPr>
          <a:lstStyle/>
          <a:p>
            <a:pPr algn="l">
              <a:spcAft>
                <a:spcPts val="200"/>
              </a:spcAft>
            </a:pPr>
            <a:r>
              <a:rPr sz="1100" b="1" i="0">
                <a:solidFill>
                  <a:srgbClr val="BF210C"/>
                </a:solidFill>
                <a:latin typeface="Swis721 Cn BT"/>
              </a:rPr>
              <a:t>Pídele</a:t>
            </a:r>
          </a:p>
          <a:p>
            <a:pPr algn="l">
              <a:spcAft>
                <a:spcPts val="800"/>
              </a:spcAft>
            </a:pPr>
            <a:r>
              <a:rPr sz="1150" b="0" i="1">
                <a:solidFill>
                  <a:srgbClr val="1F2A30"/>
                </a:solidFill>
                <a:latin typeface="Swis721 Cn BT"/>
              </a:rPr>
              <a:t>«Dame el texto final y los pasos para armarlo en PowerPoint, Canva o Word.»</a:t>
            </a:r>
          </a:p>
          <a:p>
            <a:pPr algn="l">
              <a:spcAft>
                <a:spcPts val="200"/>
              </a:spcAft>
            </a:pPr>
            <a:r>
              <a:rPr sz="1100" b="1" i="0">
                <a:solidFill>
                  <a:srgbClr val="003C58"/>
                </a:solidFill>
                <a:latin typeface="Swis721 Cn BT"/>
              </a:rPr>
              <a:t>Después</a:t>
            </a:r>
          </a:p>
          <a:p>
            <a:pPr algn="l">
              <a:spcAft>
                <a:spcPts val="0"/>
              </a:spcAft>
            </a:pPr>
            <a:r>
              <a:rPr sz="1150" b="0" i="0">
                <a:solidFill>
                  <a:srgbClr val="1F2A30"/>
                </a:solidFill>
                <a:latin typeface="Swis721 Cn BT"/>
              </a:rPr>
              <a:t>Lo armas tú con tus colores y letras.</a:t>
            </a:r>
          </a:p>
        </p:txBody>
      </p:sp>
      <p:sp>
        <p:nvSpPr>
          <p:cNvPr id="13" name="Rounded Rectangle 12"/>
          <p:cNvSpPr/>
          <p:nvPr/>
        </p:nvSpPr>
        <p:spPr>
          <a:xfrm>
            <a:off x="6035040" y="868680"/>
            <a:ext cx="2606040" cy="251460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Oval 13"/>
          <p:cNvSpPr/>
          <p:nvPr/>
        </p:nvSpPr>
        <p:spPr>
          <a:xfrm>
            <a:off x="6217920" y="1024128"/>
            <a:ext cx="475488" cy="475488"/>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5" name="Picture 14" descr="Ícono Image"/>
          <p:cNvPicPr>
            <a:picLocks noChangeAspect="1"/>
          </p:cNvPicPr>
          <p:nvPr/>
        </p:nvPicPr>
        <p:blipFill>
          <a:blip r:embed="rId5"/>
          <a:stretch>
            <a:fillRect/>
          </a:stretch>
        </p:blipFill>
        <p:spPr>
          <a:xfrm>
            <a:off x="6317772" y="1123980"/>
            <a:ext cx="275783" cy="275783"/>
          </a:xfrm>
          <a:prstGeom prst="rect">
            <a:avLst/>
          </a:prstGeom>
        </p:spPr>
      </p:pic>
      <p:sp>
        <p:nvSpPr>
          <p:cNvPr id="16" name="TextBox 15"/>
          <p:cNvSpPr txBox="1"/>
          <p:nvPr/>
        </p:nvSpPr>
        <p:spPr>
          <a:xfrm>
            <a:off x="6812279" y="987552"/>
            <a:ext cx="1691640" cy="548640"/>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Si tu IA crea imágenes</a:t>
            </a:r>
          </a:p>
        </p:txBody>
      </p:sp>
      <p:sp>
        <p:nvSpPr>
          <p:cNvPr id="17" name="TextBox 16"/>
          <p:cNvSpPr txBox="1"/>
          <p:nvPr/>
        </p:nvSpPr>
        <p:spPr>
          <a:xfrm>
            <a:off x="6217920" y="1691640"/>
            <a:ext cx="2240280" cy="1600200"/>
          </a:xfrm>
          <a:prstGeom prst="rect">
            <a:avLst/>
          </a:prstGeom>
          <a:noFill/>
        </p:spPr>
        <p:txBody>
          <a:bodyPr wrap="square" lIns="0" tIns="0" rIns="0" bIns="0" anchor="t">
            <a:noAutofit/>
          </a:bodyPr>
          <a:lstStyle/>
          <a:p>
            <a:pPr algn="l">
              <a:spcAft>
                <a:spcPts val="200"/>
              </a:spcAft>
            </a:pPr>
            <a:r>
              <a:rPr sz="1100" b="1" i="0">
                <a:solidFill>
                  <a:srgbClr val="BF210C"/>
                </a:solidFill>
                <a:latin typeface="Swis721 Cn BT"/>
              </a:rPr>
              <a:t>Pídele</a:t>
            </a:r>
          </a:p>
          <a:p>
            <a:pPr algn="l">
              <a:spcAft>
                <a:spcPts val="800"/>
              </a:spcAft>
            </a:pPr>
            <a:r>
              <a:rPr sz="1150" b="0" i="1">
                <a:solidFill>
                  <a:srgbClr val="1F2A30"/>
                </a:solidFill>
                <a:latin typeface="Swis721 Cn BT"/>
              </a:rPr>
              <a:t>Solo fondos, texturas o ilustraciones simples.</a:t>
            </a:r>
          </a:p>
          <a:p>
            <a:pPr algn="l">
              <a:spcAft>
                <a:spcPts val="200"/>
              </a:spcAft>
            </a:pPr>
            <a:r>
              <a:rPr sz="1100" b="1" i="0">
                <a:solidFill>
                  <a:srgbClr val="003C58"/>
                </a:solidFill>
                <a:latin typeface="Swis721 Cn BT"/>
              </a:rPr>
              <a:t>Después</a:t>
            </a:r>
          </a:p>
          <a:p>
            <a:pPr algn="l">
              <a:spcAft>
                <a:spcPts val="0"/>
              </a:spcAft>
            </a:pPr>
            <a:r>
              <a:rPr sz="1150" b="0" i="0">
                <a:solidFill>
                  <a:srgbClr val="1F2A30"/>
                </a:solidFill>
                <a:latin typeface="Swis721 Cn BT"/>
              </a:rPr>
              <a:t>El texto y el logo los pones tú: puede deformar letras o inventar logos.</a:t>
            </a:r>
          </a:p>
        </p:txBody>
      </p:sp>
      <p:sp>
        <p:nvSpPr>
          <p:cNvPr id="18" name="Rounded Rectangle 17"/>
          <p:cNvSpPr/>
          <p:nvPr/>
        </p:nvSpPr>
        <p:spPr>
          <a:xfrm>
            <a:off x="502920" y="3520440"/>
            <a:ext cx="8138160" cy="54864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9" name="TextBox 18"/>
          <p:cNvSpPr txBox="1"/>
          <p:nvPr/>
        </p:nvSpPr>
        <p:spPr>
          <a:xfrm>
            <a:off x="731520" y="3557016"/>
            <a:ext cx="7726679" cy="475488"/>
          </a:xfrm>
          <a:prstGeom prst="rect">
            <a:avLst/>
          </a:prstGeom>
          <a:noFill/>
        </p:spPr>
        <p:txBody>
          <a:bodyPr wrap="square" lIns="0" tIns="0" rIns="0" bIns="0" anchor="ctr">
            <a:noAutofit/>
          </a:bodyPr>
          <a:lstStyle/>
          <a:p>
            <a:pPr algn="l">
              <a:spcAft>
                <a:spcPts val="0"/>
              </a:spcAft>
            </a:pPr>
            <a:r>
              <a:rPr sz="1300" b="1" i="0">
                <a:solidFill>
                  <a:srgbClr val="1F2A30"/>
                </a:solidFill>
                <a:latin typeface="Swis721 Cn BT"/>
              </a:rPr>
              <a:t>Para imprenta: </a:t>
            </a:r>
            <a:r>
              <a:rPr sz="1300" b="0" i="0">
                <a:solidFill>
                  <a:srgbClr val="1F2A30"/>
                </a:solidFill>
                <a:latin typeface="Swis721 Cn BT"/>
              </a:rPr>
              <a:t>PDF con 3 mm de sangrado y prueba de color. Los colores de pantalla cambian al imprimir.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Manos a la obra: tu primer material</a:t>
            </a:r>
          </a:p>
        </p:txBody>
      </p:sp>
      <p:sp>
        <p:nvSpPr>
          <p:cNvPr id="3" name="Rounded Rectangle 2"/>
          <p:cNvSpPr/>
          <p:nvPr/>
        </p:nvSpPr>
        <p:spPr>
          <a:xfrm>
            <a:off x="502920" y="868680"/>
            <a:ext cx="1920240" cy="237744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Oval 3"/>
          <p:cNvSpPr/>
          <p:nvPr/>
        </p:nvSpPr>
        <p:spPr>
          <a:xfrm>
            <a:off x="667512" y="1005840"/>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1</a:t>
            </a:r>
          </a:p>
        </p:txBody>
      </p:sp>
      <p:sp>
        <p:nvSpPr>
          <p:cNvPr id="5" name="TextBox 4"/>
          <p:cNvSpPr txBox="1"/>
          <p:nvPr/>
        </p:nvSpPr>
        <p:spPr>
          <a:xfrm>
            <a:off x="667512" y="1417320"/>
            <a:ext cx="1645920" cy="548640"/>
          </a:xfrm>
          <a:prstGeom prst="rect">
            <a:avLst/>
          </a:prstGeom>
          <a:noFill/>
        </p:spPr>
        <p:txBody>
          <a:bodyPr wrap="square" lIns="0" tIns="0" rIns="0" bIns="0" anchor="t">
            <a:noAutofit/>
          </a:bodyPr>
          <a:lstStyle/>
          <a:p>
            <a:pPr algn="l">
              <a:spcAft>
                <a:spcPts val="0"/>
              </a:spcAft>
            </a:pPr>
            <a:r>
              <a:rPr sz="3000" b="1" i="0">
                <a:solidFill>
                  <a:srgbClr val="003C58"/>
                </a:solidFill>
                <a:latin typeface="Swis721 Cn BT"/>
              </a:rPr>
              <a:t>5 min</a:t>
            </a:r>
          </a:p>
        </p:txBody>
      </p:sp>
      <p:sp>
        <p:nvSpPr>
          <p:cNvPr id="6" name="TextBox 5"/>
          <p:cNvSpPr txBox="1"/>
          <p:nvPr/>
        </p:nvSpPr>
        <p:spPr>
          <a:xfrm>
            <a:off x="667512" y="2011680"/>
            <a:ext cx="164592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Completa tu ficha</a:t>
            </a:r>
          </a:p>
        </p:txBody>
      </p:sp>
      <p:sp>
        <p:nvSpPr>
          <p:cNvPr id="7" name="TextBox 6"/>
          <p:cNvSpPr txBox="1"/>
          <p:nvPr/>
        </p:nvSpPr>
        <p:spPr>
          <a:xfrm>
            <a:off x="667512" y="2331720"/>
            <a:ext cx="1645920" cy="82296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A mano en la hoja o directo en el prompt.</a:t>
            </a:r>
          </a:p>
        </p:txBody>
      </p:sp>
      <p:sp>
        <p:nvSpPr>
          <p:cNvPr id="8" name="Rounded Rectangle 7"/>
          <p:cNvSpPr/>
          <p:nvPr/>
        </p:nvSpPr>
        <p:spPr>
          <a:xfrm>
            <a:off x="2575864" y="868680"/>
            <a:ext cx="1920240" cy="237744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9" name="Oval 8"/>
          <p:cNvSpPr/>
          <p:nvPr/>
        </p:nvSpPr>
        <p:spPr>
          <a:xfrm>
            <a:off x="2740456" y="1005840"/>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2</a:t>
            </a:r>
          </a:p>
        </p:txBody>
      </p:sp>
      <p:sp>
        <p:nvSpPr>
          <p:cNvPr id="10" name="TextBox 9"/>
          <p:cNvSpPr txBox="1"/>
          <p:nvPr/>
        </p:nvSpPr>
        <p:spPr>
          <a:xfrm>
            <a:off x="2740456" y="1417320"/>
            <a:ext cx="1645920" cy="548640"/>
          </a:xfrm>
          <a:prstGeom prst="rect">
            <a:avLst/>
          </a:prstGeom>
          <a:noFill/>
        </p:spPr>
        <p:txBody>
          <a:bodyPr wrap="square" lIns="0" tIns="0" rIns="0" bIns="0" anchor="t">
            <a:noAutofit/>
          </a:bodyPr>
          <a:lstStyle/>
          <a:p>
            <a:pPr algn="l">
              <a:spcAft>
                <a:spcPts val="0"/>
              </a:spcAft>
            </a:pPr>
            <a:r>
              <a:rPr sz="3000" b="1" i="0">
                <a:solidFill>
                  <a:srgbClr val="BF210C"/>
                </a:solidFill>
                <a:latin typeface="Swis721 Cn BT"/>
              </a:rPr>
              <a:t>5 min</a:t>
            </a:r>
          </a:p>
        </p:txBody>
      </p:sp>
      <p:sp>
        <p:nvSpPr>
          <p:cNvPr id="11" name="TextBox 10"/>
          <p:cNvSpPr txBox="1"/>
          <p:nvPr/>
        </p:nvSpPr>
        <p:spPr>
          <a:xfrm>
            <a:off x="2740456" y="2011680"/>
            <a:ext cx="164592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Crea tu tarjeta</a:t>
            </a:r>
          </a:p>
        </p:txBody>
      </p:sp>
      <p:sp>
        <p:nvSpPr>
          <p:cNvPr id="12" name="TextBox 11"/>
          <p:cNvSpPr txBox="1"/>
          <p:nvPr/>
        </p:nvSpPr>
        <p:spPr>
          <a:xfrm>
            <a:off x="2740456" y="2331720"/>
            <a:ext cx="1645920" cy="82296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Pega el prompt del Paso 1 y responde lo que pregunte.</a:t>
            </a:r>
          </a:p>
        </p:txBody>
      </p:sp>
      <p:sp>
        <p:nvSpPr>
          <p:cNvPr id="13" name="Rounded Rectangle 12"/>
          <p:cNvSpPr/>
          <p:nvPr/>
        </p:nvSpPr>
        <p:spPr>
          <a:xfrm>
            <a:off x="4648809" y="868680"/>
            <a:ext cx="1920240" cy="237744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Oval 13"/>
          <p:cNvSpPr/>
          <p:nvPr/>
        </p:nvSpPr>
        <p:spPr>
          <a:xfrm>
            <a:off x="4813401" y="1005840"/>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3</a:t>
            </a:r>
          </a:p>
        </p:txBody>
      </p:sp>
      <p:sp>
        <p:nvSpPr>
          <p:cNvPr id="15" name="TextBox 14"/>
          <p:cNvSpPr txBox="1"/>
          <p:nvPr/>
        </p:nvSpPr>
        <p:spPr>
          <a:xfrm>
            <a:off x="4813401" y="1417320"/>
            <a:ext cx="1645920" cy="548640"/>
          </a:xfrm>
          <a:prstGeom prst="rect">
            <a:avLst/>
          </a:prstGeom>
          <a:noFill/>
        </p:spPr>
        <p:txBody>
          <a:bodyPr wrap="square" lIns="0" tIns="0" rIns="0" bIns="0" anchor="t">
            <a:noAutofit/>
          </a:bodyPr>
          <a:lstStyle/>
          <a:p>
            <a:pPr algn="l">
              <a:spcAft>
                <a:spcPts val="0"/>
              </a:spcAft>
            </a:pPr>
            <a:r>
              <a:rPr sz="3000" b="1" i="0">
                <a:solidFill>
                  <a:srgbClr val="003C58"/>
                </a:solidFill>
                <a:latin typeface="Swis721 Cn BT"/>
              </a:rPr>
              <a:t>10 min</a:t>
            </a:r>
          </a:p>
        </p:txBody>
      </p:sp>
      <p:sp>
        <p:nvSpPr>
          <p:cNvPr id="16" name="TextBox 15"/>
          <p:cNvSpPr txBox="1"/>
          <p:nvPr/>
        </p:nvSpPr>
        <p:spPr>
          <a:xfrm>
            <a:off x="4813401" y="2011680"/>
            <a:ext cx="164592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Prueba una receta</a:t>
            </a:r>
          </a:p>
        </p:txBody>
      </p:sp>
      <p:sp>
        <p:nvSpPr>
          <p:cNvPr id="17" name="TextBox 16"/>
          <p:cNvSpPr txBox="1"/>
          <p:nvPr/>
        </p:nvSpPr>
        <p:spPr>
          <a:xfrm>
            <a:off x="4813401" y="2331720"/>
            <a:ext cx="1645920" cy="82296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Elige R1, R4 o R6 y pide tu primer material.</a:t>
            </a:r>
          </a:p>
        </p:txBody>
      </p:sp>
      <p:sp>
        <p:nvSpPr>
          <p:cNvPr id="18" name="Rounded Rectangle 17"/>
          <p:cNvSpPr/>
          <p:nvPr/>
        </p:nvSpPr>
        <p:spPr>
          <a:xfrm>
            <a:off x="6721754" y="868680"/>
            <a:ext cx="1920240" cy="237744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9" name="Oval 18"/>
          <p:cNvSpPr/>
          <p:nvPr/>
        </p:nvSpPr>
        <p:spPr>
          <a:xfrm>
            <a:off x="6886346" y="1005840"/>
            <a:ext cx="329184" cy="329184"/>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1300" b="1" i="0">
                <a:solidFill>
                  <a:srgbClr val="1F2A30"/>
                </a:solidFill>
                <a:latin typeface="Swis721 Cn BT"/>
              </a:rPr>
              <a:t>4</a:t>
            </a:r>
          </a:p>
        </p:txBody>
      </p:sp>
      <p:sp>
        <p:nvSpPr>
          <p:cNvPr id="20" name="TextBox 19"/>
          <p:cNvSpPr txBox="1"/>
          <p:nvPr/>
        </p:nvSpPr>
        <p:spPr>
          <a:xfrm>
            <a:off x="6886346" y="1417320"/>
            <a:ext cx="1645920" cy="548640"/>
          </a:xfrm>
          <a:prstGeom prst="rect">
            <a:avLst/>
          </a:prstGeom>
          <a:noFill/>
        </p:spPr>
        <p:txBody>
          <a:bodyPr wrap="square" lIns="0" tIns="0" rIns="0" bIns="0" anchor="t">
            <a:noAutofit/>
          </a:bodyPr>
          <a:lstStyle/>
          <a:p>
            <a:pPr algn="l">
              <a:spcAft>
                <a:spcPts val="0"/>
              </a:spcAft>
            </a:pPr>
            <a:r>
              <a:rPr sz="3000" b="1" i="0">
                <a:solidFill>
                  <a:srgbClr val="BF210C"/>
                </a:solidFill>
                <a:latin typeface="Swis721 Cn BT"/>
              </a:rPr>
              <a:t>5 min</a:t>
            </a:r>
          </a:p>
        </p:txBody>
      </p:sp>
      <p:sp>
        <p:nvSpPr>
          <p:cNvPr id="21" name="TextBox 20"/>
          <p:cNvSpPr txBox="1"/>
          <p:nvPr/>
        </p:nvSpPr>
        <p:spPr>
          <a:xfrm>
            <a:off x="6886346" y="2011680"/>
            <a:ext cx="1645920" cy="274320"/>
          </a:xfrm>
          <a:prstGeom prst="rect">
            <a:avLst/>
          </a:prstGeom>
          <a:noFill/>
        </p:spPr>
        <p:txBody>
          <a:bodyPr wrap="square" lIns="0" tIns="0" rIns="0" bIns="0" anchor="t">
            <a:noAutofit/>
          </a:bodyPr>
          <a:lstStyle/>
          <a:p>
            <a:pPr algn="l">
              <a:spcAft>
                <a:spcPts val="0"/>
              </a:spcAft>
            </a:pPr>
            <a:r>
              <a:rPr sz="1300" b="1" i="0">
                <a:solidFill>
                  <a:srgbClr val="003C58"/>
                </a:solidFill>
                <a:latin typeface="Swis721 Cn BT"/>
              </a:rPr>
              <a:t>Revisa en pareja</a:t>
            </a:r>
          </a:p>
        </p:txBody>
      </p:sp>
      <p:sp>
        <p:nvSpPr>
          <p:cNvPr id="22" name="TextBox 21"/>
          <p:cNvSpPr txBox="1"/>
          <p:nvPr/>
        </p:nvSpPr>
        <p:spPr>
          <a:xfrm>
            <a:off x="6886346" y="2331720"/>
            <a:ext cx="1645920" cy="822960"/>
          </a:xfrm>
          <a:prstGeom prst="rect">
            <a:avLst/>
          </a:prstGeom>
          <a:noFill/>
        </p:spPr>
        <p:txBody>
          <a:bodyPr wrap="square" lIns="0" tIns="0" rIns="0" bIns="0" anchor="t">
            <a:noAutofit/>
          </a:bodyPr>
          <a:lstStyle/>
          <a:p>
            <a:pPr algn="l">
              <a:spcAft>
                <a:spcPts val="0"/>
              </a:spcAft>
            </a:pPr>
            <a:r>
              <a:rPr sz="1150" b="0" i="0">
                <a:solidFill>
                  <a:srgbClr val="1F2A30"/>
                </a:solidFill>
                <a:latin typeface="Swis721 Cn BT"/>
              </a:rPr>
              <a:t>Usa la lista de revisión y comenta qué cambiarías.</a:t>
            </a:r>
          </a:p>
        </p:txBody>
      </p:sp>
      <p:sp>
        <p:nvSpPr>
          <p:cNvPr id="23" name="Rounded Rectangle 22"/>
          <p:cNvSpPr/>
          <p:nvPr/>
        </p:nvSpPr>
        <p:spPr>
          <a:xfrm>
            <a:off x="502920" y="3401568"/>
            <a:ext cx="8138160" cy="667512"/>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4" name="TextBox 23"/>
          <p:cNvSpPr txBox="1"/>
          <p:nvPr/>
        </p:nvSpPr>
        <p:spPr>
          <a:xfrm>
            <a:off x="731520" y="3438144"/>
            <a:ext cx="7726679" cy="594360"/>
          </a:xfrm>
          <a:prstGeom prst="rect">
            <a:avLst/>
          </a:prstGeom>
          <a:noFill/>
        </p:spPr>
        <p:txBody>
          <a:bodyPr wrap="square" lIns="0" tIns="0" rIns="0" bIns="0" anchor="ctr">
            <a:noAutofit/>
          </a:bodyPr>
          <a:lstStyle/>
          <a:p>
            <a:pPr algn="l">
              <a:spcAft>
                <a:spcPts val="0"/>
              </a:spcAft>
            </a:pPr>
            <a:r>
              <a:rPr sz="1400" b="0" i="0">
                <a:solidFill>
                  <a:srgbClr val="FFFFFF"/>
                </a:solidFill>
                <a:latin typeface="Swis721 Cn BT"/>
              </a:rPr>
              <a:t>¿Sin cuenta en una IA? Trabaja con una compañera. </a:t>
            </a:r>
            <a:r>
              <a:rPr sz="1400" b="1" i="0">
                <a:solidFill>
                  <a:srgbClr val="F2B705"/>
                </a:solidFill>
                <a:latin typeface="Swis721 Cn BT"/>
              </a:rPr>
              <a:t>Nunca uses datos de pacientes.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Sección 5 de 5</a:t>
            </a:r>
          </a:p>
        </p:txBody>
      </p:sp>
      <p:sp>
        <p:nvSpPr>
          <p:cNvPr id="3" name="TextBox 2"/>
          <p:cNvSpPr txBox="1"/>
          <p:nvPr/>
        </p:nvSpPr>
        <p:spPr>
          <a:xfrm>
            <a:off x="594360" y="960120"/>
            <a:ext cx="1737360" cy="1188720"/>
          </a:xfrm>
          <a:prstGeom prst="rect">
            <a:avLst/>
          </a:prstGeom>
          <a:noFill/>
        </p:spPr>
        <p:txBody>
          <a:bodyPr wrap="square" lIns="0" tIns="0" rIns="0" bIns="0" anchor="t">
            <a:noAutofit/>
          </a:bodyPr>
          <a:lstStyle/>
          <a:p>
            <a:pPr algn="l">
              <a:spcAft>
                <a:spcPts val="0"/>
              </a:spcAft>
            </a:pPr>
            <a:r>
              <a:rPr sz="8000" b="1" i="0">
                <a:solidFill>
                  <a:srgbClr val="BF210C"/>
                </a:solidFill>
                <a:latin typeface="Swis721 Cn BT"/>
              </a:rPr>
              <a:t>05</a:t>
            </a:r>
          </a:p>
        </p:txBody>
      </p:sp>
      <p:sp>
        <p:nvSpPr>
          <p:cNvPr id="4" name="Oval 3"/>
          <p:cNvSpPr/>
          <p:nvPr/>
        </p:nvSpPr>
        <p:spPr>
          <a:xfrm>
            <a:off x="822960" y="2514600"/>
            <a:ext cx="1005840" cy="1005840"/>
          </a:xfrm>
          <a:prstGeom prst="ellipse">
            <a:avLst/>
          </a:prstGeom>
          <a:solidFill>
            <a:srgbClr val="06717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FactCheck"/>
          <p:cNvPicPr>
            <a:picLocks noChangeAspect="1"/>
          </p:cNvPicPr>
          <p:nvPr/>
        </p:nvPicPr>
        <p:blipFill>
          <a:blip r:embed="rId3"/>
          <a:stretch>
            <a:fillRect/>
          </a:stretch>
        </p:blipFill>
        <p:spPr>
          <a:xfrm>
            <a:off x="1034186" y="2725826"/>
            <a:ext cx="583387" cy="583387"/>
          </a:xfrm>
          <a:prstGeom prst="rect">
            <a:avLst/>
          </a:prstGeom>
        </p:spPr>
      </p:pic>
      <p:sp>
        <p:nvSpPr>
          <p:cNvPr id="6" name="TextBox 5"/>
          <p:cNvSpPr txBox="1"/>
          <p:nvPr/>
        </p:nvSpPr>
        <p:spPr>
          <a:xfrm>
            <a:off x="2606040" y="868680"/>
            <a:ext cx="6035040" cy="822960"/>
          </a:xfrm>
          <a:prstGeom prst="rect">
            <a:avLst/>
          </a:prstGeom>
          <a:noFill/>
        </p:spPr>
        <p:txBody>
          <a:bodyPr wrap="square" lIns="0" tIns="0" rIns="0" bIns="0" anchor="b">
            <a:noAutofit/>
          </a:bodyPr>
          <a:lstStyle/>
          <a:p>
            <a:pPr algn="l">
              <a:spcAft>
                <a:spcPts val="0"/>
              </a:spcAft>
            </a:pPr>
            <a:r>
              <a:rPr sz="2600" b="1" i="0">
                <a:solidFill>
                  <a:srgbClr val="003C58"/>
                </a:solidFill>
                <a:latin typeface="Swis721 Cn BT"/>
              </a:rPr>
              <a:t>Revisar y descargar</a:t>
            </a:r>
          </a:p>
        </p:txBody>
      </p:sp>
      <p:sp>
        <p:nvSpPr>
          <p:cNvPr id="7" name="TextBox 6"/>
          <p:cNvSpPr txBox="1"/>
          <p:nvPr/>
        </p:nvSpPr>
        <p:spPr>
          <a:xfrm>
            <a:off x="2606040" y="1755648"/>
            <a:ext cx="6035040" cy="658368"/>
          </a:xfrm>
          <a:prstGeom prst="rect">
            <a:avLst/>
          </a:prstGeom>
          <a:noFill/>
        </p:spPr>
        <p:txBody>
          <a:bodyPr wrap="square" lIns="0" tIns="0" rIns="0" bIns="0" anchor="t">
            <a:noAutofit/>
          </a:bodyPr>
          <a:lstStyle/>
          <a:p>
            <a:pPr algn="l">
              <a:spcAft>
                <a:spcPts val="0"/>
              </a:spcAft>
            </a:pPr>
            <a:r>
              <a:rPr sz="1600" b="0" i="1">
                <a:solidFill>
                  <a:srgbClr val="2F6E8C"/>
                </a:solidFill>
                <a:latin typeface="Swis721 Cn BT"/>
              </a:rPr>
              <a:t>¿Cómo sé que mi material está listo?</a:t>
            </a:r>
          </a:p>
        </p:txBody>
      </p:sp>
      <p:sp>
        <p:nvSpPr>
          <p:cNvPr id="8" name="TextBox 7"/>
          <p:cNvSpPr txBox="1"/>
          <p:nvPr/>
        </p:nvSpPr>
        <p:spPr>
          <a:xfrm>
            <a:off x="2606040" y="2487168"/>
            <a:ext cx="6035040" cy="274320"/>
          </a:xfrm>
          <a:prstGeom prst="rect">
            <a:avLst/>
          </a:prstGeom>
          <a:noFill/>
        </p:spPr>
        <p:txBody>
          <a:bodyPr wrap="square" lIns="0" tIns="0" rIns="0" bIns="0" anchor="t">
            <a:noAutofit/>
          </a:bodyPr>
          <a:lstStyle/>
          <a:p>
            <a:pPr algn="l">
              <a:spcAft>
                <a:spcPts val="0"/>
              </a:spcAft>
            </a:pPr>
            <a:r>
              <a:rPr sz="1200" b="1" i="0">
                <a:solidFill>
                  <a:srgbClr val="5B6B73"/>
                </a:solidFill>
                <a:latin typeface="Swis721 Cn BT"/>
              </a:rPr>
              <a:t>En esta sección</a:t>
            </a:r>
          </a:p>
        </p:txBody>
      </p:sp>
      <p:sp>
        <p:nvSpPr>
          <p:cNvPr id="9" name="Oval 8"/>
          <p:cNvSpPr/>
          <p:nvPr/>
        </p:nvSpPr>
        <p:spPr>
          <a:xfrm>
            <a:off x="2633472" y="2871215"/>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TextBox 9"/>
          <p:cNvSpPr txBox="1"/>
          <p:nvPr/>
        </p:nvSpPr>
        <p:spPr>
          <a:xfrm>
            <a:off x="2880360" y="2788920"/>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Si no te gusta: un cambio a la vez</a:t>
            </a:r>
          </a:p>
        </p:txBody>
      </p:sp>
      <p:sp>
        <p:nvSpPr>
          <p:cNvPr id="11" name="Oval 10"/>
          <p:cNvSpPr/>
          <p:nvPr/>
        </p:nvSpPr>
        <p:spPr>
          <a:xfrm>
            <a:off x="2633472" y="318211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2" name="TextBox 11"/>
          <p:cNvSpPr txBox="1"/>
          <p:nvPr/>
        </p:nvSpPr>
        <p:spPr>
          <a:xfrm>
            <a:off x="2880360" y="3099815"/>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Lista de revisión</a:t>
            </a:r>
          </a:p>
        </p:txBody>
      </p:sp>
      <p:sp>
        <p:nvSpPr>
          <p:cNvPr id="13" name="Oval 12"/>
          <p:cNvSpPr/>
          <p:nvPr/>
        </p:nvSpPr>
        <p:spPr>
          <a:xfrm>
            <a:off x="2633472" y="3493008"/>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TextBox 13"/>
          <p:cNvSpPr txBox="1"/>
          <p:nvPr/>
        </p:nvSpPr>
        <p:spPr>
          <a:xfrm>
            <a:off x="2880360" y="3410712"/>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Semáforo de diseño seguro</a:t>
            </a:r>
          </a:p>
        </p:txBody>
      </p:sp>
      <p:sp>
        <p:nvSpPr>
          <p:cNvPr id="15" name="Oval 14"/>
          <p:cNvSpPr/>
          <p:nvPr/>
        </p:nvSpPr>
        <p:spPr>
          <a:xfrm>
            <a:off x="2633472" y="3803904"/>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6" name="TextBox 15"/>
          <p:cNvSpPr txBox="1"/>
          <p:nvPr/>
        </p:nvSpPr>
        <p:spPr>
          <a:xfrm>
            <a:off x="2880360" y="3721608"/>
            <a:ext cx="5669280" cy="292608"/>
          </a:xfrm>
          <a:prstGeom prst="rect">
            <a:avLst/>
          </a:prstGeom>
          <a:noFill/>
        </p:spPr>
        <p:txBody>
          <a:bodyPr wrap="square" lIns="0" tIns="0" rIns="0" bIns="0" anchor="t">
            <a:noAutofit/>
          </a:bodyPr>
          <a:lstStyle/>
          <a:p>
            <a:pPr algn="l">
              <a:spcAft>
                <a:spcPts val="0"/>
              </a:spcAft>
            </a:pPr>
            <a:r>
              <a:rPr sz="1500" b="0" i="0">
                <a:solidFill>
                  <a:srgbClr val="1F2A30"/>
                </a:solidFill>
                <a:latin typeface="Swis721 Cn BT"/>
              </a:rPr>
              <a:t>Descarga los materiales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 no te gusta, pide un cambio a la vez</a:t>
            </a:r>
          </a:p>
        </p:txBody>
      </p:sp>
      <p:sp>
        <p:nvSpPr>
          <p:cNvPr id="3" name="Rounded Rectangle 2"/>
          <p:cNvSpPr/>
          <p:nvPr/>
        </p:nvSpPr>
        <p:spPr>
          <a:xfrm>
            <a:off x="502920" y="868680"/>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Rounded Rectangle 3"/>
          <p:cNvSpPr/>
          <p:nvPr/>
        </p:nvSpPr>
        <p:spPr>
          <a:xfrm>
            <a:off x="640080" y="1005839"/>
            <a:ext cx="402336" cy="402336"/>
          </a:xfrm>
          <a:prstGeom prst="roundRect">
            <a:avLst>
              <a:gd name="adj" fmla="val 20000"/>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Notes"/>
          <p:cNvPicPr>
            <a:picLocks noChangeAspect="1"/>
          </p:cNvPicPr>
          <p:nvPr/>
        </p:nvPicPr>
        <p:blipFill>
          <a:blip r:embed="rId3"/>
          <a:stretch>
            <a:fillRect/>
          </a:stretch>
        </p:blipFill>
        <p:spPr>
          <a:xfrm>
            <a:off x="704088" y="1069848"/>
            <a:ext cx="274320" cy="274320"/>
          </a:xfrm>
          <a:prstGeom prst="rect">
            <a:avLst/>
          </a:prstGeom>
        </p:spPr>
      </p:pic>
      <p:sp>
        <p:nvSpPr>
          <p:cNvPr id="6" name="TextBox 5"/>
          <p:cNvSpPr txBox="1"/>
          <p:nvPr/>
        </p:nvSpPr>
        <p:spPr>
          <a:xfrm>
            <a:off x="1161288" y="1005839"/>
            <a:ext cx="1828800" cy="402336"/>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Mucho texto</a:t>
            </a:r>
          </a:p>
        </p:txBody>
      </p:sp>
      <p:sp>
        <p:nvSpPr>
          <p:cNvPr id="7" name="TextBox 6"/>
          <p:cNvSpPr txBox="1"/>
          <p:nvPr/>
        </p:nvSpPr>
        <p:spPr>
          <a:xfrm>
            <a:off x="640080" y="1490472"/>
            <a:ext cx="2331720" cy="548640"/>
          </a:xfrm>
          <a:prstGeom prst="rect">
            <a:avLst/>
          </a:prstGeom>
          <a:noFill/>
        </p:spPr>
        <p:txBody>
          <a:bodyPr wrap="square" lIns="0" tIns="0" rIns="0" bIns="0" anchor="t">
            <a:noAutofit/>
          </a:bodyPr>
          <a:lstStyle/>
          <a:p>
            <a:pPr algn="l">
              <a:spcAft>
                <a:spcPts val="0"/>
              </a:spcAft>
            </a:pPr>
            <a:r>
              <a:rPr sz="1100" b="0" i="1">
                <a:solidFill>
                  <a:srgbClr val="1F2A30"/>
                </a:solidFill>
                <a:latin typeface="Swis721 Cn BT"/>
              </a:rPr>
              <a:t>«Acorta el texto a la mitad sin perder la idea principal.»</a:t>
            </a:r>
          </a:p>
        </p:txBody>
      </p:sp>
      <p:sp>
        <p:nvSpPr>
          <p:cNvPr id="8" name="Rounded Rectangle 7"/>
          <p:cNvSpPr/>
          <p:nvPr/>
        </p:nvSpPr>
        <p:spPr>
          <a:xfrm>
            <a:off x="3268980" y="868680"/>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9" name="Rounded Rectangle 8"/>
          <p:cNvSpPr/>
          <p:nvPr/>
        </p:nvSpPr>
        <p:spPr>
          <a:xfrm>
            <a:off x="3406140" y="1005839"/>
            <a:ext cx="402336" cy="402336"/>
          </a:xfrm>
          <a:prstGeom prst="roundRect">
            <a:avLst>
              <a:gd name="adj" fmla="val 20000"/>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0" name="Picture 9" descr="Ícono Tune"/>
          <p:cNvPicPr>
            <a:picLocks noChangeAspect="1"/>
          </p:cNvPicPr>
          <p:nvPr/>
        </p:nvPicPr>
        <p:blipFill>
          <a:blip r:embed="rId4"/>
          <a:stretch>
            <a:fillRect/>
          </a:stretch>
        </p:blipFill>
        <p:spPr>
          <a:xfrm>
            <a:off x="3470148" y="1069848"/>
            <a:ext cx="274320" cy="274320"/>
          </a:xfrm>
          <a:prstGeom prst="rect">
            <a:avLst/>
          </a:prstGeom>
        </p:spPr>
      </p:pic>
      <p:sp>
        <p:nvSpPr>
          <p:cNvPr id="11" name="TextBox 10"/>
          <p:cNvSpPr txBox="1"/>
          <p:nvPr/>
        </p:nvSpPr>
        <p:spPr>
          <a:xfrm>
            <a:off x="3927348" y="1005839"/>
            <a:ext cx="1828800" cy="402336"/>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Todo apretado</a:t>
            </a:r>
          </a:p>
        </p:txBody>
      </p:sp>
      <p:sp>
        <p:nvSpPr>
          <p:cNvPr id="12" name="TextBox 11"/>
          <p:cNvSpPr txBox="1"/>
          <p:nvPr/>
        </p:nvSpPr>
        <p:spPr>
          <a:xfrm>
            <a:off x="3406140" y="1490472"/>
            <a:ext cx="2331720" cy="548640"/>
          </a:xfrm>
          <a:prstGeom prst="rect">
            <a:avLst/>
          </a:prstGeom>
          <a:noFill/>
        </p:spPr>
        <p:txBody>
          <a:bodyPr wrap="square" lIns="0" tIns="0" rIns="0" bIns="0" anchor="t">
            <a:noAutofit/>
          </a:bodyPr>
          <a:lstStyle/>
          <a:p>
            <a:pPr algn="l">
              <a:spcAft>
                <a:spcPts val="0"/>
              </a:spcAft>
            </a:pPr>
            <a:r>
              <a:rPr sz="1100" b="0" i="1">
                <a:solidFill>
                  <a:srgbClr val="1F2A30"/>
                </a:solidFill>
                <a:latin typeface="Swis721 Cn BT"/>
              </a:rPr>
              <a:t>«Dale más aire: más espacio y márgenes más amplios.»</a:t>
            </a:r>
          </a:p>
        </p:txBody>
      </p:sp>
      <p:sp>
        <p:nvSpPr>
          <p:cNvPr id="13" name="Rounded Rectangle 12"/>
          <p:cNvSpPr/>
          <p:nvPr/>
        </p:nvSpPr>
        <p:spPr>
          <a:xfrm>
            <a:off x="6035040" y="868680"/>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Rounded Rectangle 13"/>
          <p:cNvSpPr/>
          <p:nvPr/>
        </p:nvSpPr>
        <p:spPr>
          <a:xfrm>
            <a:off x="6172200" y="1005839"/>
            <a:ext cx="402336" cy="402336"/>
          </a:xfrm>
          <a:prstGeom prst="roundRect">
            <a:avLst>
              <a:gd name="adj" fmla="val 20000"/>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5" name="Picture 14" descr="Ícono TextFields"/>
          <p:cNvPicPr>
            <a:picLocks noChangeAspect="1"/>
          </p:cNvPicPr>
          <p:nvPr/>
        </p:nvPicPr>
        <p:blipFill>
          <a:blip r:embed="rId5"/>
          <a:stretch>
            <a:fillRect/>
          </a:stretch>
        </p:blipFill>
        <p:spPr>
          <a:xfrm>
            <a:off x="6236207" y="1069848"/>
            <a:ext cx="274320" cy="274320"/>
          </a:xfrm>
          <a:prstGeom prst="rect">
            <a:avLst/>
          </a:prstGeom>
        </p:spPr>
      </p:pic>
      <p:sp>
        <p:nvSpPr>
          <p:cNvPr id="16" name="TextBox 15"/>
          <p:cNvSpPr txBox="1"/>
          <p:nvPr/>
        </p:nvSpPr>
        <p:spPr>
          <a:xfrm>
            <a:off x="6693407" y="1005839"/>
            <a:ext cx="1828800" cy="402336"/>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Letra pequeña</a:t>
            </a:r>
          </a:p>
        </p:txBody>
      </p:sp>
      <p:sp>
        <p:nvSpPr>
          <p:cNvPr id="17" name="TextBox 16"/>
          <p:cNvSpPr txBox="1"/>
          <p:nvPr/>
        </p:nvSpPr>
        <p:spPr>
          <a:xfrm>
            <a:off x="6172200" y="1490472"/>
            <a:ext cx="2331720" cy="548640"/>
          </a:xfrm>
          <a:prstGeom prst="rect">
            <a:avLst/>
          </a:prstGeom>
          <a:noFill/>
        </p:spPr>
        <p:txBody>
          <a:bodyPr wrap="square" lIns="0" tIns="0" rIns="0" bIns="0" anchor="t">
            <a:noAutofit/>
          </a:bodyPr>
          <a:lstStyle/>
          <a:p>
            <a:pPr algn="l">
              <a:spcAft>
                <a:spcPts val="0"/>
              </a:spcAft>
            </a:pPr>
            <a:r>
              <a:rPr sz="1100" b="0" i="1">
                <a:solidFill>
                  <a:srgbClr val="1F2A30"/>
                </a:solidFill>
                <a:latin typeface="Swis721 Cn BT"/>
              </a:rPr>
              <a:t>«Sube la letra al mínimo de mi tarjeta y quita lo que no quepa.»</a:t>
            </a:r>
          </a:p>
        </p:txBody>
      </p:sp>
      <p:sp>
        <p:nvSpPr>
          <p:cNvPr id="18" name="Rounded Rectangle 17"/>
          <p:cNvSpPr/>
          <p:nvPr/>
        </p:nvSpPr>
        <p:spPr>
          <a:xfrm>
            <a:off x="502920" y="2167128"/>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9" name="Rounded Rectangle 18"/>
          <p:cNvSpPr/>
          <p:nvPr/>
        </p:nvSpPr>
        <p:spPr>
          <a:xfrm>
            <a:off x="640080" y="2304288"/>
            <a:ext cx="402336" cy="402336"/>
          </a:xfrm>
          <a:prstGeom prst="roundRect">
            <a:avLst>
              <a:gd name="adj" fmla="val 20000"/>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0" name="Picture 19" descr="Ícono Palette"/>
          <p:cNvPicPr>
            <a:picLocks noChangeAspect="1"/>
          </p:cNvPicPr>
          <p:nvPr/>
        </p:nvPicPr>
        <p:blipFill>
          <a:blip r:embed="rId6"/>
          <a:stretch>
            <a:fillRect/>
          </a:stretch>
        </p:blipFill>
        <p:spPr>
          <a:xfrm>
            <a:off x="704088" y="2368296"/>
            <a:ext cx="274320" cy="274320"/>
          </a:xfrm>
          <a:prstGeom prst="rect">
            <a:avLst/>
          </a:prstGeom>
        </p:spPr>
      </p:pic>
      <p:sp>
        <p:nvSpPr>
          <p:cNvPr id="21" name="TextBox 20"/>
          <p:cNvSpPr txBox="1"/>
          <p:nvPr/>
        </p:nvSpPr>
        <p:spPr>
          <a:xfrm>
            <a:off x="1161288" y="2304288"/>
            <a:ext cx="1828800" cy="402336"/>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Demasiados colores</a:t>
            </a:r>
          </a:p>
        </p:txBody>
      </p:sp>
      <p:sp>
        <p:nvSpPr>
          <p:cNvPr id="22" name="TextBox 21"/>
          <p:cNvSpPr txBox="1"/>
          <p:nvPr/>
        </p:nvSpPr>
        <p:spPr>
          <a:xfrm>
            <a:off x="640080" y="2788920"/>
            <a:ext cx="2331720" cy="548640"/>
          </a:xfrm>
          <a:prstGeom prst="rect">
            <a:avLst/>
          </a:prstGeom>
          <a:noFill/>
        </p:spPr>
        <p:txBody>
          <a:bodyPr wrap="square" lIns="0" tIns="0" rIns="0" bIns="0" anchor="t">
            <a:noAutofit/>
          </a:bodyPr>
          <a:lstStyle/>
          <a:p>
            <a:pPr algn="l">
              <a:spcAft>
                <a:spcPts val="0"/>
              </a:spcAft>
            </a:pPr>
            <a:r>
              <a:rPr sz="1100" b="0" i="1">
                <a:solidFill>
                  <a:srgbClr val="1F2A30"/>
                </a:solidFill>
                <a:latin typeface="Swis721 Cn BT"/>
              </a:rPr>
              <a:t>«Usa solo el color principal y un neutro.»</a:t>
            </a:r>
          </a:p>
        </p:txBody>
      </p:sp>
      <p:sp>
        <p:nvSpPr>
          <p:cNvPr id="23" name="Rounded Rectangle 22"/>
          <p:cNvSpPr/>
          <p:nvPr/>
        </p:nvSpPr>
        <p:spPr>
          <a:xfrm>
            <a:off x="3268980" y="2167128"/>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4" name="Rounded Rectangle 23"/>
          <p:cNvSpPr/>
          <p:nvPr/>
        </p:nvSpPr>
        <p:spPr>
          <a:xfrm>
            <a:off x="3406140" y="2304288"/>
            <a:ext cx="402336" cy="402336"/>
          </a:xfrm>
          <a:prstGeom prst="roundRect">
            <a:avLst>
              <a:gd name="adj" fmla="val 20000"/>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25" name="Picture 24" descr="Ícono Image"/>
          <p:cNvPicPr>
            <a:picLocks noChangeAspect="1"/>
          </p:cNvPicPr>
          <p:nvPr/>
        </p:nvPicPr>
        <p:blipFill>
          <a:blip r:embed="rId7"/>
          <a:stretch>
            <a:fillRect/>
          </a:stretch>
        </p:blipFill>
        <p:spPr>
          <a:xfrm>
            <a:off x="3470148" y="2368296"/>
            <a:ext cx="274320" cy="274320"/>
          </a:xfrm>
          <a:prstGeom prst="rect">
            <a:avLst/>
          </a:prstGeom>
        </p:spPr>
      </p:pic>
      <p:sp>
        <p:nvSpPr>
          <p:cNvPr id="26" name="TextBox 25"/>
          <p:cNvSpPr txBox="1"/>
          <p:nvPr/>
        </p:nvSpPr>
        <p:spPr>
          <a:xfrm>
            <a:off x="3927348" y="2304288"/>
            <a:ext cx="1828800" cy="402336"/>
          </a:xfrm>
          <a:prstGeom prst="rect">
            <a:avLst/>
          </a:prstGeom>
          <a:noFill/>
        </p:spPr>
        <p:txBody>
          <a:bodyPr wrap="square" lIns="0" tIns="0" rIns="0" bIns="0" anchor="ctr">
            <a:noAutofit/>
          </a:bodyPr>
          <a:lstStyle/>
          <a:p>
            <a:pPr algn="l">
              <a:spcAft>
                <a:spcPts val="0"/>
              </a:spcAft>
            </a:pPr>
            <a:r>
              <a:rPr sz="1300" b="1" i="0">
                <a:solidFill>
                  <a:srgbClr val="003C58"/>
                </a:solidFill>
                <a:latin typeface="Swis721 Cn BT"/>
              </a:rPr>
              <a:t>Texto sobre una foto</a:t>
            </a:r>
          </a:p>
        </p:txBody>
      </p:sp>
      <p:sp>
        <p:nvSpPr>
          <p:cNvPr id="27" name="TextBox 26"/>
          <p:cNvSpPr txBox="1"/>
          <p:nvPr/>
        </p:nvSpPr>
        <p:spPr>
          <a:xfrm>
            <a:off x="3406140" y="2788920"/>
            <a:ext cx="2331720" cy="548640"/>
          </a:xfrm>
          <a:prstGeom prst="rect">
            <a:avLst/>
          </a:prstGeom>
          <a:noFill/>
        </p:spPr>
        <p:txBody>
          <a:bodyPr wrap="square" lIns="0" tIns="0" rIns="0" bIns="0" anchor="t">
            <a:noAutofit/>
          </a:bodyPr>
          <a:lstStyle/>
          <a:p>
            <a:pPr algn="l">
              <a:spcAft>
                <a:spcPts val="0"/>
              </a:spcAft>
            </a:pPr>
            <a:r>
              <a:rPr sz="1100" b="0" i="1">
                <a:solidFill>
                  <a:srgbClr val="1F2A30"/>
                </a:solidFill>
                <a:latin typeface="Swis721 Cn BT"/>
              </a:rPr>
              <a:t>«Saca el texto de la foto; ponlo en un bloque de color al lado.»</a:t>
            </a:r>
          </a:p>
        </p:txBody>
      </p:sp>
      <p:sp>
        <p:nvSpPr>
          <p:cNvPr id="28" name="Rounded Rectangle 27"/>
          <p:cNvSpPr/>
          <p:nvPr/>
        </p:nvSpPr>
        <p:spPr>
          <a:xfrm>
            <a:off x="6035040" y="2167128"/>
            <a:ext cx="2606040" cy="11887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9" name="Rounded Rectangle 28"/>
          <p:cNvSpPr/>
          <p:nvPr/>
        </p:nvSpPr>
        <p:spPr>
          <a:xfrm>
            <a:off x="6172200" y="2304288"/>
            <a:ext cx="402336" cy="402336"/>
          </a:xfrm>
          <a:prstGeom prst="roundRect">
            <a:avLst>
              <a:gd name="adj" fmla="val 20000"/>
            </a:avLst>
          </a:prstGeom>
          <a:solidFill>
            <a:srgbClr val="BF21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30" name="Picture 29" descr="Ícono QuestionAnswer"/>
          <p:cNvPicPr>
            <a:picLocks noChangeAspect="1"/>
          </p:cNvPicPr>
          <p:nvPr/>
        </p:nvPicPr>
        <p:blipFill>
          <a:blip r:embed="rId8"/>
          <a:stretch>
            <a:fillRect/>
          </a:stretch>
        </p:blipFill>
        <p:spPr>
          <a:xfrm>
            <a:off x="6236207" y="2368296"/>
            <a:ext cx="274320" cy="274320"/>
          </a:xfrm>
          <a:prstGeom prst="rect">
            <a:avLst/>
          </a:prstGeom>
        </p:spPr>
      </p:pic>
      <p:sp>
        <p:nvSpPr>
          <p:cNvPr id="31" name="TextBox 30"/>
          <p:cNvSpPr txBox="1"/>
          <p:nvPr/>
        </p:nvSpPr>
        <p:spPr>
          <a:xfrm>
            <a:off x="6693407" y="2304288"/>
            <a:ext cx="1828800" cy="402336"/>
          </a:xfrm>
          <a:prstGeom prst="rect">
            <a:avLst/>
          </a:prstGeom>
          <a:noFill/>
        </p:spPr>
        <p:txBody>
          <a:bodyPr wrap="square" lIns="0" tIns="0" rIns="0" bIns="0" anchor="ctr">
            <a:noAutofit/>
          </a:bodyPr>
          <a:lstStyle/>
          <a:p>
            <a:pPr algn="l">
              <a:spcAft>
                <a:spcPts val="0"/>
              </a:spcAft>
            </a:pPr>
            <a:r>
              <a:rPr sz="1300" b="1" i="0">
                <a:solidFill>
                  <a:srgbClr val="BF210C"/>
                </a:solidFill>
                <a:latin typeface="Swis721 Cn BT"/>
              </a:rPr>
              <a:t>Un dato que no reconoces</a:t>
            </a:r>
          </a:p>
        </p:txBody>
      </p:sp>
      <p:sp>
        <p:nvSpPr>
          <p:cNvPr id="32" name="TextBox 31"/>
          <p:cNvSpPr txBox="1"/>
          <p:nvPr/>
        </p:nvSpPr>
        <p:spPr>
          <a:xfrm>
            <a:off x="6172200" y="2788920"/>
            <a:ext cx="2331720" cy="548640"/>
          </a:xfrm>
          <a:prstGeom prst="rect">
            <a:avLst/>
          </a:prstGeom>
          <a:noFill/>
        </p:spPr>
        <p:txBody>
          <a:bodyPr wrap="square" lIns="0" tIns="0" rIns="0" bIns="0" anchor="t">
            <a:noAutofit/>
          </a:bodyPr>
          <a:lstStyle/>
          <a:p>
            <a:pPr algn="l">
              <a:spcAft>
                <a:spcPts val="0"/>
              </a:spcAft>
            </a:pPr>
            <a:r>
              <a:rPr sz="1100" b="0" i="1">
                <a:solidFill>
                  <a:srgbClr val="1F2A30"/>
                </a:solidFill>
                <a:latin typeface="Swis721 Cn BT"/>
              </a:rPr>
              <a:t>«¿De dónde sale este dato? Si no está en lo que te di, quítalo.»</a:t>
            </a:r>
          </a:p>
        </p:txBody>
      </p:sp>
      <p:sp>
        <p:nvSpPr>
          <p:cNvPr id="33" name="Rounded Rectangle 32"/>
          <p:cNvSpPr/>
          <p:nvPr/>
        </p:nvSpPr>
        <p:spPr>
          <a:xfrm>
            <a:off x="502920" y="3520440"/>
            <a:ext cx="8138160" cy="54864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34" name="TextBox 33"/>
          <p:cNvSpPr txBox="1"/>
          <p:nvPr/>
        </p:nvSpPr>
        <p:spPr>
          <a:xfrm>
            <a:off x="731520" y="3557016"/>
            <a:ext cx="7726679" cy="475488"/>
          </a:xfrm>
          <a:prstGeom prst="rect">
            <a:avLst/>
          </a:prstGeom>
          <a:noFill/>
        </p:spPr>
        <p:txBody>
          <a:bodyPr wrap="square" lIns="0" tIns="0" rIns="0" bIns="0" anchor="ctr">
            <a:noAutofit/>
          </a:bodyPr>
          <a:lstStyle/>
          <a:p>
            <a:pPr algn="l">
              <a:spcAft>
                <a:spcPts val="0"/>
              </a:spcAft>
            </a:pPr>
            <a:r>
              <a:rPr sz="1400" b="0" i="0">
                <a:solidFill>
                  <a:srgbClr val="1F2A30"/>
                </a:solidFill>
                <a:latin typeface="Swis721 Cn BT"/>
              </a:rPr>
              <a:t>Un cambio a la vez: así sabes </a:t>
            </a:r>
            <a:r>
              <a:rPr sz="1400" b="1" i="0">
                <a:solidFill>
                  <a:srgbClr val="BF210C"/>
                </a:solidFill>
                <a:latin typeface="Swis721 Cn BT"/>
              </a:rPr>
              <a:t>qué mejoró</a:t>
            </a:r>
            <a:r>
              <a:rPr sz="1400" b="0" i="0">
                <a:solidFill>
                  <a:srgbClr val="1F2A30"/>
                </a:solidFill>
                <a:latin typeface="Swis721 Cn BT"/>
              </a:rPr>
              <a:t> (igual que en la Parte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Lista de revisión antes de imprimir o publicar</a:t>
            </a:r>
          </a:p>
        </p:txBody>
      </p:sp>
      <p:sp>
        <p:nvSpPr>
          <p:cNvPr id="4" name="Text Placeholder 3"/>
          <p:cNvSpPr>
            <a:spLocks noGrp="1"/>
          </p:cNvSpPr>
          <p:nvPr>
            <p:ph type="body" sz="quarter" idx="11"/>
          </p:nvPr>
        </p:nvSpPr>
        <p:spPr>
          <a:xfrm>
            <a:off x="1618488" y="4480560"/>
            <a:ext cx="4983480" cy="457200"/>
          </a:xfrm>
        </p:spPr>
        <p:txBody>
          <a:bodyPr/>
          <a:lstStyle/>
          <a:p>
            <a:pPr algn="l">
              <a:spcAft>
                <a:spcPts val="0"/>
              </a:spcAft>
            </a:pPr>
            <a:r>
              <a:rPr sz="900" b="0" i="0">
                <a:solidFill>
                  <a:srgbClr val="003C58"/>
                </a:solidFill>
                <a:latin typeface="Swis721 Cn BT"/>
              </a:rPr>
              <a:t>Fuentes: [7] W3C, 2023 · [9] Shoemaker et al., 2014</a:t>
            </a:r>
          </a:p>
        </p:txBody>
      </p:sp>
      <p:sp>
        <p:nvSpPr>
          <p:cNvPr id="5" name="Rounded Rectangle 4"/>
          <p:cNvSpPr/>
          <p:nvPr/>
        </p:nvSpPr>
        <p:spPr>
          <a:xfrm>
            <a:off x="502920" y="932688"/>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6" name="TextBox 5"/>
          <p:cNvSpPr txBox="1"/>
          <p:nvPr/>
        </p:nvSpPr>
        <p:spPr>
          <a:xfrm>
            <a:off x="941832" y="841248"/>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El logo es el original y va en el orden indicado</a:t>
            </a:r>
          </a:p>
        </p:txBody>
      </p:sp>
      <p:sp>
        <p:nvSpPr>
          <p:cNvPr id="7" name="Rounded Rectangle 6"/>
          <p:cNvSpPr/>
          <p:nvPr/>
        </p:nvSpPr>
        <p:spPr>
          <a:xfrm>
            <a:off x="502920" y="1444752"/>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8" name="TextBox 7"/>
          <p:cNvSpPr txBox="1"/>
          <p:nvPr/>
        </p:nvSpPr>
        <p:spPr>
          <a:xfrm>
            <a:off x="941832" y="1353312"/>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Nombres, teléfonos, correos y fechas revisados uno a uno</a:t>
            </a:r>
          </a:p>
        </p:txBody>
      </p:sp>
      <p:sp>
        <p:nvSpPr>
          <p:cNvPr id="9" name="Rounded Rectangle 8"/>
          <p:cNvSpPr/>
          <p:nvPr/>
        </p:nvSpPr>
        <p:spPr>
          <a:xfrm>
            <a:off x="502920" y="1956816"/>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TextBox 9"/>
          <p:cNvSpPr txBox="1"/>
          <p:nvPr/>
        </p:nvSpPr>
        <p:spPr>
          <a:xfrm>
            <a:off x="941832" y="1865376"/>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Se lee bien a la distancia de uso</a:t>
            </a:r>
          </a:p>
        </p:txBody>
      </p:sp>
      <p:sp>
        <p:nvSpPr>
          <p:cNvPr id="11" name="Rounded Rectangle 10"/>
          <p:cNvSpPr/>
          <p:nvPr/>
        </p:nvSpPr>
        <p:spPr>
          <a:xfrm>
            <a:off x="502920" y="2468880"/>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2" name="TextBox 11"/>
          <p:cNvSpPr txBox="1"/>
          <p:nvPr/>
        </p:nvSpPr>
        <p:spPr>
          <a:xfrm>
            <a:off x="941832" y="2377440"/>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El color no es la única forma de dar el mensaje</a:t>
            </a:r>
          </a:p>
        </p:txBody>
      </p:sp>
      <p:sp>
        <p:nvSpPr>
          <p:cNvPr id="13" name="Rounded Rectangle 12"/>
          <p:cNvSpPr/>
          <p:nvPr/>
        </p:nvSpPr>
        <p:spPr>
          <a:xfrm>
            <a:off x="502920" y="2980944"/>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TextBox 13"/>
          <p:cNvSpPr txBox="1"/>
          <p:nvPr/>
        </p:nvSpPr>
        <p:spPr>
          <a:xfrm>
            <a:off x="941832" y="2889504"/>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Fotos autorizadas, sin pacientes ni menores identificables</a:t>
            </a:r>
          </a:p>
        </p:txBody>
      </p:sp>
      <p:sp>
        <p:nvSpPr>
          <p:cNvPr id="15" name="Rounded Rectangle 14"/>
          <p:cNvSpPr/>
          <p:nvPr/>
        </p:nvSpPr>
        <p:spPr>
          <a:xfrm>
            <a:off x="4617720" y="932688"/>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6" name="TextBox 15"/>
          <p:cNvSpPr txBox="1"/>
          <p:nvPr/>
        </p:nvSpPr>
        <p:spPr>
          <a:xfrm>
            <a:off x="5056631" y="841248"/>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Una matrona validó el contenido clínico</a:t>
            </a:r>
          </a:p>
        </p:txBody>
      </p:sp>
      <p:sp>
        <p:nvSpPr>
          <p:cNvPr id="17" name="Rounded Rectangle 16"/>
          <p:cNvSpPr/>
          <p:nvPr/>
        </p:nvSpPr>
        <p:spPr>
          <a:xfrm>
            <a:off x="4617720" y="1444752"/>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8" name="TextBox 17"/>
          <p:cNvSpPr txBox="1"/>
          <p:nvPr/>
        </p:nvSpPr>
        <p:spPr>
          <a:xfrm>
            <a:off x="5056631" y="1353312"/>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Alguien del público lo leyó y lo entendió</a:t>
            </a:r>
          </a:p>
        </p:txBody>
      </p:sp>
      <p:sp>
        <p:nvSpPr>
          <p:cNvPr id="19" name="Rounded Rectangle 18"/>
          <p:cNvSpPr/>
          <p:nvPr/>
        </p:nvSpPr>
        <p:spPr>
          <a:xfrm>
            <a:off x="4617720" y="1956816"/>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0" name="TextBox 19"/>
          <p:cNvSpPr txBox="1"/>
          <p:nvPr/>
        </p:nvSpPr>
        <p:spPr>
          <a:xfrm>
            <a:off x="5056631" y="1865376"/>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Impresos: medida, 3 mm de sangrado, PDF y prueba de color</a:t>
            </a:r>
          </a:p>
        </p:txBody>
      </p:sp>
      <p:sp>
        <p:nvSpPr>
          <p:cNvPr id="21" name="Rounded Rectangle 20"/>
          <p:cNvSpPr/>
          <p:nvPr/>
        </p:nvSpPr>
        <p:spPr>
          <a:xfrm>
            <a:off x="4617720" y="2468880"/>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2" name="TextBox 21"/>
          <p:cNvSpPr txBox="1"/>
          <p:nvPr/>
        </p:nvSpPr>
        <p:spPr>
          <a:xfrm>
            <a:off x="5056631" y="2377440"/>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El código QR funciona en la prueba impresa</a:t>
            </a:r>
          </a:p>
        </p:txBody>
      </p:sp>
      <p:sp>
        <p:nvSpPr>
          <p:cNvPr id="23" name="Rounded Rectangle 22"/>
          <p:cNvSpPr/>
          <p:nvPr/>
        </p:nvSpPr>
        <p:spPr>
          <a:xfrm>
            <a:off x="4617720" y="2980944"/>
            <a:ext cx="292608" cy="292608"/>
          </a:xfrm>
          <a:prstGeom prst="roundRect">
            <a:avLst>
              <a:gd name="adj" fmla="val 16666"/>
            </a:avLst>
          </a:prstGeom>
          <a:solidFill>
            <a:srgbClr val="FFFFFF"/>
          </a:solidFill>
          <a:ln w="15875">
            <a:solidFill>
              <a:srgbClr val="003C5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4" name="TextBox 23"/>
          <p:cNvSpPr txBox="1"/>
          <p:nvPr/>
        </p:nvSpPr>
        <p:spPr>
          <a:xfrm>
            <a:off x="5056631" y="2889504"/>
            <a:ext cx="3566160" cy="475488"/>
          </a:xfrm>
          <a:prstGeom prst="rect">
            <a:avLst/>
          </a:prstGeom>
          <a:noFill/>
        </p:spPr>
        <p:txBody>
          <a:bodyPr wrap="square" lIns="0" tIns="0" rIns="0" bIns="0" anchor="ctr">
            <a:noAutofit/>
          </a:bodyPr>
          <a:lstStyle/>
          <a:p>
            <a:pPr algn="l">
              <a:spcAft>
                <a:spcPts val="0"/>
              </a:spcAft>
            </a:pPr>
            <a:r>
              <a:rPr sz="1250" b="0" i="0">
                <a:solidFill>
                  <a:srgbClr val="1F2A30"/>
                </a:solidFill>
                <a:latin typeface="Swis721 Cn BT"/>
              </a:rPr>
              <a:t>Redes: tamaño exacto y descripción de cada imagen</a:t>
            </a:r>
          </a:p>
        </p:txBody>
      </p:sp>
      <p:sp>
        <p:nvSpPr>
          <p:cNvPr id="25" name="Rounded Rectangle 24"/>
          <p:cNvSpPr/>
          <p:nvPr/>
        </p:nvSpPr>
        <p:spPr>
          <a:xfrm>
            <a:off x="502920" y="3566160"/>
            <a:ext cx="8138160" cy="50292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6" name="TextBox 25"/>
          <p:cNvSpPr txBox="1"/>
          <p:nvPr/>
        </p:nvSpPr>
        <p:spPr>
          <a:xfrm>
            <a:off x="731520" y="3602736"/>
            <a:ext cx="7726679" cy="429768"/>
          </a:xfrm>
          <a:prstGeom prst="rect">
            <a:avLst/>
          </a:prstGeom>
          <a:noFill/>
        </p:spPr>
        <p:txBody>
          <a:bodyPr wrap="square" lIns="0" tIns="0" rIns="0" bIns="0" anchor="ctr">
            <a:noAutofit/>
          </a:bodyPr>
          <a:lstStyle/>
          <a:p>
            <a:pPr algn="l">
              <a:spcAft>
                <a:spcPts val="0"/>
              </a:spcAft>
            </a:pPr>
            <a:r>
              <a:rPr sz="1400" b="0" i="0">
                <a:solidFill>
                  <a:srgbClr val="1F2A30"/>
                </a:solidFill>
                <a:latin typeface="Swis721 Cn BT"/>
              </a:rPr>
              <a:t>Si una casilla queda vacía, el material </a:t>
            </a:r>
            <a:r>
              <a:rPr sz="1400" b="1" i="0">
                <a:solidFill>
                  <a:srgbClr val="BF210C"/>
                </a:solidFill>
                <a:latin typeface="Swis721 Cn BT"/>
              </a:rPr>
              <a:t>sigue siendo un borrador</a:t>
            </a:r>
            <a:r>
              <a:rPr sz="1400" b="0" i="0">
                <a:solidFill>
                  <a:srgbClr val="1F2A30"/>
                </a:solidFill>
                <a:latin typeface="Swis721 Cn BT"/>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Semáforo de diseño seguro</a:t>
            </a:r>
          </a:p>
        </p:txBody>
      </p:sp>
      <p:sp>
        <p:nvSpPr>
          <p:cNvPr id="3" name="Rounded Rectangle 2"/>
          <p:cNvSpPr/>
          <p:nvPr/>
        </p:nvSpPr>
        <p:spPr>
          <a:xfrm>
            <a:off x="502920" y="868680"/>
            <a:ext cx="2606040" cy="3200400"/>
          </a:xfrm>
          <a:prstGeom prst="roundRect">
            <a:avLst>
              <a:gd name="adj" fmla="val 13333"/>
            </a:avLst>
          </a:prstGeom>
          <a:solidFill>
            <a:srgbClr val="E3F1E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Rounded Rectangle 3"/>
          <p:cNvSpPr/>
          <p:nvPr/>
        </p:nvSpPr>
        <p:spPr>
          <a:xfrm>
            <a:off x="502920" y="868680"/>
            <a:ext cx="2606040" cy="640080"/>
          </a:xfrm>
          <a:prstGeom prst="roundRect">
            <a:avLst>
              <a:gd name="adj" fmla="val 13333"/>
            </a:avLst>
          </a:prstGeom>
          <a:solidFill>
            <a:srgbClr val="3A7D4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5" name="Picture 4" descr="Ícono CheckCircle"/>
          <p:cNvPicPr>
            <a:picLocks noChangeAspect="1"/>
          </p:cNvPicPr>
          <p:nvPr/>
        </p:nvPicPr>
        <p:blipFill>
          <a:blip r:embed="rId3"/>
          <a:stretch>
            <a:fillRect/>
          </a:stretch>
        </p:blipFill>
        <p:spPr>
          <a:xfrm>
            <a:off x="658368" y="996696"/>
            <a:ext cx="384048" cy="384048"/>
          </a:xfrm>
          <a:prstGeom prst="rect">
            <a:avLst/>
          </a:prstGeom>
        </p:spPr>
      </p:pic>
      <p:sp>
        <p:nvSpPr>
          <p:cNvPr id="6" name="TextBox 5"/>
          <p:cNvSpPr txBox="1"/>
          <p:nvPr/>
        </p:nvSpPr>
        <p:spPr>
          <a:xfrm>
            <a:off x="1143000" y="914400"/>
            <a:ext cx="1874519" cy="548640"/>
          </a:xfrm>
          <a:prstGeom prst="rect">
            <a:avLst/>
          </a:prstGeom>
          <a:noFill/>
        </p:spPr>
        <p:txBody>
          <a:bodyPr wrap="square" lIns="0" tIns="0" rIns="0" bIns="0" anchor="ctr">
            <a:noAutofit/>
          </a:bodyPr>
          <a:lstStyle/>
          <a:p>
            <a:pPr algn="l">
              <a:spcAft>
                <a:spcPts val="0"/>
              </a:spcAft>
            </a:pPr>
            <a:r>
              <a:rPr sz="1350" b="1" i="0">
                <a:solidFill>
                  <a:srgbClr val="FFFFFF"/>
                </a:solidFill>
                <a:latin typeface="Swis721 Cn BT"/>
              </a:rPr>
              <a:t>Adelante, con revisión</a:t>
            </a:r>
          </a:p>
        </p:txBody>
      </p:sp>
      <p:sp>
        <p:nvSpPr>
          <p:cNvPr id="7" name="TextBox 6"/>
          <p:cNvSpPr txBox="1"/>
          <p:nvPr/>
        </p:nvSpPr>
        <p:spPr>
          <a:xfrm>
            <a:off x="685800" y="1673352"/>
            <a:ext cx="2286000" cy="2331720"/>
          </a:xfrm>
          <a:prstGeom prst="rect">
            <a:avLst/>
          </a:prstGeom>
          <a:noFill/>
        </p:spPr>
        <p:txBody>
          <a:bodyPr wrap="square" lIns="0" tIns="0" rIns="0" bIns="0" anchor="t">
            <a:noAutofit/>
          </a:bodyPr>
          <a:lstStyle/>
          <a:p>
            <a:pPr marL="155448" indent="-155448" algn="l">
              <a:spcAft>
                <a:spcPts val="600"/>
              </a:spcAft>
              <a:buClr>
                <a:srgbClr val="3A7D44"/>
              </a:buClr>
              <a:buFont typeface="Arial"/>
              <a:buChar char="•"/>
            </a:pPr>
            <a:r>
              <a:rPr sz="1200" b="0" i="0">
                <a:solidFill>
                  <a:srgbClr val="1F2A30"/>
                </a:solidFill>
                <a:latin typeface="Swis721 Cn BT"/>
              </a:rPr>
              <a:t>Proponer paletas y letras</a:t>
            </a:r>
          </a:p>
          <a:p>
            <a:pPr marL="155448" indent="-155448" algn="l">
              <a:spcAft>
                <a:spcPts val="600"/>
              </a:spcAft>
              <a:buClr>
                <a:srgbClr val="3A7D44"/>
              </a:buClr>
              <a:buFont typeface="Arial"/>
              <a:buChar char="•"/>
            </a:pPr>
            <a:r>
              <a:rPr sz="1200" b="0" i="0">
                <a:solidFill>
                  <a:srgbClr val="1F2A30"/>
                </a:solidFill>
                <a:latin typeface="Swis721 Cn BT"/>
              </a:rPr>
              <a:t>Borradores de folletos, afiches y láminas</a:t>
            </a:r>
          </a:p>
          <a:p>
            <a:pPr marL="155448" indent="-155448" algn="l">
              <a:spcAft>
                <a:spcPts val="600"/>
              </a:spcAft>
              <a:buClr>
                <a:srgbClr val="3A7D44"/>
              </a:buClr>
              <a:buFont typeface="Arial"/>
              <a:buChar char="•"/>
            </a:pPr>
            <a:r>
              <a:rPr sz="1200" b="0" i="0">
                <a:solidFill>
                  <a:srgbClr val="1F2A30"/>
                </a:solidFill>
                <a:latin typeface="Swis721 Cn BT"/>
              </a:rPr>
              <a:t>Adaptar textos a lenguaje claro</a:t>
            </a:r>
          </a:p>
          <a:p>
            <a:pPr marL="155448" indent="-155448" algn="l">
              <a:spcAft>
                <a:spcPts val="600"/>
              </a:spcAft>
              <a:buClr>
                <a:srgbClr val="3A7D44"/>
              </a:buClr>
              <a:buFont typeface="Arial"/>
              <a:buChar char="•"/>
            </a:pPr>
            <a:r>
              <a:rPr sz="1200" b="0" i="0">
                <a:solidFill>
                  <a:srgbClr val="1F2A30"/>
                </a:solidFill>
                <a:latin typeface="Swis721 Cn BT"/>
              </a:rPr>
              <a:t>Ideas de composición</a:t>
            </a:r>
          </a:p>
        </p:txBody>
      </p:sp>
      <p:sp>
        <p:nvSpPr>
          <p:cNvPr id="8" name="Rounded Rectangle 7"/>
          <p:cNvSpPr/>
          <p:nvPr/>
        </p:nvSpPr>
        <p:spPr>
          <a:xfrm>
            <a:off x="3273552" y="868680"/>
            <a:ext cx="2606040" cy="320040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9" name="Rounded Rectangle 8"/>
          <p:cNvSpPr/>
          <p:nvPr/>
        </p:nvSpPr>
        <p:spPr>
          <a:xfrm>
            <a:off x="3273552" y="868680"/>
            <a:ext cx="2606040" cy="640080"/>
          </a:xfrm>
          <a:prstGeom prst="roundRect">
            <a:avLst>
              <a:gd name="adj" fmla="val 13333"/>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0" name="Picture 9" descr="Ícono Warning"/>
          <p:cNvPicPr>
            <a:picLocks noChangeAspect="1"/>
          </p:cNvPicPr>
          <p:nvPr/>
        </p:nvPicPr>
        <p:blipFill>
          <a:blip r:embed="rId4"/>
          <a:stretch>
            <a:fillRect/>
          </a:stretch>
        </p:blipFill>
        <p:spPr>
          <a:xfrm>
            <a:off x="3429000" y="996696"/>
            <a:ext cx="384048" cy="384048"/>
          </a:xfrm>
          <a:prstGeom prst="rect">
            <a:avLst/>
          </a:prstGeom>
        </p:spPr>
      </p:pic>
      <p:sp>
        <p:nvSpPr>
          <p:cNvPr id="11" name="TextBox 10"/>
          <p:cNvSpPr txBox="1"/>
          <p:nvPr/>
        </p:nvSpPr>
        <p:spPr>
          <a:xfrm>
            <a:off x="3913632" y="914400"/>
            <a:ext cx="1874519" cy="548640"/>
          </a:xfrm>
          <a:prstGeom prst="rect">
            <a:avLst/>
          </a:prstGeom>
          <a:noFill/>
        </p:spPr>
        <p:txBody>
          <a:bodyPr wrap="square" lIns="0" tIns="0" rIns="0" bIns="0" anchor="ctr">
            <a:noAutofit/>
          </a:bodyPr>
          <a:lstStyle/>
          <a:p>
            <a:pPr algn="l">
              <a:spcAft>
                <a:spcPts val="0"/>
              </a:spcAft>
            </a:pPr>
            <a:r>
              <a:rPr sz="1350" b="1" i="0">
                <a:solidFill>
                  <a:srgbClr val="1F2A30"/>
                </a:solidFill>
                <a:latin typeface="Swis721 Cn BT"/>
              </a:rPr>
              <a:t>Solo con autorización o validación</a:t>
            </a:r>
          </a:p>
        </p:txBody>
      </p:sp>
      <p:sp>
        <p:nvSpPr>
          <p:cNvPr id="12" name="TextBox 11"/>
          <p:cNvSpPr txBox="1"/>
          <p:nvPr/>
        </p:nvSpPr>
        <p:spPr>
          <a:xfrm>
            <a:off x="3456432" y="1673352"/>
            <a:ext cx="2286000" cy="2331720"/>
          </a:xfrm>
          <a:prstGeom prst="rect">
            <a:avLst/>
          </a:prstGeom>
          <a:noFill/>
        </p:spPr>
        <p:txBody>
          <a:bodyPr wrap="square" lIns="0" tIns="0" rIns="0" bIns="0" anchor="t">
            <a:noAutofit/>
          </a:bodyPr>
          <a:lstStyle/>
          <a:p>
            <a:pPr marL="155448" indent="-155448" algn="l">
              <a:spcAft>
                <a:spcPts val="600"/>
              </a:spcAft>
              <a:buClr>
                <a:srgbClr val="003C58"/>
              </a:buClr>
              <a:buFont typeface="Arial"/>
              <a:buChar char="•"/>
            </a:pPr>
            <a:r>
              <a:rPr sz="1200" b="0" i="0">
                <a:solidFill>
                  <a:srgbClr val="1F2A30"/>
                </a:solidFill>
                <a:latin typeface="Swis721 Cn BT"/>
              </a:rPr>
              <a:t>Logos institucionales</a:t>
            </a:r>
          </a:p>
          <a:p>
            <a:pPr marL="155448" indent="-155448" algn="l">
              <a:spcAft>
                <a:spcPts val="600"/>
              </a:spcAft>
              <a:buClr>
                <a:srgbClr val="003C58"/>
              </a:buClr>
              <a:buFont typeface="Arial"/>
              <a:buChar char="•"/>
            </a:pPr>
            <a:r>
              <a:rPr sz="1200" b="0" i="0">
                <a:solidFill>
                  <a:srgbClr val="1F2A30"/>
                </a:solidFill>
                <a:latin typeface="Swis721 Cn BT"/>
              </a:rPr>
              <a:t>Fotos de personas</a:t>
            </a:r>
          </a:p>
          <a:p>
            <a:pPr marL="155448" indent="-155448" algn="l">
              <a:spcAft>
                <a:spcPts val="600"/>
              </a:spcAft>
              <a:buClr>
                <a:srgbClr val="003C58"/>
              </a:buClr>
              <a:buFont typeface="Arial"/>
              <a:buChar char="•"/>
            </a:pPr>
            <a:r>
              <a:rPr sz="1200" b="0" i="0">
                <a:solidFill>
                  <a:srgbClr val="1F2A30"/>
                </a:solidFill>
                <a:latin typeface="Swis721 Cn BT"/>
              </a:rPr>
              <a:t>Contenido clínico</a:t>
            </a:r>
          </a:p>
          <a:p>
            <a:pPr marL="155448" indent="-155448" algn="l">
              <a:spcAft>
                <a:spcPts val="600"/>
              </a:spcAft>
              <a:buClr>
                <a:srgbClr val="003C58"/>
              </a:buClr>
              <a:buFont typeface="Arial"/>
              <a:buChar char="•"/>
            </a:pPr>
            <a:r>
              <a:rPr sz="1200" b="0" i="0">
                <a:solidFill>
                  <a:srgbClr val="1F2A30"/>
                </a:solidFill>
                <a:latin typeface="Swis721 Cn BT"/>
              </a:rPr>
              <a:t>Cifras y referencias</a:t>
            </a:r>
          </a:p>
        </p:txBody>
      </p:sp>
      <p:sp>
        <p:nvSpPr>
          <p:cNvPr id="13" name="Rounded Rectangle 12"/>
          <p:cNvSpPr/>
          <p:nvPr/>
        </p:nvSpPr>
        <p:spPr>
          <a:xfrm>
            <a:off x="6035040" y="868680"/>
            <a:ext cx="2606040" cy="3200400"/>
          </a:xfrm>
          <a:prstGeom prst="roundRect">
            <a:avLst>
              <a:gd name="adj" fmla="val 13333"/>
            </a:avLst>
          </a:prstGeom>
          <a:solidFill>
            <a:srgbClr val="F9E3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4" name="Rounded Rectangle 13"/>
          <p:cNvSpPr/>
          <p:nvPr/>
        </p:nvSpPr>
        <p:spPr>
          <a:xfrm>
            <a:off x="6035040" y="868680"/>
            <a:ext cx="2606040" cy="640080"/>
          </a:xfrm>
          <a:prstGeom prst="roundRect">
            <a:avLst>
              <a:gd name="adj" fmla="val 13333"/>
            </a:avLst>
          </a:prstGeom>
          <a:solidFill>
            <a:srgbClr val="BF21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5" name="Picture 14" descr="Ícono Block"/>
          <p:cNvPicPr>
            <a:picLocks noChangeAspect="1"/>
          </p:cNvPicPr>
          <p:nvPr/>
        </p:nvPicPr>
        <p:blipFill>
          <a:blip r:embed="rId5"/>
          <a:stretch>
            <a:fillRect/>
          </a:stretch>
        </p:blipFill>
        <p:spPr>
          <a:xfrm>
            <a:off x="6190488" y="996696"/>
            <a:ext cx="384048" cy="384048"/>
          </a:xfrm>
          <a:prstGeom prst="rect">
            <a:avLst/>
          </a:prstGeom>
        </p:spPr>
      </p:pic>
      <p:sp>
        <p:nvSpPr>
          <p:cNvPr id="16" name="TextBox 15"/>
          <p:cNvSpPr txBox="1"/>
          <p:nvPr/>
        </p:nvSpPr>
        <p:spPr>
          <a:xfrm>
            <a:off x="6675120" y="914400"/>
            <a:ext cx="1874519" cy="548640"/>
          </a:xfrm>
          <a:prstGeom prst="rect">
            <a:avLst/>
          </a:prstGeom>
          <a:noFill/>
        </p:spPr>
        <p:txBody>
          <a:bodyPr wrap="square" lIns="0" tIns="0" rIns="0" bIns="0" anchor="ctr">
            <a:noAutofit/>
          </a:bodyPr>
          <a:lstStyle/>
          <a:p>
            <a:pPr algn="l">
              <a:spcAft>
                <a:spcPts val="0"/>
              </a:spcAft>
            </a:pPr>
            <a:r>
              <a:rPr sz="1350" b="1" i="0">
                <a:solidFill>
                  <a:srgbClr val="FFFFFF"/>
                </a:solidFill>
                <a:latin typeface="Swis721 Cn BT"/>
              </a:rPr>
              <a:t>No hacer</a:t>
            </a:r>
          </a:p>
        </p:txBody>
      </p:sp>
      <p:sp>
        <p:nvSpPr>
          <p:cNvPr id="17" name="TextBox 16"/>
          <p:cNvSpPr txBox="1"/>
          <p:nvPr/>
        </p:nvSpPr>
        <p:spPr>
          <a:xfrm>
            <a:off x="6217920" y="1673352"/>
            <a:ext cx="2286000" cy="2331720"/>
          </a:xfrm>
          <a:prstGeom prst="rect">
            <a:avLst/>
          </a:prstGeom>
          <a:noFill/>
        </p:spPr>
        <p:txBody>
          <a:bodyPr wrap="square" lIns="0" tIns="0" rIns="0" bIns="0" anchor="t">
            <a:noAutofit/>
          </a:bodyPr>
          <a:lstStyle/>
          <a:p>
            <a:pPr marL="155448" indent="-155448" algn="l">
              <a:spcAft>
                <a:spcPts val="600"/>
              </a:spcAft>
              <a:buClr>
                <a:srgbClr val="BF210C"/>
              </a:buClr>
              <a:buFont typeface="Arial"/>
              <a:buChar char="•"/>
            </a:pPr>
            <a:r>
              <a:rPr sz="1200" b="0" i="0">
                <a:solidFill>
                  <a:srgbClr val="1F2A30"/>
                </a:solidFill>
                <a:latin typeface="Swis721 Cn BT"/>
              </a:rPr>
              <a:t>Redibujar o inventar logos institucionales</a:t>
            </a:r>
          </a:p>
          <a:p>
            <a:pPr marL="155448" indent="-155448" algn="l">
              <a:spcAft>
                <a:spcPts val="600"/>
              </a:spcAft>
              <a:buClr>
                <a:srgbClr val="BF210C"/>
              </a:buClr>
              <a:buFont typeface="Arial"/>
              <a:buChar char="•"/>
            </a:pPr>
            <a:r>
              <a:rPr sz="1200" b="0" i="0">
                <a:solidFill>
                  <a:srgbClr val="1F2A30"/>
                </a:solidFill>
                <a:latin typeface="Swis721 Cn BT"/>
              </a:rPr>
              <a:t>Fotos o datos de pacientes sin consentimiento</a:t>
            </a:r>
          </a:p>
          <a:p>
            <a:pPr marL="155448" indent="-155448" algn="l">
              <a:spcAft>
                <a:spcPts val="600"/>
              </a:spcAft>
              <a:buClr>
                <a:srgbClr val="BF210C"/>
              </a:buClr>
              <a:buFont typeface="Arial"/>
              <a:buChar char="•"/>
            </a:pPr>
            <a:r>
              <a:rPr sz="1200" b="0" i="0">
                <a:solidFill>
                  <a:srgbClr val="1F2A30"/>
                </a:solidFill>
                <a:latin typeface="Swis721 Cn BT"/>
              </a:rPr>
              <a:t>Menores identificables sin autorización</a:t>
            </a:r>
          </a:p>
          <a:p>
            <a:pPr marL="155448" indent="-155448" algn="l">
              <a:spcAft>
                <a:spcPts val="600"/>
              </a:spcAft>
              <a:buClr>
                <a:srgbClr val="BF210C"/>
              </a:buClr>
              <a:buFont typeface="Arial"/>
              <a:buChar char="•"/>
            </a:pPr>
            <a:r>
              <a:rPr sz="1200" b="0" i="0">
                <a:solidFill>
                  <a:srgbClr val="1F2A30"/>
                </a:solidFill>
                <a:latin typeface="Swis721 Cn BT"/>
              </a:rPr>
              <a:t>Copiar marcas o personajes ajenos</a:t>
            </a:r>
          </a:p>
          <a:p>
            <a:pPr marL="155448" indent="-155448" algn="l">
              <a:spcAft>
                <a:spcPts val="600"/>
              </a:spcAft>
              <a:buClr>
                <a:srgbClr val="BF210C"/>
              </a:buClr>
              <a:buFont typeface="Arial"/>
              <a:buChar char="•"/>
            </a:pPr>
            <a:r>
              <a:rPr sz="1200" b="0" i="0">
                <a:solidFill>
                  <a:srgbClr val="1F2A30"/>
                </a:solidFill>
                <a:latin typeface="Swis721 Cn BT"/>
              </a:rPr>
              <a:t>Publicar sin revisión humana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Descarga los materiales: escanea el código</a:t>
            </a:r>
          </a:p>
        </p:txBody>
      </p:sp>
      <p:sp>
        <p:nvSpPr>
          <p:cNvPr id="3" name="Rounded Rectangle 2"/>
          <p:cNvSpPr/>
          <p:nvPr/>
        </p:nvSpPr>
        <p:spPr>
          <a:xfrm>
            <a:off x="502920" y="841248"/>
            <a:ext cx="2743200" cy="3227832"/>
          </a:xfrm>
          <a:prstGeom prst="roundRect">
            <a:avLst>
              <a:gd name="adj" fmla="val 13333"/>
            </a:avLst>
          </a:prstGeom>
          <a:solidFill>
            <a:srgbClr val="FFFFFF"/>
          </a:solidFill>
          <a:ln w="15875">
            <a:solidFill>
              <a:srgbClr val="C9DAE3"/>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4" name="Picture 3" descr="Código QR hacia https://github.com/iCristian/jornada-alumni-2026"/>
          <p:cNvPicPr>
            <a:picLocks noChangeAspect="1"/>
          </p:cNvPicPr>
          <p:nvPr/>
        </p:nvPicPr>
        <p:blipFill>
          <a:blip r:embed="rId3"/>
          <a:stretch>
            <a:fillRect/>
          </a:stretch>
        </p:blipFill>
        <p:spPr>
          <a:xfrm>
            <a:off x="685800" y="932688"/>
            <a:ext cx="2377440" cy="2377440"/>
          </a:xfrm>
          <a:prstGeom prst="rect">
            <a:avLst/>
          </a:prstGeom>
        </p:spPr>
      </p:pic>
      <p:sp>
        <p:nvSpPr>
          <p:cNvPr id="5" name="TextBox 4"/>
          <p:cNvSpPr txBox="1"/>
          <p:nvPr/>
        </p:nvSpPr>
        <p:spPr>
          <a:xfrm>
            <a:off x="594360" y="3383280"/>
            <a:ext cx="2560320" cy="594360"/>
          </a:xfrm>
          <a:prstGeom prst="rect">
            <a:avLst/>
          </a:prstGeom>
          <a:noFill/>
        </p:spPr>
        <p:txBody>
          <a:bodyPr wrap="square" lIns="0" tIns="0" rIns="0" bIns="0" anchor="ctr">
            <a:noAutofit/>
          </a:bodyPr>
          <a:lstStyle/>
          <a:p>
            <a:pPr algn="ctr">
              <a:spcAft>
                <a:spcPts val="0"/>
              </a:spcAft>
            </a:pPr>
            <a:r>
              <a:rPr sz="1100" b="1" i="0">
                <a:solidFill>
                  <a:srgbClr val="003C58"/>
                </a:solidFill>
                <a:latin typeface="Swis721 Cn BT"/>
              </a:rPr>
              <a:t>github.com/iCristian/</a:t>
            </a:r>
          </a:p>
          <a:p>
            <a:pPr algn="ctr">
              <a:spcAft>
                <a:spcPts val="0"/>
              </a:spcAft>
            </a:pPr>
            <a:r>
              <a:rPr sz="1100" b="1" i="0">
                <a:solidFill>
                  <a:srgbClr val="003C58"/>
                </a:solidFill>
                <a:latin typeface="Swis721 Cn BT"/>
              </a:rPr>
              <a:t>jornada-alumni-2026</a:t>
            </a:r>
          </a:p>
        </p:txBody>
      </p:sp>
      <p:sp>
        <p:nvSpPr>
          <p:cNvPr id="6" name="TextBox 5"/>
          <p:cNvSpPr txBox="1"/>
          <p:nvPr/>
        </p:nvSpPr>
        <p:spPr>
          <a:xfrm>
            <a:off x="3566160" y="868680"/>
            <a:ext cx="5029200" cy="292608"/>
          </a:xfrm>
          <a:prstGeom prst="rect">
            <a:avLst/>
          </a:prstGeom>
          <a:noFill/>
        </p:spPr>
        <p:txBody>
          <a:bodyPr wrap="square" lIns="0" tIns="0" rIns="0" bIns="0" anchor="t">
            <a:noAutofit/>
          </a:bodyPr>
          <a:lstStyle/>
          <a:p>
            <a:pPr algn="l">
              <a:spcAft>
                <a:spcPts val="0"/>
              </a:spcAft>
            </a:pPr>
            <a:r>
              <a:rPr sz="1400" b="1" i="0">
                <a:solidFill>
                  <a:srgbClr val="003C58"/>
                </a:solidFill>
                <a:latin typeface="Swis721 Cn BT"/>
              </a:rPr>
              <a:t>Qué vas a encontrar</a:t>
            </a:r>
          </a:p>
        </p:txBody>
      </p:sp>
      <p:sp>
        <p:nvSpPr>
          <p:cNvPr id="7" name="Oval 6"/>
          <p:cNvSpPr/>
          <p:nvPr/>
        </p:nvSpPr>
        <p:spPr>
          <a:xfrm>
            <a:off x="3566160" y="1261872"/>
            <a:ext cx="420624" cy="420624"/>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8" name="Picture 7" descr="Ícono AutoStories"/>
          <p:cNvPicPr>
            <a:picLocks noChangeAspect="1"/>
          </p:cNvPicPr>
          <p:nvPr/>
        </p:nvPicPr>
        <p:blipFill>
          <a:blip r:embed="rId4"/>
          <a:stretch>
            <a:fillRect/>
          </a:stretch>
        </p:blipFill>
        <p:spPr>
          <a:xfrm>
            <a:off x="3654491" y="1350203"/>
            <a:ext cx="243961" cy="243961"/>
          </a:xfrm>
          <a:prstGeom prst="rect">
            <a:avLst/>
          </a:prstGeom>
        </p:spPr>
      </p:pic>
      <p:sp>
        <p:nvSpPr>
          <p:cNvPr id="9" name="TextBox 8"/>
          <p:cNvSpPr txBox="1"/>
          <p:nvPr/>
        </p:nvSpPr>
        <p:spPr>
          <a:xfrm>
            <a:off x="4114800" y="1225295"/>
            <a:ext cx="4480560" cy="493776"/>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Guía del prompt Mi Marca</a:t>
            </a:r>
          </a:p>
          <a:p>
            <a:pPr algn="l">
              <a:spcAft>
                <a:spcPts val="0"/>
              </a:spcAft>
            </a:pPr>
            <a:r>
              <a:rPr sz="1050" b="0" i="0">
                <a:solidFill>
                  <a:srgbClr val="5B6B73"/>
                </a:solidFill>
                <a:latin typeface="Swis721 Cn BT"/>
              </a:rPr>
              <a:t>Prompts listos, con botón para copiar</a:t>
            </a:r>
          </a:p>
        </p:txBody>
      </p:sp>
      <p:sp>
        <p:nvSpPr>
          <p:cNvPr id="10" name="Oval 9"/>
          <p:cNvSpPr/>
          <p:nvPr/>
        </p:nvSpPr>
        <p:spPr>
          <a:xfrm>
            <a:off x="3566160" y="1810512"/>
            <a:ext cx="420624" cy="420624"/>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1" name="Picture 10" descr="Ícono EditNote"/>
          <p:cNvPicPr>
            <a:picLocks noChangeAspect="1"/>
          </p:cNvPicPr>
          <p:nvPr/>
        </p:nvPicPr>
        <p:blipFill>
          <a:blip r:embed="rId5"/>
          <a:stretch>
            <a:fillRect/>
          </a:stretch>
        </p:blipFill>
        <p:spPr>
          <a:xfrm>
            <a:off x="3654491" y="1898843"/>
            <a:ext cx="243961" cy="243961"/>
          </a:xfrm>
          <a:prstGeom prst="rect">
            <a:avLst/>
          </a:prstGeom>
        </p:spPr>
      </p:pic>
      <p:sp>
        <p:nvSpPr>
          <p:cNvPr id="12" name="TextBox 11"/>
          <p:cNvSpPr txBox="1"/>
          <p:nvPr/>
        </p:nvSpPr>
        <p:spPr>
          <a:xfrm>
            <a:off x="4114800" y="1773936"/>
            <a:ext cx="4480560" cy="493776"/>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Ficha Mi Marca</a:t>
            </a:r>
          </a:p>
          <a:p>
            <a:pPr algn="l">
              <a:spcAft>
                <a:spcPts val="0"/>
              </a:spcAft>
            </a:pPr>
            <a:r>
              <a:rPr sz="1050" b="0" i="0">
                <a:solidFill>
                  <a:srgbClr val="5B6B73"/>
                </a:solidFill>
                <a:latin typeface="Swis721 Cn BT"/>
              </a:rPr>
              <a:t>Una hoja para completar a mano</a:t>
            </a:r>
          </a:p>
        </p:txBody>
      </p:sp>
      <p:sp>
        <p:nvSpPr>
          <p:cNvPr id="13" name="Oval 12"/>
          <p:cNvSpPr/>
          <p:nvPr/>
        </p:nvSpPr>
        <p:spPr>
          <a:xfrm>
            <a:off x="3566160" y="2359152"/>
            <a:ext cx="420624" cy="420624"/>
          </a:xfrm>
          <a:prstGeom prst="ellipse">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4" name="Picture 13" descr="Ícono Slideshow"/>
          <p:cNvPicPr>
            <a:picLocks noChangeAspect="1"/>
          </p:cNvPicPr>
          <p:nvPr/>
        </p:nvPicPr>
        <p:blipFill>
          <a:blip r:embed="rId6"/>
          <a:stretch>
            <a:fillRect/>
          </a:stretch>
        </p:blipFill>
        <p:spPr>
          <a:xfrm>
            <a:off x="3654491" y="2447483"/>
            <a:ext cx="243961" cy="243961"/>
          </a:xfrm>
          <a:prstGeom prst="rect">
            <a:avLst/>
          </a:prstGeom>
        </p:spPr>
      </p:pic>
      <p:sp>
        <p:nvSpPr>
          <p:cNvPr id="15" name="TextBox 14"/>
          <p:cNvSpPr txBox="1"/>
          <p:nvPr/>
        </p:nvSpPr>
        <p:spPr>
          <a:xfrm>
            <a:off x="4114800" y="2322576"/>
            <a:ext cx="4480560" cy="493776"/>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Esta presentación</a:t>
            </a:r>
          </a:p>
          <a:p>
            <a:pPr algn="l">
              <a:spcAft>
                <a:spcPts val="0"/>
              </a:spcAft>
            </a:pPr>
            <a:r>
              <a:rPr sz="1050" b="0" i="0">
                <a:solidFill>
                  <a:srgbClr val="5B6B73"/>
                </a:solidFill>
                <a:latin typeface="Swis721 Cn BT"/>
              </a:rPr>
              <a:t>En PowerPoint y PDF</a:t>
            </a:r>
          </a:p>
        </p:txBody>
      </p:sp>
      <p:sp>
        <p:nvSpPr>
          <p:cNvPr id="16" name="Oval 15"/>
          <p:cNvSpPr/>
          <p:nvPr/>
        </p:nvSpPr>
        <p:spPr>
          <a:xfrm>
            <a:off x="3566160" y="2907791"/>
            <a:ext cx="420624" cy="420624"/>
          </a:xfrm>
          <a:prstGeom prst="ellipse">
            <a:avLst/>
          </a:prstGeom>
          <a:solidFill>
            <a:srgbClr val="2F6E8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pic>
        <p:nvPicPr>
          <p:cNvPr id="17" name="Picture 16" descr="Ícono Tune"/>
          <p:cNvPicPr>
            <a:picLocks noChangeAspect="1"/>
          </p:cNvPicPr>
          <p:nvPr/>
        </p:nvPicPr>
        <p:blipFill>
          <a:blip r:embed="rId7"/>
          <a:stretch>
            <a:fillRect/>
          </a:stretch>
        </p:blipFill>
        <p:spPr>
          <a:xfrm>
            <a:off x="3654491" y="2996123"/>
            <a:ext cx="243961" cy="243961"/>
          </a:xfrm>
          <a:prstGeom prst="rect">
            <a:avLst/>
          </a:prstGeom>
        </p:spPr>
      </p:pic>
      <p:sp>
        <p:nvSpPr>
          <p:cNvPr id="18" name="TextBox 17"/>
          <p:cNvSpPr txBox="1"/>
          <p:nvPr/>
        </p:nvSpPr>
        <p:spPr>
          <a:xfrm>
            <a:off x="4114800" y="2871215"/>
            <a:ext cx="4480560" cy="493776"/>
          </a:xfrm>
          <a:prstGeom prst="rect">
            <a:avLst/>
          </a:prstGeom>
          <a:noFill/>
        </p:spPr>
        <p:txBody>
          <a:bodyPr wrap="square" lIns="0" tIns="0" rIns="0" bIns="0" anchor="ctr">
            <a:noAutofit/>
          </a:bodyPr>
          <a:lstStyle/>
          <a:p>
            <a:pPr algn="l">
              <a:spcAft>
                <a:spcPts val="0"/>
              </a:spcAft>
            </a:pPr>
            <a:r>
              <a:rPr sz="1250" b="1" i="0">
                <a:solidFill>
                  <a:srgbClr val="003C58"/>
                </a:solidFill>
                <a:latin typeface="Swis721 Cn BT"/>
              </a:rPr>
              <a:t>Versión avanzada</a:t>
            </a:r>
          </a:p>
          <a:p>
            <a:pPr algn="l">
              <a:spcAft>
                <a:spcPts val="0"/>
              </a:spcAft>
            </a:pPr>
            <a:r>
              <a:rPr sz="1050" b="0" i="0">
                <a:solidFill>
                  <a:srgbClr val="5B6B73"/>
                </a:solidFill>
                <a:latin typeface="Swis721 Cn BT"/>
              </a:rPr>
              <a:t>Para quien diseña o programa</a:t>
            </a:r>
          </a:p>
        </p:txBody>
      </p:sp>
      <p:sp>
        <p:nvSpPr>
          <p:cNvPr id="19" name="Rounded Rectangle 18"/>
          <p:cNvSpPr/>
          <p:nvPr/>
        </p:nvSpPr>
        <p:spPr>
          <a:xfrm>
            <a:off x="3566160" y="3520440"/>
            <a:ext cx="5074920" cy="548640"/>
          </a:xfrm>
          <a:prstGeom prst="roundRect">
            <a:avLst>
              <a:gd name="adj" fmla="val 13333"/>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20" name="TextBox 19"/>
          <p:cNvSpPr txBox="1"/>
          <p:nvPr/>
        </p:nvSpPr>
        <p:spPr>
          <a:xfrm>
            <a:off x="3749039" y="3557016"/>
            <a:ext cx="4754880" cy="475488"/>
          </a:xfrm>
          <a:prstGeom prst="rect">
            <a:avLst/>
          </a:prstGeom>
          <a:noFill/>
        </p:spPr>
        <p:txBody>
          <a:bodyPr wrap="square" lIns="0" tIns="0" rIns="0" bIns="0" anchor="ctr">
            <a:noAutofit/>
          </a:bodyPr>
          <a:lstStyle/>
          <a:p>
            <a:pPr algn="l">
              <a:spcAft>
                <a:spcPts val="0"/>
              </a:spcAft>
            </a:pPr>
            <a:r>
              <a:rPr sz="1300" b="1" i="0">
                <a:solidFill>
                  <a:srgbClr val="1F2A30"/>
                </a:solidFill>
                <a:latin typeface="Swis721 Cn BT"/>
              </a:rPr>
              <a:t>Sin cuenta: </a:t>
            </a:r>
            <a:r>
              <a:rPr sz="1300" b="0" i="0">
                <a:solidFill>
                  <a:srgbClr val="1F2A30"/>
                </a:solidFill>
                <a:latin typeface="Swis721 Cn BT"/>
              </a:rPr>
              <a:t>toca el archivo y luego el botón </a:t>
            </a:r>
            <a:r>
              <a:rPr sz="1300" b="1" i="0">
                <a:solidFill>
                  <a:srgbClr val="BF210C"/>
                </a:solidFill>
                <a:latin typeface="Swis721 Cn BT"/>
              </a:rPr>
              <a:t>descargar</a:t>
            </a:r>
            <a:r>
              <a:rPr sz="1300" b="0" i="0">
                <a:solidFill>
                  <a:srgbClr val="1F2A30"/>
                </a:solidFill>
                <a:latin typeface="Swis721 Cn BT"/>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Tres ideas para llevar</a:t>
            </a:r>
          </a:p>
        </p:txBody>
      </p:sp>
      <p:sp>
        <p:nvSpPr>
          <p:cNvPr id="3" name="Rounded Rectangle 2"/>
          <p:cNvSpPr/>
          <p:nvPr/>
        </p:nvSpPr>
        <p:spPr>
          <a:xfrm>
            <a:off x="502920" y="868680"/>
            <a:ext cx="8138160" cy="9601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4" name="TextBox 3"/>
          <p:cNvSpPr txBox="1"/>
          <p:nvPr/>
        </p:nvSpPr>
        <p:spPr>
          <a:xfrm>
            <a:off x="731520" y="868680"/>
            <a:ext cx="914400" cy="960120"/>
          </a:xfrm>
          <a:prstGeom prst="rect">
            <a:avLst/>
          </a:prstGeom>
          <a:noFill/>
        </p:spPr>
        <p:txBody>
          <a:bodyPr wrap="square" lIns="0" tIns="0" rIns="0" bIns="0" anchor="ctr">
            <a:noAutofit/>
          </a:bodyPr>
          <a:lstStyle/>
          <a:p>
            <a:pPr algn="l">
              <a:spcAft>
                <a:spcPts val="0"/>
              </a:spcAft>
            </a:pPr>
            <a:r>
              <a:rPr sz="4400" b="1" i="0">
                <a:solidFill>
                  <a:srgbClr val="BF210C"/>
                </a:solidFill>
                <a:latin typeface="Swis721 Cn BT"/>
              </a:rPr>
              <a:t>1</a:t>
            </a:r>
          </a:p>
        </p:txBody>
      </p:sp>
      <p:sp>
        <p:nvSpPr>
          <p:cNvPr id="5" name="TextBox 4"/>
          <p:cNvSpPr txBox="1"/>
          <p:nvPr/>
        </p:nvSpPr>
        <p:spPr>
          <a:xfrm>
            <a:off x="1600200" y="868680"/>
            <a:ext cx="6858000" cy="960120"/>
          </a:xfrm>
          <a:prstGeom prst="rect">
            <a:avLst/>
          </a:prstGeom>
          <a:noFill/>
        </p:spPr>
        <p:txBody>
          <a:bodyPr wrap="square" lIns="0" tIns="0" rIns="0" bIns="0" anchor="ctr">
            <a:noAutofit/>
          </a:bodyPr>
          <a:lstStyle/>
          <a:p>
            <a:pPr algn="l">
              <a:spcAft>
                <a:spcPts val="0"/>
              </a:spcAft>
            </a:pPr>
            <a:r>
              <a:rPr sz="1900" b="0" i="0">
                <a:solidFill>
                  <a:srgbClr val="003C58"/>
                </a:solidFill>
                <a:latin typeface="Swis721 Cn BT"/>
              </a:rPr>
              <a:t>Tu marca es un sistema: </a:t>
            </a:r>
            <a:r>
              <a:rPr sz="1900" b="1" i="0">
                <a:solidFill>
                  <a:srgbClr val="BF210C"/>
                </a:solidFill>
                <a:latin typeface="Swis721 Cn BT"/>
              </a:rPr>
              <a:t>logo, colores, letras, tono y reglas</a:t>
            </a:r>
            <a:r>
              <a:rPr sz="1900" b="0" i="0">
                <a:solidFill>
                  <a:srgbClr val="003C58"/>
                </a:solidFill>
                <a:latin typeface="Swis721 Cn BT"/>
              </a:rPr>
              <a:t>.</a:t>
            </a:r>
          </a:p>
        </p:txBody>
      </p:sp>
      <p:sp>
        <p:nvSpPr>
          <p:cNvPr id="6" name="Rounded Rectangle 5"/>
          <p:cNvSpPr/>
          <p:nvPr/>
        </p:nvSpPr>
        <p:spPr>
          <a:xfrm>
            <a:off x="502920" y="1947672"/>
            <a:ext cx="8138160" cy="960120"/>
          </a:xfrm>
          <a:prstGeom prst="roundRect">
            <a:avLst>
              <a:gd name="adj" fmla="val 13333"/>
            </a:avLst>
          </a:prstGeom>
          <a:solidFill>
            <a:srgbClr val="003C5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7" name="TextBox 6"/>
          <p:cNvSpPr txBox="1"/>
          <p:nvPr/>
        </p:nvSpPr>
        <p:spPr>
          <a:xfrm>
            <a:off x="731520" y="1947672"/>
            <a:ext cx="914400" cy="960120"/>
          </a:xfrm>
          <a:prstGeom prst="rect">
            <a:avLst/>
          </a:prstGeom>
          <a:noFill/>
        </p:spPr>
        <p:txBody>
          <a:bodyPr wrap="square" lIns="0" tIns="0" rIns="0" bIns="0" anchor="ctr">
            <a:noAutofit/>
          </a:bodyPr>
          <a:lstStyle/>
          <a:p>
            <a:pPr algn="l">
              <a:spcAft>
                <a:spcPts val="0"/>
              </a:spcAft>
            </a:pPr>
            <a:r>
              <a:rPr sz="4400" b="1" i="0" dirty="0">
                <a:solidFill>
                  <a:schemeClr val="bg1"/>
                </a:solidFill>
                <a:latin typeface="Swis721 Cn BT"/>
              </a:rPr>
              <a:t>2</a:t>
            </a:r>
          </a:p>
        </p:txBody>
      </p:sp>
      <p:sp>
        <p:nvSpPr>
          <p:cNvPr id="8" name="TextBox 7"/>
          <p:cNvSpPr txBox="1"/>
          <p:nvPr/>
        </p:nvSpPr>
        <p:spPr>
          <a:xfrm>
            <a:off x="1600200" y="1947672"/>
            <a:ext cx="6858000" cy="960120"/>
          </a:xfrm>
          <a:prstGeom prst="rect">
            <a:avLst/>
          </a:prstGeom>
          <a:noFill/>
        </p:spPr>
        <p:txBody>
          <a:bodyPr wrap="square" lIns="0" tIns="0" rIns="0" bIns="0" anchor="ctr">
            <a:noAutofit/>
          </a:bodyPr>
          <a:lstStyle/>
          <a:p>
            <a:pPr algn="l">
              <a:spcAft>
                <a:spcPts val="0"/>
              </a:spcAft>
            </a:pPr>
            <a:r>
              <a:rPr sz="1900" b="1" i="0">
                <a:solidFill>
                  <a:srgbClr val="FFFFFF"/>
                </a:solidFill>
                <a:latin typeface="Swis721 Cn BT"/>
              </a:rPr>
              <a:t>Crea tu tarjeta de marca una vez y úsala con cualquier IA.</a:t>
            </a:r>
          </a:p>
        </p:txBody>
      </p:sp>
      <p:sp>
        <p:nvSpPr>
          <p:cNvPr id="9" name="Rounded Rectangle 8"/>
          <p:cNvSpPr/>
          <p:nvPr/>
        </p:nvSpPr>
        <p:spPr>
          <a:xfrm>
            <a:off x="502920" y="3026663"/>
            <a:ext cx="8138160" cy="960120"/>
          </a:xfrm>
          <a:prstGeom prst="roundRect">
            <a:avLst>
              <a:gd name="adj" fmla="val 13333"/>
            </a:avLst>
          </a:prstGeom>
          <a:solidFill>
            <a:srgbClr val="E8F0F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endParaRPr/>
          </a:p>
        </p:txBody>
      </p:sp>
      <p:sp>
        <p:nvSpPr>
          <p:cNvPr id="10" name="TextBox 9"/>
          <p:cNvSpPr txBox="1"/>
          <p:nvPr/>
        </p:nvSpPr>
        <p:spPr>
          <a:xfrm>
            <a:off x="731520" y="3026663"/>
            <a:ext cx="914400" cy="960120"/>
          </a:xfrm>
          <a:prstGeom prst="rect">
            <a:avLst/>
          </a:prstGeom>
          <a:noFill/>
        </p:spPr>
        <p:txBody>
          <a:bodyPr wrap="square" lIns="0" tIns="0" rIns="0" bIns="0" anchor="ctr">
            <a:noAutofit/>
          </a:bodyPr>
          <a:lstStyle/>
          <a:p>
            <a:pPr algn="l">
              <a:spcAft>
                <a:spcPts val="0"/>
              </a:spcAft>
            </a:pPr>
            <a:r>
              <a:rPr sz="4400" b="1" i="0">
                <a:solidFill>
                  <a:srgbClr val="BF210C"/>
                </a:solidFill>
                <a:latin typeface="Swis721 Cn BT"/>
              </a:rPr>
              <a:t>3</a:t>
            </a:r>
          </a:p>
        </p:txBody>
      </p:sp>
      <p:sp>
        <p:nvSpPr>
          <p:cNvPr id="11" name="TextBox 10"/>
          <p:cNvSpPr txBox="1"/>
          <p:nvPr/>
        </p:nvSpPr>
        <p:spPr>
          <a:xfrm>
            <a:off x="1600200" y="3026663"/>
            <a:ext cx="6858000" cy="960120"/>
          </a:xfrm>
          <a:prstGeom prst="rect">
            <a:avLst/>
          </a:prstGeom>
          <a:noFill/>
        </p:spPr>
        <p:txBody>
          <a:bodyPr wrap="square" lIns="0" tIns="0" rIns="0" bIns="0" anchor="ctr">
            <a:noAutofit/>
          </a:bodyPr>
          <a:lstStyle/>
          <a:p>
            <a:pPr algn="l">
              <a:spcAft>
                <a:spcPts val="0"/>
              </a:spcAft>
            </a:pPr>
            <a:r>
              <a:rPr sz="1900" b="0" i="0">
                <a:solidFill>
                  <a:srgbClr val="003C58"/>
                </a:solidFill>
                <a:latin typeface="Swis721 Cn BT"/>
              </a:rPr>
              <a:t>Todo lo que diseña la IA es un borrador hasta que </a:t>
            </a:r>
            <a:r>
              <a:rPr sz="1900" b="1" i="0">
                <a:solidFill>
                  <a:srgbClr val="BF210C"/>
                </a:solidFill>
                <a:latin typeface="Swis721 Cn BT"/>
              </a:rPr>
              <a:t>tú lo revisas</a:t>
            </a:r>
            <a:r>
              <a:rPr sz="1900" b="0" i="0">
                <a:solidFill>
                  <a:srgbClr val="003C58"/>
                </a:solidFill>
                <a:latin typeface="Swis721 Cn BT"/>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Referencias (1 de 2)</a:t>
            </a:r>
          </a:p>
        </p:txBody>
      </p:sp>
      <p:sp>
        <p:nvSpPr>
          <p:cNvPr id="3" name="TextBox 2"/>
          <p:cNvSpPr txBox="1"/>
          <p:nvPr/>
        </p:nvSpPr>
        <p:spPr>
          <a:xfrm>
            <a:off x="502920" y="868680"/>
            <a:ext cx="8138160" cy="3200400"/>
          </a:xfrm>
          <a:prstGeom prst="rect">
            <a:avLst/>
          </a:prstGeom>
          <a:noFill/>
        </p:spPr>
        <p:txBody>
          <a:bodyPr wrap="square" lIns="0" tIns="0" rIns="0" bIns="0" anchor="t">
            <a:noAutofit/>
          </a:bodyPr>
          <a:lstStyle/>
          <a:p>
            <a:pPr algn="l">
              <a:spcAft>
                <a:spcPts val="800"/>
              </a:spcAft>
            </a:pPr>
            <a:r>
              <a:rPr sz="1100" b="0" i="0">
                <a:solidFill>
                  <a:srgbClr val="1F2A30"/>
                </a:solidFill>
                <a:latin typeface="Swis721 Cn BT"/>
              </a:rPr>
              <a:t>1. Meskó B. Prompt engineering as an important emerging skill for medical professionals: tutorial. J Med Internet Res. 2023;25:e50638. doi:10.2196/50638</a:t>
            </a:r>
          </a:p>
          <a:p>
            <a:pPr algn="l">
              <a:spcAft>
                <a:spcPts val="800"/>
              </a:spcAft>
            </a:pPr>
            <a:r>
              <a:rPr sz="1100" b="0" i="0">
                <a:solidFill>
                  <a:srgbClr val="1F2A30"/>
                </a:solidFill>
                <a:latin typeface="Swis721 Cn BT"/>
              </a:rPr>
              <a:t>2. Liu J, Liu F, Wang C, Liu S. Prompt engineering in clinical practice: tutorial for clinicians. J Med Internet Res. 2025;27:e72644. doi:10.2196/72644</a:t>
            </a:r>
          </a:p>
          <a:p>
            <a:pPr algn="l">
              <a:spcAft>
                <a:spcPts val="800"/>
              </a:spcAft>
            </a:pPr>
            <a:r>
              <a:rPr sz="1100" b="0" i="0">
                <a:solidFill>
                  <a:srgbClr val="1F2A30"/>
                </a:solidFill>
                <a:latin typeface="Swis721 Cn BT"/>
              </a:rPr>
              <a:t>3. Henderson PW, Cote JA. Guidelines for selecting or modifying logos. J Mark. 1998;62(2):14-30. doi:10.1177/002224299806200202</a:t>
            </a:r>
          </a:p>
          <a:p>
            <a:pPr algn="l">
              <a:spcAft>
                <a:spcPts val="800"/>
              </a:spcAft>
            </a:pPr>
            <a:r>
              <a:rPr sz="1100" b="0" i="0">
                <a:solidFill>
                  <a:srgbClr val="1F2A30"/>
                </a:solidFill>
                <a:latin typeface="Swis721 Cn BT"/>
              </a:rPr>
              <a:t>4. Labrecque LI, Milne GR. Exciting red and competent blue: the importance of color in marketing. J Acad Mark Sci. 2012;40(5):711-27. doi:10.1007/s11747-010-0245-y</a:t>
            </a:r>
          </a:p>
          <a:p>
            <a:pPr algn="l">
              <a:spcAft>
                <a:spcPts val="800"/>
              </a:spcAft>
            </a:pPr>
            <a:r>
              <a:rPr sz="1100" b="0" i="0">
                <a:solidFill>
                  <a:srgbClr val="1F2A30"/>
                </a:solidFill>
                <a:latin typeface="Swis721 Cn BT"/>
              </a:rPr>
              <a:t>5. Melewar TC, Foroudi P, Dinnie K, Nguyen B. The role of corporate identity management in the higher education sector: an exploratory case study. J Mark Commun. 2018;24(4):337-59. doi:10.1080/13527266.2017.1414073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Referencias (2 de 2)</a:t>
            </a:r>
          </a:p>
        </p:txBody>
      </p:sp>
      <p:sp>
        <p:nvSpPr>
          <p:cNvPr id="3" name="TextBox 2"/>
          <p:cNvSpPr txBox="1"/>
          <p:nvPr/>
        </p:nvSpPr>
        <p:spPr>
          <a:xfrm>
            <a:off x="502920" y="868680"/>
            <a:ext cx="8138160" cy="3200400"/>
          </a:xfrm>
          <a:prstGeom prst="rect">
            <a:avLst/>
          </a:prstGeom>
          <a:noFill/>
        </p:spPr>
        <p:txBody>
          <a:bodyPr wrap="square" lIns="0" tIns="0" rIns="0" bIns="0" anchor="t">
            <a:noAutofit/>
          </a:bodyPr>
          <a:lstStyle/>
          <a:p>
            <a:pPr algn="l">
              <a:spcAft>
                <a:spcPts val="800"/>
              </a:spcAft>
            </a:pPr>
            <a:r>
              <a:rPr sz="1100" b="0" i="0">
                <a:solidFill>
                  <a:srgbClr val="1F2A30"/>
                </a:solidFill>
                <a:latin typeface="Swis721 Cn BT"/>
              </a:rPr>
              <a:t>6. Birch J. Worldwide prevalence of red-green color deficiency. J Opt Soc Am A. 2012;29(3):313-20. doi:10.1364/JOSAA.29.000313</a:t>
            </a:r>
          </a:p>
          <a:p>
            <a:pPr algn="l">
              <a:spcAft>
                <a:spcPts val="800"/>
              </a:spcAft>
            </a:pPr>
            <a:r>
              <a:rPr sz="1100" b="0" i="0">
                <a:solidFill>
                  <a:srgbClr val="1F2A30"/>
                </a:solidFill>
                <a:latin typeface="Swis721 Cn BT"/>
              </a:rPr>
              <a:t>7. World Wide Web Consortium (W3C). Web Content Accessibility Guidelines (WCAG) 2.2. 2023. https://www.w3.org/TR/WCAG22/</a:t>
            </a:r>
          </a:p>
          <a:p>
            <a:pPr algn="l">
              <a:spcAft>
                <a:spcPts val="800"/>
              </a:spcAft>
            </a:pPr>
            <a:r>
              <a:rPr sz="1100" b="0" i="0">
                <a:solidFill>
                  <a:srgbClr val="1F2A30"/>
                </a:solidFill>
                <a:latin typeface="Swis721 Cn BT"/>
              </a:rPr>
              <a:t>8. Barrio-Cantalejo IM, Simón-Lorda P, Melguizo M, Escalona I, Marijuán MI, Hernando P. Validación de la Escala INFLESZ para evaluar la legibilidad de los textos dirigidos a pacientes. An Sist Sanit Navar. 2008;31(2):135-52. doi:10.4321/S1137-66272008000300004</a:t>
            </a:r>
          </a:p>
          <a:p>
            <a:pPr algn="l">
              <a:spcAft>
                <a:spcPts val="800"/>
              </a:spcAft>
            </a:pPr>
            <a:r>
              <a:rPr sz="1100" b="0" i="0">
                <a:solidFill>
                  <a:srgbClr val="1F2A30"/>
                </a:solidFill>
                <a:latin typeface="Swis721 Cn BT"/>
              </a:rPr>
              <a:t>9. Shoemaker SJ, Wolf MS, Brach C. Development of the Patient Education Materials Assessment Tool (PEMAT): a new measure of understandability and actionability for print and audiovisual patient information. Patient Educ Couns. 2014;96(3):395-403. doi:10.1016/j.pec.2014.05.027</a:t>
            </a:r>
          </a:p>
          <a:p>
            <a:pPr algn="l">
              <a:spcAft>
                <a:spcPts val="800"/>
              </a:spcAft>
            </a:pPr>
            <a:r>
              <a:rPr sz="1100" b="0" i="0">
                <a:solidFill>
                  <a:srgbClr val="1F2A30"/>
                </a:solidFill>
                <a:latin typeface="Swis721 Cn BT"/>
              </a:rPr>
              <a:t>10. Mayer RE. Multimedia learning. 3rd ed. Cambridge: Cambridge University Press; 2021. doi:10.1017/9781316941355</a:t>
            </a:r>
          </a:p>
        </p:txBody>
      </p:sp>
    </p:spTree>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9f852db-6116-43f0-a01a-f747f551a9b7" xsi:nil="true"/>
    <lcf76f155ced4ddcb4097134ff3c332f xmlns="58e3b983-b9c9-4a9a-8434-0fe099e73c0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6319FEBDE55BBC4C9423A487D4FB469E" ma:contentTypeVersion="17" ma:contentTypeDescription="Crear nuevo documento." ma:contentTypeScope="" ma:versionID="a5e4daa5fc68ecd23cbab21b5f616142">
  <xsd:schema xmlns:xsd="http://www.w3.org/2001/XMLSchema" xmlns:xs="http://www.w3.org/2001/XMLSchema" xmlns:p="http://schemas.microsoft.com/office/2006/metadata/properties" xmlns:ns2="58e3b983-b9c9-4a9a-8434-0fe099e73c0e" xmlns:ns3="39f852db-6116-43f0-a01a-f747f551a9b7" targetNamespace="http://schemas.microsoft.com/office/2006/metadata/properties" ma:root="true" ma:fieldsID="50fd15d83f0830bfa0f4239ae3043ea0" ns2:_="" ns3:_="">
    <xsd:import namespace="58e3b983-b9c9-4a9a-8434-0fe099e73c0e"/>
    <xsd:import namespace="39f852db-6116-43f0-a01a-f747f551a9b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e3b983-b9c9-4a9a-8434-0fe099e73c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Etiquetas de imagen" ma:readOnly="false" ma:fieldId="{5cf76f15-5ced-4ddc-b409-7134ff3c332f}" ma:taxonomyMulti="true" ma:sspId="705287f6-a0ce-4ec6-a30b-593201b7cd1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f852db-6116-43f0-a01a-f747f551a9b7" elementFormDefault="qualified">
    <xsd:import namespace="http://schemas.microsoft.com/office/2006/documentManagement/types"/>
    <xsd:import namespace="http://schemas.microsoft.com/office/infopath/2007/PartnerControls"/>
    <xsd:element name="SharedWithUsers" ma:index="14"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Detalles de uso compartido" ma:internalName="SharedWithDetails" ma:readOnly="true">
      <xsd:simpleType>
        <xsd:restriction base="dms:Note">
          <xsd:maxLength value="255"/>
        </xsd:restriction>
      </xsd:simpleType>
    </xsd:element>
    <xsd:element name="TaxCatchAll" ma:index="18" nillable="true" ma:displayName="Taxonomy Catch All Column" ma:hidden="true" ma:list="{5877390e-fadc-49c0-bebe-b891182a55b4}" ma:internalName="TaxCatchAll" ma:showField="CatchAllData" ma:web="39f852db-6116-43f0-a01a-f747f551a9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64ECA2-A753-4D45-B299-F9626E461873}">
  <ds:schemaRefs>
    <ds:schemaRef ds:uri="58e3b983-b9c9-4a9a-8434-0fe099e73c0e"/>
    <ds:schemaRef ds:uri="http://purl.org/dc/elements/1.1/"/>
    <ds:schemaRef ds:uri="http://purl.org/dc/terms/"/>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39f852db-6116-43f0-a01a-f747f551a9b7"/>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B6FF4F38-7A2A-471E-A58C-16BD05A1D01B}">
  <ds:schemaRefs>
    <ds:schemaRef ds:uri="http://schemas.microsoft.com/sharepoint/v3/contenttype/forms"/>
  </ds:schemaRefs>
</ds:datastoreItem>
</file>

<file path=customXml/itemProps3.xml><?xml version="1.0" encoding="utf-8"?>
<ds:datastoreItem xmlns:ds="http://schemas.openxmlformats.org/officeDocument/2006/customXml" ds:itemID="{BD3E1CB7-CB00-4B00-AA07-6BE50C641F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e3b983-b9c9-4a9a-8434-0fe099e73c0e"/>
    <ds:schemaRef ds:uri="39f852db-6116-43f0-a01a-f747f551a9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441</TotalTime>
  <Words>4483</Words>
  <Application>Microsoft Macintosh PowerPoint</Application>
  <PresentationFormat>Presentación en pantalla (16:9)</PresentationFormat>
  <Paragraphs>470</Paragraphs>
  <Slides>28</Slides>
  <Notes>28</Notes>
  <HiddenSlides>1</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28</vt:i4>
      </vt:variant>
    </vt:vector>
  </HeadingPairs>
  <TitlesOfParts>
    <vt:vector size="31" baseType="lpstr">
      <vt:lpstr>Arial</vt:lpstr>
      <vt:lpstr>Swis721 Cn BT</vt:lpstr>
      <vt:lpstr>Tema de Office</vt:lpstr>
      <vt:lpstr>IA generativa en Matronería: elaboración de protocolos y material educativo</vt:lpstr>
      <vt:lpstr>Ruta de hoy: de tu logo a tus materiales</vt:lpstr>
      <vt:lpstr>De la Parte 1 a la Parte 2: el mismo método, otro producto</vt:lpstr>
      <vt:lpstr>Sección 1 de 5</vt:lpstr>
      <vt:lpstr>Una marca es un sistema, no solo un logo</vt:lpstr>
      <vt:lpstr>Tres números que protegen a quien lee</vt:lpstr>
      <vt:lpstr>Tres situaciones de partida</vt:lpstr>
      <vt:lpstr>Sección 2 de 5</vt:lpstr>
      <vt:lpstr>Ficha Mi Marca: diez preguntas simples</vt:lpstr>
      <vt:lpstr>Así se ve una tarjeta de marca</vt:lpstr>
      <vt:lpstr>Sección 3 de 5</vt:lpstr>
      <vt:lpstr>Dos pasos: crea tu tarjeta una vez, úsala siempre</vt:lpstr>
      <vt:lpstr>Las reglas ya vienen escritas: la IA las cumple por ti</vt:lpstr>
      <vt:lpstr>Mismo pedido, distinto resultado: tu tarjeta hace la diferencia</vt:lpstr>
      <vt:lpstr>Sección 4 de 5</vt:lpstr>
      <vt:lpstr>Seis recetas para tus materiales</vt:lpstr>
      <vt:lpstr>Medidas que conviene conocer</vt:lpstr>
      <vt:lpstr>Una receta por dentro: el folleto para usuarias</vt:lpstr>
      <vt:lpstr>¿Y cómo obtengo el archivo? Elige por capacidad</vt:lpstr>
      <vt:lpstr>Manos a la obra: tu primer material</vt:lpstr>
      <vt:lpstr>Sección 5 de 5</vt:lpstr>
      <vt:lpstr>Si no te gusta, pide un cambio a la vez</vt:lpstr>
      <vt:lpstr>Lista de revisión antes de imprimir o publicar</vt:lpstr>
      <vt:lpstr>Semáforo de diseño seguro</vt:lpstr>
      <vt:lpstr>Descarga los materiales: escanea el código</vt:lpstr>
      <vt:lpstr>Tres ideas para llevar</vt:lpstr>
      <vt:lpstr>Referencias (1 de 2)</vt:lpstr>
      <vt:lpstr>Referencias (2 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 marca con IA · Taller de IA en Matronería · Parte 2</dc:title>
  <dc:subject>Jornada Alumni 2026 · Escuela de Obstetricia y Puericultura UV</dc:subject>
  <dc:creator>Cristian Carreño León</dc:creator>
  <cp:lastModifiedBy>Cristian Carreño León</cp:lastModifiedBy>
  <cp:revision>26</cp:revision>
  <dcterms:created xsi:type="dcterms:W3CDTF">2021-05-11T17:31:24Z</dcterms:created>
  <dcterms:modified xsi:type="dcterms:W3CDTF">2026-10-28T18:07:44Z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0x0101006319FEBDE55BBC4C9423A487D4FB469E</vt:lpwstr>
  </property>
  <property fmtid="{D5CDD505-2E9C-101B-9397-08002B2CF9AE}" pid="3" name="MediaServiceImageTags">
    <vt:lpwstr/>
  </property>
</Properties>
</file>