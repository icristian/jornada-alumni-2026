
<file path=[Content_Types].xml><?xml version="1.0" encoding="utf-8"?>
<Types xmlns="http://schemas.openxmlformats.org/package/2006/content-types">
  <Default Extension="fntdata" ContentType="application/x-fontdata"/>
  <Default Extension="jpeg" ContentType="image/jpeg"/>
  <Default Extension="org&amp;utm_campaign=index&amp;utm_content=thumbnail&amp;_=20230814075517" ContentType="image/png"/>
  <Default Extension="org&amp;utm_campaign=index&amp;utm_content=thumbnail&amp;_=20250728014948" ContentType="image/png"/>
  <Default Extension="org&amp;utm_campaign=index&amp;utm_content=thumbnail&amp;_=20250728014952" ContentType="image/png"/>
  <Default Extension="org&amp;utm_campaign=index&amp;utm_content=thumbnail&amp;_=20260428111349" ContentType="image/pn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42"/>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8" r:id="rId33"/>
    <p:sldId id="286" r:id="rId34"/>
    <p:sldId id="287" r:id="rId35"/>
    <p:sldId id="284" r:id="rId36"/>
    <p:sldId id="285" r:id="rId37"/>
    <p:sldId id="289" r:id="rId38"/>
    <p:sldId id="290" r:id="rId39"/>
    <p:sldId id="291" r:id="rId40"/>
    <p:sldId id="292" r:id="rId41"/>
  </p:sldIdLst>
  <p:sldSz cx="9144000" cy="5143500" type="screen16x9"/>
  <p:notesSz cx="6858000" cy="9144000"/>
  <p:embeddedFontLst>
    <p:embeddedFont>
      <p:font typeface="Swis721 Cn BT" panose="020B0506020202030204" pitchFamily="34" charset="0"/>
      <p:regular r:id="rId43"/>
      <p:bold r:id="rId44"/>
      <p:italic r:id="rId45"/>
      <p:boldItalic r:id="rId4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717E"/>
    <a:srgbClr val="003C58"/>
    <a:srgbClr val="0F3F8B"/>
    <a:srgbClr val="0E3F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F612AE-FB78-5E48-9F81-52356B9ACB9D}" v="5" dt="2026-06-25T19:06:12.0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33"/>
    <p:restoredTop sz="96286"/>
  </p:normalViewPr>
  <p:slideViewPr>
    <p:cSldViewPr snapToGrid="0" snapToObjects="1">
      <p:cViewPr>
        <p:scale>
          <a:sx n="142" d="100"/>
          <a:sy n="142" d="100"/>
        </p:scale>
        <p:origin x="1192" y="4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1.fntdata"/><Relationship Id="rId48" Type="http://schemas.openxmlformats.org/officeDocument/2006/relationships/viewProps" Target="viewProps.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4.fntdata"/><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bar"/>
        <c:grouping val="clustered"/>
        <c:varyColors val="1"/>
        <c:ser>
          <c:idx val="0"/>
          <c:order val="0"/>
          <c:tx>
            <c:strRef>
              <c:f>Sheet1!$B$1</c:f>
              <c:strCache>
                <c:ptCount val="1"/>
                <c:pt idx="0">
                  <c:v>Probabilidad</c:v>
                </c:pt>
              </c:strCache>
            </c:strRef>
          </c:tx>
          <c:spPr>
            <a:solidFill>
              <a:srgbClr val="C9DAE3"/>
            </a:solidFill>
          </c:spPr>
          <c:invertIfNegative val="1"/>
          <c:dPt>
            <c:idx val="4"/>
            <c:invertIfNegative val="1"/>
            <c:bubble3D val="0"/>
            <c:spPr>
              <a:solidFill>
                <a:srgbClr val="BF210C"/>
              </a:solidFill>
            </c:spPr>
            <c:extLst>
              <c:ext xmlns:c16="http://schemas.microsoft.com/office/drawing/2014/chart" uri="{C3380CC4-5D6E-409C-BE32-E72D297353CC}">
                <c16:uniqueId val="{00000001-C348-4442-9ECC-C2EDFA194B1B}"/>
              </c:ext>
            </c:extLst>
          </c:dPt>
          <c:dLbls>
            <c:numFmt formatCode="0%" sourceLinked="0"/>
            <c:spPr>
              <a:noFill/>
              <a:ln>
                <a:noFill/>
              </a:ln>
              <a:effectLst/>
            </c:spPr>
            <c:txPr>
              <a:bodyPr/>
              <a:lstStyle/>
              <a:p>
                <a:pPr>
                  <a:defRPr sz="1100" b="1">
                    <a:latin typeface="Swis721 Cn BT"/>
                  </a:defRPr>
                </a:pPr>
                <a:endParaRPr lang="es-C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otras</c:v>
                </c:pt>
                <c:pt idx="1">
                  <c:v>180</c:v>
                </c:pt>
                <c:pt idx="2">
                  <c:v>170</c:v>
                </c:pt>
                <c:pt idx="3">
                  <c:v>150</c:v>
                </c:pt>
                <c:pt idx="4">
                  <c:v>160</c:v>
                </c:pt>
              </c:strCache>
            </c:strRef>
          </c:cat>
          <c:val>
            <c:numRef>
              <c:f>Sheet1!$B$2:$B$6</c:f>
              <c:numCache>
                <c:formatCode>General</c:formatCode>
                <c:ptCount val="5"/>
                <c:pt idx="0">
                  <c:v>0.02</c:v>
                </c:pt>
                <c:pt idx="1">
                  <c:v>0.02</c:v>
                </c:pt>
                <c:pt idx="2">
                  <c:v>0.04</c:v>
                </c:pt>
                <c:pt idx="3">
                  <c:v>0.06</c:v>
                </c:pt>
                <c:pt idx="4">
                  <c:v>0.86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C348-4442-9ECC-C2EDFA194B1B}"/>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9DAE3"/>
            </a:solidFill>
          </a:ln>
        </c:spPr>
        <c:txPr>
          <a:bodyPr/>
          <a:lstStyle/>
          <a:p>
            <a:pPr>
              <a:defRPr sz="1200" b="1"/>
            </a:pPr>
            <a:endParaRPr lang="es-CL"/>
          </a:p>
        </c:txPr>
        <c:crossAx val="-2113994440"/>
        <c:crosses val="autoZero"/>
        <c:auto val="1"/>
        <c:lblAlgn val="ctr"/>
        <c:lblOffset val="100"/>
        <c:noMultiLvlLbl val="0"/>
      </c:catAx>
      <c:valAx>
        <c:axId val="-2113994440"/>
        <c:scaling>
          <c:orientation val="minMax"/>
          <c:max val="1"/>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1F2A30"/>
          </a:solidFill>
          <a:latin typeface="Swis721 Cn B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9544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Bienvenida. Esta capacitación no enseña a usar una plataforma en particular, sino un método que sirve con cualquiera: ChatGPT, Gemini, Claude, Copilot, DeepSeek o un modelo instalado en el hospital. Partimos por entender cómo funciona la IA por dentro, porque eso explica por qué a veces se equivoca y cómo pedirle mejor las cosas.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Cinco estaciones. Las dos primeras son conceptuales: entender qué es realmente una IA generativa y qué diferencia a las plataformas. La tercera es la idea central: pensamiento agnóstico. Las dos últimas son prácticas: cómo escribir buenos prompts y cómo aplicarlos a protocolos y materiales educativos con ejemplos reales.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evidencia es todavía joven. Una revisión sistemática reunió 64 estudios en obstetricia y matronería, sobre todo de predicción de riesgo. Una revisión de alcance específica de matronería encontró solo 8 estudios, todos del mismo país, por lo que se generaliza poco. Un estudio cualitativo con 17 estudiantes muestra que ya la usan y valoran el ahorro de tiempo, pero con inquietudes. Kranz y Abele recomiendan incorporarla al currículo con formación docente. Mensaje: no esperamos a que otros la definan; la construimos con criterio.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Antes de usar la herramienta conviene entender su lógica. No necesitamos matemáticas: basta con cuatro ideas, que iremos construyendo de lo más simple a lo más complejo.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Partimos por la biología, que todas conocen. Las dendritas reciben señales de muchas otras neuronas; el soma las integra; si la suma supera un umbral, la neurona dispara un impulso que viaja por el axón y se transmite en las terminales. La analogía clínica: en preparto integramos muchas señales y decidimos si actuar. Guarden tres palabras: recibir, integrar, decidir.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neurona artificial copia la idea de forma muy simple. Cada dato de entrada vale 1 si está presente y 0 si no. Cada uno se multiplica por un peso, que representa su importancia. Se suman: 0,6 más 0,3 más 0 da 0,9. Como supera el umbral de 0,5, la neurona dispara: avisar. Recalcar que es un ejemplo didáctico con pesos inventados. La idea clave: aprender es ajustar estos pesos. Este modelo se propuso en 1943 (McCulloch y Pitts).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sola neurona decide poco. Al conectar muchas en capas, cada capa aprende rasgos cada vez más complejos. La analogía es cómo aprendemos a leer un registro cardiotocográfico: primero rasgos simples, luego patrones y al final una interpretación global. La diferencia es que la red descubre sola qué rasgos importan, a partir de muchísimos ejemplos (LeCun, Bengio y Hinton). Cada línea del dibujo es un peso; un modelo de lenguaje tiene miles de millones.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¿Cómo se ajustan los pesos? Con un ciclo simple: el modelo predice, se compara con la respuesta correcta, se mide el error y se corrigen los pesos un poquito. Se repite millones de veces. Es como una interna que va ajustando su criterio con la retroalimentación de su tutora. Advertencia importante (Omiye y colaboradores): el modelo aprende lo que hay en sus datos, incluidos sus sesgos y su desactualización, y lo reproduce con aparente seguridad.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máquinas no leen palabras: leen números. El texto se corta en fragmentos llamados tokens, y cada uno tiene un número. Luego cada token se ubica en un mapa de significados: palabras de sentido parecido quedan cerca, como contracción y dinámica uterina, o lactancia y calostro. Por eso la IA entiende sinónimos. Como cada modelo corta y mapea distinto, el rendimiento en español y con nuestra terminología puede variar: una razón más para probar en más de una plataforma.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Aquí está la gran innovación de 2017, el Transformer. Para entender una palabra, el modelo mira todas las demás y decide cuánto atender a cada una. En la primera oración, «estaba» se conecta sobre todo con «registro», porque termina en «incompleto»; en la segunda, con «matrona», porque termina en «cansada». Es como cuando leemos una ficha clínica: el sentido de cada dato depende del contexto. Todas las plataformas actuales comparten este mecanismo.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es el corazón de la IA generativa: predice el siguiente token más probable, lo agrega y repite. Si le damos «110 a…», lo más probable es «160», y acierta, porque ese dato aparece muchísimo en sus textos. Pero el modelo no comprueba la verdad: produce lo plausible. Por eso inventa: Chelli y colaboradores (2024) encontraron entre 29 % y 91 % de referencias inventadas. Los modelos han mejorado, pero en 2025 una plataforma todavía inventó 3 de 6 citas en perinatología (Ayala-Yáñez). Regla de oro: toda cita se verifica.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Ahora que sabemos cómo funciona por dentro, veamos por qué hay tantas plataformas y en qué se parecen y diferencian.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Todas las plataformas se construyen con la misma receta en tres etapas. Primero, el preentrenamiento: leer enormes cantidades de texto prediciendo el siguiente token; el resultado sabe lenguaje pero no conversa. Segundo, el ajuste con instrucciones y preferencias humanas, que lo convierte en asistente (Ouyang y colaboradores); también puede especializarse en medicina, como Med-PaLM 2 (Singhal). Tercero, herramientas y razonamiento, como en DeepSeek-R1 (Guo). Al compartir la receta, un buen método sirve en todas.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Misma base, distintos énfasis documentados por sus propios desarrolladores. ChatGPT popularizó el ajuste con retroalimentación humana. Gemini fue diseñado como multimodal desde el inicio. Claude usa la «IA constitucional»: un conjunto de principios escritos con los que el modelo critica y mejora sus respuestas. DeepSeek, de China, publicó sus pesos y entrenó su razonamiento con aprendizaje por refuerzo; su artículo se publicó en Nature en 2025. La fila «aprovéchalo para» es orientativa: las capacidades cambian con cada versión.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Más que memorizar marcas, conviene reconocer tres familias. Los asistentes en la nube son los más cómodos, pero los datos salen de la institución. Los modelos de pesos abiertos, muchos de ellos chinos como DeepSeek, Qwen, Kimi o GLM, y otros como Llama, Gemma o Mistral, pueden instalarse en servidores propios; Riedemann y colaboradores defienden que el futuro de la IA en medicina es abierto por transparencia y control. Ojo: usar la app web de DeepSeek no es lo mismo que instalar su modelo localmente. Los buscadores con citas ayudan a encontrar evidencia, pero también se verifican.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hallazgos recientes. Uno: en el examen médico chino, DeepSeek superó ampliamente a GPT-4o; los autores lo atribuyen al idioma de entrenamiento (Wang 2025). Dos: al crear ítems de evaluación en ginecoobstetricia, ChatGPT y Claude rindieron casi igual (Yapıcı Coşkun 2025). Tres: en revisión de literatura perinatal, cuatro plataformas ahorraron entre 35 % y 70 % del tiempo, pero todas requirieron corregir citas (Ayala-Yáñez). Cuatro: el mismo GPT-4 cambió su rendimiento en tres meses (Chen 2024). Conclusión: la calidad depende más del método que de la marca.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es la idea central de la capacitación. Si nuestro trabajo depende de una plataforma, queda obsoleto con cada actualización. Si depende de un método, sobrevive a cualquier cambio.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Pensamiento agnóstico: el método es nuestro y el modelo es una pieza intercambiable, como un equipo de monitorización que puede ser de distintas marcas mientras el protocolo de uso es el mismo. Cinco principios. Uno: anclar en fuentes oficiales; es la lógica de la generación aumentada por recuperación, que reduce invenciones (Amugongo 2025). Dos: prompt estructurado y portable. Tres: triangular, que en la literatura se llama autoconsistencia (Liu 2025). Cuatro: verificar como experta. Cinco: registrar, como recomienda la guía TRIPOD-LLM (Gallifant 2025).</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forma práctica de pensar agnósticamente: partir de la tarea y preguntarse qué capacidad necesita, no qué marca usar. Muchas normas antiguas son PDF escaneados: si la plataforma no los lee, primero hay que convertirlos a texto. Destaco la fila roja: con datos de pacientes, la única opción aceptable es un modelo instalado institucionalmente o datos anonimizados.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prompt es la instrucción que le damos a la IA. Un buen prompt es portable: funciona en cualquier plataforma porque todas comparten la misma base.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recordar las piezas de un buen prompt les propongo un acrónimo de la casa: PARTO. Papel: quién debe ser la IA. Antecedentes: contexto y fuentes. Requerimiento: la tarea concreta. Tono y formato: cómo quiero la salida. Observaciones y límites: qué no hacer y cómo verificar. Integra lo que recomiendan los tutoriales de Meskó (2023) y Liu (2025), y el patrón de «persona» descrito en la revisión de Zaghir (2024). La O es la más olvidada y la más importante.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Comparemos. El prompt vago obtiene un texto genérico que puede parecer correcto, con formato al azar y quizás referencias inventadas. El prompt PARTO toma 40 segundos más en escribirse y entrega un borrador con nuestra estructura, trazable a la fuente y con las dudas marcadas. Este mismo prompt funciona igual en ChatGPT, Gemini, Claude, Copilot o DeepSeek.</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Seis técnicas documentadas que funcionan en cualquier plataforma. Dar ejemplos (few-shot) y pedir razonamiento paso a paso son las más estudiadas en medicina (Zaghir 2024). La autoconsistencia, el meta-prompt y la mejora iterativa provienen del tutorial clínico de Liu (2025). Permitir el «no sé» reduce invenciones: el modelo tiende a contestar algo aunque no lo sepa, salvo que le demos permiso explícito para no hacerlo.</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semáforo para decidir rápido. Verde: tareas de redacción y docencia, siempre con revisión. Amarillo: todo lo que tenga consecuencias clínicas, como dosis, umbrales, indicadores o referencias, requiere verificación experta contra la fuente. Rojo: nunca ingresar datos identificables en plataformas externas, nunca usar la salida como indicación clínica y siempre declarar el uso de IA.</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Pasamos a la práctica con documentos reales del proyecto.</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flujo sirve con cualquier plataforma. Los pasos uno, dos y seis son humanos: elegir las fuentes oficiales, prepararlas (por ejemplo, pasar a texto un PDF escaneado y quitar datos de pacientes) y validar y registrar. La IA acelera la extracción, la redacción y la auditoría cruzada. Fíjense en que el paso cinco usa un segundo modelo: es la triangulación del pensamiento agnóstico.</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caso real con dos protocolos hospitalarios del proyecto, ambos vencidos. Al compararlos aparecen diferencias concretas: uno fija idealmente no más de cinco tactos vaginales y el otro no más de cuatro; uno mide cumplimiento con pautas de supervisión y el otro con la tasa de endometritis; sus referencias más recientes son de 2006 y 2008. Ambos son PDF escaneados, así que primero hay que convertirlos a texto. La IA hace esta comparación en segundos con el prompt de la derecha; decidir qué criterio adoptar según la normativa vigente es tarea del equipo.</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aplicación muy útil del pensamiento agnóstico: usar un modelo para redactar y otro distinto para auditar. Es la lógica de la segunda opinión y de la autoconsistencia (Liu 2025). El prompt de auditoría pide explícitamente no reescribir, solo encontrar problemas y clasificarlos por gravedad. La decisión final siempre es del equipo clínico.</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Cierro con tres ideas. Una: la IA predice lo plausible y la verdad clínica la aportamos nosotras. Dos: método antes que marca; lo aprendido hoy sirve con cualquier plataforma, presente o futura. Tres: todo es borrador hasta que una matrona lo valida. Gracias.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pilares éticos. Privacidad: la revisión de Zaghir recomienda modelos locales para datos sensibles. Responsabilidad: la IA no firma ni responde; nosotras sí. Transparencia: declarar qué herramienta se usó y para qué; en investigación existe la guía TRIPOD-LLM. Equidad: Omiye y colaboradores muestran que los modelos reproducen sesgos, por lo que revisamos lenguaje, supuestos y pertinencia intercultural.</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lista de cotejo resume la capacitación y es agnóstica: sirve para cualquier plataforma. Les sugiero imprimirla y pegarla junto al computador. Si una casilla queda vacía, el producto sigue siendo un borrador.</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docencia, la IA ayuda a producir rápidamente casos, preguntas, rúbricas, guiones de simulación y material para usuarias. La evidencia es alentadora: en ginecoobstetricia, cerca del 91 % de los ítems de concordancia de scripts creados con dos plataformas distintas cumplió los criterios. Pero el punto débil fue la dificultad adecuada para estudiantes: ahí entra la experticia docente. Kranz y Abele destacan además la retroalimentación inmediata y los escenarios simulados, con riesgos de integridad académica y desinformación.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Dos prompts listos para usar mañana, en cualquier plataforma. Fíjense en que ambos siguen PARTO y ambos limitan la fuente al documento adjunto. Los corchetes son lo que cada una adapta: nivel, resultado de aprendizaje, contexto local. Recomendación: corran el mismo prompt en dos plataformas y comparen, antes de revisar a fondo el mejor resultado.</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en estilo Vancouver, numeradas en orden de primera aparición. Todas cuentan con DOI verificado en Crossref o DataCite.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en estilo Vancouver, numeradas en orden de primera aparición. Todas cuentan con DOI verificado en Crossref o DataCite.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en estilo Vancouver, numeradas en orden de primera aparición. Todas cuentan con DOI verificado en Crossref o DataCite.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0888D-08DE-6CC4-D7A8-BA49A6881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33F14-BE7E-DF72-5B4D-1A98E127A1D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34C6224-6308-8306-8546-3AFBC3D7C886}"/>
              </a:ext>
            </a:extLst>
          </p:cNvPr>
          <p:cNvSpPr>
            <a:spLocks noGrp="1"/>
          </p:cNvSpPr>
          <p:nvPr>
            <p:ph type="body" sz="quarter" idx="3"/>
          </p:nvPr>
        </p:nvSpPr>
        <p:spPr/>
        <p:txBody>
          <a:bodyPr/>
          <a:lstStyle/>
          <a:p>
            <a:r>
              <a:t>Bienvenida. Esta capacitación no enseña a usar una plataforma en particular, sino un método que sirve con cualquiera: ChatGPT, Gemini, Claude, Copilot, DeepSeek o un modelo instalado en el hospital. Partimos por entender cómo funciona la IA por dentro, porque eso explica por qué a veces se equivoca y cómo pedirle mejor las cosas.</a:t>
            </a:r>
          </a:p>
        </p:txBody>
      </p:sp>
      <p:sp>
        <p:nvSpPr>
          <p:cNvPr id="4" name="Slide Number Placeholder 3">
            <a:extLst>
              <a:ext uri="{FF2B5EF4-FFF2-40B4-BE49-F238E27FC236}">
                <a16:creationId xmlns:a16="http://schemas.microsoft.com/office/drawing/2014/main" id="{DDE5E2CB-A894-8BA8-1C55-758A84F80402}"/>
              </a:ext>
            </a:extLst>
          </p:cNvPr>
          <p:cNvSpPr>
            <a:spLocks noGrp="1"/>
          </p:cNvSpPr>
          <p:nvPr>
            <p:ph type="sldNum" sz="quarter" idx="5"/>
          </p:nvPr>
        </p:nvSpPr>
        <p:spPr/>
      </p:sp>
    </p:spTree>
    <p:extLst>
      <p:ext uri="{BB962C8B-B14F-4D97-AF65-F5344CB8AC3E}">
        <p14:creationId xmlns:p14="http://schemas.microsoft.com/office/powerpoint/2010/main" val="39444789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542D0C7B-D9AB-4419-8015-0BBAD1479323}"/>
              </a:ext>
            </a:extLst>
          </p:cNvPr>
          <p:cNvSpPr>
            <a:spLocks noGrp="1"/>
          </p:cNvSpPr>
          <p:nvPr>
            <p:ph type="title" hasCustomPrompt="1"/>
          </p:nvPr>
        </p:nvSpPr>
        <p:spPr>
          <a:xfrm>
            <a:off x="4267199" y="2469458"/>
            <a:ext cx="4734533" cy="701759"/>
          </a:xfrm>
        </p:spPr>
        <p:txBody>
          <a:bodyPr>
            <a:normAutofit/>
          </a:bodyPr>
          <a:lstStyle>
            <a:lvl1pPr>
              <a:defRPr sz="2500" b="1">
                <a:solidFill>
                  <a:srgbClr val="003C58"/>
                </a:solidFill>
                <a:latin typeface="Swis721 Cn BT" panose="020B0506020202030204" pitchFamily="34" charset="0"/>
              </a:defRPr>
            </a:lvl1pPr>
          </a:lstStyle>
          <a:p>
            <a:r>
              <a:rPr lang="es-MX" dirty="0"/>
              <a:t>Título de la Presentación</a:t>
            </a:r>
            <a:endParaRPr lang="es-CL" dirty="0"/>
          </a:p>
        </p:txBody>
      </p:sp>
      <p:sp>
        <p:nvSpPr>
          <p:cNvPr id="11" name="Marcador de texto 10">
            <a:extLst>
              <a:ext uri="{FF2B5EF4-FFF2-40B4-BE49-F238E27FC236}">
                <a16:creationId xmlns:a16="http://schemas.microsoft.com/office/drawing/2014/main" id="{930B57BC-0C29-46CA-BE8A-EF8E668D0B7B}"/>
              </a:ext>
            </a:extLst>
          </p:cNvPr>
          <p:cNvSpPr>
            <a:spLocks noGrp="1"/>
          </p:cNvSpPr>
          <p:nvPr>
            <p:ph type="body" sz="quarter" idx="10" hasCustomPrompt="1"/>
          </p:nvPr>
        </p:nvSpPr>
        <p:spPr>
          <a:xfrm>
            <a:off x="4267200" y="3281363"/>
            <a:ext cx="4733925" cy="972867"/>
          </a:xfrm>
        </p:spPr>
        <p:txBody>
          <a:bodyPr>
            <a:normAutofit/>
          </a:bodyPr>
          <a:lstStyle>
            <a:lvl1pPr marL="0" indent="0">
              <a:buNone/>
              <a:defRPr sz="1600">
                <a:solidFill>
                  <a:srgbClr val="003C58"/>
                </a:solidFill>
                <a:latin typeface="Swis721 Cn BT" panose="020B0506020202030204" pitchFamily="34" charset="0"/>
              </a:defRPr>
            </a:lvl1pPr>
          </a:lstStyle>
          <a:p>
            <a:pPr lvl="0"/>
            <a:r>
              <a:rPr lang="es-CL" dirty="0"/>
              <a:t>Nombre Expositor</a:t>
            </a:r>
          </a:p>
          <a:p>
            <a:pPr lvl="0"/>
            <a:r>
              <a:rPr lang="es-CL" dirty="0"/>
              <a:t>Filiación</a:t>
            </a:r>
          </a:p>
          <a:p>
            <a:pPr lvl="0"/>
            <a:r>
              <a:rPr lang="es-CL" dirty="0"/>
              <a:t>Correo</a:t>
            </a:r>
          </a:p>
        </p:txBody>
      </p:sp>
      <p:sp>
        <p:nvSpPr>
          <p:cNvPr id="17" name="Marcador de texto 10">
            <a:extLst>
              <a:ext uri="{FF2B5EF4-FFF2-40B4-BE49-F238E27FC236}">
                <a16:creationId xmlns:a16="http://schemas.microsoft.com/office/drawing/2014/main" id="{30BEE87E-415E-48E9-BE6B-B62A1A70F21D}"/>
              </a:ext>
            </a:extLst>
          </p:cNvPr>
          <p:cNvSpPr>
            <a:spLocks noGrp="1"/>
          </p:cNvSpPr>
          <p:nvPr>
            <p:ph type="body" sz="quarter" idx="11" hasCustomPrompt="1"/>
          </p:nvPr>
        </p:nvSpPr>
        <p:spPr>
          <a:xfrm>
            <a:off x="549612" y="4659279"/>
            <a:ext cx="2130088" cy="445040"/>
          </a:xfrm>
        </p:spPr>
        <p:txBody>
          <a:bodyPr anchor="ctr">
            <a:normAutofit/>
          </a:bodyPr>
          <a:lstStyle>
            <a:lvl1pPr marL="0" indent="0" algn="l">
              <a:buNone/>
              <a:defRPr sz="1100">
                <a:solidFill>
                  <a:srgbClr val="003C58"/>
                </a:solidFill>
                <a:latin typeface="Swis721 Cn BT" panose="020B0506020202030204" pitchFamily="34" charset="0"/>
              </a:defRPr>
            </a:lvl1pPr>
          </a:lstStyle>
          <a:p>
            <a:pPr lvl="0"/>
            <a:r>
              <a:rPr lang="es-CL" dirty="0"/>
              <a:t>Facultad de Medicina</a:t>
            </a:r>
            <a:br>
              <a:rPr lang="es-CL" dirty="0"/>
            </a:br>
            <a:r>
              <a:rPr lang="es-CL" dirty="0"/>
              <a:t>Escuela de Obstetricia y Puericultura</a:t>
            </a:r>
          </a:p>
        </p:txBody>
      </p:sp>
      <p:pic>
        <p:nvPicPr>
          <p:cNvPr id="3" name="Imagen 2">
            <a:extLst>
              <a:ext uri="{FF2B5EF4-FFF2-40B4-BE49-F238E27FC236}">
                <a16:creationId xmlns:a16="http://schemas.microsoft.com/office/drawing/2014/main" id="{F2BD42B4-7588-DB67-749B-36EAFDF03BB8}"/>
              </a:ext>
            </a:extLst>
          </p:cNvPr>
          <p:cNvPicPr>
            <a:picLocks noChangeAspect="1"/>
          </p:cNvPicPr>
          <p:nvPr userDrawn="1"/>
        </p:nvPicPr>
        <p:blipFill>
          <a:blip r:embed="rId3"/>
          <a:stretch>
            <a:fillRect/>
          </a:stretch>
        </p:blipFill>
        <p:spPr>
          <a:xfrm>
            <a:off x="549612" y="3686411"/>
            <a:ext cx="2856745" cy="972868"/>
          </a:xfrm>
          <a:prstGeom prst="rect">
            <a:avLst/>
          </a:prstGeom>
        </p:spPr>
      </p:pic>
      <p:sp>
        <p:nvSpPr>
          <p:cNvPr id="6" name="Rectángulo 5">
            <a:extLst>
              <a:ext uri="{FF2B5EF4-FFF2-40B4-BE49-F238E27FC236}">
                <a16:creationId xmlns:a16="http://schemas.microsoft.com/office/drawing/2014/main" id="{E2123478-5D68-22B3-5D6C-4091D4DF5135}"/>
              </a:ext>
            </a:extLst>
          </p:cNvPr>
          <p:cNvSpPr/>
          <p:nvPr userDrawn="1"/>
        </p:nvSpPr>
        <p:spPr>
          <a:xfrm>
            <a:off x="6279502" y="765110"/>
            <a:ext cx="2314886" cy="6919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4" name="Imagen 3">
            <a:extLst>
              <a:ext uri="{FF2B5EF4-FFF2-40B4-BE49-F238E27FC236}">
                <a16:creationId xmlns:a16="http://schemas.microsoft.com/office/drawing/2014/main" id="{BE0FF747-2284-F17B-39E4-44F58284E729}"/>
              </a:ext>
            </a:extLst>
          </p:cNvPr>
          <p:cNvPicPr>
            <a:picLocks noChangeAspect="1"/>
          </p:cNvPicPr>
          <p:nvPr userDrawn="1"/>
        </p:nvPicPr>
        <p:blipFill>
          <a:blip r:embed="rId4"/>
          <a:stretch>
            <a:fillRect/>
          </a:stretch>
        </p:blipFill>
        <p:spPr>
          <a:xfrm>
            <a:off x="6335485" y="765110"/>
            <a:ext cx="2661039" cy="801791"/>
          </a:xfrm>
          <a:prstGeom prst="rect">
            <a:avLst/>
          </a:prstGeom>
        </p:spPr>
      </p:pic>
      <p:sp>
        <p:nvSpPr>
          <p:cNvPr id="7" name="Rectángulo 6">
            <a:extLst>
              <a:ext uri="{FF2B5EF4-FFF2-40B4-BE49-F238E27FC236}">
                <a16:creationId xmlns:a16="http://schemas.microsoft.com/office/drawing/2014/main" id="{EB74028D-94FA-2E05-0657-330A628AC0BB}"/>
              </a:ext>
            </a:extLst>
          </p:cNvPr>
          <p:cNvSpPr/>
          <p:nvPr userDrawn="1"/>
        </p:nvSpPr>
        <p:spPr>
          <a:xfrm>
            <a:off x="6727364" y="4383988"/>
            <a:ext cx="2286000" cy="7595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extLst>
      <p:ext uri="{BB962C8B-B14F-4D97-AF65-F5344CB8AC3E}">
        <p14:creationId xmlns:p14="http://schemas.microsoft.com/office/powerpoint/2010/main" val="1838461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102393"/>
            <a:ext cx="6692900" cy="408384"/>
          </a:xfrm>
        </p:spPr>
        <p:txBody>
          <a:bodyPr>
            <a:normAutofit/>
          </a:bodyPr>
          <a:lstStyle>
            <a:lvl1pPr>
              <a:defRPr sz="1600" b="1">
                <a:solidFill>
                  <a:schemeClr val="bg1"/>
                </a:solidFill>
                <a:latin typeface="Swis721 Cn BT" panose="020B0506020202030204" pitchFamily="34" charset="0"/>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28650" y="661481"/>
            <a:ext cx="7886700" cy="3670570"/>
          </a:xfrm>
        </p:spPr>
        <p:txBody>
          <a:bodyPr/>
          <a:lstStyle>
            <a:lvl1pPr>
              <a:defRPr>
                <a:latin typeface="Swis721 Cn BT" panose="020B0506020202030204" pitchFamily="34" charset="0"/>
              </a:defRPr>
            </a:lvl1pPr>
            <a:lvl2pPr>
              <a:defRPr>
                <a:latin typeface="Swis721 Cn BT" panose="020B0506020202030204" pitchFamily="34" charset="0"/>
              </a:defRPr>
            </a:lvl2pPr>
            <a:lvl3pPr>
              <a:defRPr>
                <a:latin typeface="Swis721 Cn BT" panose="020B0506020202030204" pitchFamily="34" charset="0"/>
              </a:defRPr>
            </a:lvl3pPr>
            <a:lvl4pPr>
              <a:defRPr>
                <a:latin typeface="Swis721 Cn BT" panose="020B0506020202030204" pitchFamily="34" charset="0"/>
              </a:defRPr>
            </a:lvl4pPr>
            <a:lvl5pPr>
              <a:defRPr>
                <a:latin typeface="Swis721 Cn BT" panose="020B050602020203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0" name="Marcador de texto 10">
            <a:extLst>
              <a:ext uri="{FF2B5EF4-FFF2-40B4-BE49-F238E27FC236}">
                <a16:creationId xmlns:a16="http://schemas.microsoft.com/office/drawing/2014/main" id="{8C754907-7BE7-444F-9522-5BAA2D6A1B7A}"/>
              </a:ext>
            </a:extLst>
          </p:cNvPr>
          <p:cNvSpPr>
            <a:spLocks noGrp="1"/>
          </p:cNvSpPr>
          <p:nvPr>
            <p:ph type="body" sz="quarter" idx="11" hasCustomPrompt="1"/>
          </p:nvPr>
        </p:nvSpPr>
        <p:spPr>
          <a:xfrm>
            <a:off x="1616412" y="4494179"/>
            <a:ext cx="5335622" cy="445040"/>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1383939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815376"/>
            <a:ext cx="7886700" cy="2139553"/>
          </a:xfrm>
        </p:spPr>
        <p:txBody>
          <a:bodyPr anchor="b"/>
          <a:lstStyle>
            <a:lvl1pPr>
              <a:defRPr sz="4500">
                <a:latin typeface="Swis721 Cn BT" panose="020B0506020202030204" pitchFamily="34" charset="0"/>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2975170"/>
            <a:ext cx="7886700" cy="1125140"/>
          </a:xfrm>
        </p:spPr>
        <p:txBody>
          <a:bodyPr/>
          <a:lstStyle>
            <a:lvl1pPr marL="0" indent="0">
              <a:buNone/>
              <a:defRPr sz="1800">
                <a:solidFill>
                  <a:schemeClr val="tx1">
                    <a:tint val="75000"/>
                  </a:schemeClr>
                </a:solidFill>
                <a:latin typeface="Swis721 Cn BT" panose="020B050602020203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dirty="0"/>
              <a:t>Haga clic para modificar los estilos de texto del patrón</a:t>
            </a:r>
          </a:p>
        </p:txBody>
      </p:sp>
      <p:sp>
        <p:nvSpPr>
          <p:cNvPr id="9" name="Marcador de texto 10">
            <a:extLst>
              <a:ext uri="{FF2B5EF4-FFF2-40B4-BE49-F238E27FC236}">
                <a16:creationId xmlns:a16="http://schemas.microsoft.com/office/drawing/2014/main" id="{65122DAE-6F18-4CC9-951B-FBCDCE4E1243}"/>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1602280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102394"/>
            <a:ext cx="7188200" cy="408384"/>
          </a:xfrm>
        </p:spPr>
        <p:txBody>
          <a:bodyPr>
            <a:noAutofit/>
          </a:bodyPr>
          <a:lstStyle>
            <a:lvl1pPr>
              <a:defRPr sz="2500" b="1">
                <a:solidFill>
                  <a:schemeClr val="bg1"/>
                </a:solidFill>
                <a:latin typeface="Swis721 Cn BT" panose="020B0506020202030204" pitchFamily="34" charset="0"/>
              </a:defRPr>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667966"/>
            <a:ext cx="3886200" cy="3690025"/>
          </a:xfrm>
        </p:spPr>
        <p:txBody>
          <a:bodyPr/>
          <a:lstStyle>
            <a:lvl1pPr>
              <a:defRPr>
                <a:latin typeface="Swis721 Cn BT" panose="020B0506020202030204" pitchFamily="34" charset="0"/>
              </a:defRPr>
            </a:lvl1pPr>
            <a:lvl2pPr>
              <a:defRPr>
                <a:latin typeface="Swis721 Cn BT" panose="020B0506020202030204" pitchFamily="34" charset="0"/>
              </a:defRPr>
            </a:lvl2pPr>
            <a:lvl3pPr>
              <a:defRPr>
                <a:latin typeface="Swis721 Cn BT" panose="020B0506020202030204" pitchFamily="34" charset="0"/>
              </a:defRPr>
            </a:lvl3pPr>
            <a:lvl4pPr>
              <a:defRPr>
                <a:latin typeface="Swis721 Cn BT" panose="020B0506020202030204" pitchFamily="34" charset="0"/>
              </a:defRPr>
            </a:lvl4pPr>
            <a:lvl5pPr>
              <a:defRPr>
                <a:latin typeface="Swis721 Cn BT" panose="020B050602020203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667966"/>
            <a:ext cx="3886200" cy="3690025"/>
          </a:xfrm>
        </p:spPr>
        <p:txBody>
          <a:bodyPr/>
          <a:lstStyle>
            <a:lvl1pPr>
              <a:defRPr>
                <a:latin typeface="Swis721 Cn BT" panose="020B0506020202030204" pitchFamily="34" charset="0"/>
              </a:defRPr>
            </a:lvl1pPr>
            <a:lvl2pPr>
              <a:defRPr>
                <a:latin typeface="Swis721 Cn BT" panose="020B0506020202030204" pitchFamily="34" charset="0"/>
              </a:defRPr>
            </a:lvl2pPr>
            <a:lvl3pPr>
              <a:defRPr>
                <a:latin typeface="Swis721 Cn BT" panose="020B0506020202030204" pitchFamily="34" charset="0"/>
              </a:defRPr>
            </a:lvl3pPr>
            <a:lvl4pPr>
              <a:defRPr>
                <a:latin typeface="Swis721 Cn BT" panose="020B0506020202030204" pitchFamily="34" charset="0"/>
              </a:defRPr>
            </a:lvl4pPr>
            <a:lvl5pPr>
              <a:defRPr>
                <a:latin typeface="Swis721 Cn BT" panose="020B050602020203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0" name="Marcador de texto 10">
            <a:extLst>
              <a:ext uri="{FF2B5EF4-FFF2-40B4-BE49-F238E27FC236}">
                <a16:creationId xmlns:a16="http://schemas.microsoft.com/office/drawing/2014/main" id="{F9790584-FD47-4138-92E2-914E2B3EA47D}"/>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373822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73565"/>
            <a:ext cx="7086600" cy="477669"/>
          </a:xfrm>
        </p:spPr>
        <p:txBody>
          <a:bodyPr>
            <a:normAutofit/>
          </a:bodyPr>
          <a:lstStyle>
            <a:lvl1pPr>
              <a:defRPr sz="2500" b="1">
                <a:solidFill>
                  <a:schemeClr val="bg1"/>
                </a:solidFill>
                <a:latin typeface="Swis721 Cn BT" panose="020B0506020202030204" pitchFamily="34"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29842" y="676250"/>
            <a:ext cx="3868340" cy="617934"/>
          </a:xfrm>
        </p:spPr>
        <p:txBody>
          <a:bodyPr anchor="b"/>
          <a:lstStyle>
            <a:lvl1pPr marL="0" indent="0">
              <a:buNone/>
              <a:defRPr sz="1800" b="1">
                <a:latin typeface="Swis721 Cn BT" panose="020B050602020203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dirty="0"/>
              <a:t>Haga clic para modificar los estilos de texto del patrón</a:t>
            </a:r>
          </a:p>
        </p:txBody>
      </p:sp>
      <p:sp>
        <p:nvSpPr>
          <p:cNvPr id="4" name="Content Placeholder 3"/>
          <p:cNvSpPr>
            <a:spLocks noGrp="1"/>
          </p:cNvSpPr>
          <p:nvPr>
            <p:ph sz="half" idx="2"/>
          </p:nvPr>
        </p:nvSpPr>
        <p:spPr>
          <a:xfrm>
            <a:off x="629842" y="1305279"/>
            <a:ext cx="3868340" cy="2987861"/>
          </a:xfrm>
        </p:spPr>
        <p:txBody>
          <a:bodyPr/>
          <a:lstStyle>
            <a:lvl1pPr>
              <a:defRPr>
                <a:latin typeface="Swis721 Cn BT" panose="020B0506020202030204" pitchFamily="34" charset="0"/>
              </a:defRPr>
            </a:lvl1pPr>
            <a:lvl2pPr>
              <a:defRPr>
                <a:latin typeface="Swis721 Cn BT" panose="020B0506020202030204" pitchFamily="34" charset="0"/>
              </a:defRPr>
            </a:lvl2pPr>
            <a:lvl3pPr>
              <a:defRPr>
                <a:latin typeface="Swis721 Cn BT" panose="020B0506020202030204" pitchFamily="34" charset="0"/>
              </a:defRPr>
            </a:lvl3pPr>
            <a:lvl4pPr>
              <a:defRPr>
                <a:latin typeface="Swis721 Cn BT" panose="020B0506020202030204" pitchFamily="34" charset="0"/>
              </a:defRPr>
            </a:lvl4pPr>
            <a:lvl5pPr>
              <a:defRPr>
                <a:latin typeface="Swis721 Cn BT" panose="020B050602020203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676250"/>
            <a:ext cx="3887391" cy="617934"/>
          </a:xfrm>
        </p:spPr>
        <p:txBody>
          <a:bodyPr anchor="b"/>
          <a:lstStyle>
            <a:lvl1pPr marL="0" indent="0">
              <a:buNone/>
              <a:defRPr sz="1800" b="1">
                <a:latin typeface="Swis721 Cn BT" panose="020B050602020203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1305279"/>
            <a:ext cx="3887391" cy="2987861"/>
          </a:xfrm>
        </p:spPr>
        <p:txBody>
          <a:bodyPr/>
          <a:lstStyle>
            <a:lvl1pPr>
              <a:defRPr>
                <a:latin typeface="Swis721 Cn BT" panose="020B0506020202030204" pitchFamily="34" charset="0"/>
              </a:defRPr>
            </a:lvl1pPr>
            <a:lvl2pPr>
              <a:defRPr>
                <a:latin typeface="Swis721 Cn BT" panose="020B0506020202030204" pitchFamily="34" charset="0"/>
              </a:defRPr>
            </a:lvl2pPr>
            <a:lvl3pPr>
              <a:defRPr>
                <a:latin typeface="Swis721 Cn BT" panose="020B0506020202030204" pitchFamily="34" charset="0"/>
              </a:defRPr>
            </a:lvl3pPr>
            <a:lvl4pPr>
              <a:defRPr>
                <a:latin typeface="Swis721 Cn BT" panose="020B0506020202030204" pitchFamily="34" charset="0"/>
              </a:defRPr>
            </a:lvl4pPr>
            <a:lvl5pPr>
              <a:defRPr>
                <a:latin typeface="Swis721 Cn BT" panose="020B050602020203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2" name="Marcador de texto 10">
            <a:extLst>
              <a:ext uri="{FF2B5EF4-FFF2-40B4-BE49-F238E27FC236}">
                <a16:creationId xmlns:a16="http://schemas.microsoft.com/office/drawing/2014/main" id="{26B6826A-E42C-41E7-AAFF-80672AC6E3E6}"/>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1321175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lo el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59835"/>
            <a:ext cx="7169150" cy="457200"/>
          </a:xfrm>
        </p:spPr>
        <p:txBody>
          <a:bodyPr>
            <a:normAutofit/>
          </a:bodyPr>
          <a:lstStyle>
            <a:lvl1pPr>
              <a:defRPr sz="2500" b="1">
                <a:solidFill>
                  <a:schemeClr val="bg1"/>
                </a:solidFill>
                <a:latin typeface="Swis721 Cn BT" panose="020B0506020202030204" pitchFamily="34" charset="0"/>
              </a:defRPr>
            </a:lvl1pPr>
          </a:lstStyle>
          <a:p>
            <a:r>
              <a:rPr lang="es-ES" dirty="0"/>
              <a:t>Haga clic para modificar el estilo de título del patrón</a:t>
            </a:r>
            <a:endParaRPr lang="en-US" dirty="0"/>
          </a:p>
        </p:txBody>
      </p:sp>
      <p:sp>
        <p:nvSpPr>
          <p:cNvPr id="8" name="Marcador de texto 10">
            <a:extLst>
              <a:ext uri="{FF2B5EF4-FFF2-40B4-BE49-F238E27FC236}">
                <a16:creationId xmlns:a16="http://schemas.microsoft.com/office/drawing/2014/main" id="{BF67CE14-A5D1-4B2D-B89B-0E145842DBF0}"/>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2654513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 blanc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Marcador de texto 10">
            <a:extLst>
              <a:ext uri="{FF2B5EF4-FFF2-40B4-BE49-F238E27FC236}">
                <a16:creationId xmlns:a16="http://schemas.microsoft.com/office/drawing/2014/main" id="{4787A401-A02F-4CD2-8846-F08DC2168657}"/>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2324257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ido con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9841" y="723874"/>
            <a:ext cx="2949178" cy="926965"/>
          </a:xfrm>
        </p:spPr>
        <p:txBody>
          <a:bodyPr anchor="b">
            <a:normAutofit/>
          </a:bodyPr>
          <a:lstStyle>
            <a:lvl1pPr>
              <a:defRPr sz="2000">
                <a:latin typeface="Swis721 Cn BT" panose="020B0506020202030204" pitchFamily="34" charset="0"/>
              </a:defRPr>
            </a:lvl1pPr>
          </a:lstStyle>
          <a:p>
            <a:r>
              <a:rPr lang="es-ES" dirty="0"/>
              <a:t>Haga clic para modificar el estilo de título del patrón</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atin typeface="Swis721 Cn BT" panose="020B0506020202030204" pitchFamily="34" charset="0"/>
              </a:defRPr>
            </a:lvl1pPr>
            <a:lvl2pPr>
              <a:defRPr sz="2100">
                <a:latin typeface="Swis721 Cn BT" panose="020B0506020202030204" pitchFamily="34" charset="0"/>
              </a:defRPr>
            </a:lvl2pPr>
            <a:lvl3pPr>
              <a:defRPr sz="1800">
                <a:latin typeface="Swis721 Cn BT" panose="020B0506020202030204" pitchFamily="34" charset="0"/>
              </a:defRPr>
            </a:lvl3pPr>
            <a:lvl4pPr>
              <a:defRPr sz="1500">
                <a:latin typeface="Swis721 Cn BT" panose="020B0506020202030204" pitchFamily="34" charset="0"/>
              </a:defRPr>
            </a:lvl4pPr>
            <a:lvl5pPr>
              <a:defRPr sz="1500">
                <a:latin typeface="Swis721 Cn BT" panose="020B0506020202030204" pitchFamily="34" charset="0"/>
              </a:defRPr>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1725038"/>
            <a:ext cx="2949178" cy="2676703"/>
          </a:xfrm>
        </p:spPr>
        <p:txBody>
          <a:bodyPr/>
          <a:lstStyle>
            <a:lvl1pPr marL="0" indent="0">
              <a:buNone/>
              <a:defRPr sz="1200">
                <a:latin typeface="Swis721 Cn BT" panose="020B050602020203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dirty="0"/>
              <a:t>Haga clic para modificar los estilos de texto del patrón</a:t>
            </a:r>
          </a:p>
        </p:txBody>
      </p:sp>
      <p:sp>
        <p:nvSpPr>
          <p:cNvPr id="10" name="Marcador de texto 10">
            <a:extLst>
              <a:ext uri="{FF2B5EF4-FFF2-40B4-BE49-F238E27FC236}">
                <a16:creationId xmlns:a16="http://schemas.microsoft.com/office/drawing/2014/main" id="{032CC20D-9E56-472C-9665-0F2BF8E19DA2}"/>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1898756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740568"/>
            <a:ext cx="2949178" cy="802481"/>
          </a:xfrm>
        </p:spPr>
        <p:txBody>
          <a:bodyPr anchor="b"/>
          <a:lstStyle>
            <a:lvl1pPr>
              <a:defRPr sz="1600">
                <a:solidFill>
                  <a:srgbClr val="003C58"/>
                </a:solidFill>
              </a:defRPr>
            </a:lvl1pPr>
          </a:lstStyle>
          <a:p>
            <a:r>
              <a:rPr lang="es-ES" dirty="0"/>
              <a:t>Haga clic para modificar el estilo de título del patrón</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9" name="Marcador de texto 10">
            <a:extLst>
              <a:ext uri="{FF2B5EF4-FFF2-40B4-BE49-F238E27FC236}">
                <a16:creationId xmlns:a16="http://schemas.microsoft.com/office/drawing/2014/main" id="{7F1314DE-EBE6-4287-955A-EBEBC589ED63}"/>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889583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ítulo y texto vertic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79290"/>
            <a:ext cx="7245350" cy="465459"/>
          </a:xfrm>
        </p:spPr>
        <p:txBody>
          <a:bodyPr>
            <a:normAutofit/>
          </a:bodyPr>
          <a:lstStyle>
            <a:lvl1pPr>
              <a:defRPr sz="2500" b="1">
                <a:solidFill>
                  <a:schemeClr val="bg1"/>
                </a:solidFill>
                <a:latin typeface="Swis721 Cn BT" panose="020B0506020202030204" pitchFamily="34" charset="0"/>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655856"/>
            <a:ext cx="7886700" cy="3611343"/>
          </a:xfrm>
        </p:spPr>
        <p:txBody>
          <a:bodyPr vert="eaVert"/>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9" name="Marcador de texto 10">
            <a:extLst>
              <a:ext uri="{FF2B5EF4-FFF2-40B4-BE49-F238E27FC236}">
                <a16:creationId xmlns:a16="http://schemas.microsoft.com/office/drawing/2014/main" id="{5BC3FB6E-5DC7-4EF4-B301-6A5F1AD3B902}"/>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26481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09600"/>
            <a:ext cx="1971675" cy="3735421"/>
          </a:xfrm>
        </p:spPr>
        <p:txBody>
          <a:bodyPr vert="eaVert"/>
          <a:lstStyle>
            <a:lvl1pPr>
              <a:defRPr>
                <a:solidFill>
                  <a:srgbClr val="003C58"/>
                </a:solidFil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609600"/>
            <a:ext cx="5800725" cy="3735421"/>
          </a:xfrm>
        </p:spPr>
        <p:txBody>
          <a:bodyPr vert="eaVert"/>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7" name="Marcador de texto 10">
            <a:extLst>
              <a:ext uri="{FF2B5EF4-FFF2-40B4-BE49-F238E27FC236}">
                <a16:creationId xmlns:a16="http://schemas.microsoft.com/office/drawing/2014/main" id="{B0C4A44D-33ED-49C3-A2D4-76C44342262E}"/>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1995531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79291"/>
            <a:ext cx="6830514" cy="478428"/>
          </a:xfrm>
          <a:prstGeom prst="rect">
            <a:avLst/>
          </a:prstGeom>
        </p:spPr>
        <p:txBody>
          <a:bodyPr vert="horz" lIns="91440" tIns="45720" rIns="91440" bIns="45720" rtlCol="0" anchor="ctr">
            <a:no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28650" y="675314"/>
            <a:ext cx="7886700" cy="326350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Imagen 5">
            <a:extLst>
              <a:ext uri="{FF2B5EF4-FFF2-40B4-BE49-F238E27FC236}">
                <a16:creationId xmlns:a16="http://schemas.microsoft.com/office/drawing/2014/main" id="{14957CCC-1448-ED00-EC47-382E7141EEC8}"/>
              </a:ext>
            </a:extLst>
          </p:cNvPr>
          <p:cNvPicPr>
            <a:picLocks noChangeAspect="1"/>
          </p:cNvPicPr>
          <p:nvPr userDrawn="1"/>
        </p:nvPicPr>
        <p:blipFill>
          <a:blip r:embed="rId14"/>
          <a:stretch>
            <a:fillRect/>
          </a:stretch>
        </p:blipFill>
        <p:spPr>
          <a:xfrm>
            <a:off x="7459164" y="0"/>
            <a:ext cx="1684836" cy="557719"/>
          </a:xfrm>
          <a:prstGeom prst="rect">
            <a:avLst/>
          </a:prstGeom>
        </p:spPr>
      </p:pic>
      <p:sp>
        <p:nvSpPr>
          <p:cNvPr id="8" name="Rectángulo 7">
            <a:extLst>
              <a:ext uri="{FF2B5EF4-FFF2-40B4-BE49-F238E27FC236}">
                <a16:creationId xmlns:a16="http://schemas.microsoft.com/office/drawing/2014/main" id="{494CBDEA-5BC1-837E-A18A-71C942BF3D77}"/>
              </a:ext>
            </a:extLst>
          </p:cNvPr>
          <p:cNvSpPr/>
          <p:nvPr userDrawn="1"/>
        </p:nvSpPr>
        <p:spPr>
          <a:xfrm>
            <a:off x="6727364" y="4383988"/>
            <a:ext cx="2286000" cy="6719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9" name="Imagen 8">
            <a:extLst>
              <a:ext uri="{FF2B5EF4-FFF2-40B4-BE49-F238E27FC236}">
                <a16:creationId xmlns:a16="http://schemas.microsoft.com/office/drawing/2014/main" id="{09C2338A-9357-2F0F-0403-2BEFE81B79AE}"/>
              </a:ext>
            </a:extLst>
          </p:cNvPr>
          <p:cNvPicPr>
            <a:picLocks noChangeAspect="1"/>
          </p:cNvPicPr>
          <p:nvPr userDrawn="1"/>
        </p:nvPicPr>
        <p:blipFill>
          <a:blip r:embed="rId15"/>
          <a:stretch>
            <a:fillRect/>
          </a:stretch>
        </p:blipFill>
        <p:spPr>
          <a:xfrm>
            <a:off x="6783347" y="4410951"/>
            <a:ext cx="2230017" cy="671920"/>
          </a:xfrm>
          <a:prstGeom prst="rect">
            <a:avLst/>
          </a:prstGeom>
        </p:spPr>
      </p:pic>
    </p:spTree>
    <p:extLst>
      <p:ext uri="{BB962C8B-B14F-4D97-AF65-F5344CB8AC3E}">
        <p14:creationId xmlns:p14="http://schemas.microsoft.com/office/powerpoint/2010/main" val="30144637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2500" b="1" kern="1200">
          <a:solidFill>
            <a:schemeClr val="bg1"/>
          </a:solidFill>
          <a:latin typeface="Swis721 Cn BT" panose="020B050602020203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Swis721 Cn BT" panose="020B050602020203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Swis721 Cn BT" panose="020B050602020203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Swis721 Cn BT" panose="020B050602020203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wis721 Cn BT" panose="020B050602020203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wis721 Cn BT" panose="020B050602020203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org&amp;utm_campaign=index&amp;utm_content=thumbnail&amp;_=20250728014952"/><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2.org&amp;utm_campaign=index&amp;utm_content=thumbnail&amp;_=20230814075517"/><Relationship Id="rId5" Type="http://schemas.openxmlformats.org/officeDocument/2006/relationships/image" Target="../media/image21.org&amp;utm_campaign=index&amp;utm_content=thumbnail&amp;_=20250728014948"/><Relationship Id="rId4" Type="http://schemas.openxmlformats.org/officeDocument/2006/relationships/image" Target="../media/image20.org&amp;utm_campaign=index&amp;utm_content=thumbnail&amp;_=20260428111349"/></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6.png"/><Relationship Id="rId7"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1.png"/><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spcAft>
                <a:spcPts val="0"/>
              </a:spcAft>
            </a:pPr>
            <a:r>
              <a:rPr sz="2200" b="1" i="0" dirty="0">
                <a:solidFill>
                  <a:srgbClr val="003C58"/>
                </a:solidFill>
                <a:latin typeface="Swis721 Cn BT"/>
              </a:rPr>
              <a:t>IA </a:t>
            </a:r>
            <a:r>
              <a:rPr sz="2200" b="1" i="0" dirty="0" err="1">
                <a:solidFill>
                  <a:srgbClr val="003C58"/>
                </a:solidFill>
                <a:latin typeface="Swis721 Cn BT"/>
              </a:rPr>
              <a:t>generativa</a:t>
            </a:r>
            <a:r>
              <a:rPr sz="2200" b="1" i="0" dirty="0">
                <a:solidFill>
                  <a:srgbClr val="003C58"/>
                </a:solidFill>
                <a:latin typeface="Swis721 Cn BT"/>
              </a:rPr>
              <a:t> </a:t>
            </a:r>
            <a:r>
              <a:rPr sz="2200" b="1" i="0" dirty="0" err="1">
                <a:solidFill>
                  <a:srgbClr val="003C58"/>
                </a:solidFill>
                <a:latin typeface="Swis721 Cn BT"/>
              </a:rPr>
              <a:t>en</a:t>
            </a:r>
            <a:r>
              <a:rPr sz="2200" b="1" i="0" dirty="0">
                <a:solidFill>
                  <a:srgbClr val="003C58"/>
                </a:solidFill>
                <a:latin typeface="Swis721 Cn BT"/>
              </a:rPr>
              <a:t> Matronería: </a:t>
            </a:r>
            <a:r>
              <a:rPr lang="es-419" sz="2200" b="1" i="0" dirty="0">
                <a:solidFill>
                  <a:srgbClr val="003C58"/>
                </a:solidFill>
                <a:latin typeface="Swis721 Cn BT"/>
              </a:rPr>
              <a:t>elaboración de </a:t>
            </a:r>
            <a:r>
              <a:rPr sz="2200" b="1" i="0" dirty="0" err="1">
                <a:solidFill>
                  <a:srgbClr val="003C58"/>
                </a:solidFill>
                <a:latin typeface="Swis721 Cn BT"/>
              </a:rPr>
              <a:t>protocolos</a:t>
            </a:r>
            <a:r>
              <a:rPr sz="2200" b="1" i="0" dirty="0">
                <a:solidFill>
                  <a:srgbClr val="003C58"/>
                </a:solidFill>
                <a:latin typeface="Swis721 Cn BT"/>
              </a:rPr>
              <a:t> y material </a:t>
            </a:r>
            <a:r>
              <a:rPr sz="2200" b="1" i="0" dirty="0" err="1">
                <a:solidFill>
                  <a:srgbClr val="003C58"/>
                </a:solidFill>
                <a:latin typeface="Swis721 Cn BT"/>
              </a:rPr>
              <a:t>educativo</a:t>
            </a:r>
            <a:endParaRPr sz="2200" b="1" i="0" dirty="0">
              <a:solidFill>
                <a:srgbClr val="003C58"/>
              </a:solidFill>
              <a:latin typeface="Swis721 Cn BT"/>
            </a:endParaRPr>
          </a:p>
        </p:txBody>
      </p:sp>
      <p:sp>
        <p:nvSpPr>
          <p:cNvPr id="3" name="Text Placeholder 2"/>
          <p:cNvSpPr>
            <a:spLocks noGrp="1"/>
          </p:cNvSpPr>
          <p:nvPr>
            <p:ph type="body" sz="quarter" idx="10"/>
          </p:nvPr>
        </p:nvSpPr>
        <p:spPr>
          <a:xfrm>
            <a:off x="4267200" y="3182750"/>
            <a:ext cx="4876800" cy="600355"/>
          </a:xfrm>
        </p:spPr>
        <p:txBody>
          <a:bodyPr>
            <a:normAutofit lnSpcReduction="10000"/>
          </a:bodyPr>
          <a:lstStyle/>
          <a:p>
            <a:pPr algn="l">
              <a:spcAft>
                <a:spcPts val="0"/>
              </a:spcAft>
            </a:pPr>
            <a:r>
              <a:rPr lang="es-419" b="1" i="0" dirty="0">
                <a:latin typeface="Swis721 Cn BT"/>
              </a:rPr>
              <a:t>[</a:t>
            </a:r>
            <a:r>
              <a:rPr b="1" i="0" dirty="0">
                <a:solidFill>
                  <a:srgbClr val="06717E"/>
                </a:solidFill>
                <a:latin typeface="Swis721 Cn BT"/>
              </a:rPr>
              <a:t>Un </a:t>
            </a:r>
            <a:r>
              <a:rPr b="1" i="0" dirty="0" err="1">
                <a:solidFill>
                  <a:srgbClr val="06717E"/>
                </a:solidFill>
                <a:latin typeface="Swis721 Cn BT"/>
              </a:rPr>
              <a:t>método</a:t>
            </a:r>
            <a:r>
              <a:rPr b="1" i="0" dirty="0">
                <a:solidFill>
                  <a:srgbClr val="06717E"/>
                </a:solidFill>
                <a:latin typeface="Swis721 Cn BT"/>
              </a:rPr>
              <a:t> </a:t>
            </a:r>
            <a:r>
              <a:rPr b="1" i="0" dirty="0" err="1">
                <a:solidFill>
                  <a:srgbClr val="06717E"/>
                </a:solidFill>
                <a:latin typeface="Swis721 Cn BT"/>
              </a:rPr>
              <a:t>agnóstico</a:t>
            </a:r>
            <a:r>
              <a:rPr lang="es-419" b="1" dirty="0">
                <a:solidFill>
                  <a:srgbClr val="06717E"/>
                </a:solidFill>
                <a:latin typeface="Swis721 Cn BT"/>
              </a:rPr>
              <a:t> que</a:t>
            </a:r>
            <a:r>
              <a:rPr b="1" i="0" dirty="0">
                <a:solidFill>
                  <a:srgbClr val="06717E"/>
                </a:solidFill>
                <a:latin typeface="Swis721 Cn BT"/>
              </a:rPr>
              <a:t> </a:t>
            </a:r>
            <a:r>
              <a:rPr b="1" i="0" dirty="0" err="1">
                <a:solidFill>
                  <a:srgbClr val="06717E"/>
                </a:solidFill>
                <a:latin typeface="Swis721 Cn BT"/>
              </a:rPr>
              <a:t>funciona</a:t>
            </a:r>
            <a:r>
              <a:rPr b="1" i="0" dirty="0">
                <a:solidFill>
                  <a:srgbClr val="06717E"/>
                </a:solidFill>
                <a:latin typeface="Swis721 Cn BT"/>
              </a:rPr>
              <a:t> con </a:t>
            </a:r>
            <a:r>
              <a:rPr b="1" i="0" dirty="0" err="1">
                <a:solidFill>
                  <a:srgbClr val="06717E"/>
                </a:solidFill>
                <a:latin typeface="Swis721 Cn BT"/>
              </a:rPr>
              <a:t>cualquier</a:t>
            </a:r>
            <a:r>
              <a:rPr b="1" i="0" dirty="0">
                <a:solidFill>
                  <a:srgbClr val="06717E"/>
                </a:solidFill>
                <a:latin typeface="Swis721 Cn BT"/>
              </a:rPr>
              <a:t> </a:t>
            </a:r>
            <a:r>
              <a:rPr b="1" i="0" dirty="0" err="1">
                <a:solidFill>
                  <a:srgbClr val="06717E"/>
                </a:solidFill>
                <a:latin typeface="Swis721 Cn BT"/>
              </a:rPr>
              <a:t>modelo</a:t>
            </a:r>
            <a:r>
              <a:rPr lang="es-419" b="1" i="0" dirty="0">
                <a:latin typeface="Swis721 Cn BT"/>
              </a:rPr>
              <a:t>]</a:t>
            </a:r>
            <a:endParaRPr b="1" i="0" dirty="0">
              <a:latin typeface="Swis721 Cn BT"/>
            </a:endParaRPr>
          </a:p>
          <a:p>
            <a:pPr algn="l">
              <a:spcAft>
                <a:spcPts val="0"/>
              </a:spcAft>
            </a:pPr>
            <a:r>
              <a:rPr sz="1400" b="0" i="0" dirty="0">
                <a:solidFill>
                  <a:srgbClr val="003C58"/>
                </a:solidFill>
                <a:latin typeface="Swis721 Cn BT"/>
              </a:rPr>
              <a:t>Jornada Alumni 2026 · </a:t>
            </a:r>
            <a:r>
              <a:rPr sz="1400" b="0" i="0" dirty="0" err="1">
                <a:solidFill>
                  <a:srgbClr val="003C58"/>
                </a:solidFill>
                <a:latin typeface="Swis721 Cn BT"/>
              </a:rPr>
              <a:t>Capacitación</a:t>
            </a:r>
            <a:endParaRPr sz="1400" b="0" i="0" dirty="0">
              <a:solidFill>
                <a:srgbClr val="003C58"/>
              </a:solidFill>
              <a:latin typeface="Swis721 Cn BT"/>
            </a:endParaRPr>
          </a:p>
        </p:txBody>
      </p:sp>
      <p:sp>
        <p:nvSpPr>
          <p:cNvPr id="4" name="Text Placeholder 3"/>
          <p:cNvSpPr>
            <a:spLocks noGrp="1"/>
          </p:cNvSpPr>
          <p:nvPr>
            <p:ph type="body" sz="quarter" idx="11"/>
          </p:nvPr>
        </p:nvSpPr>
        <p:spPr/>
        <p:txBody>
          <a:bodyPr>
            <a:normAutofit fontScale="92500" lnSpcReduction="10000"/>
          </a:bodyPr>
          <a:lstStyle/>
          <a:p>
            <a:pPr algn="l">
              <a:spcAft>
                <a:spcPts val="0"/>
              </a:spcAft>
            </a:pPr>
            <a:r>
              <a:rPr sz="1050" b="0" i="0">
                <a:solidFill>
                  <a:srgbClr val="003C58"/>
                </a:solidFill>
                <a:latin typeface="Swis721 Cn BT"/>
              </a:rPr>
              <a:t>Escuela de Obstetricia y Puericultura</a:t>
            </a:r>
          </a:p>
          <a:p>
            <a:pPr algn="l">
              <a:spcAft>
                <a:spcPts val="0"/>
              </a:spcAft>
            </a:pPr>
            <a:r>
              <a:rPr sz="1050" b="0" i="0">
                <a:solidFill>
                  <a:srgbClr val="003C58"/>
                </a:solidFill>
                <a:latin typeface="Swis721 Cn BT"/>
              </a:rPr>
              <a:t>Jornada Alumni 2026</a:t>
            </a:r>
          </a:p>
        </p:txBody>
      </p:sp>
      <p:sp>
        <p:nvSpPr>
          <p:cNvPr id="5" name="Marcador de texto 5">
            <a:extLst>
              <a:ext uri="{FF2B5EF4-FFF2-40B4-BE49-F238E27FC236}">
                <a16:creationId xmlns:a16="http://schemas.microsoft.com/office/drawing/2014/main" id="{33CA7BF8-6AC6-5E5C-E1DA-627A288F4692}"/>
              </a:ext>
            </a:extLst>
          </p:cNvPr>
          <p:cNvSpPr txBox="1">
            <a:spLocks/>
          </p:cNvSpPr>
          <p:nvPr/>
        </p:nvSpPr>
        <p:spPr>
          <a:xfrm>
            <a:off x="4267199" y="4141694"/>
            <a:ext cx="4733925" cy="962625"/>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rgbClr val="003C58"/>
                </a:solidFill>
                <a:latin typeface="Swis721 Cn BT" panose="020B050602020203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Swis721 Cn BT" panose="020B050602020203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Swis721 Cn BT" panose="020B050602020203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wis721 Cn BT" panose="020B050602020203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wis721 Cn BT" panose="020B050602020203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s-CL" sz="1200" b="1" dirty="0"/>
              <a:t>Cristian Carreño León​ </a:t>
            </a:r>
            <a:r>
              <a:rPr lang="es-CL" sz="1200" b="1" dirty="0">
                <a:solidFill>
                  <a:srgbClr val="06717E"/>
                </a:solidFill>
              </a:rPr>
              <a:t>|</a:t>
            </a:r>
            <a:r>
              <a:rPr lang="es-CL" sz="1200" b="1" dirty="0"/>
              <a:t> </a:t>
            </a:r>
            <a:r>
              <a:rPr lang="es-CL" sz="1200" b="1" dirty="0" err="1"/>
              <a:t>cristian.carreno@uv.cl</a:t>
            </a:r>
            <a:br>
              <a:rPr lang="es-CL" sz="1200" dirty="0"/>
            </a:br>
            <a:r>
              <a:rPr lang="es-CL" sz="1200" dirty="0">
                <a:solidFill>
                  <a:srgbClr val="06717E"/>
                </a:solidFill>
              </a:rPr>
              <a:t>Profesor de Matemática y Computación.​</a:t>
            </a:r>
            <a:br>
              <a:rPr lang="es-CL" sz="1200" dirty="0">
                <a:solidFill>
                  <a:srgbClr val="06717E"/>
                </a:solidFill>
              </a:rPr>
            </a:br>
            <a:r>
              <a:rPr lang="es-CL" sz="1200" dirty="0">
                <a:solidFill>
                  <a:srgbClr val="06717E"/>
                </a:solidFill>
              </a:rPr>
              <a:t>Magíster Comunicación Educativa. Nuevas Tecnologías.​</a:t>
            </a:r>
            <a:br>
              <a:rPr lang="es-CL" sz="1200" dirty="0">
                <a:solidFill>
                  <a:srgbClr val="06717E"/>
                </a:solidFill>
              </a:rPr>
            </a:br>
            <a:r>
              <a:rPr lang="es-CL" sz="1200" dirty="0">
                <a:solidFill>
                  <a:srgbClr val="06717E"/>
                </a:solidFill>
              </a:rPr>
              <a:t>Diplomado en Data </a:t>
            </a:r>
            <a:r>
              <a:rPr lang="es-CL" sz="1200" dirty="0" err="1">
                <a:solidFill>
                  <a:srgbClr val="06717E"/>
                </a:solidFill>
              </a:rPr>
              <a:t>Science</a:t>
            </a:r>
            <a:r>
              <a:rPr lang="es-CL" sz="1200" dirty="0">
                <a:solidFill>
                  <a:srgbClr val="06717E"/>
                </a:solidFill>
              </a:rPr>
              <a:t>.​</a:t>
            </a:r>
            <a:br>
              <a:rPr lang="es-CL" sz="1200" dirty="0">
                <a:solidFill>
                  <a:srgbClr val="06717E"/>
                </a:solidFill>
              </a:rPr>
            </a:br>
            <a:r>
              <a:rPr lang="es-CL" sz="1200" dirty="0">
                <a:solidFill>
                  <a:srgbClr val="06717E"/>
                </a:solidFill>
              </a:rPr>
              <a:t>Diplomado en Formación Pedagógica.​</a:t>
            </a:r>
          </a:p>
        </p:txBody>
      </p:sp>
      <p:cxnSp>
        <p:nvCxnSpPr>
          <p:cNvPr id="7" name="Conector recto 6">
            <a:extLst>
              <a:ext uri="{FF2B5EF4-FFF2-40B4-BE49-F238E27FC236}">
                <a16:creationId xmlns:a16="http://schemas.microsoft.com/office/drawing/2014/main" id="{341E58B8-E8CD-73FA-5A77-67141EC89285}"/>
              </a:ext>
            </a:extLst>
          </p:cNvPr>
          <p:cNvCxnSpPr/>
          <p:nvPr/>
        </p:nvCxnSpPr>
        <p:spPr>
          <a:xfrm>
            <a:off x="4329953" y="4025155"/>
            <a:ext cx="4527176" cy="0"/>
          </a:xfrm>
          <a:prstGeom prst="line">
            <a:avLst/>
          </a:prstGeom>
          <a:ln w="38100">
            <a:solidFill>
              <a:srgbClr val="06717E"/>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Ruta de hoy: de entender la IA a usarla con criterio</a:t>
            </a:r>
          </a:p>
        </p:txBody>
      </p:sp>
      <p:cxnSp>
        <p:nvCxnSpPr>
          <p:cNvPr id="3" name="Connector 2"/>
          <p:cNvCxnSpPr/>
          <p:nvPr/>
        </p:nvCxnSpPr>
        <p:spPr>
          <a:xfrm>
            <a:off x="1188720" y="1371600"/>
            <a:ext cx="6364224" cy="0"/>
          </a:xfrm>
          <a:prstGeom prst="line">
            <a:avLst/>
          </a:prstGeom>
          <a:ln w="50800">
            <a:solidFill>
              <a:srgbClr val="C9DAE3"/>
            </a:solidFill>
          </a:ln>
        </p:spPr>
      </p:cxnSp>
      <p:sp>
        <p:nvSpPr>
          <p:cNvPr id="4" name="Oval 3"/>
          <p:cNvSpPr/>
          <p:nvPr/>
        </p:nvSpPr>
        <p:spPr>
          <a:xfrm>
            <a:off x="754380" y="937259"/>
            <a:ext cx="868680" cy="868680"/>
          </a:xfrm>
          <a:prstGeom prst="ellipse">
            <a:avLst/>
          </a:prstGeom>
          <a:solidFill>
            <a:srgbClr val="003C58"/>
          </a:solidFill>
          <a:ln>
            <a:noFill/>
          </a:ln>
        </p:spPr>
        <p:txBody>
          <a:bodyPr rtlCol="0" anchor="ctr"/>
          <a:lstStyle/>
          <a:p>
            <a:pPr algn="ctr"/>
            <a:endParaRPr/>
          </a:p>
        </p:txBody>
      </p:sp>
      <p:pic>
        <p:nvPicPr>
          <p:cNvPr id="5" name="Picture 4" descr="MdPsychology_blanco.png"/>
          <p:cNvPicPr>
            <a:picLocks noChangeAspect="1"/>
          </p:cNvPicPr>
          <p:nvPr/>
        </p:nvPicPr>
        <p:blipFill>
          <a:blip r:embed="rId3"/>
          <a:stretch>
            <a:fillRect/>
          </a:stretch>
        </p:blipFill>
        <p:spPr>
          <a:xfrm>
            <a:off x="936802" y="1119682"/>
            <a:ext cx="503834" cy="503834"/>
          </a:xfrm>
          <a:prstGeom prst="rect">
            <a:avLst/>
          </a:prstGeom>
        </p:spPr>
      </p:pic>
      <p:sp>
        <p:nvSpPr>
          <p:cNvPr id="6" name="Oval 5"/>
          <p:cNvSpPr/>
          <p:nvPr/>
        </p:nvSpPr>
        <p:spPr>
          <a:xfrm>
            <a:off x="1362456" y="868680"/>
            <a:ext cx="310896" cy="310896"/>
          </a:xfrm>
          <a:prstGeom prst="ellipse">
            <a:avLst/>
          </a:prstGeom>
          <a:solidFill>
            <a:srgbClr val="F2B705"/>
          </a:solidFill>
          <a:ln>
            <a:noFill/>
          </a:ln>
        </p:spPr>
        <p:txBody>
          <a:bodyPr lIns="0" tIns="0" rIns="0" bIns="0" rtlCol="0" anchor="ctr"/>
          <a:lstStyle/>
          <a:p>
            <a:pPr algn="ctr">
              <a:spcAft>
                <a:spcPts val="0"/>
              </a:spcAft>
            </a:pPr>
            <a:r>
              <a:rPr sz="1200" b="1" i="0">
                <a:solidFill>
                  <a:srgbClr val="1F2A30"/>
                </a:solidFill>
                <a:latin typeface="Swis721 Cn BT"/>
              </a:rPr>
              <a:t>1</a:t>
            </a:r>
          </a:p>
        </p:txBody>
      </p:sp>
      <p:sp>
        <p:nvSpPr>
          <p:cNvPr id="7" name="TextBox 6"/>
          <p:cNvSpPr txBox="1"/>
          <p:nvPr/>
        </p:nvSpPr>
        <p:spPr>
          <a:xfrm>
            <a:off x="402336" y="1901952"/>
            <a:ext cx="1572768" cy="292608"/>
          </a:xfrm>
          <a:prstGeom prst="rect">
            <a:avLst/>
          </a:prstGeom>
          <a:noFill/>
        </p:spPr>
        <p:txBody>
          <a:bodyPr wrap="square" lIns="0" tIns="0" rIns="0" bIns="0" anchor="t">
            <a:noAutofit/>
          </a:bodyPr>
          <a:lstStyle/>
          <a:p>
            <a:pPr algn="ctr">
              <a:spcAft>
                <a:spcPts val="0"/>
              </a:spcAft>
            </a:pPr>
            <a:r>
              <a:rPr sz="1300" b="1" i="0">
                <a:solidFill>
                  <a:srgbClr val="003C58"/>
                </a:solidFill>
                <a:latin typeface="Swis721 Cn BT"/>
              </a:rPr>
              <a:t>Cómo funciona</a:t>
            </a:r>
          </a:p>
        </p:txBody>
      </p:sp>
      <p:sp>
        <p:nvSpPr>
          <p:cNvPr id="8" name="TextBox 7"/>
          <p:cNvSpPr txBox="1"/>
          <p:nvPr/>
        </p:nvSpPr>
        <p:spPr>
          <a:xfrm>
            <a:off x="402336" y="2194560"/>
            <a:ext cx="1572768" cy="457200"/>
          </a:xfrm>
          <a:prstGeom prst="rect">
            <a:avLst/>
          </a:prstGeom>
          <a:noFill/>
        </p:spPr>
        <p:txBody>
          <a:bodyPr wrap="square" lIns="0" tIns="0" rIns="0" bIns="0" anchor="t">
            <a:noAutofit/>
          </a:bodyPr>
          <a:lstStyle/>
          <a:p>
            <a:pPr algn="ctr">
              <a:spcAft>
                <a:spcPts val="0"/>
              </a:spcAft>
            </a:pPr>
            <a:r>
              <a:rPr sz="1150" b="0" i="0">
                <a:solidFill>
                  <a:srgbClr val="5B6B73"/>
                </a:solidFill>
                <a:latin typeface="Swis721 Cn BT"/>
              </a:rPr>
              <a:t>de la neurona al Transformer</a:t>
            </a:r>
          </a:p>
        </p:txBody>
      </p:sp>
      <p:sp>
        <p:nvSpPr>
          <p:cNvPr id="9" name="Oval 8"/>
          <p:cNvSpPr/>
          <p:nvPr/>
        </p:nvSpPr>
        <p:spPr>
          <a:xfrm>
            <a:off x="2345436" y="937259"/>
            <a:ext cx="868680" cy="868680"/>
          </a:xfrm>
          <a:prstGeom prst="ellipse">
            <a:avLst/>
          </a:prstGeom>
          <a:solidFill>
            <a:srgbClr val="06717E"/>
          </a:solidFill>
          <a:ln>
            <a:noFill/>
          </a:ln>
        </p:spPr>
        <p:txBody>
          <a:bodyPr rtlCol="0" anchor="ctr"/>
          <a:lstStyle/>
          <a:p>
            <a:pPr algn="ctr"/>
            <a:endParaRPr/>
          </a:p>
        </p:txBody>
      </p:sp>
      <p:pic>
        <p:nvPicPr>
          <p:cNvPr id="10" name="Picture 9" descr="MdHub_blanco.png"/>
          <p:cNvPicPr>
            <a:picLocks noChangeAspect="1"/>
          </p:cNvPicPr>
          <p:nvPr/>
        </p:nvPicPr>
        <p:blipFill>
          <a:blip r:embed="rId4"/>
          <a:stretch>
            <a:fillRect/>
          </a:stretch>
        </p:blipFill>
        <p:spPr>
          <a:xfrm>
            <a:off x="2527858" y="1119682"/>
            <a:ext cx="503834" cy="503834"/>
          </a:xfrm>
          <a:prstGeom prst="rect">
            <a:avLst/>
          </a:prstGeom>
        </p:spPr>
      </p:pic>
      <p:sp>
        <p:nvSpPr>
          <p:cNvPr id="11" name="Oval 10"/>
          <p:cNvSpPr/>
          <p:nvPr/>
        </p:nvSpPr>
        <p:spPr>
          <a:xfrm>
            <a:off x="2953512" y="868680"/>
            <a:ext cx="310896" cy="310896"/>
          </a:xfrm>
          <a:prstGeom prst="ellipse">
            <a:avLst/>
          </a:prstGeom>
          <a:solidFill>
            <a:srgbClr val="F2B705"/>
          </a:solidFill>
          <a:ln>
            <a:noFill/>
          </a:ln>
        </p:spPr>
        <p:txBody>
          <a:bodyPr lIns="0" tIns="0" rIns="0" bIns="0" rtlCol="0" anchor="ctr"/>
          <a:lstStyle/>
          <a:p>
            <a:pPr algn="ctr">
              <a:spcAft>
                <a:spcPts val="0"/>
              </a:spcAft>
            </a:pPr>
            <a:r>
              <a:rPr sz="1200" b="1" i="0">
                <a:solidFill>
                  <a:srgbClr val="1F2A30"/>
                </a:solidFill>
                <a:latin typeface="Swis721 Cn BT"/>
              </a:rPr>
              <a:t>2</a:t>
            </a:r>
          </a:p>
        </p:txBody>
      </p:sp>
      <p:sp>
        <p:nvSpPr>
          <p:cNvPr id="12" name="TextBox 11"/>
          <p:cNvSpPr txBox="1"/>
          <p:nvPr/>
        </p:nvSpPr>
        <p:spPr>
          <a:xfrm>
            <a:off x="1993392" y="1901952"/>
            <a:ext cx="1572768" cy="292608"/>
          </a:xfrm>
          <a:prstGeom prst="rect">
            <a:avLst/>
          </a:prstGeom>
          <a:noFill/>
        </p:spPr>
        <p:txBody>
          <a:bodyPr wrap="square" lIns="0" tIns="0" rIns="0" bIns="0" anchor="t">
            <a:noAutofit/>
          </a:bodyPr>
          <a:lstStyle/>
          <a:p>
            <a:pPr algn="ctr">
              <a:spcAft>
                <a:spcPts val="0"/>
              </a:spcAft>
            </a:pPr>
            <a:r>
              <a:rPr sz="1300" b="1" i="0">
                <a:solidFill>
                  <a:srgbClr val="003C58"/>
                </a:solidFill>
                <a:latin typeface="Swis721 Cn BT"/>
              </a:rPr>
              <a:t>Plataformas</a:t>
            </a:r>
          </a:p>
        </p:txBody>
      </p:sp>
      <p:sp>
        <p:nvSpPr>
          <p:cNvPr id="13" name="TextBox 12"/>
          <p:cNvSpPr txBox="1"/>
          <p:nvPr/>
        </p:nvSpPr>
        <p:spPr>
          <a:xfrm>
            <a:off x="1993392" y="2194560"/>
            <a:ext cx="1572768" cy="457200"/>
          </a:xfrm>
          <a:prstGeom prst="rect">
            <a:avLst/>
          </a:prstGeom>
          <a:noFill/>
        </p:spPr>
        <p:txBody>
          <a:bodyPr wrap="square" lIns="0" tIns="0" rIns="0" bIns="0" anchor="t">
            <a:noAutofit/>
          </a:bodyPr>
          <a:lstStyle/>
          <a:p>
            <a:pPr algn="ctr">
              <a:spcAft>
                <a:spcPts val="0"/>
              </a:spcAft>
            </a:pPr>
            <a:r>
              <a:rPr sz="1150" b="0" i="0">
                <a:solidFill>
                  <a:srgbClr val="5B6B73"/>
                </a:solidFill>
                <a:latin typeface="Swis721 Cn BT"/>
              </a:rPr>
              <a:t>ChatGPT, Gemini, Claude y alternativas</a:t>
            </a:r>
          </a:p>
        </p:txBody>
      </p:sp>
      <p:sp>
        <p:nvSpPr>
          <p:cNvPr id="14" name="Oval 13"/>
          <p:cNvSpPr/>
          <p:nvPr/>
        </p:nvSpPr>
        <p:spPr>
          <a:xfrm>
            <a:off x="3936492" y="937259"/>
            <a:ext cx="868680" cy="868680"/>
          </a:xfrm>
          <a:prstGeom prst="ellipse">
            <a:avLst/>
          </a:prstGeom>
          <a:solidFill>
            <a:srgbClr val="003C58"/>
          </a:solidFill>
          <a:ln>
            <a:noFill/>
          </a:ln>
        </p:spPr>
        <p:txBody>
          <a:bodyPr rtlCol="0" anchor="ctr"/>
          <a:lstStyle/>
          <a:p>
            <a:pPr algn="ctr"/>
            <a:endParaRPr/>
          </a:p>
        </p:txBody>
      </p:sp>
      <p:pic>
        <p:nvPicPr>
          <p:cNvPr id="15" name="Picture 14" descr="MdCompareArrows_blanco.png"/>
          <p:cNvPicPr>
            <a:picLocks noChangeAspect="1"/>
          </p:cNvPicPr>
          <p:nvPr/>
        </p:nvPicPr>
        <p:blipFill>
          <a:blip r:embed="rId5"/>
          <a:stretch>
            <a:fillRect/>
          </a:stretch>
        </p:blipFill>
        <p:spPr>
          <a:xfrm>
            <a:off x="4118914" y="1119682"/>
            <a:ext cx="503834" cy="503834"/>
          </a:xfrm>
          <a:prstGeom prst="rect">
            <a:avLst/>
          </a:prstGeom>
        </p:spPr>
      </p:pic>
      <p:sp>
        <p:nvSpPr>
          <p:cNvPr id="16" name="Oval 15"/>
          <p:cNvSpPr/>
          <p:nvPr/>
        </p:nvSpPr>
        <p:spPr>
          <a:xfrm>
            <a:off x="4544568" y="868680"/>
            <a:ext cx="310896" cy="310896"/>
          </a:xfrm>
          <a:prstGeom prst="ellipse">
            <a:avLst/>
          </a:prstGeom>
          <a:solidFill>
            <a:srgbClr val="F2B705"/>
          </a:solidFill>
          <a:ln>
            <a:noFill/>
          </a:ln>
        </p:spPr>
        <p:txBody>
          <a:bodyPr lIns="0" tIns="0" rIns="0" bIns="0" rtlCol="0" anchor="ctr"/>
          <a:lstStyle/>
          <a:p>
            <a:pPr algn="ctr">
              <a:spcAft>
                <a:spcPts val="0"/>
              </a:spcAft>
            </a:pPr>
            <a:r>
              <a:rPr sz="1200" b="1" i="0">
                <a:solidFill>
                  <a:srgbClr val="1F2A30"/>
                </a:solidFill>
                <a:latin typeface="Swis721 Cn BT"/>
              </a:rPr>
              <a:t>3</a:t>
            </a:r>
          </a:p>
        </p:txBody>
      </p:sp>
      <p:sp>
        <p:nvSpPr>
          <p:cNvPr id="17" name="TextBox 16"/>
          <p:cNvSpPr txBox="1"/>
          <p:nvPr/>
        </p:nvSpPr>
        <p:spPr>
          <a:xfrm>
            <a:off x="3584448" y="1901952"/>
            <a:ext cx="1572768" cy="292608"/>
          </a:xfrm>
          <a:prstGeom prst="rect">
            <a:avLst/>
          </a:prstGeom>
          <a:noFill/>
        </p:spPr>
        <p:txBody>
          <a:bodyPr wrap="square" lIns="0" tIns="0" rIns="0" bIns="0" anchor="t">
            <a:noAutofit/>
          </a:bodyPr>
          <a:lstStyle/>
          <a:p>
            <a:pPr algn="ctr">
              <a:spcAft>
                <a:spcPts val="0"/>
              </a:spcAft>
            </a:pPr>
            <a:r>
              <a:rPr sz="1300" b="1" i="0">
                <a:solidFill>
                  <a:srgbClr val="003C58"/>
                </a:solidFill>
                <a:latin typeface="Swis721 Cn BT"/>
              </a:rPr>
              <a:t>Enfoque agnóstico</a:t>
            </a:r>
          </a:p>
        </p:txBody>
      </p:sp>
      <p:sp>
        <p:nvSpPr>
          <p:cNvPr id="18" name="TextBox 17"/>
          <p:cNvSpPr txBox="1"/>
          <p:nvPr/>
        </p:nvSpPr>
        <p:spPr>
          <a:xfrm>
            <a:off x="3584448" y="2194560"/>
            <a:ext cx="1572768" cy="457200"/>
          </a:xfrm>
          <a:prstGeom prst="rect">
            <a:avLst/>
          </a:prstGeom>
          <a:noFill/>
        </p:spPr>
        <p:txBody>
          <a:bodyPr wrap="square" lIns="0" tIns="0" rIns="0" bIns="0" anchor="t">
            <a:noAutofit/>
          </a:bodyPr>
          <a:lstStyle/>
          <a:p>
            <a:pPr algn="ctr">
              <a:spcAft>
                <a:spcPts val="0"/>
              </a:spcAft>
            </a:pPr>
            <a:r>
              <a:rPr sz="1150" b="0" i="0">
                <a:solidFill>
                  <a:srgbClr val="5B6B73"/>
                </a:solidFill>
                <a:latin typeface="Swis721 Cn BT"/>
              </a:rPr>
              <a:t>el método antes que la marca</a:t>
            </a:r>
          </a:p>
        </p:txBody>
      </p:sp>
      <p:sp>
        <p:nvSpPr>
          <p:cNvPr id="19" name="Oval 18"/>
          <p:cNvSpPr/>
          <p:nvPr/>
        </p:nvSpPr>
        <p:spPr>
          <a:xfrm>
            <a:off x="5527548" y="937259"/>
            <a:ext cx="868680" cy="868680"/>
          </a:xfrm>
          <a:prstGeom prst="ellipse">
            <a:avLst/>
          </a:prstGeom>
          <a:solidFill>
            <a:srgbClr val="06717E"/>
          </a:solidFill>
          <a:ln>
            <a:noFill/>
          </a:ln>
        </p:spPr>
        <p:txBody>
          <a:bodyPr rtlCol="0" anchor="ctr"/>
          <a:lstStyle/>
          <a:p>
            <a:pPr algn="ctr"/>
            <a:endParaRPr/>
          </a:p>
        </p:txBody>
      </p:sp>
      <p:pic>
        <p:nvPicPr>
          <p:cNvPr id="20" name="Picture 19" descr="MdEditNote_blanco.png"/>
          <p:cNvPicPr>
            <a:picLocks noChangeAspect="1"/>
          </p:cNvPicPr>
          <p:nvPr/>
        </p:nvPicPr>
        <p:blipFill>
          <a:blip r:embed="rId6"/>
          <a:stretch>
            <a:fillRect/>
          </a:stretch>
        </p:blipFill>
        <p:spPr>
          <a:xfrm>
            <a:off x="5709970" y="1119682"/>
            <a:ext cx="503834" cy="503834"/>
          </a:xfrm>
          <a:prstGeom prst="rect">
            <a:avLst/>
          </a:prstGeom>
        </p:spPr>
      </p:pic>
      <p:sp>
        <p:nvSpPr>
          <p:cNvPr id="21" name="Oval 20"/>
          <p:cNvSpPr/>
          <p:nvPr/>
        </p:nvSpPr>
        <p:spPr>
          <a:xfrm>
            <a:off x="6135624" y="868680"/>
            <a:ext cx="310896" cy="310896"/>
          </a:xfrm>
          <a:prstGeom prst="ellipse">
            <a:avLst/>
          </a:prstGeom>
          <a:solidFill>
            <a:srgbClr val="F2B705"/>
          </a:solidFill>
          <a:ln>
            <a:noFill/>
          </a:ln>
        </p:spPr>
        <p:txBody>
          <a:bodyPr lIns="0" tIns="0" rIns="0" bIns="0" rtlCol="0" anchor="ctr"/>
          <a:lstStyle/>
          <a:p>
            <a:pPr algn="ctr">
              <a:spcAft>
                <a:spcPts val="0"/>
              </a:spcAft>
            </a:pPr>
            <a:r>
              <a:rPr sz="1200" b="1" i="0">
                <a:solidFill>
                  <a:srgbClr val="1F2A30"/>
                </a:solidFill>
                <a:latin typeface="Swis721 Cn BT"/>
              </a:rPr>
              <a:t>4</a:t>
            </a:r>
          </a:p>
        </p:txBody>
      </p:sp>
      <p:sp>
        <p:nvSpPr>
          <p:cNvPr id="22" name="TextBox 21"/>
          <p:cNvSpPr txBox="1"/>
          <p:nvPr/>
        </p:nvSpPr>
        <p:spPr>
          <a:xfrm>
            <a:off x="5175503" y="1901952"/>
            <a:ext cx="1572768" cy="292608"/>
          </a:xfrm>
          <a:prstGeom prst="rect">
            <a:avLst/>
          </a:prstGeom>
          <a:noFill/>
        </p:spPr>
        <p:txBody>
          <a:bodyPr wrap="square" lIns="0" tIns="0" rIns="0" bIns="0" anchor="t">
            <a:noAutofit/>
          </a:bodyPr>
          <a:lstStyle/>
          <a:p>
            <a:pPr algn="ctr">
              <a:spcAft>
                <a:spcPts val="0"/>
              </a:spcAft>
            </a:pPr>
            <a:r>
              <a:rPr sz="1300" b="1" i="0">
                <a:solidFill>
                  <a:srgbClr val="003C58"/>
                </a:solidFill>
                <a:latin typeface="Swis721 Cn BT"/>
              </a:rPr>
              <a:t>Prompts</a:t>
            </a:r>
          </a:p>
        </p:txBody>
      </p:sp>
      <p:sp>
        <p:nvSpPr>
          <p:cNvPr id="23" name="TextBox 22"/>
          <p:cNvSpPr txBox="1"/>
          <p:nvPr/>
        </p:nvSpPr>
        <p:spPr>
          <a:xfrm>
            <a:off x="5175503" y="2194560"/>
            <a:ext cx="1572768" cy="457200"/>
          </a:xfrm>
          <a:prstGeom prst="rect">
            <a:avLst/>
          </a:prstGeom>
          <a:noFill/>
        </p:spPr>
        <p:txBody>
          <a:bodyPr wrap="square" lIns="0" tIns="0" rIns="0" bIns="0" anchor="t">
            <a:noAutofit/>
          </a:bodyPr>
          <a:lstStyle/>
          <a:p>
            <a:pPr algn="ctr">
              <a:spcAft>
                <a:spcPts val="0"/>
              </a:spcAft>
            </a:pPr>
            <a:r>
              <a:rPr sz="1150" b="0" i="0">
                <a:solidFill>
                  <a:srgbClr val="5B6B73"/>
                </a:solidFill>
                <a:latin typeface="Swis721 Cn BT"/>
              </a:rPr>
              <a:t>pedir bien en cualquier plataforma</a:t>
            </a:r>
          </a:p>
        </p:txBody>
      </p:sp>
      <p:sp>
        <p:nvSpPr>
          <p:cNvPr id="24" name="Oval 23"/>
          <p:cNvSpPr/>
          <p:nvPr/>
        </p:nvSpPr>
        <p:spPr>
          <a:xfrm>
            <a:off x="7118604" y="937259"/>
            <a:ext cx="868680" cy="868680"/>
          </a:xfrm>
          <a:prstGeom prst="ellipse">
            <a:avLst/>
          </a:prstGeom>
          <a:solidFill>
            <a:srgbClr val="003C58"/>
          </a:solidFill>
          <a:ln>
            <a:noFill/>
          </a:ln>
        </p:spPr>
        <p:txBody>
          <a:bodyPr rtlCol="0" anchor="ctr"/>
          <a:lstStyle/>
          <a:p>
            <a:pPr algn="ctr"/>
            <a:endParaRPr/>
          </a:p>
        </p:txBody>
      </p:sp>
      <p:pic>
        <p:nvPicPr>
          <p:cNvPr id="25" name="Picture 24" descr="MdAssignment_blanco.png"/>
          <p:cNvPicPr>
            <a:picLocks noChangeAspect="1"/>
          </p:cNvPicPr>
          <p:nvPr/>
        </p:nvPicPr>
        <p:blipFill>
          <a:blip r:embed="rId7"/>
          <a:stretch>
            <a:fillRect/>
          </a:stretch>
        </p:blipFill>
        <p:spPr>
          <a:xfrm>
            <a:off x="7301026" y="1119682"/>
            <a:ext cx="503834" cy="503834"/>
          </a:xfrm>
          <a:prstGeom prst="rect">
            <a:avLst/>
          </a:prstGeom>
        </p:spPr>
      </p:pic>
      <p:sp>
        <p:nvSpPr>
          <p:cNvPr id="26" name="Oval 25"/>
          <p:cNvSpPr/>
          <p:nvPr/>
        </p:nvSpPr>
        <p:spPr>
          <a:xfrm>
            <a:off x="7726679" y="868680"/>
            <a:ext cx="310896" cy="310896"/>
          </a:xfrm>
          <a:prstGeom prst="ellipse">
            <a:avLst/>
          </a:prstGeom>
          <a:solidFill>
            <a:srgbClr val="F2B705"/>
          </a:solidFill>
          <a:ln>
            <a:noFill/>
          </a:ln>
        </p:spPr>
        <p:txBody>
          <a:bodyPr lIns="0" tIns="0" rIns="0" bIns="0" rtlCol="0" anchor="ctr"/>
          <a:lstStyle/>
          <a:p>
            <a:pPr algn="ctr">
              <a:spcAft>
                <a:spcPts val="0"/>
              </a:spcAft>
            </a:pPr>
            <a:r>
              <a:rPr sz="1200" b="1" i="0">
                <a:solidFill>
                  <a:srgbClr val="1F2A30"/>
                </a:solidFill>
                <a:latin typeface="Swis721 Cn BT"/>
              </a:rPr>
              <a:t>5</a:t>
            </a:r>
          </a:p>
        </p:txBody>
      </p:sp>
      <p:sp>
        <p:nvSpPr>
          <p:cNvPr id="27" name="TextBox 26"/>
          <p:cNvSpPr txBox="1"/>
          <p:nvPr/>
        </p:nvSpPr>
        <p:spPr>
          <a:xfrm>
            <a:off x="6766559" y="1901952"/>
            <a:ext cx="1572768" cy="292608"/>
          </a:xfrm>
          <a:prstGeom prst="rect">
            <a:avLst/>
          </a:prstGeom>
          <a:noFill/>
        </p:spPr>
        <p:txBody>
          <a:bodyPr wrap="square" lIns="0" tIns="0" rIns="0" bIns="0" anchor="t">
            <a:noAutofit/>
          </a:bodyPr>
          <a:lstStyle/>
          <a:p>
            <a:pPr algn="ctr">
              <a:spcAft>
                <a:spcPts val="0"/>
              </a:spcAft>
            </a:pPr>
            <a:r>
              <a:rPr sz="1300" b="1" i="0">
                <a:solidFill>
                  <a:srgbClr val="003C58"/>
                </a:solidFill>
                <a:latin typeface="Swis721 Cn BT"/>
              </a:rPr>
              <a:t>Manos a la obra</a:t>
            </a:r>
          </a:p>
        </p:txBody>
      </p:sp>
      <p:sp>
        <p:nvSpPr>
          <p:cNvPr id="28" name="TextBox 27"/>
          <p:cNvSpPr txBox="1"/>
          <p:nvPr/>
        </p:nvSpPr>
        <p:spPr>
          <a:xfrm>
            <a:off x="6766559" y="2194560"/>
            <a:ext cx="1572768" cy="457200"/>
          </a:xfrm>
          <a:prstGeom prst="rect">
            <a:avLst/>
          </a:prstGeom>
          <a:noFill/>
        </p:spPr>
        <p:txBody>
          <a:bodyPr wrap="square" lIns="0" tIns="0" rIns="0" bIns="0" anchor="t">
            <a:noAutofit/>
          </a:bodyPr>
          <a:lstStyle/>
          <a:p>
            <a:pPr algn="ctr">
              <a:spcAft>
                <a:spcPts val="0"/>
              </a:spcAft>
            </a:pPr>
            <a:r>
              <a:rPr sz="1150" b="0" i="0">
                <a:solidFill>
                  <a:srgbClr val="5B6B73"/>
                </a:solidFill>
                <a:latin typeface="Swis721 Cn BT"/>
              </a:rPr>
              <a:t>protocolos y material educativo</a:t>
            </a:r>
          </a:p>
        </p:txBody>
      </p:sp>
      <p:sp>
        <p:nvSpPr>
          <p:cNvPr id="29" name="Rounded Rectangle 28"/>
          <p:cNvSpPr/>
          <p:nvPr/>
        </p:nvSpPr>
        <p:spPr>
          <a:xfrm>
            <a:off x="502920" y="2971800"/>
            <a:ext cx="8138159" cy="1051560"/>
          </a:xfrm>
          <a:prstGeom prst="roundRect">
            <a:avLst>
              <a:gd name="adj" fmla="val 10434"/>
            </a:avLst>
          </a:prstGeom>
          <a:solidFill>
            <a:srgbClr val="C00000"/>
          </a:solidFill>
          <a:ln>
            <a:noFill/>
          </a:ln>
        </p:spPr>
        <p:txBody>
          <a:bodyPr rtlCol="0" anchor="ctr"/>
          <a:lstStyle/>
          <a:p>
            <a:pPr algn="ctr"/>
            <a:endParaRPr/>
          </a:p>
        </p:txBody>
      </p:sp>
      <p:sp>
        <p:nvSpPr>
          <p:cNvPr id="30" name="Rounded Rectangle 29"/>
          <p:cNvSpPr/>
          <p:nvPr/>
        </p:nvSpPr>
        <p:spPr>
          <a:xfrm>
            <a:off x="685800" y="3200400"/>
            <a:ext cx="1051560" cy="329184"/>
          </a:xfrm>
          <a:prstGeom prst="roundRect">
            <a:avLst>
              <a:gd name="adj" fmla="val 50000"/>
            </a:avLst>
          </a:prstGeom>
          <a:solidFill>
            <a:srgbClr val="06717E"/>
          </a:solidFill>
          <a:ln>
            <a:noFill/>
          </a:ln>
        </p:spPr>
        <p:txBody>
          <a:bodyPr wrap="square" lIns="54864" tIns="54864" rIns="54864" bIns="54864" rtlCol="0" anchor="ctr">
            <a:noAutofit/>
          </a:bodyPr>
          <a:lstStyle/>
          <a:p>
            <a:pPr algn="ctr">
              <a:spcAft>
                <a:spcPts val="0"/>
              </a:spcAft>
            </a:pPr>
            <a:r>
              <a:rPr sz="1300" b="1" i="0">
                <a:solidFill>
                  <a:schemeClr val="bg1"/>
                </a:solidFill>
                <a:latin typeface="Swis721 Cn BT"/>
              </a:rPr>
              <a:t>Objetivo</a:t>
            </a:r>
          </a:p>
        </p:txBody>
      </p:sp>
      <p:sp>
        <p:nvSpPr>
          <p:cNvPr id="31" name="TextBox 30"/>
          <p:cNvSpPr txBox="1"/>
          <p:nvPr/>
        </p:nvSpPr>
        <p:spPr>
          <a:xfrm>
            <a:off x="1920240" y="3072384"/>
            <a:ext cx="6537960" cy="868680"/>
          </a:xfrm>
          <a:prstGeom prst="rect">
            <a:avLst/>
          </a:prstGeom>
          <a:noFill/>
        </p:spPr>
        <p:txBody>
          <a:bodyPr wrap="square" lIns="0" tIns="0" rIns="0" bIns="0" anchor="ctr">
            <a:noAutofit/>
          </a:bodyPr>
          <a:lstStyle/>
          <a:p>
            <a:pPr algn="l">
              <a:spcAft>
                <a:spcPts val="0"/>
              </a:spcAft>
            </a:pPr>
            <a:r>
              <a:rPr sz="1500" b="0" i="0">
                <a:solidFill>
                  <a:srgbClr val="FFFFFF"/>
                </a:solidFill>
                <a:latin typeface="Swis721 Cn BT"/>
              </a:rPr>
              <a:t>Al terminar podrás elaborar o actualizar un protocolo y un material educativo con </a:t>
            </a:r>
            <a:r>
              <a:rPr sz="1500" b="1" i="0">
                <a:solidFill>
                  <a:srgbClr val="F2B705"/>
                </a:solidFill>
                <a:latin typeface="Swis721 Cn BT"/>
              </a:rPr>
              <a:t>cualquier plataforma de IA</a:t>
            </a:r>
            <a:r>
              <a:rPr sz="1500" b="0" i="0">
                <a:solidFill>
                  <a:srgbClr val="FFFFFF"/>
                </a:solidFill>
                <a:latin typeface="Swis721 Cn BT"/>
              </a:rPr>
              <a:t>, verificando cada afirmación contra fuentes oficiales.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 evidencia sobre IA en matronería es incipiente</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[1] Giaxi et al., Cureus 2025 · [2] Giaxi et al., Healthcare 2025 · [3] Unlu Bidik, 2025 · [4] Kranz y Abele, 2024</a:t>
            </a:r>
          </a:p>
        </p:txBody>
      </p:sp>
      <p:sp>
        <p:nvSpPr>
          <p:cNvPr id="5" name="Rounded Rectangle 4"/>
          <p:cNvSpPr/>
          <p:nvPr/>
        </p:nvSpPr>
        <p:spPr>
          <a:xfrm>
            <a:off x="502920" y="868680"/>
            <a:ext cx="2606040" cy="2377440"/>
          </a:xfrm>
          <a:prstGeom prst="roundRect">
            <a:avLst>
              <a:gd name="adj" fmla="val 4615"/>
            </a:avLst>
          </a:prstGeom>
          <a:solidFill>
            <a:srgbClr val="E8F0F4"/>
          </a:solidFill>
          <a:ln>
            <a:noFill/>
          </a:ln>
        </p:spPr>
        <p:txBody>
          <a:bodyPr rtlCol="0" anchor="ctr"/>
          <a:lstStyle/>
          <a:p>
            <a:pPr algn="ctr"/>
            <a:endParaRPr/>
          </a:p>
        </p:txBody>
      </p:sp>
      <p:sp>
        <p:nvSpPr>
          <p:cNvPr id="6" name="TextBox 5"/>
          <p:cNvSpPr txBox="1"/>
          <p:nvPr/>
        </p:nvSpPr>
        <p:spPr>
          <a:xfrm>
            <a:off x="704088" y="978407"/>
            <a:ext cx="2194560" cy="685800"/>
          </a:xfrm>
          <a:prstGeom prst="rect">
            <a:avLst/>
          </a:prstGeom>
          <a:noFill/>
        </p:spPr>
        <p:txBody>
          <a:bodyPr wrap="square" lIns="0" tIns="0" rIns="0" bIns="0" anchor="t">
            <a:noAutofit/>
          </a:bodyPr>
          <a:lstStyle/>
          <a:p>
            <a:pPr algn="l">
              <a:spcAft>
                <a:spcPts val="0"/>
              </a:spcAft>
            </a:pPr>
            <a:r>
              <a:rPr sz="4000" b="1" i="0">
                <a:solidFill>
                  <a:srgbClr val="003C58"/>
                </a:solidFill>
                <a:latin typeface="Swis721 Cn BT"/>
              </a:rPr>
              <a:t>64</a:t>
            </a:r>
          </a:p>
        </p:txBody>
      </p:sp>
      <p:sp>
        <p:nvSpPr>
          <p:cNvPr id="7" name="TextBox 6"/>
          <p:cNvSpPr txBox="1"/>
          <p:nvPr/>
        </p:nvSpPr>
        <p:spPr>
          <a:xfrm>
            <a:off x="704088" y="1673352"/>
            <a:ext cx="2240280" cy="292608"/>
          </a:xfrm>
          <a:prstGeom prst="rect">
            <a:avLst/>
          </a:prstGeom>
          <a:noFill/>
        </p:spPr>
        <p:txBody>
          <a:bodyPr wrap="square" lIns="0" tIns="0" rIns="0" bIns="0" anchor="t">
            <a:noAutofit/>
          </a:bodyPr>
          <a:lstStyle/>
          <a:p>
            <a:pPr algn="l">
              <a:spcAft>
                <a:spcPts val="0"/>
              </a:spcAft>
            </a:pPr>
            <a:r>
              <a:rPr sz="1400" b="1" i="0">
                <a:solidFill>
                  <a:srgbClr val="003C58"/>
                </a:solidFill>
                <a:latin typeface="Swis721 Cn BT"/>
              </a:rPr>
              <a:t>estudios (2022–2025)</a:t>
            </a:r>
          </a:p>
        </p:txBody>
      </p:sp>
      <p:sp>
        <p:nvSpPr>
          <p:cNvPr id="8" name="TextBox 7"/>
          <p:cNvSpPr txBox="1"/>
          <p:nvPr/>
        </p:nvSpPr>
        <p:spPr>
          <a:xfrm>
            <a:off x="704088" y="1984248"/>
            <a:ext cx="2240280" cy="91440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sobre IA en obstetricia y matronería: predicción de riesgo, monitorización fetal y resultados neonatales.</a:t>
            </a:r>
          </a:p>
        </p:txBody>
      </p:sp>
      <p:sp>
        <p:nvSpPr>
          <p:cNvPr id="9" name="TextBox 8"/>
          <p:cNvSpPr txBox="1"/>
          <p:nvPr/>
        </p:nvSpPr>
        <p:spPr>
          <a:xfrm>
            <a:off x="704088" y="2898648"/>
            <a:ext cx="2240280" cy="256032"/>
          </a:xfrm>
          <a:prstGeom prst="rect">
            <a:avLst/>
          </a:prstGeom>
          <a:noFill/>
        </p:spPr>
        <p:txBody>
          <a:bodyPr wrap="square" lIns="0" tIns="0" rIns="0" bIns="0" anchor="t">
            <a:noAutofit/>
          </a:bodyPr>
          <a:lstStyle/>
          <a:p>
            <a:pPr algn="l">
              <a:spcAft>
                <a:spcPts val="0"/>
              </a:spcAft>
            </a:pPr>
            <a:r>
              <a:rPr sz="1000" b="0" i="1">
                <a:solidFill>
                  <a:srgbClr val="5B6B73"/>
                </a:solidFill>
                <a:latin typeface="Swis721 Cn BT"/>
              </a:rPr>
              <a:t>Revisión sistemática · Cureus 2025</a:t>
            </a:r>
          </a:p>
        </p:txBody>
      </p:sp>
      <p:sp>
        <p:nvSpPr>
          <p:cNvPr id="10" name="Rounded Rectangle 9"/>
          <p:cNvSpPr/>
          <p:nvPr/>
        </p:nvSpPr>
        <p:spPr>
          <a:xfrm>
            <a:off x="3268980" y="868680"/>
            <a:ext cx="2606040" cy="2377440"/>
          </a:xfrm>
          <a:prstGeom prst="roundRect">
            <a:avLst>
              <a:gd name="adj" fmla="val 4615"/>
            </a:avLst>
          </a:prstGeom>
          <a:solidFill>
            <a:srgbClr val="E8F0F4"/>
          </a:solidFill>
          <a:ln>
            <a:noFill/>
          </a:ln>
        </p:spPr>
        <p:txBody>
          <a:bodyPr rtlCol="0" anchor="ctr"/>
          <a:lstStyle/>
          <a:p>
            <a:pPr algn="ctr"/>
            <a:endParaRPr/>
          </a:p>
        </p:txBody>
      </p:sp>
      <p:sp>
        <p:nvSpPr>
          <p:cNvPr id="11" name="TextBox 10"/>
          <p:cNvSpPr txBox="1"/>
          <p:nvPr/>
        </p:nvSpPr>
        <p:spPr>
          <a:xfrm>
            <a:off x="3470148" y="978407"/>
            <a:ext cx="2194560" cy="685800"/>
          </a:xfrm>
          <a:prstGeom prst="rect">
            <a:avLst/>
          </a:prstGeom>
          <a:noFill/>
        </p:spPr>
        <p:txBody>
          <a:bodyPr wrap="square" lIns="0" tIns="0" rIns="0" bIns="0" anchor="t">
            <a:noAutofit/>
          </a:bodyPr>
          <a:lstStyle/>
          <a:p>
            <a:pPr algn="l">
              <a:spcAft>
                <a:spcPts val="0"/>
              </a:spcAft>
            </a:pPr>
            <a:r>
              <a:rPr sz="4000" b="1" i="0">
                <a:solidFill>
                  <a:srgbClr val="BF210C"/>
                </a:solidFill>
                <a:latin typeface="Swis721 Cn BT"/>
              </a:rPr>
              <a:t>8</a:t>
            </a:r>
          </a:p>
        </p:txBody>
      </p:sp>
      <p:sp>
        <p:nvSpPr>
          <p:cNvPr id="12" name="TextBox 11"/>
          <p:cNvSpPr txBox="1"/>
          <p:nvPr/>
        </p:nvSpPr>
        <p:spPr>
          <a:xfrm>
            <a:off x="3470148" y="1673352"/>
            <a:ext cx="2240280" cy="292608"/>
          </a:xfrm>
          <a:prstGeom prst="rect">
            <a:avLst/>
          </a:prstGeom>
          <a:noFill/>
        </p:spPr>
        <p:txBody>
          <a:bodyPr wrap="square" lIns="0" tIns="0" rIns="0" bIns="0" anchor="t">
            <a:noAutofit/>
          </a:bodyPr>
          <a:lstStyle/>
          <a:p>
            <a:pPr algn="l">
              <a:spcAft>
                <a:spcPts val="0"/>
              </a:spcAft>
            </a:pPr>
            <a:r>
              <a:rPr sz="1400" b="1" i="0">
                <a:solidFill>
                  <a:srgbClr val="003C58"/>
                </a:solidFill>
                <a:latin typeface="Swis721 Cn BT"/>
              </a:rPr>
              <a:t>estudios en matronería</a:t>
            </a:r>
          </a:p>
        </p:txBody>
      </p:sp>
      <p:sp>
        <p:nvSpPr>
          <p:cNvPr id="13" name="TextBox 12"/>
          <p:cNvSpPr txBox="1"/>
          <p:nvPr/>
        </p:nvSpPr>
        <p:spPr>
          <a:xfrm>
            <a:off x="3470148" y="1984248"/>
            <a:ext cx="2240280" cy="91440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en una revisión de alcance, todos de un mismo país. Actitud positiva, junto al temor de perder la empatía y el trato humano.</a:t>
            </a:r>
          </a:p>
        </p:txBody>
      </p:sp>
      <p:sp>
        <p:nvSpPr>
          <p:cNvPr id="14" name="TextBox 13"/>
          <p:cNvSpPr txBox="1"/>
          <p:nvPr/>
        </p:nvSpPr>
        <p:spPr>
          <a:xfrm>
            <a:off x="3470148" y="2898648"/>
            <a:ext cx="2240280" cy="256032"/>
          </a:xfrm>
          <a:prstGeom prst="rect">
            <a:avLst/>
          </a:prstGeom>
          <a:noFill/>
        </p:spPr>
        <p:txBody>
          <a:bodyPr wrap="square" lIns="0" tIns="0" rIns="0" bIns="0" anchor="t">
            <a:noAutofit/>
          </a:bodyPr>
          <a:lstStyle/>
          <a:p>
            <a:pPr algn="l">
              <a:spcAft>
                <a:spcPts val="0"/>
              </a:spcAft>
            </a:pPr>
            <a:r>
              <a:rPr sz="1000" b="0" i="1">
                <a:solidFill>
                  <a:srgbClr val="5B6B73"/>
                </a:solidFill>
                <a:latin typeface="Swis721 Cn BT"/>
              </a:rPr>
              <a:t>Revisión de alcance · Healthcare 2025</a:t>
            </a:r>
          </a:p>
        </p:txBody>
      </p:sp>
      <p:sp>
        <p:nvSpPr>
          <p:cNvPr id="15" name="Rounded Rectangle 14"/>
          <p:cNvSpPr/>
          <p:nvPr/>
        </p:nvSpPr>
        <p:spPr>
          <a:xfrm>
            <a:off x="6035040" y="868680"/>
            <a:ext cx="2606040" cy="2377440"/>
          </a:xfrm>
          <a:prstGeom prst="roundRect">
            <a:avLst>
              <a:gd name="adj" fmla="val 4615"/>
            </a:avLst>
          </a:prstGeom>
          <a:solidFill>
            <a:srgbClr val="E8F0F4"/>
          </a:solidFill>
          <a:ln>
            <a:noFill/>
          </a:ln>
        </p:spPr>
        <p:txBody>
          <a:bodyPr rtlCol="0" anchor="ctr"/>
          <a:lstStyle/>
          <a:p>
            <a:pPr algn="ctr"/>
            <a:endParaRPr/>
          </a:p>
        </p:txBody>
      </p:sp>
      <p:sp>
        <p:nvSpPr>
          <p:cNvPr id="16" name="TextBox 15"/>
          <p:cNvSpPr txBox="1"/>
          <p:nvPr/>
        </p:nvSpPr>
        <p:spPr>
          <a:xfrm>
            <a:off x="6236207" y="978407"/>
            <a:ext cx="2194560" cy="685800"/>
          </a:xfrm>
          <a:prstGeom prst="rect">
            <a:avLst/>
          </a:prstGeom>
          <a:noFill/>
        </p:spPr>
        <p:txBody>
          <a:bodyPr wrap="square" lIns="0" tIns="0" rIns="0" bIns="0" anchor="t">
            <a:noAutofit/>
          </a:bodyPr>
          <a:lstStyle/>
          <a:p>
            <a:pPr algn="l">
              <a:spcAft>
                <a:spcPts val="0"/>
              </a:spcAft>
            </a:pPr>
            <a:r>
              <a:rPr sz="4000" b="1" i="0">
                <a:solidFill>
                  <a:srgbClr val="003C58"/>
                </a:solidFill>
                <a:latin typeface="Swis721 Cn BT"/>
              </a:rPr>
              <a:t>17</a:t>
            </a:r>
          </a:p>
        </p:txBody>
      </p:sp>
      <p:sp>
        <p:nvSpPr>
          <p:cNvPr id="17" name="TextBox 16"/>
          <p:cNvSpPr txBox="1"/>
          <p:nvPr/>
        </p:nvSpPr>
        <p:spPr>
          <a:xfrm>
            <a:off x="6236207" y="1673352"/>
            <a:ext cx="2240280" cy="292608"/>
          </a:xfrm>
          <a:prstGeom prst="rect">
            <a:avLst/>
          </a:prstGeom>
          <a:noFill/>
        </p:spPr>
        <p:txBody>
          <a:bodyPr wrap="square" lIns="0" tIns="0" rIns="0" bIns="0" anchor="t">
            <a:noAutofit/>
          </a:bodyPr>
          <a:lstStyle/>
          <a:p>
            <a:pPr algn="l">
              <a:spcAft>
                <a:spcPts val="0"/>
              </a:spcAft>
            </a:pPr>
            <a:r>
              <a:rPr sz="1400" b="1" i="0">
                <a:solidFill>
                  <a:srgbClr val="003C58"/>
                </a:solidFill>
                <a:latin typeface="Swis721 Cn BT"/>
              </a:rPr>
              <a:t>estudiantes</a:t>
            </a:r>
          </a:p>
        </p:txBody>
      </p:sp>
      <p:sp>
        <p:nvSpPr>
          <p:cNvPr id="18" name="TextBox 17"/>
          <p:cNvSpPr txBox="1"/>
          <p:nvPr/>
        </p:nvSpPr>
        <p:spPr>
          <a:xfrm>
            <a:off x="6236207" y="1984248"/>
            <a:ext cx="2240280" cy="91440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de matronería valoran ChatGPT para ahorrar tiempo y aprender de forma más práctica, aunque expresan inquietudes.</a:t>
            </a:r>
          </a:p>
        </p:txBody>
      </p:sp>
      <p:sp>
        <p:nvSpPr>
          <p:cNvPr id="19" name="TextBox 18"/>
          <p:cNvSpPr txBox="1"/>
          <p:nvPr/>
        </p:nvSpPr>
        <p:spPr>
          <a:xfrm>
            <a:off x="6236207" y="2898648"/>
            <a:ext cx="2240280" cy="256032"/>
          </a:xfrm>
          <a:prstGeom prst="rect">
            <a:avLst/>
          </a:prstGeom>
          <a:noFill/>
        </p:spPr>
        <p:txBody>
          <a:bodyPr wrap="square" lIns="0" tIns="0" rIns="0" bIns="0" anchor="t">
            <a:noAutofit/>
          </a:bodyPr>
          <a:lstStyle/>
          <a:p>
            <a:pPr algn="l">
              <a:spcAft>
                <a:spcPts val="0"/>
              </a:spcAft>
            </a:pPr>
            <a:r>
              <a:rPr sz="1000" b="0" i="1">
                <a:solidFill>
                  <a:srgbClr val="5B6B73"/>
                </a:solidFill>
                <a:latin typeface="Swis721 Cn BT"/>
              </a:rPr>
              <a:t>Estudio cualitativo · Eur J Educ 2025</a:t>
            </a:r>
          </a:p>
        </p:txBody>
      </p:sp>
      <p:sp>
        <p:nvSpPr>
          <p:cNvPr id="20" name="Rounded Rectangle 19"/>
          <p:cNvSpPr/>
          <p:nvPr/>
        </p:nvSpPr>
        <p:spPr>
          <a:xfrm>
            <a:off x="502920" y="3401568"/>
            <a:ext cx="8138159" cy="667512"/>
          </a:xfrm>
          <a:prstGeom prst="roundRect">
            <a:avLst>
              <a:gd name="adj" fmla="val 13698"/>
            </a:avLst>
          </a:prstGeom>
          <a:solidFill>
            <a:srgbClr val="FFF3C4"/>
          </a:solidFill>
          <a:ln>
            <a:noFill/>
          </a:ln>
        </p:spPr>
        <p:txBody>
          <a:bodyPr rtlCol="0" anchor="ctr"/>
          <a:lstStyle/>
          <a:p>
            <a:pPr algn="ctr"/>
            <a:endParaRPr/>
          </a:p>
        </p:txBody>
      </p:sp>
      <p:sp>
        <p:nvSpPr>
          <p:cNvPr id="21" name="Oval 20"/>
          <p:cNvSpPr/>
          <p:nvPr/>
        </p:nvSpPr>
        <p:spPr>
          <a:xfrm>
            <a:off x="658368" y="3506724"/>
            <a:ext cx="457200" cy="457200"/>
          </a:xfrm>
          <a:prstGeom prst="ellipse">
            <a:avLst/>
          </a:prstGeom>
          <a:solidFill>
            <a:srgbClr val="003C58"/>
          </a:solidFill>
          <a:ln>
            <a:noFill/>
          </a:ln>
        </p:spPr>
        <p:txBody>
          <a:bodyPr rtlCol="0" anchor="ctr"/>
          <a:lstStyle/>
          <a:p>
            <a:pPr algn="ctr"/>
            <a:endParaRPr/>
          </a:p>
        </p:txBody>
      </p:sp>
      <p:pic>
        <p:nvPicPr>
          <p:cNvPr id="22" name="Picture 21" descr="MdSchool_blanco.png"/>
          <p:cNvPicPr>
            <a:picLocks noChangeAspect="1"/>
          </p:cNvPicPr>
          <p:nvPr/>
        </p:nvPicPr>
        <p:blipFill>
          <a:blip r:embed="rId3"/>
          <a:stretch>
            <a:fillRect/>
          </a:stretch>
        </p:blipFill>
        <p:spPr>
          <a:xfrm>
            <a:off x="754380" y="3602736"/>
            <a:ext cx="265176" cy="265176"/>
          </a:xfrm>
          <a:prstGeom prst="rect">
            <a:avLst/>
          </a:prstGeom>
        </p:spPr>
      </p:pic>
      <p:sp>
        <p:nvSpPr>
          <p:cNvPr id="23" name="TextBox 22"/>
          <p:cNvSpPr txBox="1"/>
          <p:nvPr/>
        </p:nvSpPr>
        <p:spPr>
          <a:xfrm>
            <a:off x="1280160" y="3447288"/>
            <a:ext cx="7223760" cy="576072"/>
          </a:xfrm>
          <a:prstGeom prst="rect">
            <a:avLst/>
          </a:prstGeom>
          <a:noFill/>
        </p:spPr>
        <p:txBody>
          <a:bodyPr wrap="square" lIns="0" tIns="0" rIns="0" bIns="0" anchor="ctr">
            <a:noAutofit/>
          </a:bodyPr>
          <a:lstStyle/>
          <a:p>
            <a:pPr algn="l">
              <a:spcAft>
                <a:spcPts val="0"/>
              </a:spcAft>
            </a:pPr>
            <a:r>
              <a:rPr sz="1300" b="1" i="0" dirty="0" err="1">
                <a:solidFill>
                  <a:srgbClr val="1F2A30"/>
                </a:solidFill>
                <a:latin typeface="Swis721 Cn BT"/>
              </a:rPr>
              <a:t>Recomendación</a:t>
            </a:r>
            <a:r>
              <a:rPr sz="1300" b="1" i="0" dirty="0">
                <a:solidFill>
                  <a:srgbClr val="1F2A30"/>
                </a:solidFill>
                <a:latin typeface="Swis721 Cn BT"/>
              </a:rPr>
              <a:t>:</a:t>
            </a:r>
            <a:r>
              <a:rPr sz="1300" b="0" i="0" dirty="0">
                <a:solidFill>
                  <a:srgbClr val="1F2A30"/>
                </a:solidFill>
                <a:latin typeface="Swis721 Cn BT"/>
              </a:rPr>
              <a:t> </a:t>
            </a:r>
            <a:r>
              <a:rPr sz="1300" b="0" i="0" dirty="0" err="1">
                <a:solidFill>
                  <a:srgbClr val="1F2A30"/>
                </a:solidFill>
                <a:latin typeface="Swis721 Cn BT"/>
              </a:rPr>
              <a:t>integrar</a:t>
            </a:r>
            <a:r>
              <a:rPr sz="1300" b="0" i="0" dirty="0">
                <a:solidFill>
                  <a:srgbClr val="1F2A30"/>
                </a:solidFill>
                <a:latin typeface="Swis721 Cn BT"/>
              </a:rPr>
              <a:t> la IA al </a:t>
            </a:r>
            <a:r>
              <a:rPr sz="1300" b="0" i="0" dirty="0" err="1">
                <a:solidFill>
                  <a:srgbClr val="1F2A30"/>
                </a:solidFill>
                <a:latin typeface="Swis721 Cn BT"/>
              </a:rPr>
              <a:t>currículo</a:t>
            </a:r>
            <a:r>
              <a:rPr sz="1300" b="0" i="0" dirty="0">
                <a:solidFill>
                  <a:srgbClr val="1F2A30"/>
                </a:solidFill>
                <a:latin typeface="Swis721 Cn BT"/>
              </a:rPr>
              <a:t> de </a:t>
            </a:r>
            <a:r>
              <a:rPr sz="1300" b="0" i="0" dirty="0" err="1">
                <a:solidFill>
                  <a:srgbClr val="1F2A30"/>
                </a:solidFill>
                <a:latin typeface="Swis721 Cn BT"/>
              </a:rPr>
              <a:t>matronería</a:t>
            </a:r>
            <a:r>
              <a:rPr sz="1300" b="0" i="0" dirty="0">
                <a:solidFill>
                  <a:srgbClr val="1F2A30"/>
                </a:solidFill>
                <a:latin typeface="Swis721 Cn BT"/>
              </a:rPr>
              <a:t> —</a:t>
            </a:r>
            <a:r>
              <a:rPr sz="1300" b="0" i="0" dirty="0" err="1">
                <a:solidFill>
                  <a:srgbClr val="1F2A30"/>
                </a:solidFill>
                <a:latin typeface="Swis721 Cn BT"/>
              </a:rPr>
              <a:t>en</a:t>
            </a:r>
            <a:r>
              <a:rPr sz="1300" b="0" i="0" dirty="0">
                <a:solidFill>
                  <a:srgbClr val="1F2A30"/>
                </a:solidFill>
                <a:latin typeface="Swis721 Cn BT"/>
              </a:rPr>
              <a:t> </a:t>
            </a:r>
            <a:r>
              <a:rPr sz="1300" b="0" i="0" dirty="0" err="1">
                <a:solidFill>
                  <a:srgbClr val="1F2A30"/>
                </a:solidFill>
                <a:latin typeface="Swis721 Cn BT"/>
              </a:rPr>
              <a:t>su</a:t>
            </a:r>
            <a:r>
              <a:rPr sz="1300" b="0" i="0" dirty="0">
                <a:solidFill>
                  <a:srgbClr val="1F2A30"/>
                </a:solidFill>
                <a:latin typeface="Swis721 Cn BT"/>
              </a:rPr>
              <a:t> </a:t>
            </a:r>
            <a:r>
              <a:rPr sz="1300" b="0" i="0" dirty="0" err="1">
                <a:solidFill>
                  <a:srgbClr val="1F2A30"/>
                </a:solidFill>
                <a:latin typeface="Swis721 Cn BT"/>
              </a:rPr>
              <a:t>dimensión</a:t>
            </a:r>
            <a:r>
              <a:rPr sz="1300" b="0" i="0" dirty="0">
                <a:solidFill>
                  <a:srgbClr val="1F2A30"/>
                </a:solidFill>
                <a:latin typeface="Swis721 Cn BT"/>
              </a:rPr>
              <a:t> </a:t>
            </a:r>
            <a:r>
              <a:rPr sz="1300" b="0" i="0" dirty="0" err="1">
                <a:solidFill>
                  <a:srgbClr val="1F2A30"/>
                </a:solidFill>
                <a:latin typeface="Swis721 Cn BT"/>
              </a:rPr>
              <a:t>técnica</a:t>
            </a:r>
            <a:r>
              <a:rPr sz="1300" b="0" i="0" dirty="0">
                <a:solidFill>
                  <a:srgbClr val="1F2A30"/>
                </a:solidFill>
                <a:latin typeface="Swis721 Cn BT"/>
              </a:rPr>
              <a:t>, </a:t>
            </a:r>
            <a:r>
              <a:rPr sz="1300" b="0" i="0" dirty="0" err="1">
                <a:solidFill>
                  <a:srgbClr val="1F2A30"/>
                </a:solidFill>
                <a:latin typeface="Swis721 Cn BT"/>
              </a:rPr>
              <a:t>ética</a:t>
            </a:r>
            <a:r>
              <a:rPr sz="1300" b="0" i="0" dirty="0">
                <a:solidFill>
                  <a:srgbClr val="1F2A30"/>
                </a:solidFill>
                <a:latin typeface="Swis721 Cn BT"/>
              </a:rPr>
              <a:t> y legal— y </a:t>
            </a:r>
            <a:r>
              <a:rPr sz="1300" b="0" i="0" dirty="0" err="1">
                <a:solidFill>
                  <a:srgbClr val="1F2A30"/>
                </a:solidFill>
                <a:latin typeface="Swis721 Cn BT"/>
              </a:rPr>
              <a:t>formar</a:t>
            </a:r>
            <a:r>
              <a:rPr sz="1300" b="0" i="0" dirty="0">
                <a:solidFill>
                  <a:srgbClr val="1F2A30"/>
                </a:solidFill>
                <a:latin typeface="Swis721 Cn BT"/>
              </a:rPr>
              <a:t> a las </a:t>
            </a:r>
            <a:r>
              <a:rPr sz="1300" b="0" i="0" dirty="0" err="1">
                <a:solidFill>
                  <a:srgbClr val="1F2A30"/>
                </a:solidFill>
                <a:latin typeface="Swis721 Cn BT"/>
              </a:rPr>
              <a:t>docentes</a:t>
            </a:r>
            <a:r>
              <a:rPr sz="1300" b="0" i="0" dirty="0">
                <a:solidFill>
                  <a:srgbClr val="1F2A30"/>
                </a:solidFill>
                <a:latin typeface="Swis721 Cn BT"/>
              </a:rPr>
              <a:t> para </a:t>
            </a:r>
            <a:r>
              <a:rPr sz="1300" b="0" i="0" dirty="0" err="1">
                <a:solidFill>
                  <a:srgbClr val="1F2A30"/>
                </a:solidFill>
                <a:latin typeface="Swis721 Cn BT"/>
              </a:rPr>
              <a:t>guiar</a:t>
            </a:r>
            <a:r>
              <a:rPr sz="1300" b="0" i="0" dirty="0">
                <a:solidFill>
                  <a:srgbClr val="1F2A30"/>
                </a:solidFill>
                <a:latin typeface="Swis721 Cn BT"/>
              </a:rPr>
              <a:t> </a:t>
            </a:r>
            <a:r>
              <a:rPr sz="1300" b="0" i="0" dirty="0" err="1">
                <a:solidFill>
                  <a:srgbClr val="1F2A30"/>
                </a:solidFill>
                <a:latin typeface="Swis721 Cn BT"/>
              </a:rPr>
              <a:t>su</a:t>
            </a:r>
            <a:r>
              <a:rPr sz="1300" b="0" i="0" dirty="0">
                <a:solidFill>
                  <a:srgbClr val="1F2A30"/>
                </a:solidFill>
                <a:latin typeface="Swis721 Cn BT"/>
              </a:rPr>
              <a:t> </a:t>
            </a:r>
            <a:r>
              <a:rPr sz="1300" b="0" i="0" dirty="0" err="1">
                <a:solidFill>
                  <a:srgbClr val="1F2A30"/>
                </a:solidFill>
                <a:latin typeface="Swis721 Cn BT"/>
              </a:rPr>
              <a:t>uso</a:t>
            </a:r>
            <a:r>
              <a:rPr sz="1300" b="0" i="0" dirty="0">
                <a:solidFill>
                  <a:srgbClr val="1F2A30"/>
                </a:solidFill>
                <a:latin typeface="Swis721 Cn BT"/>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Sección 1 de 5</a:t>
            </a:r>
          </a:p>
        </p:txBody>
      </p:sp>
      <p:sp>
        <p:nvSpPr>
          <p:cNvPr id="3" name="TextBox 2"/>
          <p:cNvSpPr txBox="1"/>
          <p:nvPr/>
        </p:nvSpPr>
        <p:spPr>
          <a:xfrm>
            <a:off x="594360" y="960120"/>
            <a:ext cx="1737360" cy="1188720"/>
          </a:xfrm>
          <a:prstGeom prst="rect">
            <a:avLst/>
          </a:prstGeom>
          <a:noFill/>
        </p:spPr>
        <p:txBody>
          <a:bodyPr wrap="square" lIns="0" tIns="0" rIns="0" bIns="0" anchor="t">
            <a:noAutofit/>
          </a:bodyPr>
          <a:lstStyle/>
          <a:p>
            <a:pPr algn="l">
              <a:spcAft>
                <a:spcPts val="0"/>
              </a:spcAft>
            </a:pPr>
            <a:r>
              <a:rPr sz="8000" b="1" i="0">
                <a:solidFill>
                  <a:srgbClr val="BF210C"/>
                </a:solidFill>
                <a:latin typeface="Swis721 Cn BT"/>
              </a:rPr>
              <a:t>01</a:t>
            </a:r>
          </a:p>
        </p:txBody>
      </p:sp>
      <p:sp>
        <p:nvSpPr>
          <p:cNvPr id="4" name="Oval 3"/>
          <p:cNvSpPr/>
          <p:nvPr/>
        </p:nvSpPr>
        <p:spPr>
          <a:xfrm>
            <a:off x="822959" y="2514600"/>
            <a:ext cx="1005840" cy="1005840"/>
          </a:xfrm>
          <a:prstGeom prst="ellipse">
            <a:avLst/>
          </a:prstGeom>
          <a:solidFill>
            <a:srgbClr val="06717E"/>
          </a:solidFill>
          <a:ln>
            <a:noFill/>
          </a:ln>
        </p:spPr>
        <p:txBody>
          <a:bodyPr rtlCol="0" anchor="ctr"/>
          <a:lstStyle/>
          <a:p>
            <a:pPr algn="ctr"/>
            <a:endParaRPr/>
          </a:p>
        </p:txBody>
      </p:sp>
      <p:pic>
        <p:nvPicPr>
          <p:cNvPr id="5" name="Picture 4" descr="MdPsychology_blanco.png"/>
          <p:cNvPicPr>
            <a:picLocks noChangeAspect="1"/>
          </p:cNvPicPr>
          <p:nvPr/>
        </p:nvPicPr>
        <p:blipFill>
          <a:blip r:embed="rId3"/>
          <a:stretch>
            <a:fillRect/>
          </a:stretch>
        </p:blipFill>
        <p:spPr>
          <a:xfrm>
            <a:off x="1034186" y="2725826"/>
            <a:ext cx="583387" cy="583387"/>
          </a:xfrm>
          <a:prstGeom prst="rect">
            <a:avLst/>
          </a:prstGeom>
        </p:spPr>
      </p:pic>
      <p:sp>
        <p:nvSpPr>
          <p:cNvPr id="6" name="TextBox 5"/>
          <p:cNvSpPr txBox="1"/>
          <p:nvPr/>
        </p:nvSpPr>
        <p:spPr>
          <a:xfrm>
            <a:off x="2606040" y="868680"/>
            <a:ext cx="6035040" cy="822960"/>
          </a:xfrm>
          <a:prstGeom prst="rect">
            <a:avLst/>
          </a:prstGeom>
          <a:noFill/>
        </p:spPr>
        <p:txBody>
          <a:bodyPr wrap="square" lIns="0" tIns="0" rIns="0" bIns="0" anchor="b">
            <a:noAutofit/>
          </a:bodyPr>
          <a:lstStyle/>
          <a:p>
            <a:pPr algn="l">
              <a:spcAft>
                <a:spcPts val="0"/>
              </a:spcAft>
            </a:pPr>
            <a:r>
              <a:rPr sz="2600" b="1" i="0">
                <a:solidFill>
                  <a:srgbClr val="003C58"/>
                </a:solidFill>
                <a:latin typeface="Swis721 Cn BT"/>
              </a:rPr>
              <a:t>De la neurona al Transformer</a:t>
            </a:r>
          </a:p>
        </p:txBody>
      </p:sp>
      <p:sp>
        <p:nvSpPr>
          <p:cNvPr id="7" name="TextBox 6"/>
          <p:cNvSpPr txBox="1"/>
          <p:nvPr/>
        </p:nvSpPr>
        <p:spPr>
          <a:xfrm>
            <a:off x="2606040" y="1755648"/>
            <a:ext cx="6035040" cy="658368"/>
          </a:xfrm>
          <a:prstGeom prst="rect">
            <a:avLst/>
          </a:prstGeom>
          <a:noFill/>
        </p:spPr>
        <p:txBody>
          <a:bodyPr wrap="square" lIns="0" tIns="0" rIns="0" bIns="0" anchor="t">
            <a:noAutofit/>
          </a:bodyPr>
          <a:lstStyle/>
          <a:p>
            <a:pPr algn="l">
              <a:spcAft>
                <a:spcPts val="0"/>
              </a:spcAft>
            </a:pPr>
            <a:r>
              <a:rPr sz="1600" b="0" i="1">
                <a:solidFill>
                  <a:srgbClr val="2F6E8C"/>
                </a:solidFill>
                <a:latin typeface="Swis721 Cn BT"/>
              </a:rPr>
              <a:t>¿Cómo «piensa» una IA generativa?</a:t>
            </a:r>
          </a:p>
        </p:txBody>
      </p:sp>
      <p:sp>
        <p:nvSpPr>
          <p:cNvPr id="8" name="TextBox 7"/>
          <p:cNvSpPr txBox="1"/>
          <p:nvPr/>
        </p:nvSpPr>
        <p:spPr>
          <a:xfrm>
            <a:off x="2606040" y="2487168"/>
            <a:ext cx="6035040" cy="274320"/>
          </a:xfrm>
          <a:prstGeom prst="rect">
            <a:avLst/>
          </a:prstGeom>
          <a:noFill/>
        </p:spPr>
        <p:txBody>
          <a:bodyPr wrap="square" lIns="0" tIns="0" rIns="0" bIns="0" anchor="t">
            <a:noAutofit/>
          </a:bodyPr>
          <a:lstStyle/>
          <a:p>
            <a:pPr algn="l">
              <a:spcAft>
                <a:spcPts val="0"/>
              </a:spcAft>
            </a:pPr>
            <a:r>
              <a:rPr sz="1200" b="1" i="0">
                <a:solidFill>
                  <a:srgbClr val="5B6B73"/>
                </a:solidFill>
                <a:latin typeface="Swis721 Cn BT"/>
              </a:rPr>
              <a:t>En esta sección</a:t>
            </a:r>
          </a:p>
        </p:txBody>
      </p:sp>
      <p:sp>
        <p:nvSpPr>
          <p:cNvPr id="9" name="Oval 8"/>
          <p:cNvSpPr/>
          <p:nvPr/>
        </p:nvSpPr>
        <p:spPr>
          <a:xfrm>
            <a:off x="2633472" y="2871215"/>
            <a:ext cx="118872" cy="118872"/>
          </a:xfrm>
          <a:prstGeom prst="ellipse">
            <a:avLst/>
          </a:prstGeom>
          <a:solidFill>
            <a:srgbClr val="C00000"/>
          </a:solidFill>
          <a:ln>
            <a:noFill/>
          </a:ln>
        </p:spPr>
        <p:txBody>
          <a:bodyPr rtlCol="0" anchor="ctr"/>
          <a:lstStyle/>
          <a:p>
            <a:pPr algn="ctr"/>
            <a:endParaRPr/>
          </a:p>
        </p:txBody>
      </p:sp>
      <p:sp>
        <p:nvSpPr>
          <p:cNvPr id="10" name="TextBox 9"/>
          <p:cNvSpPr txBox="1"/>
          <p:nvPr/>
        </p:nvSpPr>
        <p:spPr>
          <a:xfrm>
            <a:off x="2880360" y="2788920"/>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Neurona biológica y neurona artificial</a:t>
            </a:r>
          </a:p>
        </p:txBody>
      </p:sp>
      <p:sp>
        <p:nvSpPr>
          <p:cNvPr id="11" name="Oval 10"/>
          <p:cNvSpPr/>
          <p:nvPr/>
        </p:nvSpPr>
        <p:spPr>
          <a:xfrm>
            <a:off x="2633472" y="3182111"/>
            <a:ext cx="118872" cy="118872"/>
          </a:xfrm>
          <a:prstGeom prst="ellipse">
            <a:avLst/>
          </a:prstGeom>
          <a:solidFill>
            <a:srgbClr val="C00000"/>
          </a:solidFill>
          <a:ln>
            <a:noFill/>
          </a:ln>
        </p:spPr>
        <p:txBody>
          <a:bodyPr rtlCol="0" anchor="ctr"/>
          <a:lstStyle/>
          <a:p>
            <a:pPr algn="ctr"/>
            <a:endParaRPr/>
          </a:p>
        </p:txBody>
      </p:sp>
      <p:sp>
        <p:nvSpPr>
          <p:cNvPr id="12" name="TextBox 11"/>
          <p:cNvSpPr txBox="1"/>
          <p:nvPr/>
        </p:nvSpPr>
        <p:spPr>
          <a:xfrm>
            <a:off x="2880360" y="3099815"/>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Redes que aprenden de ejemplos</a:t>
            </a:r>
          </a:p>
        </p:txBody>
      </p:sp>
      <p:sp>
        <p:nvSpPr>
          <p:cNvPr id="13" name="Oval 12"/>
          <p:cNvSpPr/>
          <p:nvPr/>
        </p:nvSpPr>
        <p:spPr>
          <a:xfrm>
            <a:off x="2633472" y="3493008"/>
            <a:ext cx="118872" cy="118872"/>
          </a:xfrm>
          <a:prstGeom prst="ellipse">
            <a:avLst/>
          </a:prstGeom>
          <a:solidFill>
            <a:srgbClr val="C00000"/>
          </a:solidFill>
          <a:ln>
            <a:noFill/>
          </a:ln>
        </p:spPr>
        <p:txBody>
          <a:bodyPr rtlCol="0" anchor="ctr"/>
          <a:lstStyle/>
          <a:p>
            <a:pPr algn="ctr"/>
            <a:endParaRPr/>
          </a:p>
        </p:txBody>
      </p:sp>
      <p:sp>
        <p:nvSpPr>
          <p:cNvPr id="14" name="TextBox 13"/>
          <p:cNvSpPr txBox="1"/>
          <p:nvPr/>
        </p:nvSpPr>
        <p:spPr>
          <a:xfrm>
            <a:off x="2880360" y="3410712"/>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Tokens y mecanismo de atención</a:t>
            </a:r>
          </a:p>
        </p:txBody>
      </p:sp>
      <p:sp>
        <p:nvSpPr>
          <p:cNvPr id="15" name="Oval 14"/>
          <p:cNvSpPr/>
          <p:nvPr/>
        </p:nvSpPr>
        <p:spPr>
          <a:xfrm>
            <a:off x="2633472" y="3803904"/>
            <a:ext cx="118872" cy="118872"/>
          </a:xfrm>
          <a:prstGeom prst="ellipse">
            <a:avLst/>
          </a:prstGeom>
          <a:solidFill>
            <a:srgbClr val="C00000"/>
          </a:solidFill>
          <a:ln>
            <a:noFill/>
          </a:ln>
        </p:spPr>
        <p:txBody>
          <a:bodyPr rtlCol="0" anchor="ctr"/>
          <a:lstStyle/>
          <a:p>
            <a:pPr algn="ctr"/>
            <a:endParaRPr/>
          </a:p>
        </p:txBody>
      </p:sp>
      <p:sp>
        <p:nvSpPr>
          <p:cNvPr id="16" name="TextBox 15"/>
          <p:cNvSpPr txBox="1"/>
          <p:nvPr/>
        </p:nvSpPr>
        <p:spPr>
          <a:xfrm>
            <a:off x="2880360" y="3721608"/>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Por qué a veces inventa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 neurona recibe, integra y decide si transmite</a:t>
            </a:r>
          </a:p>
        </p:txBody>
      </p:sp>
      <p:pic>
        <p:nvPicPr>
          <p:cNvPr id="3" name="Picture 2" descr="neurona.png"/>
          <p:cNvPicPr>
            <a:picLocks noChangeAspect="1"/>
          </p:cNvPicPr>
          <p:nvPr/>
        </p:nvPicPr>
        <p:blipFill>
          <a:blip r:embed="rId3"/>
          <a:stretch>
            <a:fillRect/>
          </a:stretch>
        </p:blipFill>
        <p:spPr>
          <a:xfrm>
            <a:off x="502920" y="960120"/>
            <a:ext cx="4846320" cy="1938528"/>
          </a:xfrm>
          <a:prstGeom prst="rect">
            <a:avLst/>
          </a:prstGeom>
        </p:spPr>
      </p:pic>
      <p:sp>
        <p:nvSpPr>
          <p:cNvPr id="4" name="Oval 3"/>
          <p:cNvSpPr/>
          <p:nvPr/>
        </p:nvSpPr>
        <p:spPr>
          <a:xfrm>
            <a:off x="928481" y="959205"/>
            <a:ext cx="292608" cy="292608"/>
          </a:xfrm>
          <a:prstGeom prst="ellipse">
            <a:avLst/>
          </a:prstGeom>
          <a:solidFill>
            <a:srgbClr val="F2B705"/>
          </a:solidFill>
          <a:ln>
            <a:noFill/>
          </a:ln>
        </p:spPr>
        <p:txBody>
          <a:bodyPr lIns="0" tIns="0" rIns="0" bIns="0" rtlCol="0" anchor="ctr"/>
          <a:lstStyle/>
          <a:p>
            <a:pPr algn="ctr">
              <a:spcAft>
                <a:spcPts val="0"/>
              </a:spcAft>
            </a:pPr>
            <a:r>
              <a:rPr sz="1200" b="1" i="0">
                <a:solidFill>
                  <a:srgbClr val="1F2A30"/>
                </a:solidFill>
                <a:latin typeface="Swis721 Cn BT"/>
              </a:rPr>
              <a:t>1</a:t>
            </a:r>
          </a:p>
        </p:txBody>
      </p:sp>
      <p:sp>
        <p:nvSpPr>
          <p:cNvPr id="5" name="Oval 4"/>
          <p:cNvSpPr/>
          <p:nvPr/>
        </p:nvSpPr>
        <p:spPr>
          <a:xfrm>
            <a:off x="1955901" y="2083551"/>
            <a:ext cx="292608" cy="292608"/>
          </a:xfrm>
          <a:prstGeom prst="ellipse">
            <a:avLst/>
          </a:prstGeom>
          <a:solidFill>
            <a:srgbClr val="F2B705"/>
          </a:solidFill>
          <a:ln>
            <a:noFill/>
          </a:ln>
        </p:spPr>
        <p:txBody>
          <a:bodyPr lIns="0" tIns="0" rIns="0" bIns="0" rtlCol="0" anchor="ctr"/>
          <a:lstStyle/>
          <a:p>
            <a:pPr algn="ctr">
              <a:spcAft>
                <a:spcPts val="0"/>
              </a:spcAft>
            </a:pPr>
            <a:r>
              <a:rPr sz="1200" b="1" i="0">
                <a:solidFill>
                  <a:srgbClr val="1F2A30"/>
                </a:solidFill>
                <a:latin typeface="Swis721 Cn BT"/>
              </a:rPr>
              <a:t>2</a:t>
            </a:r>
          </a:p>
        </p:txBody>
      </p:sp>
      <p:sp>
        <p:nvSpPr>
          <p:cNvPr id="6" name="Oval 5"/>
          <p:cNvSpPr/>
          <p:nvPr/>
        </p:nvSpPr>
        <p:spPr>
          <a:xfrm>
            <a:off x="3022091" y="2083551"/>
            <a:ext cx="292608" cy="292608"/>
          </a:xfrm>
          <a:prstGeom prst="ellipse">
            <a:avLst/>
          </a:prstGeom>
          <a:solidFill>
            <a:srgbClr val="F2B705"/>
          </a:solidFill>
          <a:ln>
            <a:noFill/>
          </a:ln>
        </p:spPr>
        <p:txBody>
          <a:bodyPr lIns="0" tIns="0" rIns="0" bIns="0" rtlCol="0" anchor="ctr"/>
          <a:lstStyle/>
          <a:p>
            <a:pPr algn="ctr">
              <a:spcAft>
                <a:spcPts val="0"/>
              </a:spcAft>
            </a:pPr>
            <a:r>
              <a:rPr sz="1200" b="1" i="0">
                <a:solidFill>
                  <a:srgbClr val="1F2A30"/>
                </a:solidFill>
                <a:latin typeface="Swis721 Cn BT"/>
              </a:rPr>
              <a:t>3</a:t>
            </a:r>
          </a:p>
        </p:txBody>
      </p:sp>
      <p:sp>
        <p:nvSpPr>
          <p:cNvPr id="7" name="Oval 6"/>
          <p:cNvSpPr/>
          <p:nvPr/>
        </p:nvSpPr>
        <p:spPr>
          <a:xfrm>
            <a:off x="4999390" y="1395374"/>
            <a:ext cx="292608" cy="292608"/>
          </a:xfrm>
          <a:prstGeom prst="ellipse">
            <a:avLst/>
          </a:prstGeom>
          <a:solidFill>
            <a:srgbClr val="F2B705"/>
          </a:solidFill>
          <a:ln>
            <a:noFill/>
          </a:ln>
        </p:spPr>
        <p:txBody>
          <a:bodyPr lIns="0" tIns="0" rIns="0" bIns="0" rtlCol="0" anchor="ctr"/>
          <a:lstStyle/>
          <a:p>
            <a:pPr algn="ctr">
              <a:spcAft>
                <a:spcPts val="0"/>
              </a:spcAft>
            </a:pPr>
            <a:r>
              <a:rPr sz="1200" b="1" i="0">
                <a:solidFill>
                  <a:srgbClr val="1F2A30"/>
                </a:solidFill>
                <a:latin typeface="Swis721 Cn BT"/>
              </a:rPr>
              <a:t>4</a:t>
            </a:r>
          </a:p>
        </p:txBody>
      </p:sp>
      <p:sp>
        <p:nvSpPr>
          <p:cNvPr id="8" name="TextBox 7"/>
          <p:cNvSpPr txBox="1"/>
          <p:nvPr/>
        </p:nvSpPr>
        <p:spPr>
          <a:xfrm>
            <a:off x="2305751" y="1327708"/>
            <a:ext cx="1948220" cy="237744"/>
          </a:xfrm>
          <a:prstGeom prst="rect">
            <a:avLst/>
          </a:prstGeom>
          <a:noFill/>
        </p:spPr>
        <p:txBody>
          <a:bodyPr wrap="square" lIns="0" tIns="0" rIns="0" bIns="0" anchor="t">
            <a:noAutofit/>
          </a:bodyPr>
          <a:lstStyle/>
          <a:p>
            <a:pPr algn="ctr">
              <a:spcAft>
                <a:spcPts val="0"/>
              </a:spcAft>
            </a:pPr>
            <a:r>
              <a:rPr sz="1100" b="1" i="0">
                <a:solidFill>
                  <a:srgbClr val="BF210C"/>
                </a:solidFill>
                <a:latin typeface="Swis721 Cn BT"/>
              </a:rPr>
              <a:t>impulso eléctrico</a:t>
            </a:r>
          </a:p>
        </p:txBody>
      </p:sp>
      <p:sp>
        <p:nvSpPr>
          <p:cNvPr id="9" name="Oval 8"/>
          <p:cNvSpPr/>
          <p:nvPr/>
        </p:nvSpPr>
        <p:spPr>
          <a:xfrm>
            <a:off x="5568696" y="905255"/>
            <a:ext cx="292608" cy="292608"/>
          </a:xfrm>
          <a:prstGeom prst="ellipse">
            <a:avLst/>
          </a:prstGeom>
          <a:solidFill>
            <a:srgbClr val="F2B705"/>
          </a:solidFill>
          <a:ln>
            <a:noFill/>
          </a:ln>
        </p:spPr>
        <p:txBody>
          <a:bodyPr lIns="0" tIns="0" rIns="0" bIns="0" rtlCol="0" anchor="ctr"/>
          <a:lstStyle/>
          <a:p>
            <a:pPr algn="ctr">
              <a:spcAft>
                <a:spcPts val="0"/>
              </a:spcAft>
            </a:pPr>
            <a:r>
              <a:rPr sz="1200" b="1" i="0">
                <a:solidFill>
                  <a:srgbClr val="1F2A30"/>
                </a:solidFill>
                <a:latin typeface="Swis721 Cn BT"/>
              </a:rPr>
              <a:t>1</a:t>
            </a:r>
          </a:p>
        </p:txBody>
      </p:sp>
      <p:sp>
        <p:nvSpPr>
          <p:cNvPr id="10" name="TextBox 9"/>
          <p:cNvSpPr txBox="1"/>
          <p:nvPr/>
        </p:nvSpPr>
        <p:spPr>
          <a:xfrm>
            <a:off x="5989320" y="868680"/>
            <a:ext cx="2651760" cy="566928"/>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Dendritas</a:t>
            </a:r>
          </a:p>
          <a:p>
            <a:pPr algn="l">
              <a:spcAft>
                <a:spcPts val="0"/>
              </a:spcAft>
            </a:pPr>
            <a:r>
              <a:rPr sz="1050" b="0" i="0">
                <a:solidFill>
                  <a:srgbClr val="1F2A30"/>
                </a:solidFill>
                <a:latin typeface="Swis721 Cn BT"/>
              </a:rPr>
              <a:t>reciben señales de otras neuronas</a:t>
            </a:r>
          </a:p>
        </p:txBody>
      </p:sp>
      <p:sp>
        <p:nvSpPr>
          <p:cNvPr id="11" name="Oval 10"/>
          <p:cNvSpPr/>
          <p:nvPr/>
        </p:nvSpPr>
        <p:spPr>
          <a:xfrm>
            <a:off x="5568696" y="1481328"/>
            <a:ext cx="292608" cy="292608"/>
          </a:xfrm>
          <a:prstGeom prst="ellipse">
            <a:avLst/>
          </a:prstGeom>
          <a:solidFill>
            <a:srgbClr val="F2B705"/>
          </a:solidFill>
          <a:ln>
            <a:noFill/>
          </a:ln>
        </p:spPr>
        <p:txBody>
          <a:bodyPr lIns="0" tIns="0" rIns="0" bIns="0" rtlCol="0" anchor="ctr"/>
          <a:lstStyle/>
          <a:p>
            <a:pPr algn="ctr">
              <a:spcAft>
                <a:spcPts val="0"/>
              </a:spcAft>
            </a:pPr>
            <a:r>
              <a:rPr sz="1200" b="1" i="0">
                <a:solidFill>
                  <a:srgbClr val="1F2A30"/>
                </a:solidFill>
                <a:latin typeface="Swis721 Cn BT"/>
              </a:rPr>
              <a:t>2</a:t>
            </a:r>
          </a:p>
        </p:txBody>
      </p:sp>
      <p:sp>
        <p:nvSpPr>
          <p:cNvPr id="12" name="TextBox 11"/>
          <p:cNvSpPr txBox="1"/>
          <p:nvPr/>
        </p:nvSpPr>
        <p:spPr>
          <a:xfrm>
            <a:off x="5989320" y="1444752"/>
            <a:ext cx="2651760" cy="566928"/>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Soma</a:t>
            </a:r>
          </a:p>
          <a:p>
            <a:pPr algn="l">
              <a:spcAft>
                <a:spcPts val="0"/>
              </a:spcAft>
            </a:pPr>
            <a:r>
              <a:rPr sz="1050" b="0" i="0">
                <a:solidFill>
                  <a:srgbClr val="1F2A30"/>
                </a:solidFill>
                <a:latin typeface="Swis721 Cn BT"/>
              </a:rPr>
              <a:t>integra las señales y «dispara» sobre un umbral</a:t>
            </a:r>
          </a:p>
        </p:txBody>
      </p:sp>
      <p:sp>
        <p:nvSpPr>
          <p:cNvPr id="13" name="Oval 12"/>
          <p:cNvSpPr/>
          <p:nvPr/>
        </p:nvSpPr>
        <p:spPr>
          <a:xfrm>
            <a:off x="5568696" y="2057400"/>
            <a:ext cx="292608" cy="292608"/>
          </a:xfrm>
          <a:prstGeom prst="ellipse">
            <a:avLst/>
          </a:prstGeom>
          <a:solidFill>
            <a:srgbClr val="F2B705"/>
          </a:solidFill>
          <a:ln>
            <a:noFill/>
          </a:ln>
        </p:spPr>
        <p:txBody>
          <a:bodyPr lIns="0" tIns="0" rIns="0" bIns="0" rtlCol="0" anchor="ctr"/>
          <a:lstStyle/>
          <a:p>
            <a:pPr algn="ctr">
              <a:spcAft>
                <a:spcPts val="0"/>
              </a:spcAft>
            </a:pPr>
            <a:r>
              <a:rPr sz="1200" b="1" i="0">
                <a:solidFill>
                  <a:srgbClr val="1F2A30"/>
                </a:solidFill>
                <a:latin typeface="Swis721 Cn BT"/>
              </a:rPr>
              <a:t>3</a:t>
            </a:r>
          </a:p>
        </p:txBody>
      </p:sp>
      <p:sp>
        <p:nvSpPr>
          <p:cNvPr id="14" name="TextBox 13"/>
          <p:cNvSpPr txBox="1"/>
          <p:nvPr/>
        </p:nvSpPr>
        <p:spPr>
          <a:xfrm>
            <a:off x="5989320" y="2020824"/>
            <a:ext cx="2651760" cy="566928"/>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Axón</a:t>
            </a:r>
          </a:p>
          <a:p>
            <a:pPr algn="l">
              <a:spcAft>
                <a:spcPts val="0"/>
              </a:spcAft>
            </a:pPr>
            <a:r>
              <a:rPr sz="1050" b="0" i="0">
                <a:solidFill>
                  <a:srgbClr val="1F2A30"/>
                </a:solidFill>
                <a:latin typeface="Swis721 Cn BT"/>
              </a:rPr>
              <a:t>conduce el impulso; la mielina lo acelera</a:t>
            </a:r>
          </a:p>
        </p:txBody>
      </p:sp>
      <p:sp>
        <p:nvSpPr>
          <p:cNvPr id="15" name="Oval 14"/>
          <p:cNvSpPr/>
          <p:nvPr/>
        </p:nvSpPr>
        <p:spPr>
          <a:xfrm>
            <a:off x="5568696" y="2633472"/>
            <a:ext cx="292608" cy="292608"/>
          </a:xfrm>
          <a:prstGeom prst="ellipse">
            <a:avLst/>
          </a:prstGeom>
          <a:solidFill>
            <a:srgbClr val="F2B705"/>
          </a:solidFill>
          <a:ln>
            <a:noFill/>
          </a:ln>
        </p:spPr>
        <p:txBody>
          <a:bodyPr lIns="0" tIns="0" rIns="0" bIns="0" rtlCol="0" anchor="ctr"/>
          <a:lstStyle/>
          <a:p>
            <a:pPr algn="ctr">
              <a:spcAft>
                <a:spcPts val="0"/>
              </a:spcAft>
            </a:pPr>
            <a:r>
              <a:rPr sz="1200" b="1" i="0">
                <a:solidFill>
                  <a:srgbClr val="1F2A30"/>
                </a:solidFill>
                <a:latin typeface="Swis721 Cn BT"/>
              </a:rPr>
              <a:t>4</a:t>
            </a:r>
          </a:p>
        </p:txBody>
      </p:sp>
      <p:sp>
        <p:nvSpPr>
          <p:cNvPr id="16" name="TextBox 15"/>
          <p:cNvSpPr txBox="1"/>
          <p:nvPr/>
        </p:nvSpPr>
        <p:spPr>
          <a:xfrm>
            <a:off x="5989320" y="2596896"/>
            <a:ext cx="2651760" cy="566928"/>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Terminales</a:t>
            </a:r>
          </a:p>
          <a:p>
            <a:pPr algn="l">
              <a:spcAft>
                <a:spcPts val="0"/>
              </a:spcAft>
            </a:pPr>
            <a:r>
              <a:rPr sz="1050" b="0" i="0">
                <a:solidFill>
                  <a:srgbClr val="1F2A30"/>
                </a:solidFill>
                <a:latin typeface="Swis721 Cn BT"/>
              </a:rPr>
              <a:t>liberan neurotransmisores a la siguiente célula</a:t>
            </a:r>
          </a:p>
        </p:txBody>
      </p:sp>
      <p:sp>
        <p:nvSpPr>
          <p:cNvPr id="17" name="Rounded Rectangle 16"/>
          <p:cNvSpPr/>
          <p:nvPr/>
        </p:nvSpPr>
        <p:spPr>
          <a:xfrm>
            <a:off x="502920" y="3200400"/>
            <a:ext cx="8138159" cy="868680"/>
          </a:xfrm>
          <a:prstGeom prst="roundRect">
            <a:avLst>
              <a:gd name="adj" fmla="val 10526"/>
            </a:avLst>
          </a:prstGeom>
          <a:solidFill>
            <a:srgbClr val="FFF3C4"/>
          </a:solidFill>
          <a:ln>
            <a:noFill/>
          </a:ln>
        </p:spPr>
        <p:txBody>
          <a:bodyPr rtlCol="0" anchor="ctr"/>
          <a:lstStyle/>
          <a:p>
            <a:pPr algn="ctr"/>
            <a:endParaRPr/>
          </a:p>
        </p:txBody>
      </p:sp>
      <p:sp>
        <p:nvSpPr>
          <p:cNvPr id="18" name="Oval 17"/>
          <p:cNvSpPr/>
          <p:nvPr/>
        </p:nvSpPr>
        <p:spPr>
          <a:xfrm>
            <a:off x="649224" y="3396996"/>
            <a:ext cx="475488" cy="475488"/>
          </a:xfrm>
          <a:prstGeom prst="ellipse">
            <a:avLst/>
          </a:prstGeom>
          <a:solidFill>
            <a:srgbClr val="003C58"/>
          </a:solidFill>
          <a:ln>
            <a:noFill/>
          </a:ln>
        </p:spPr>
        <p:txBody>
          <a:bodyPr rtlCol="0" anchor="ctr"/>
          <a:lstStyle/>
          <a:p>
            <a:pPr algn="ctr"/>
            <a:endParaRPr/>
          </a:p>
        </p:txBody>
      </p:sp>
      <p:pic>
        <p:nvPicPr>
          <p:cNvPr id="19" name="Picture 18" descr="MdLightbulb_blanco.png"/>
          <p:cNvPicPr>
            <a:picLocks noChangeAspect="1"/>
          </p:cNvPicPr>
          <p:nvPr/>
        </p:nvPicPr>
        <p:blipFill>
          <a:blip r:embed="rId4"/>
          <a:stretch>
            <a:fillRect/>
          </a:stretch>
        </p:blipFill>
        <p:spPr>
          <a:xfrm>
            <a:off x="749076" y="3496848"/>
            <a:ext cx="275783" cy="275783"/>
          </a:xfrm>
          <a:prstGeom prst="rect">
            <a:avLst/>
          </a:prstGeom>
        </p:spPr>
      </p:pic>
      <p:sp>
        <p:nvSpPr>
          <p:cNvPr id="20" name="TextBox 19"/>
          <p:cNvSpPr txBox="1"/>
          <p:nvPr/>
        </p:nvSpPr>
        <p:spPr>
          <a:xfrm>
            <a:off x="1280160" y="3246120"/>
            <a:ext cx="7269480" cy="777240"/>
          </a:xfrm>
          <a:prstGeom prst="rect">
            <a:avLst/>
          </a:prstGeom>
          <a:noFill/>
        </p:spPr>
        <p:txBody>
          <a:bodyPr wrap="square" lIns="0" tIns="0" rIns="0" bIns="0" anchor="ctr">
            <a:noAutofit/>
          </a:bodyPr>
          <a:lstStyle/>
          <a:p>
            <a:pPr algn="l">
              <a:spcAft>
                <a:spcPts val="0"/>
              </a:spcAft>
            </a:pPr>
            <a:r>
              <a:rPr sz="1300" b="1" i="0">
                <a:solidFill>
                  <a:srgbClr val="1F2A30"/>
                </a:solidFill>
                <a:latin typeface="Swis721 Cn BT"/>
              </a:rPr>
              <a:t>Analogía clínica:</a:t>
            </a:r>
            <a:r>
              <a:rPr sz="1300" b="0" i="0">
                <a:solidFill>
                  <a:srgbClr val="1F2A30"/>
                </a:solidFill>
                <a:latin typeface="Swis721 Cn BT"/>
              </a:rPr>
              <a:t> en preparto recibes muchas señales (FCF, dinámica uterina, dilatación, el relato de la usuaria), las integras y decides si «disparas» una acción: avisar, intervenir o esperar.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Una neurona artificial: suma ponderada y umbral</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 [5] McCulloch y Pitts, 1943</a:t>
            </a:r>
          </a:p>
        </p:txBody>
      </p:sp>
      <p:sp>
        <p:nvSpPr>
          <p:cNvPr id="5" name="Rounded Rectangle 4"/>
          <p:cNvSpPr/>
          <p:nvPr/>
        </p:nvSpPr>
        <p:spPr>
          <a:xfrm>
            <a:off x="502920" y="914400"/>
            <a:ext cx="1828800" cy="658368"/>
          </a:xfrm>
          <a:prstGeom prst="roundRect">
            <a:avLst>
              <a:gd name="adj" fmla="val 11111"/>
            </a:avLst>
          </a:prstGeom>
          <a:solidFill>
            <a:srgbClr val="E8F0F4"/>
          </a:solidFill>
          <a:ln>
            <a:noFill/>
          </a:ln>
        </p:spPr>
        <p:txBody>
          <a:bodyPr wrap="square" tIns="73152" bIns="73152" rtlCol="0" anchor="ctr">
            <a:noAutofit/>
          </a:bodyPr>
          <a:lstStyle/>
          <a:p>
            <a:pPr algn="l">
              <a:spcAft>
                <a:spcPts val="0"/>
              </a:spcAft>
            </a:pPr>
            <a:r>
              <a:rPr sz="1050" b="0" i="0">
                <a:solidFill>
                  <a:srgbClr val="003C58"/>
                </a:solidFill>
                <a:latin typeface="Swis721 Cn BT"/>
              </a:rPr>
              <a:t>FCF con desaceleraciones tardías</a:t>
            </a:r>
          </a:p>
          <a:p>
            <a:pPr algn="l">
              <a:spcAft>
                <a:spcPts val="0"/>
              </a:spcAft>
            </a:pPr>
            <a:r>
              <a:rPr sz="1200" b="1" i="0">
                <a:solidFill>
                  <a:srgbClr val="BF210C"/>
                </a:solidFill>
                <a:latin typeface="Swis721 Cn BT"/>
              </a:rPr>
              <a:t>x₁ = 1</a:t>
            </a:r>
          </a:p>
        </p:txBody>
      </p:sp>
      <p:cxnSp>
        <p:nvCxnSpPr>
          <p:cNvPr id="6" name="Connector 5"/>
          <p:cNvCxnSpPr/>
          <p:nvPr/>
        </p:nvCxnSpPr>
        <p:spPr>
          <a:xfrm>
            <a:off x="2331720" y="1243584"/>
            <a:ext cx="905256" cy="429767"/>
          </a:xfrm>
          <a:prstGeom prst="line">
            <a:avLst/>
          </a:prstGeom>
          <a:ln w="22225">
            <a:solidFill>
              <a:srgbClr val="2F6E8C"/>
            </a:solidFill>
            <a:tailEnd type="triangle" w="med" len="med"/>
          </a:ln>
        </p:spPr>
      </p:cxnSp>
      <p:sp>
        <p:nvSpPr>
          <p:cNvPr id="7" name="Rounded Rectangle 6"/>
          <p:cNvSpPr/>
          <p:nvPr/>
        </p:nvSpPr>
        <p:spPr>
          <a:xfrm>
            <a:off x="2432304" y="1321307"/>
            <a:ext cx="731520" cy="274320"/>
          </a:xfrm>
          <a:prstGeom prst="roundRect">
            <a:avLst>
              <a:gd name="adj" fmla="val 33333"/>
            </a:avLst>
          </a:prstGeom>
          <a:solidFill>
            <a:srgbClr val="F2B705"/>
          </a:solidFill>
          <a:ln>
            <a:noFill/>
          </a:ln>
        </p:spPr>
        <p:txBody>
          <a:bodyPr wrap="square" lIns="18288" tIns="18288" rIns="18288" bIns="18288" rtlCol="0" anchor="ctr">
            <a:noAutofit/>
          </a:bodyPr>
          <a:lstStyle/>
          <a:p>
            <a:pPr algn="ctr">
              <a:spcAft>
                <a:spcPts val="0"/>
              </a:spcAft>
            </a:pPr>
            <a:r>
              <a:rPr sz="1050" b="1" i="0">
                <a:solidFill>
                  <a:srgbClr val="1F2A30"/>
                </a:solidFill>
                <a:latin typeface="Swis721 Cn BT"/>
              </a:rPr>
              <a:t>w₁ = 0,6</a:t>
            </a:r>
          </a:p>
        </p:txBody>
      </p:sp>
      <p:sp>
        <p:nvSpPr>
          <p:cNvPr id="8" name="Rounded Rectangle 7"/>
          <p:cNvSpPr/>
          <p:nvPr/>
        </p:nvSpPr>
        <p:spPr>
          <a:xfrm>
            <a:off x="502920" y="1737360"/>
            <a:ext cx="1828800" cy="658368"/>
          </a:xfrm>
          <a:prstGeom prst="roundRect">
            <a:avLst>
              <a:gd name="adj" fmla="val 11111"/>
            </a:avLst>
          </a:prstGeom>
          <a:solidFill>
            <a:srgbClr val="E8F0F4"/>
          </a:solidFill>
          <a:ln>
            <a:noFill/>
          </a:ln>
        </p:spPr>
        <p:txBody>
          <a:bodyPr wrap="square" tIns="73152" bIns="73152" rtlCol="0" anchor="ctr">
            <a:noAutofit/>
          </a:bodyPr>
          <a:lstStyle/>
          <a:p>
            <a:pPr algn="l">
              <a:spcAft>
                <a:spcPts val="0"/>
              </a:spcAft>
            </a:pPr>
            <a:r>
              <a:rPr sz="1050" b="0" i="0">
                <a:solidFill>
                  <a:srgbClr val="003C58"/>
                </a:solidFill>
                <a:latin typeface="Swis721 Cn BT"/>
              </a:rPr>
              <a:t>Líquido amniótico con meconio</a:t>
            </a:r>
          </a:p>
          <a:p>
            <a:pPr algn="l">
              <a:spcAft>
                <a:spcPts val="0"/>
              </a:spcAft>
            </a:pPr>
            <a:r>
              <a:rPr sz="1200" b="1" i="0">
                <a:solidFill>
                  <a:srgbClr val="BF210C"/>
                </a:solidFill>
                <a:latin typeface="Swis721 Cn BT"/>
              </a:rPr>
              <a:t>x₂ = 1</a:t>
            </a:r>
          </a:p>
        </p:txBody>
      </p:sp>
      <p:cxnSp>
        <p:nvCxnSpPr>
          <p:cNvPr id="9" name="Connector 8"/>
          <p:cNvCxnSpPr/>
          <p:nvPr/>
        </p:nvCxnSpPr>
        <p:spPr>
          <a:xfrm flipV="1">
            <a:off x="2331720" y="1874519"/>
            <a:ext cx="905256" cy="192024"/>
          </a:xfrm>
          <a:prstGeom prst="line">
            <a:avLst/>
          </a:prstGeom>
          <a:ln w="22225">
            <a:solidFill>
              <a:srgbClr val="2F6E8C"/>
            </a:solidFill>
            <a:tailEnd type="triangle" w="med" len="med"/>
          </a:ln>
        </p:spPr>
      </p:cxnSp>
      <p:sp>
        <p:nvSpPr>
          <p:cNvPr id="10" name="Rounded Rectangle 9"/>
          <p:cNvSpPr/>
          <p:nvPr/>
        </p:nvSpPr>
        <p:spPr>
          <a:xfrm>
            <a:off x="2432304" y="1833372"/>
            <a:ext cx="731520" cy="274320"/>
          </a:xfrm>
          <a:prstGeom prst="roundRect">
            <a:avLst>
              <a:gd name="adj" fmla="val 33333"/>
            </a:avLst>
          </a:prstGeom>
          <a:solidFill>
            <a:srgbClr val="F2B705"/>
          </a:solidFill>
          <a:ln>
            <a:noFill/>
          </a:ln>
        </p:spPr>
        <p:txBody>
          <a:bodyPr wrap="square" lIns="18288" tIns="18288" rIns="18288" bIns="18288" rtlCol="0" anchor="ctr">
            <a:noAutofit/>
          </a:bodyPr>
          <a:lstStyle/>
          <a:p>
            <a:pPr algn="ctr">
              <a:spcAft>
                <a:spcPts val="0"/>
              </a:spcAft>
            </a:pPr>
            <a:r>
              <a:rPr sz="1050" b="1" i="0">
                <a:solidFill>
                  <a:srgbClr val="1F2A30"/>
                </a:solidFill>
                <a:latin typeface="Swis721 Cn BT"/>
              </a:rPr>
              <a:t>w₂ = 0,3</a:t>
            </a:r>
          </a:p>
        </p:txBody>
      </p:sp>
      <p:sp>
        <p:nvSpPr>
          <p:cNvPr id="11" name="Rounded Rectangle 10"/>
          <p:cNvSpPr/>
          <p:nvPr/>
        </p:nvSpPr>
        <p:spPr>
          <a:xfrm>
            <a:off x="502920" y="2560320"/>
            <a:ext cx="1828800" cy="658368"/>
          </a:xfrm>
          <a:prstGeom prst="roundRect">
            <a:avLst>
              <a:gd name="adj" fmla="val 11111"/>
            </a:avLst>
          </a:prstGeom>
          <a:solidFill>
            <a:srgbClr val="E8F0F4"/>
          </a:solidFill>
          <a:ln>
            <a:noFill/>
          </a:ln>
        </p:spPr>
        <p:txBody>
          <a:bodyPr wrap="square" tIns="73152" bIns="73152" rtlCol="0" anchor="ctr">
            <a:noAutofit/>
          </a:bodyPr>
          <a:lstStyle/>
          <a:p>
            <a:pPr algn="l">
              <a:spcAft>
                <a:spcPts val="0"/>
              </a:spcAft>
            </a:pPr>
            <a:r>
              <a:rPr sz="1050" b="0" i="0">
                <a:solidFill>
                  <a:srgbClr val="003C58"/>
                </a:solidFill>
                <a:latin typeface="Swis721 Cn BT"/>
              </a:rPr>
              <a:t>Dilatación más lenta de lo esperado</a:t>
            </a:r>
          </a:p>
          <a:p>
            <a:pPr algn="l">
              <a:spcAft>
                <a:spcPts val="0"/>
              </a:spcAft>
            </a:pPr>
            <a:r>
              <a:rPr sz="1200" b="1" i="0">
                <a:solidFill>
                  <a:srgbClr val="BF210C"/>
                </a:solidFill>
                <a:latin typeface="Swis721 Cn BT"/>
              </a:rPr>
              <a:t>x₃ = 0</a:t>
            </a:r>
          </a:p>
        </p:txBody>
      </p:sp>
      <p:cxnSp>
        <p:nvCxnSpPr>
          <p:cNvPr id="12" name="Connector 11"/>
          <p:cNvCxnSpPr/>
          <p:nvPr/>
        </p:nvCxnSpPr>
        <p:spPr>
          <a:xfrm flipV="1">
            <a:off x="2331720" y="2075688"/>
            <a:ext cx="905256" cy="813815"/>
          </a:xfrm>
          <a:prstGeom prst="line">
            <a:avLst/>
          </a:prstGeom>
          <a:ln w="22225">
            <a:solidFill>
              <a:srgbClr val="2F6E8C"/>
            </a:solidFill>
            <a:tailEnd type="triangle" w="med" len="med"/>
          </a:ln>
        </p:spPr>
      </p:cxnSp>
      <p:sp>
        <p:nvSpPr>
          <p:cNvPr id="13" name="Rounded Rectangle 12"/>
          <p:cNvSpPr/>
          <p:nvPr/>
        </p:nvSpPr>
        <p:spPr>
          <a:xfrm>
            <a:off x="2432304" y="2345435"/>
            <a:ext cx="731520" cy="274320"/>
          </a:xfrm>
          <a:prstGeom prst="roundRect">
            <a:avLst>
              <a:gd name="adj" fmla="val 33333"/>
            </a:avLst>
          </a:prstGeom>
          <a:solidFill>
            <a:srgbClr val="F2B705"/>
          </a:solidFill>
          <a:ln>
            <a:noFill/>
          </a:ln>
        </p:spPr>
        <p:txBody>
          <a:bodyPr wrap="square" lIns="18288" tIns="18288" rIns="18288" bIns="18288" rtlCol="0" anchor="ctr">
            <a:noAutofit/>
          </a:bodyPr>
          <a:lstStyle/>
          <a:p>
            <a:pPr algn="ctr">
              <a:spcAft>
                <a:spcPts val="0"/>
              </a:spcAft>
            </a:pPr>
            <a:r>
              <a:rPr sz="1050" b="1" i="0">
                <a:solidFill>
                  <a:srgbClr val="1F2A30"/>
                </a:solidFill>
                <a:latin typeface="Swis721 Cn BT"/>
              </a:rPr>
              <a:t>w₃ = 0,2</a:t>
            </a:r>
          </a:p>
        </p:txBody>
      </p:sp>
      <p:sp>
        <p:nvSpPr>
          <p:cNvPr id="14" name="Oval 13"/>
          <p:cNvSpPr/>
          <p:nvPr/>
        </p:nvSpPr>
        <p:spPr>
          <a:xfrm>
            <a:off x="3200400" y="1463039"/>
            <a:ext cx="822960" cy="822960"/>
          </a:xfrm>
          <a:prstGeom prst="ellipse">
            <a:avLst/>
          </a:prstGeom>
          <a:solidFill>
            <a:srgbClr val="06717E"/>
          </a:solidFill>
          <a:ln>
            <a:noFill/>
          </a:ln>
        </p:spPr>
        <p:txBody>
          <a:bodyPr rtlCol="0" anchor="ctr"/>
          <a:lstStyle/>
          <a:p>
            <a:pPr algn="ctr">
              <a:spcAft>
                <a:spcPts val="0"/>
              </a:spcAft>
            </a:pPr>
            <a:r>
              <a:rPr sz="2800" b="1" i="0">
                <a:solidFill>
                  <a:srgbClr val="FFFFFF"/>
                </a:solidFill>
                <a:latin typeface="Swis721 Cn BT"/>
              </a:rPr>
              <a:t>Σ</a:t>
            </a:r>
          </a:p>
        </p:txBody>
      </p:sp>
      <p:cxnSp>
        <p:nvCxnSpPr>
          <p:cNvPr id="15" name="Connector 14"/>
          <p:cNvCxnSpPr/>
          <p:nvPr/>
        </p:nvCxnSpPr>
        <p:spPr>
          <a:xfrm>
            <a:off x="4023360" y="1874519"/>
            <a:ext cx="182880" cy="0"/>
          </a:xfrm>
          <a:prstGeom prst="line">
            <a:avLst/>
          </a:prstGeom>
          <a:ln w="25400">
            <a:solidFill>
              <a:srgbClr val="2F6E8C"/>
            </a:solidFill>
            <a:tailEnd type="triangle" w="med" len="med"/>
          </a:ln>
        </p:spPr>
      </p:cxnSp>
      <p:sp>
        <p:nvSpPr>
          <p:cNvPr id="16" name="Rounded Rectangle 15"/>
          <p:cNvSpPr/>
          <p:nvPr/>
        </p:nvSpPr>
        <p:spPr>
          <a:xfrm>
            <a:off x="4206240" y="1435607"/>
            <a:ext cx="914400" cy="877824"/>
          </a:xfrm>
          <a:prstGeom prst="roundRect">
            <a:avLst>
              <a:gd name="adj" fmla="val 8333"/>
            </a:avLst>
          </a:prstGeom>
          <a:solidFill>
            <a:srgbClr val="BF210C"/>
          </a:solidFill>
          <a:ln>
            <a:noFill/>
          </a:ln>
        </p:spPr>
        <p:txBody>
          <a:bodyPr wrap="square" lIns="54864" tIns="54864" rIns="54864" bIns="54864" rtlCol="0" anchor="ctr">
            <a:noAutofit/>
          </a:bodyPr>
          <a:lstStyle/>
          <a:p>
            <a:pPr algn="ctr">
              <a:spcAft>
                <a:spcPts val="0"/>
              </a:spcAft>
            </a:pPr>
            <a:r>
              <a:rPr sz="1050" b="0" i="0">
                <a:solidFill>
                  <a:srgbClr val="FFFFFF"/>
                </a:solidFill>
                <a:latin typeface="Swis721 Cn BT"/>
              </a:rPr>
              <a:t>Umbral 0,5</a:t>
            </a:r>
          </a:p>
          <a:p>
            <a:pPr algn="ctr">
              <a:spcAft>
                <a:spcPts val="0"/>
              </a:spcAft>
            </a:pPr>
            <a:r>
              <a:rPr sz="1300" b="1" i="0">
                <a:solidFill>
                  <a:srgbClr val="FFFFFF"/>
                </a:solidFill>
                <a:latin typeface="Swis721 Cn BT"/>
              </a:rPr>
              <a:t>SÍ → avisar</a:t>
            </a:r>
          </a:p>
        </p:txBody>
      </p:sp>
      <p:sp>
        <p:nvSpPr>
          <p:cNvPr id="17" name="Rounded Rectangle 16"/>
          <p:cNvSpPr/>
          <p:nvPr/>
        </p:nvSpPr>
        <p:spPr>
          <a:xfrm>
            <a:off x="502920" y="3401568"/>
            <a:ext cx="4617720" cy="667512"/>
          </a:xfrm>
          <a:prstGeom prst="roundRect">
            <a:avLst>
              <a:gd name="adj" fmla="val 10958"/>
            </a:avLst>
          </a:prstGeom>
          <a:solidFill>
            <a:srgbClr val="E8F0F4"/>
          </a:solidFill>
          <a:ln>
            <a:noFill/>
          </a:ln>
        </p:spPr>
        <p:txBody>
          <a:bodyPr wrap="square" lIns="137160" tIns="73152" rIns="137160" bIns="73152" rtlCol="0" anchor="ctr">
            <a:noAutofit/>
          </a:bodyPr>
          <a:lstStyle/>
          <a:p>
            <a:pPr algn="l">
              <a:spcAft>
                <a:spcPts val="0"/>
              </a:spcAft>
            </a:pPr>
            <a:r>
              <a:rPr sz="1300" b="0" i="0">
                <a:solidFill>
                  <a:srgbClr val="1F2A30"/>
                </a:solidFill>
                <a:latin typeface="Swis721 Cn BT"/>
              </a:rPr>
              <a:t>Suma = 0,6·1 + 0,3·1 + 0,2·0 = </a:t>
            </a:r>
            <a:r>
              <a:rPr sz="1300" b="1" i="0">
                <a:solidFill>
                  <a:srgbClr val="1F2A30"/>
                </a:solidFill>
                <a:latin typeface="Swis721 Cn BT"/>
              </a:rPr>
              <a:t>0,9</a:t>
            </a:r>
            <a:r>
              <a:rPr sz="1300" b="0" i="0">
                <a:solidFill>
                  <a:srgbClr val="1F2A30"/>
                </a:solidFill>
                <a:latin typeface="Swis721 Cn BT"/>
              </a:rPr>
              <a:t>  &gt;  umbral 0,5  →  la neurona </a:t>
            </a:r>
            <a:r>
              <a:rPr sz="1300" b="1" i="0">
                <a:solidFill>
                  <a:srgbClr val="BF210C"/>
                </a:solidFill>
                <a:latin typeface="Swis721 Cn BT"/>
              </a:rPr>
              <a:t>«dispara»</a:t>
            </a:r>
          </a:p>
        </p:txBody>
      </p:sp>
      <p:sp>
        <p:nvSpPr>
          <p:cNvPr id="18" name="Rounded Rectangle 17"/>
          <p:cNvSpPr/>
          <p:nvPr/>
        </p:nvSpPr>
        <p:spPr>
          <a:xfrm>
            <a:off x="5303520" y="868680"/>
            <a:ext cx="3337559" cy="3200400"/>
          </a:xfrm>
          <a:prstGeom prst="roundRect">
            <a:avLst>
              <a:gd name="adj" fmla="val 3428"/>
            </a:avLst>
          </a:prstGeom>
          <a:solidFill>
            <a:srgbClr val="003C58"/>
          </a:solidFill>
          <a:ln>
            <a:noFill/>
          </a:ln>
        </p:spPr>
        <p:txBody>
          <a:bodyPr rtlCol="0" anchor="ctr"/>
          <a:lstStyle/>
          <a:p>
            <a:pPr algn="ctr"/>
            <a:endParaRPr/>
          </a:p>
        </p:txBody>
      </p:sp>
      <p:sp>
        <p:nvSpPr>
          <p:cNvPr id="19" name="TextBox 18"/>
          <p:cNvSpPr txBox="1"/>
          <p:nvPr/>
        </p:nvSpPr>
        <p:spPr>
          <a:xfrm>
            <a:off x="5504688" y="1033271"/>
            <a:ext cx="2971800" cy="320040"/>
          </a:xfrm>
          <a:prstGeom prst="rect">
            <a:avLst/>
          </a:prstGeom>
          <a:noFill/>
        </p:spPr>
        <p:txBody>
          <a:bodyPr wrap="square" lIns="0" tIns="0" rIns="0" bIns="0" anchor="t">
            <a:noAutofit/>
          </a:bodyPr>
          <a:lstStyle/>
          <a:p>
            <a:pPr algn="l">
              <a:spcAft>
                <a:spcPts val="0"/>
              </a:spcAft>
            </a:pPr>
            <a:r>
              <a:rPr sz="1500" b="1" i="0">
                <a:solidFill>
                  <a:srgbClr val="F2B705"/>
                </a:solidFill>
                <a:latin typeface="Swis721 Cn BT"/>
              </a:rPr>
              <a:t>Lo esencial</a:t>
            </a:r>
          </a:p>
        </p:txBody>
      </p:sp>
      <p:sp>
        <p:nvSpPr>
          <p:cNvPr id="20" name="TextBox 19"/>
          <p:cNvSpPr txBox="1"/>
          <p:nvPr/>
        </p:nvSpPr>
        <p:spPr>
          <a:xfrm>
            <a:off x="5504688" y="1435607"/>
            <a:ext cx="2971800" cy="2011680"/>
          </a:xfrm>
          <a:prstGeom prst="rect">
            <a:avLst/>
          </a:prstGeom>
          <a:noFill/>
        </p:spPr>
        <p:txBody>
          <a:bodyPr wrap="square" lIns="0" tIns="0" rIns="0" bIns="0" anchor="t">
            <a:noAutofit/>
          </a:bodyPr>
          <a:lstStyle/>
          <a:p>
            <a:pPr marL="155448" indent="-155448" algn="l">
              <a:spcAft>
                <a:spcPts val="700"/>
              </a:spcAft>
              <a:buClr>
                <a:srgbClr val="F2B705"/>
              </a:buClr>
              <a:buFont typeface="Arial"/>
              <a:buChar char="•"/>
            </a:pPr>
            <a:r>
              <a:rPr sz="1300" b="0" i="0">
                <a:solidFill>
                  <a:srgbClr val="FFFFFF"/>
                </a:solidFill>
                <a:latin typeface="Swis721 Cn BT"/>
              </a:rPr>
              <a:t>Cada dato se multiplica por un </a:t>
            </a:r>
            <a:r>
              <a:rPr sz="1300" b="1" i="0">
                <a:solidFill>
                  <a:srgbClr val="FFFFFF"/>
                </a:solidFill>
                <a:latin typeface="Swis721 Cn BT"/>
              </a:rPr>
              <a:t>peso</a:t>
            </a:r>
            <a:r>
              <a:rPr sz="1300" b="0" i="0">
                <a:solidFill>
                  <a:srgbClr val="FFFFFF"/>
                </a:solidFill>
                <a:latin typeface="Swis721 Cn BT"/>
              </a:rPr>
              <a:t>: su importancia.</a:t>
            </a:r>
          </a:p>
          <a:p>
            <a:pPr marL="155448" indent="-155448" algn="l">
              <a:spcAft>
                <a:spcPts val="700"/>
              </a:spcAft>
              <a:buClr>
                <a:srgbClr val="F2B705"/>
              </a:buClr>
              <a:buFont typeface="Arial"/>
              <a:buChar char="•"/>
            </a:pPr>
            <a:r>
              <a:rPr sz="1300" b="0" i="0">
                <a:solidFill>
                  <a:srgbClr val="FFFFFF"/>
                </a:solidFill>
                <a:latin typeface="Swis721 Cn BT"/>
              </a:rPr>
              <a:t>Se suman y se comparan con un </a:t>
            </a:r>
            <a:r>
              <a:rPr sz="1300" b="1" i="0">
                <a:solidFill>
                  <a:srgbClr val="FFFFFF"/>
                </a:solidFill>
                <a:latin typeface="Swis721 Cn BT"/>
              </a:rPr>
              <a:t>umbral</a:t>
            </a:r>
            <a:r>
              <a:rPr sz="1300" b="0" i="0">
                <a:solidFill>
                  <a:srgbClr val="FFFFFF"/>
                </a:solidFill>
                <a:latin typeface="Swis721 Cn BT"/>
              </a:rPr>
              <a:t>.</a:t>
            </a:r>
          </a:p>
          <a:p>
            <a:pPr marL="155448" indent="-155448" algn="l">
              <a:spcAft>
                <a:spcPts val="700"/>
              </a:spcAft>
              <a:buClr>
                <a:srgbClr val="F2B705"/>
              </a:buClr>
              <a:buFont typeface="Arial"/>
              <a:buChar char="•"/>
            </a:pPr>
            <a:r>
              <a:rPr sz="1300" b="1" i="0">
                <a:solidFill>
                  <a:srgbClr val="FFFFFF"/>
                </a:solidFill>
                <a:latin typeface="Swis721 Cn BT"/>
              </a:rPr>
              <a:t>Aprender</a:t>
            </a:r>
            <a:r>
              <a:rPr sz="1300" b="0" i="0">
                <a:solidFill>
                  <a:srgbClr val="FFFFFF"/>
                </a:solidFill>
                <a:latin typeface="Swis721 Cn BT"/>
              </a:rPr>
              <a:t> = ajustar los pesos para equivocarse menos.</a:t>
            </a:r>
          </a:p>
          <a:p>
            <a:pPr marL="155448" indent="-155448" algn="l">
              <a:spcAft>
                <a:spcPts val="700"/>
              </a:spcAft>
              <a:buClr>
                <a:srgbClr val="F2B705"/>
              </a:buClr>
              <a:buFont typeface="Arial"/>
              <a:buChar char="•"/>
            </a:pPr>
            <a:r>
              <a:rPr sz="1300" b="0" i="0">
                <a:solidFill>
                  <a:srgbClr val="FFFFFF"/>
                </a:solidFill>
                <a:latin typeface="Swis721 Cn BT"/>
              </a:rPr>
              <a:t>Modelo propuesto en 1943; hoy se combinan miles de millones de pesos.</a:t>
            </a:r>
          </a:p>
        </p:txBody>
      </p:sp>
      <p:sp>
        <p:nvSpPr>
          <p:cNvPr id="21" name="TextBox 20"/>
          <p:cNvSpPr txBox="1"/>
          <p:nvPr/>
        </p:nvSpPr>
        <p:spPr>
          <a:xfrm>
            <a:off x="5504688" y="3520439"/>
            <a:ext cx="2971800" cy="411480"/>
          </a:xfrm>
          <a:prstGeom prst="rect">
            <a:avLst/>
          </a:prstGeom>
          <a:noFill/>
        </p:spPr>
        <p:txBody>
          <a:bodyPr wrap="square" lIns="0" tIns="0" rIns="0" bIns="0" anchor="t">
            <a:noAutofit/>
          </a:bodyPr>
          <a:lstStyle/>
          <a:p>
            <a:pPr algn="l">
              <a:spcAft>
                <a:spcPts val="0"/>
              </a:spcAft>
            </a:pPr>
            <a:r>
              <a:rPr sz="1050" b="0" i="1">
                <a:solidFill>
                  <a:srgbClr val="C9DAE3"/>
                </a:solidFill>
                <a:latin typeface="Swis721 Cn BT"/>
              </a:rPr>
              <a:t>Ejemplo didáctico: los pesos son inventados; no es una regla clínica.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Una red neuronal: miles de neuronas organizadas en capas</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 [6] LeCun et al., 2015</a:t>
            </a:r>
          </a:p>
        </p:txBody>
      </p:sp>
      <p:cxnSp>
        <p:nvCxnSpPr>
          <p:cNvPr id="5" name="Connector 4"/>
          <p:cNvCxnSpPr/>
          <p:nvPr/>
        </p:nvCxnSpPr>
        <p:spPr>
          <a:xfrm flipV="1">
            <a:off x="868680" y="1147572"/>
            <a:ext cx="1143000" cy="58293"/>
          </a:xfrm>
          <a:prstGeom prst="line">
            <a:avLst/>
          </a:prstGeom>
          <a:ln w="9525">
            <a:solidFill>
              <a:srgbClr val="C9DAE3"/>
            </a:solidFill>
          </a:ln>
        </p:spPr>
      </p:cxnSp>
      <p:cxnSp>
        <p:nvCxnSpPr>
          <p:cNvPr id="6" name="Connector 5"/>
          <p:cNvCxnSpPr/>
          <p:nvPr/>
        </p:nvCxnSpPr>
        <p:spPr>
          <a:xfrm>
            <a:off x="868680" y="1205865"/>
            <a:ext cx="1143000" cy="408051"/>
          </a:xfrm>
          <a:prstGeom prst="line">
            <a:avLst/>
          </a:prstGeom>
          <a:ln w="9525">
            <a:solidFill>
              <a:srgbClr val="C9DAE3"/>
            </a:solidFill>
          </a:ln>
        </p:spPr>
      </p:cxnSp>
      <p:cxnSp>
        <p:nvCxnSpPr>
          <p:cNvPr id="7" name="Connector 6"/>
          <p:cNvCxnSpPr/>
          <p:nvPr/>
        </p:nvCxnSpPr>
        <p:spPr>
          <a:xfrm>
            <a:off x="868680" y="1205865"/>
            <a:ext cx="1143000" cy="874395"/>
          </a:xfrm>
          <a:prstGeom prst="line">
            <a:avLst/>
          </a:prstGeom>
          <a:ln w="9525">
            <a:solidFill>
              <a:srgbClr val="C9DAE3"/>
            </a:solidFill>
          </a:ln>
        </p:spPr>
      </p:cxnSp>
      <p:cxnSp>
        <p:nvCxnSpPr>
          <p:cNvPr id="8" name="Connector 7"/>
          <p:cNvCxnSpPr/>
          <p:nvPr/>
        </p:nvCxnSpPr>
        <p:spPr>
          <a:xfrm>
            <a:off x="868680" y="1205865"/>
            <a:ext cx="1143000" cy="1340738"/>
          </a:xfrm>
          <a:prstGeom prst="line">
            <a:avLst/>
          </a:prstGeom>
          <a:ln w="9525">
            <a:solidFill>
              <a:srgbClr val="C9DAE3"/>
            </a:solidFill>
          </a:ln>
        </p:spPr>
      </p:cxnSp>
      <p:cxnSp>
        <p:nvCxnSpPr>
          <p:cNvPr id="9" name="Connector 8"/>
          <p:cNvCxnSpPr/>
          <p:nvPr/>
        </p:nvCxnSpPr>
        <p:spPr>
          <a:xfrm>
            <a:off x="868680" y="1205865"/>
            <a:ext cx="1143000" cy="1807083"/>
          </a:xfrm>
          <a:prstGeom prst="line">
            <a:avLst/>
          </a:prstGeom>
          <a:ln w="9525">
            <a:solidFill>
              <a:srgbClr val="C9DAE3"/>
            </a:solidFill>
          </a:ln>
        </p:spPr>
      </p:cxnSp>
      <p:cxnSp>
        <p:nvCxnSpPr>
          <p:cNvPr id="10" name="Connector 9"/>
          <p:cNvCxnSpPr/>
          <p:nvPr/>
        </p:nvCxnSpPr>
        <p:spPr>
          <a:xfrm flipV="1">
            <a:off x="868680" y="1147572"/>
            <a:ext cx="1143000" cy="641222"/>
          </a:xfrm>
          <a:prstGeom prst="line">
            <a:avLst/>
          </a:prstGeom>
          <a:ln w="9525">
            <a:solidFill>
              <a:srgbClr val="C9DAE3"/>
            </a:solidFill>
          </a:ln>
        </p:spPr>
      </p:cxnSp>
      <p:cxnSp>
        <p:nvCxnSpPr>
          <p:cNvPr id="11" name="Connector 10"/>
          <p:cNvCxnSpPr/>
          <p:nvPr/>
        </p:nvCxnSpPr>
        <p:spPr>
          <a:xfrm flipV="1">
            <a:off x="868680" y="1613916"/>
            <a:ext cx="1143000" cy="174878"/>
          </a:xfrm>
          <a:prstGeom prst="line">
            <a:avLst/>
          </a:prstGeom>
          <a:ln w="9525">
            <a:solidFill>
              <a:srgbClr val="C9DAE3"/>
            </a:solidFill>
          </a:ln>
        </p:spPr>
      </p:cxnSp>
      <p:cxnSp>
        <p:nvCxnSpPr>
          <p:cNvPr id="12" name="Connector 11"/>
          <p:cNvCxnSpPr/>
          <p:nvPr/>
        </p:nvCxnSpPr>
        <p:spPr>
          <a:xfrm>
            <a:off x="868680" y="1788794"/>
            <a:ext cx="1143000" cy="291466"/>
          </a:xfrm>
          <a:prstGeom prst="line">
            <a:avLst/>
          </a:prstGeom>
          <a:ln w="9525">
            <a:solidFill>
              <a:srgbClr val="C9DAE3"/>
            </a:solidFill>
          </a:ln>
        </p:spPr>
      </p:cxnSp>
      <p:cxnSp>
        <p:nvCxnSpPr>
          <p:cNvPr id="13" name="Connector 12"/>
          <p:cNvCxnSpPr/>
          <p:nvPr/>
        </p:nvCxnSpPr>
        <p:spPr>
          <a:xfrm>
            <a:off x="868680" y="1788794"/>
            <a:ext cx="1143000" cy="757809"/>
          </a:xfrm>
          <a:prstGeom prst="line">
            <a:avLst/>
          </a:prstGeom>
          <a:ln w="9525">
            <a:solidFill>
              <a:srgbClr val="C9DAE3"/>
            </a:solidFill>
          </a:ln>
        </p:spPr>
      </p:cxnSp>
      <p:cxnSp>
        <p:nvCxnSpPr>
          <p:cNvPr id="14" name="Connector 13"/>
          <p:cNvCxnSpPr/>
          <p:nvPr/>
        </p:nvCxnSpPr>
        <p:spPr>
          <a:xfrm>
            <a:off x="868680" y="1788794"/>
            <a:ext cx="1143000" cy="1224154"/>
          </a:xfrm>
          <a:prstGeom prst="line">
            <a:avLst/>
          </a:prstGeom>
          <a:ln w="9525">
            <a:solidFill>
              <a:srgbClr val="C9DAE3"/>
            </a:solidFill>
          </a:ln>
        </p:spPr>
      </p:cxnSp>
      <p:cxnSp>
        <p:nvCxnSpPr>
          <p:cNvPr id="15" name="Connector 14"/>
          <p:cNvCxnSpPr/>
          <p:nvPr/>
        </p:nvCxnSpPr>
        <p:spPr>
          <a:xfrm flipV="1">
            <a:off x="868680" y="1147572"/>
            <a:ext cx="1143000" cy="1224153"/>
          </a:xfrm>
          <a:prstGeom prst="line">
            <a:avLst/>
          </a:prstGeom>
          <a:ln w="9525">
            <a:solidFill>
              <a:srgbClr val="C9DAE3"/>
            </a:solidFill>
          </a:ln>
        </p:spPr>
      </p:cxnSp>
      <p:cxnSp>
        <p:nvCxnSpPr>
          <p:cNvPr id="16" name="Connector 15"/>
          <p:cNvCxnSpPr/>
          <p:nvPr/>
        </p:nvCxnSpPr>
        <p:spPr>
          <a:xfrm flipV="1">
            <a:off x="868680" y="1613916"/>
            <a:ext cx="1143000" cy="757809"/>
          </a:xfrm>
          <a:prstGeom prst="line">
            <a:avLst/>
          </a:prstGeom>
          <a:ln w="9525">
            <a:solidFill>
              <a:srgbClr val="C9DAE3"/>
            </a:solidFill>
          </a:ln>
        </p:spPr>
      </p:cxnSp>
      <p:cxnSp>
        <p:nvCxnSpPr>
          <p:cNvPr id="17" name="Connector 16"/>
          <p:cNvCxnSpPr/>
          <p:nvPr/>
        </p:nvCxnSpPr>
        <p:spPr>
          <a:xfrm flipV="1">
            <a:off x="868680" y="2080260"/>
            <a:ext cx="1143000" cy="291465"/>
          </a:xfrm>
          <a:prstGeom prst="line">
            <a:avLst/>
          </a:prstGeom>
          <a:ln w="9525">
            <a:solidFill>
              <a:srgbClr val="C9DAE3"/>
            </a:solidFill>
          </a:ln>
        </p:spPr>
      </p:cxnSp>
      <p:cxnSp>
        <p:nvCxnSpPr>
          <p:cNvPr id="18" name="Connector 17"/>
          <p:cNvCxnSpPr/>
          <p:nvPr/>
        </p:nvCxnSpPr>
        <p:spPr>
          <a:xfrm>
            <a:off x="868680" y="2371725"/>
            <a:ext cx="1143000" cy="174878"/>
          </a:xfrm>
          <a:prstGeom prst="line">
            <a:avLst/>
          </a:prstGeom>
          <a:ln w="9525">
            <a:solidFill>
              <a:srgbClr val="C9DAE3"/>
            </a:solidFill>
          </a:ln>
        </p:spPr>
      </p:cxnSp>
      <p:cxnSp>
        <p:nvCxnSpPr>
          <p:cNvPr id="19" name="Connector 18"/>
          <p:cNvCxnSpPr/>
          <p:nvPr/>
        </p:nvCxnSpPr>
        <p:spPr>
          <a:xfrm>
            <a:off x="868680" y="2371725"/>
            <a:ext cx="1143000" cy="641223"/>
          </a:xfrm>
          <a:prstGeom prst="line">
            <a:avLst/>
          </a:prstGeom>
          <a:ln w="9525">
            <a:solidFill>
              <a:srgbClr val="C9DAE3"/>
            </a:solidFill>
          </a:ln>
        </p:spPr>
      </p:cxnSp>
      <p:cxnSp>
        <p:nvCxnSpPr>
          <p:cNvPr id="20" name="Connector 19"/>
          <p:cNvCxnSpPr/>
          <p:nvPr/>
        </p:nvCxnSpPr>
        <p:spPr>
          <a:xfrm flipV="1">
            <a:off x="868680" y="1147572"/>
            <a:ext cx="1143000" cy="1807082"/>
          </a:xfrm>
          <a:prstGeom prst="line">
            <a:avLst/>
          </a:prstGeom>
          <a:ln w="9525">
            <a:solidFill>
              <a:srgbClr val="C9DAE3"/>
            </a:solidFill>
          </a:ln>
        </p:spPr>
      </p:cxnSp>
      <p:cxnSp>
        <p:nvCxnSpPr>
          <p:cNvPr id="21" name="Connector 20"/>
          <p:cNvCxnSpPr/>
          <p:nvPr/>
        </p:nvCxnSpPr>
        <p:spPr>
          <a:xfrm flipV="1">
            <a:off x="868680" y="1613916"/>
            <a:ext cx="1143000" cy="1340738"/>
          </a:xfrm>
          <a:prstGeom prst="line">
            <a:avLst/>
          </a:prstGeom>
          <a:ln w="9525">
            <a:solidFill>
              <a:srgbClr val="C9DAE3"/>
            </a:solidFill>
          </a:ln>
        </p:spPr>
      </p:cxnSp>
      <p:cxnSp>
        <p:nvCxnSpPr>
          <p:cNvPr id="22" name="Connector 21"/>
          <p:cNvCxnSpPr/>
          <p:nvPr/>
        </p:nvCxnSpPr>
        <p:spPr>
          <a:xfrm flipV="1">
            <a:off x="868680" y="2080260"/>
            <a:ext cx="1143000" cy="874394"/>
          </a:xfrm>
          <a:prstGeom prst="line">
            <a:avLst/>
          </a:prstGeom>
          <a:ln w="9525">
            <a:solidFill>
              <a:srgbClr val="C9DAE3"/>
            </a:solidFill>
          </a:ln>
        </p:spPr>
      </p:cxnSp>
      <p:cxnSp>
        <p:nvCxnSpPr>
          <p:cNvPr id="23" name="Connector 22"/>
          <p:cNvCxnSpPr/>
          <p:nvPr/>
        </p:nvCxnSpPr>
        <p:spPr>
          <a:xfrm flipV="1">
            <a:off x="868680" y="2546603"/>
            <a:ext cx="1143000" cy="408051"/>
          </a:xfrm>
          <a:prstGeom prst="line">
            <a:avLst/>
          </a:prstGeom>
          <a:ln w="9525">
            <a:solidFill>
              <a:srgbClr val="C9DAE3"/>
            </a:solidFill>
          </a:ln>
        </p:spPr>
      </p:cxnSp>
      <p:cxnSp>
        <p:nvCxnSpPr>
          <p:cNvPr id="24" name="Connector 23"/>
          <p:cNvCxnSpPr/>
          <p:nvPr/>
        </p:nvCxnSpPr>
        <p:spPr>
          <a:xfrm>
            <a:off x="868680" y="2954654"/>
            <a:ext cx="1143000" cy="58294"/>
          </a:xfrm>
          <a:prstGeom prst="line">
            <a:avLst/>
          </a:prstGeom>
          <a:ln w="9525">
            <a:solidFill>
              <a:srgbClr val="C9DAE3"/>
            </a:solidFill>
          </a:ln>
        </p:spPr>
      </p:cxnSp>
      <p:cxnSp>
        <p:nvCxnSpPr>
          <p:cNvPr id="25" name="Connector 24"/>
          <p:cNvCxnSpPr/>
          <p:nvPr/>
        </p:nvCxnSpPr>
        <p:spPr>
          <a:xfrm>
            <a:off x="2011680" y="1147572"/>
            <a:ext cx="1143000" cy="0"/>
          </a:xfrm>
          <a:prstGeom prst="line">
            <a:avLst/>
          </a:prstGeom>
          <a:ln w="9525">
            <a:solidFill>
              <a:srgbClr val="C9DAE3"/>
            </a:solidFill>
          </a:ln>
        </p:spPr>
      </p:cxnSp>
      <p:cxnSp>
        <p:nvCxnSpPr>
          <p:cNvPr id="26" name="Connector 25"/>
          <p:cNvCxnSpPr/>
          <p:nvPr/>
        </p:nvCxnSpPr>
        <p:spPr>
          <a:xfrm>
            <a:off x="2011680" y="1147572"/>
            <a:ext cx="1143000" cy="466344"/>
          </a:xfrm>
          <a:prstGeom prst="line">
            <a:avLst/>
          </a:prstGeom>
          <a:ln w="9525">
            <a:solidFill>
              <a:srgbClr val="C9DAE3"/>
            </a:solidFill>
          </a:ln>
        </p:spPr>
      </p:cxnSp>
      <p:cxnSp>
        <p:nvCxnSpPr>
          <p:cNvPr id="27" name="Connector 26"/>
          <p:cNvCxnSpPr/>
          <p:nvPr/>
        </p:nvCxnSpPr>
        <p:spPr>
          <a:xfrm>
            <a:off x="2011680" y="1147572"/>
            <a:ext cx="1143000" cy="932688"/>
          </a:xfrm>
          <a:prstGeom prst="line">
            <a:avLst/>
          </a:prstGeom>
          <a:ln w="9525">
            <a:solidFill>
              <a:srgbClr val="C9DAE3"/>
            </a:solidFill>
          </a:ln>
        </p:spPr>
      </p:cxnSp>
      <p:cxnSp>
        <p:nvCxnSpPr>
          <p:cNvPr id="28" name="Connector 27"/>
          <p:cNvCxnSpPr/>
          <p:nvPr/>
        </p:nvCxnSpPr>
        <p:spPr>
          <a:xfrm>
            <a:off x="2011680" y="1147572"/>
            <a:ext cx="1143000" cy="1399031"/>
          </a:xfrm>
          <a:prstGeom prst="line">
            <a:avLst/>
          </a:prstGeom>
          <a:ln w="9525">
            <a:solidFill>
              <a:srgbClr val="C9DAE3"/>
            </a:solidFill>
          </a:ln>
        </p:spPr>
      </p:cxnSp>
      <p:cxnSp>
        <p:nvCxnSpPr>
          <p:cNvPr id="29" name="Connector 28"/>
          <p:cNvCxnSpPr/>
          <p:nvPr/>
        </p:nvCxnSpPr>
        <p:spPr>
          <a:xfrm>
            <a:off x="2011680" y="1147572"/>
            <a:ext cx="1143000" cy="1865376"/>
          </a:xfrm>
          <a:prstGeom prst="line">
            <a:avLst/>
          </a:prstGeom>
          <a:ln w="9525">
            <a:solidFill>
              <a:srgbClr val="C9DAE3"/>
            </a:solidFill>
          </a:ln>
        </p:spPr>
      </p:cxnSp>
      <p:cxnSp>
        <p:nvCxnSpPr>
          <p:cNvPr id="30" name="Connector 29"/>
          <p:cNvCxnSpPr/>
          <p:nvPr/>
        </p:nvCxnSpPr>
        <p:spPr>
          <a:xfrm flipV="1">
            <a:off x="2011680" y="1147572"/>
            <a:ext cx="1143000" cy="466344"/>
          </a:xfrm>
          <a:prstGeom prst="line">
            <a:avLst/>
          </a:prstGeom>
          <a:ln w="9525">
            <a:solidFill>
              <a:srgbClr val="C9DAE3"/>
            </a:solidFill>
          </a:ln>
        </p:spPr>
      </p:cxnSp>
      <p:cxnSp>
        <p:nvCxnSpPr>
          <p:cNvPr id="31" name="Connector 30"/>
          <p:cNvCxnSpPr/>
          <p:nvPr/>
        </p:nvCxnSpPr>
        <p:spPr>
          <a:xfrm>
            <a:off x="2011680" y="1613916"/>
            <a:ext cx="1143000" cy="0"/>
          </a:xfrm>
          <a:prstGeom prst="line">
            <a:avLst/>
          </a:prstGeom>
          <a:ln w="9525">
            <a:solidFill>
              <a:srgbClr val="C9DAE3"/>
            </a:solidFill>
          </a:ln>
        </p:spPr>
      </p:cxnSp>
      <p:cxnSp>
        <p:nvCxnSpPr>
          <p:cNvPr id="32" name="Connector 31"/>
          <p:cNvCxnSpPr/>
          <p:nvPr/>
        </p:nvCxnSpPr>
        <p:spPr>
          <a:xfrm>
            <a:off x="2011680" y="1613916"/>
            <a:ext cx="1143000" cy="466344"/>
          </a:xfrm>
          <a:prstGeom prst="line">
            <a:avLst/>
          </a:prstGeom>
          <a:ln w="9525">
            <a:solidFill>
              <a:srgbClr val="C9DAE3"/>
            </a:solidFill>
          </a:ln>
        </p:spPr>
      </p:cxnSp>
      <p:cxnSp>
        <p:nvCxnSpPr>
          <p:cNvPr id="33" name="Connector 32"/>
          <p:cNvCxnSpPr/>
          <p:nvPr/>
        </p:nvCxnSpPr>
        <p:spPr>
          <a:xfrm>
            <a:off x="2011680" y="1613916"/>
            <a:ext cx="1143000" cy="932687"/>
          </a:xfrm>
          <a:prstGeom prst="line">
            <a:avLst/>
          </a:prstGeom>
          <a:ln w="9525">
            <a:solidFill>
              <a:srgbClr val="C9DAE3"/>
            </a:solidFill>
          </a:ln>
        </p:spPr>
      </p:cxnSp>
      <p:cxnSp>
        <p:nvCxnSpPr>
          <p:cNvPr id="34" name="Connector 33"/>
          <p:cNvCxnSpPr/>
          <p:nvPr/>
        </p:nvCxnSpPr>
        <p:spPr>
          <a:xfrm>
            <a:off x="2011680" y="1613916"/>
            <a:ext cx="1143000" cy="1399032"/>
          </a:xfrm>
          <a:prstGeom prst="line">
            <a:avLst/>
          </a:prstGeom>
          <a:ln w="9525">
            <a:solidFill>
              <a:srgbClr val="C9DAE3"/>
            </a:solidFill>
          </a:ln>
        </p:spPr>
      </p:cxnSp>
      <p:cxnSp>
        <p:nvCxnSpPr>
          <p:cNvPr id="35" name="Connector 34"/>
          <p:cNvCxnSpPr/>
          <p:nvPr/>
        </p:nvCxnSpPr>
        <p:spPr>
          <a:xfrm flipV="1">
            <a:off x="2011680" y="1147572"/>
            <a:ext cx="1143000" cy="932688"/>
          </a:xfrm>
          <a:prstGeom prst="line">
            <a:avLst/>
          </a:prstGeom>
          <a:ln w="9525">
            <a:solidFill>
              <a:srgbClr val="C9DAE3"/>
            </a:solidFill>
          </a:ln>
        </p:spPr>
      </p:cxnSp>
      <p:cxnSp>
        <p:nvCxnSpPr>
          <p:cNvPr id="36" name="Connector 35"/>
          <p:cNvCxnSpPr/>
          <p:nvPr/>
        </p:nvCxnSpPr>
        <p:spPr>
          <a:xfrm flipV="1">
            <a:off x="2011680" y="1613916"/>
            <a:ext cx="1143000" cy="466344"/>
          </a:xfrm>
          <a:prstGeom prst="line">
            <a:avLst/>
          </a:prstGeom>
          <a:ln w="9525">
            <a:solidFill>
              <a:srgbClr val="C9DAE3"/>
            </a:solidFill>
          </a:ln>
        </p:spPr>
      </p:cxnSp>
      <p:cxnSp>
        <p:nvCxnSpPr>
          <p:cNvPr id="37" name="Connector 36"/>
          <p:cNvCxnSpPr/>
          <p:nvPr/>
        </p:nvCxnSpPr>
        <p:spPr>
          <a:xfrm>
            <a:off x="2011680" y="2080260"/>
            <a:ext cx="1143000" cy="0"/>
          </a:xfrm>
          <a:prstGeom prst="line">
            <a:avLst/>
          </a:prstGeom>
          <a:ln w="9525">
            <a:solidFill>
              <a:srgbClr val="C9DAE3"/>
            </a:solidFill>
          </a:ln>
        </p:spPr>
      </p:cxnSp>
      <p:cxnSp>
        <p:nvCxnSpPr>
          <p:cNvPr id="38" name="Connector 37"/>
          <p:cNvCxnSpPr/>
          <p:nvPr/>
        </p:nvCxnSpPr>
        <p:spPr>
          <a:xfrm>
            <a:off x="2011680" y="2080260"/>
            <a:ext cx="1143000" cy="466343"/>
          </a:xfrm>
          <a:prstGeom prst="line">
            <a:avLst/>
          </a:prstGeom>
          <a:ln w="9525">
            <a:solidFill>
              <a:srgbClr val="C9DAE3"/>
            </a:solidFill>
          </a:ln>
        </p:spPr>
      </p:cxnSp>
      <p:cxnSp>
        <p:nvCxnSpPr>
          <p:cNvPr id="39" name="Connector 38"/>
          <p:cNvCxnSpPr/>
          <p:nvPr/>
        </p:nvCxnSpPr>
        <p:spPr>
          <a:xfrm>
            <a:off x="2011680" y="2080260"/>
            <a:ext cx="1143000" cy="932688"/>
          </a:xfrm>
          <a:prstGeom prst="line">
            <a:avLst/>
          </a:prstGeom>
          <a:ln w="9525">
            <a:solidFill>
              <a:srgbClr val="C9DAE3"/>
            </a:solidFill>
          </a:ln>
        </p:spPr>
      </p:cxnSp>
      <p:cxnSp>
        <p:nvCxnSpPr>
          <p:cNvPr id="40" name="Connector 39"/>
          <p:cNvCxnSpPr/>
          <p:nvPr/>
        </p:nvCxnSpPr>
        <p:spPr>
          <a:xfrm flipV="1">
            <a:off x="2011680" y="1147572"/>
            <a:ext cx="1143000" cy="1399031"/>
          </a:xfrm>
          <a:prstGeom prst="line">
            <a:avLst/>
          </a:prstGeom>
          <a:ln w="9525">
            <a:solidFill>
              <a:srgbClr val="C9DAE3"/>
            </a:solidFill>
          </a:ln>
        </p:spPr>
      </p:cxnSp>
      <p:cxnSp>
        <p:nvCxnSpPr>
          <p:cNvPr id="41" name="Connector 40"/>
          <p:cNvCxnSpPr/>
          <p:nvPr/>
        </p:nvCxnSpPr>
        <p:spPr>
          <a:xfrm flipV="1">
            <a:off x="2011680" y="1613916"/>
            <a:ext cx="1143000" cy="932687"/>
          </a:xfrm>
          <a:prstGeom prst="line">
            <a:avLst/>
          </a:prstGeom>
          <a:ln w="9525">
            <a:solidFill>
              <a:srgbClr val="C9DAE3"/>
            </a:solidFill>
          </a:ln>
        </p:spPr>
      </p:cxnSp>
      <p:cxnSp>
        <p:nvCxnSpPr>
          <p:cNvPr id="42" name="Connector 41"/>
          <p:cNvCxnSpPr/>
          <p:nvPr/>
        </p:nvCxnSpPr>
        <p:spPr>
          <a:xfrm flipV="1">
            <a:off x="2011680" y="2080260"/>
            <a:ext cx="1143000" cy="466343"/>
          </a:xfrm>
          <a:prstGeom prst="line">
            <a:avLst/>
          </a:prstGeom>
          <a:ln w="9525">
            <a:solidFill>
              <a:srgbClr val="C9DAE3"/>
            </a:solidFill>
          </a:ln>
        </p:spPr>
      </p:cxnSp>
      <p:cxnSp>
        <p:nvCxnSpPr>
          <p:cNvPr id="43" name="Connector 42"/>
          <p:cNvCxnSpPr/>
          <p:nvPr/>
        </p:nvCxnSpPr>
        <p:spPr>
          <a:xfrm>
            <a:off x="2011680" y="2546603"/>
            <a:ext cx="1143000" cy="0"/>
          </a:xfrm>
          <a:prstGeom prst="line">
            <a:avLst/>
          </a:prstGeom>
          <a:ln w="9525">
            <a:solidFill>
              <a:srgbClr val="C9DAE3"/>
            </a:solidFill>
          </a:ln>
        </p:spPr>
      </p:cxnSp>
      <p:cxnSp>
        <p:nvCxnSpPr>
          <p:cNvPr id="44" name="Connector 43"/>
          <p:cNvCxnSpPr/>
          <p:nvPr/>
        </p:nvCxnSpPr>
        <p:spPr>
          <a:xfrm>
            <a:off x="2011680" y="2546603"/>
            <a:ext cx="1143000" cy="466345"/>
          </a:xfrm>
          <a:prstGeom prst="line">
            <a:avLst/>
          </a:prstGeom>
          <a:ln w="9525">
            <a:solidFill>
              <a:srgbClr val="C9DAE3"/>
            </a:solidFill>
          </a:ln>
        </p:spPr>
      </p:cxnSp>
      <p:cxnSp>
        <p:nvCxnSpPr>
          <p:cNvPr id="45" name="Connector 44"/>
          <p:cNvCxnSpPr/>
          <p:nvPr/>
        </p:nvCxnSpPr>
        <p:spPr>
          <a:xfrm flipV="1">
            <a:off x="2011680" y="1147572"/>
            <a:ext cx="1143000" cy="1865376"/>
          </a:xfrm>
          <a:prstGeom prst="line">
            <a:avLst/>
          </a:prstGeom>
          <a:ln w="9525">
            <a:solidFill>
              <a:srgbClr val="C9DAE3"/>
            </a:solidFill>
          </a:ln>
        </p:spPr>
      </p:cxnSp>
      <p:cxnSp>
        <p:nvCxnSpPr>
          <p:cNvPr id="46" name="Connector 45"/>
          <p:cNvCxnSpPr/>
          <p:nvPr/>
        </p:nvCxnSpPr>
        <p:spPr>
          <a:xfrm flipV="1">
            <a:off x="2011680" y="1613916"/>
            <a:ext cx="1143000" cy="1399032"/>
          </a:xfrm>
          <a:prstGeom prst="line">
            <a:avLst/>
          </a:prstGeom>
          <a:ln w="9525">
            <a:solidFill>
              <a:srgbClr val="C9DAE3"/>
            </a:solidFill>
          </a:ln>
        </p:spPr>
      </p:cxnSp>
      <p:cxnSp>
        <p:nvCxnSpPr>
          <p:cNvPr id="47" name="Connector 46"/>
          <p:cNvCxnSpPr/>
          <p:nvPr/>
        </p:nvCxnSpPr>
        <p:spPr>
          <a:xfrm flipV="1">
            <a:off x="2011680" y="2080260"/>
            <a:ext cx="1143000" cy="932688"/>
          </a:xfrm>
          <a:prstGeom prst="line">
            <a:avLst/>
          </a:prstGeom>
          <a:ln w="9525">
            <a:solidFill>
              <a:srgbClr val="C9DAE3"/>
            </a:solidFill>
          </a:ln>
        </p:spPr>
      </p:cxnSp>
      <p:cxnSp>
        <p:nvCxnSpPr>
          <p:cNvPr id="48" name="Connector 47"/>
          <p:cNvCxnSpPr/>
          <p:nvPr/>
        </p:nvCxnSpPr>
        <p:spPr>
          <a:xfrm flipV="1">
            <a:off x="2011680" y="2546603"/>
            <a:ext cx="1143000" cy="466345"/>
          </a:xfrm>
          <a:prstGeom prst="line">
            <a:avLst/>
          </a:prstGeom>
          <a:ln w="9525">
            <a:solidFill>
              <a:srgbClr val="C9DAE3"/>
            </a:solidFill>
          </a:ln>
        </p:spPr>
      </p:cxnSp>
      <p:cxnSp>
        <p:nvCxnSpPr>
          <p:cNvPr id="49" name="Connector 48"/>
          <p:cNvCxnSpPr/>
          <p:nvPr/>
        </p:nvCxnSpPr>
        <p:spPr>
          <a:xfrm>
            <a:off x="2011680" y="3012948"/>
            <a:ext cx="1143000" cy="0"/>
          </a:xfrm>
          <a:prstGeom prst="line">
            <a:avLst/>
          </a:prstGeom>
          <a:ln w="9525">
            <a:solidFill>
              <a:srgbClr val="C9DAE3"/>
            </a:solidFill>
          </a:ln>
        </p:spPr>
      </p:cxnSp>
      <p:cxnSp>
        <p:nvCxnSpPr>
          <p:cNvPr id="50" name="Connector 49"/>
          <p:cNvCxnSpPr/>
          <p:nvPr/>
        </p:nvCxnSpPr>
        <p:spPr>
          <a:xfrm>
            <a:off x="3154680" y="1147572"/>
            <a:ext cx="1143000" cy="349758"/>
          </a:xfrm>
          <a:prstGeom prst="line">
            <a:avLst/>
          </a:prstGeom>
          <a:ln w="9525">
            <a:solidFill>
              <a:srgbClr val="C9DAE3"/>
            </a:solidFill>
          </a:ln>
        </p:spPr>
      </p:cxnSp>
      <p:cxnSp>
        <p:nvCxnSpPr>
          <p:cNvPr id="51" name="Connector 50"/>
          <p:cNvCxnSpPr/>
          <p:nvPr/>
        </p:nvCxnSpPr>
        <p:spPr>
          <a:xfrm>
            <a:off x="3154680" y="1147572"/>
            <a:ext cx="1143000" cy="1515617"/>
          </a:xfrm>
          <a:prstGeom prst="line">
            <a:avLst/>
          </a:prstGeom>
          <a:ln w="9525">
            <a:solidFill>
              <a:srgbClr val="C9DAE3"/>
            </a:solidFill>
          </a:ln>
        </p:spPr>
      </p:cxnSp>
      <p:cxnSp>
        <p:nvCxnSpPr>
          <p:cNvPr id="52" name="Connector 51"/>
          <p:cNvCxnSpPr/>
          <p:nvPr/>
        </p:nvCxnSpPr>
        <p:spPr>
          <a:xfrm flipV="1">
            <a:off x="3154680" y="1497330"/>
            <a:ext cx="1143000" cy="116586"/>
          </a:xfrm>
          <a:prstGeom prst="line">
            <a:avLst/>
          </a:prstGeom>
          <a:ln w="9525">
            <a:solidFill>
              <a:srgbClr val="C9DAE3"/>
            </a:solidFill>
          </a:ln>
        </p:spPr>
      </p:cxnSp>
      <p:cxnSp>
        <p:nvCxnSpPr>
          <p:cNvPr id="53" name="Connector 52"/>
          <p:cNvCxnSpPr/>
          <p:nvPr/>
        </p:nvCxnSpPr>
        <p:spPr>
          <a:xfrm>
            <a:off x="3154680" y="1613916"/>
            <a:ext cx="1143000" cy="1049273"/>
          </a:xfrm>
          <a:prstGeom prst="line">
            <a:avLst/>
          </a:prstGeom>
          <a:ln w="9525">
            <a:solidFill>
              <a:srgbClr val="C9DAE3"/>
            </a:solidFill>
          </a:ln>
        </p:spPr>
      </p:cxnSp>
      <p:cxnSp>
        <p:nvCxnSpPr>
          <p:cNvPr id="54" name="Connector 53"/>
          <p:cNvCxnSpPr/>
          <p:nvPr/>
        </p:nvCxnSpPr>
        <p:spPr>
          <a:xfrm flipV="1">
            <a:off x="3154680" y="1497330"/>
            <a:ext cx="1143000" cy="582930"/>
          </a:xfrm>
          <a:prstGeom prst="line">
            <a:avLst/>
          </a:prstGeom>
          <a:ln w="9525">
            <a:solidFill>
              <a:srgbClr val="C9DAE3"/>
            </a:solidFill>
          </a:ln>
        </p:spPr>
      </p:cxnSp>
      <p:cxnSp>
        <p:nvCxnSpPr>
          <p:cNvPr id="55" name="Connector 54"/>
          <p:cNvCxnSpPr/>
          <p:nvPr/>
        </p:nvCxnSpPr>
        <p:spPr>
          <a:xfrm>
            <a:off x="3154680" y="2080260"/>
            <a:ext cx="1143000" cy="582929"/>
          </a:xfrm>
          <a:prstGeom prst="line">
            <a:avLst/>
          </a:prstGeom>
          <a:ln w="9525">
            <a:solidFill>
              <a:srgbClr val="C9DAE3"/>
            </a:solidFill>
          </a:ln>
        </p:spPr>
      </p:cxnSp>
      <p:cxnSp>
        <p:nvCxnSpPr>
          <p:cNvPr id="56" name="Connector 55"/>
          <p:cNvCxnSpPr/>
          <p:nvPr/>
        </p:nvCxnSpPr>
        <p:spPr>
          <a:xfrm flipV="1">
            <a:off x="3154680" y="1497330"/>
            <a:ext cx="1143000" cy="1049273"/>
          </a:xfrm>
          <a:prstGeom prst="line">
            <a:avLst/>
          </a:prstGeom>
          <a:ln w="9525">
            <a:solidFill>
              <a:srgbClr val="C9DAE3"/>
            </a:solidFill>
          </a:ln>
        </p:spPr>
      </p:cxnSp>
      <p:cxnSp>
        <p:nvCxnSpPr>
          <p:cNvPr id="57" name="Connector 56"/>
          <p:cNvCxnSpPr/>
          <p:nvPr/>
        </p:nvCxnSpPr>
        <p:spPr>
          <a:xfrm>
            <a:off x="3154680" y="2546603"/>
            <a:ext cx="1143000" cy="116586"/>
          </a:xfrm>
          <a:prstGeom prst="line">
            <a:avLst/>
          </a:prstGeom>
          <a:ln w="9525">
            <a:solidFill>
              <a:srgbClr val="C9DAE3"/>
            </a:solidFill>
          </a:ln>
        </p:spPr>
      </p:cxnSp>
      <p:cxnSp>
        <p:nvCxnSpPr>
          <p:cNvPr id="58" name="Connector 57"/>
          <p:cNvCxnSpPr/>
          <p:nvPr/>
        </p:nvCxnSpPr>
        <p:spPr>
          <a:xfrm flipV="1">
            <a:off x="3154680" y="1497330"/>
            <a:ext cx="1143000" cy="1515618"/>
          </a:xfrm>
          <a:prstGeom prst="line">
            <a:avLst/>
          </a:prstGeom>
          <a:ln w="9525">
            <a:solidFill>
              <a:srgbClr val="C9DAE3"/>
            </a:solidFill>
          </a:ln>
        </p:spPr>
      </p:cxnSp>
      <p:cxnSp>
        <p:nvCxnSpPr>
          <p:cNvPr id="59" name="Connector 58"/>
          <p:cNvCxnSpPr/>
          <p:nvPr/>
        </p:nvCxnSpPr>
        <p:spPr>
          <a:xfrm flipV="1">
            <a:off x="3154680" y="2663189"/>
            <a:ext cx="1143000" cy="349759"/>
          </a:xfrm>
          <a:prstGeom prst="line">
            <a:avLst/>
          </a:prstGeom>
          <a:ln w="9525">
            <a:solidFill>
              <a:srgbClr val="C9DAE3"/>
            </a:solidFill>
          </a:ln>
        </p:spPr>
      </p:cxnSp>
      <p:cxnSp>
        <p:nvCxnSpPr>
          <p:cNvPr id="60" name="Connector 59"/>
          <p:cNvCxnSpPr/>
          <p:nvPr/>
        </p:nvCxnSpPr>
        <p:spPr>
          <a:xfrm>
            <a:off x="868680" y="1205865"/>
            <a:ext cx="1143000" cy="408051"/>
          </a:xfrm>
          <a:prstGeom prst="line">
            <a:avLst/>
          </a:prstGeom>
          <a:ln w="28575">
            <a:solidFill>
              <a:srgbClr val="BF210C"/>
            </a:solidFill>
          </a:ln>
        </p:spPr>
      </p:cxnSp>
      <p:cxnSp>
        <p:nvCxnSpPr>
          <p:cNvPr id="61" name="Connector 60"/>
          <p:cNvCxnSpPr/>
          <p:nvPr/>
        </p:nvCxnSpPr>
        <p:spPr>
          <a:xfrm>
            <a:off x="2011680" y="1613916"/>
            <a:ext cx="1143000" cy="932687"/>
          </a:xfrm>
          <a:prstGeom prst="line">
            <a:avLst/>
          </a:prstGeom>
          <a:ln w="28575">
            <a:solidFill>
              <a:srgbClr val="BF210C"/>
            </a:solidFill>
          </a:ln>
        </p:spPr>
      </p:cxnSp>
      <p:cxnSp>
        <p:nvCxnSpPr>
          <p:cNvPr id="62" name="Connector 61"/>
          <p:cNvCxnSpPr/>
          <p:nvPr/>
        </p:nvCxnSpPr>
        <p:spPr>
          <a:xfrm flipV="1">
            <a:off x="3154680" y="1497330"/>
            <a:ext cx="1143000" cy="1049273"/>
          </a:xfrm>
          <a:prstGeom prst="line">
            <a:avLst/>
          </a:prstGeom>
          <a:ln w="28575">
            <a:solidFill>
              <a:srgbClr val="BF210C"/>
            </a:solidFill>
          </a:ln>
        </p:spPr>
      </p:cxnSp>
      <p:sp>
        <p:nvSpPr>
          <p:cNvPr id="63" name="Oval 62"/>
          <p:cNvSpPr/>
          <p:nvPr/>
        </p:nvSpPr>
        <p:spPr>
          <a:xfrm>
            <a:off x="713231" y="1050417"/>
            <a:ext cx="310896" cy="310896"/>
          </a:xfrm>
          <a:prstGeom prst="ellipse">
            <a:avLst/>
          </a:prstGeom>
          <a:solidFill>
            <a:srgbClr val="003C58"/>
          </a:solidFill>
          <a:ln w="19050">
            <a:solidFill>
              <a:srgbClr val="FFFFFF"/>
            </a:solidFill>
          </a:ln>
        </p:spPr>
        <p:txBody>
          <a:bodyPr rtlCol="0" anchor="ctr"/>
          <a:lstStyle/>
          <a:p>
            <a:pPr algn="ctr"/>
            <a:endParaRPr/>
          </a:p>
        </p:txBody>
      </p:sp>
      <p:sp>
        <p:nvSpPr>
          <p:cNvPr id="64" name="Oval 63"/>
          <p:cNvSpPr/>
          <p:nvPr/>
        </p:nvSpPr>
        <p:spPr>
          <a:xfrm>
            <a:off x="713231" y="1633347"/>
            <a:ext cx="310896" cy="310896"/>
          </a:xfrm>
          <a:prstGeom prst="ellipse">
            <a:avLst/>
          </a:prstGeom>
          <a:solidFill>
            <a:srgbClr val="003C58"/>
          </a:solidFill>
          <a:ln w="19050">
            <a:solidFill>
              <a:srgbClr val="FFFFFF"/>
            </a:solidFill>
          </a:ln>
        </p:spPr>
        <p:txBody>
          <a:bodyPr rtlCol="0" anchor="ctr"/>
          <a:lstStyle/>
          <a:p>
            <a:pPr algn="ctr"/>
            <a:endParaRPr/>
          </a:p>
        </p:txBody>
      </p:sp>
      <p:sp>
        <p:nvSpPr>
          <p:cNvPr id="65" name="Oval 64"/>
          <p:cNvSpPr/>
          <p:nvPr/>
        </p:nvSpPr>
        <p:spPr>
          <a:xfrm>
            <a:off x="713231" y="2216277"/>
            <a:ext cx="310896" cy="310896"/>
          </a:xfrm>
          <a:prstGeom prst="ellipse">
            <a:avLst/>
          </a:prstGeom>
          <a:solidFill>
            <a:srgbClr val="003C58"/>
          </a:solidFill>
          <a:ln w="19050">
            <a:solidFill>
              <a:srgbClr val="FFFFFF"/>
            </a:solidFill>
          </a:ln>
        </p:spPr>
        <p:txBody>
          <a:bodyPr rtlCol="0" anchor="ctr"/>
          <a:lstStyle/>
          <a:p>
            <a:pPr algn="ctr"/>
            <a:endParaRPr/>
          </a:p>
        </p:txBody>
      </p:sp>
      <p:sp>
        <p:nvSpPr>
          <p:cNvPr id="66" name="Oval 65"/>
          <p:cNvSpPr/>
          <p:nvPr/>
        </p:nvSpPr>
        <p:spPr>
          <a:xfrm>
            <a:off x="713231" y="2799207"/>
            <a:ext cx="310896" cy="310896"/>
          </a:xfrm>
          <a:prstGeom prst="ellipse">
            <a:avLst/>
          </a:prstGeom>
          <a:solidFill>
            <a:srgbClr val="003C58"/>
          </a:solidFill>
          <a:ln w="19050">
            <a:solidFill>
              <a:srgbClr val="FFFFFF"/>
            </a:solidFill>
          </a:ln>
        </p:spPr>
        <p:txBody>
          <a:bodyPr rtlCol="0" anchor="ctr"/>
          <a:lstStyle/>
          <a:p>
            <a:pPr algn="ctr"/>
            <a:endParaRPr/>
          </a:p>
        </p:txBody>
      </p:sp>
      <p:sp>
        <p:nvSpPr>
          <p:cNvPr id="67" name="Oval 66"/>
          <p:cNvSpPr/>
          <p:nvPr/>
        </p:nvSpPr>
        <p:spPr>
          <a:xfrm>
            <a:off x="1856232" y="992124"/>
            <a:ext cx="310896" cy="310896"/>
          </a:xfrm>
          <a:prstGeom prst="ellipse">
            <a:avLst/>
          </a:prstGeom>
          <a:solidFill>
            <a:srgbClr val="2F6E8C"/>
          </a:solidFill>
          <a:ln w="19050">
            <a:solidFill>
              <a:srgbClr val="FFFFFF"/>
            </a:solidFill>
          </a:ln>
        </p:spPr>
        <p:txBody>
          <a:bodyPr rtlCol="0" anchor="ctr"/>
          <a:lstStyle/>
          <a:p>
            <a:pPr algn="ctr"/>
            <a:endParaRPr/>
          </a:p>
        </p:txBody>
      </p:sp>
      <p:sp>
        <p:nvSpPr>
          <p:cNvPr id="68" name="Oval 67"/>
          <p:cNvSpPr/>
          <p:nvPr/>
        </p:nvSpPr>
        <p:spPr>
          <a:xfrm>
            <a:off x="1856232" y="1458468"/>
            <a:ext cx="310896" cy="310896"/>
          </a:xfrm>
          <a:prstGeom prst="ellipse">
            <a:avLst/>
          </a:prstGeom>
          <a:solidFill>
            <a:srgbClr val="2F6E8C"/>
          </a:solidFill>
          <a:ln w="19050">
            <a:solidFill>
              <a:srgbClr val="FFFFFF"/>
            </a:solidFill>
          </a:ln>
        </p:spPr>
        <p:txBody>
          <a:bodyPr rtlCol="0" anchor="ctr"/>
          <a:lstStyle/>
          <a:p>
            <a:pPr algn="ctr"/>
            <a:endParaRPr/>
          </a:p>
        </p:txBody>
      </p:sp>
      <p:sp>
        <p:nvSpPr>
          <p:cNvPr id="69" name="Oval 68"/>
          <p:cNvSpPr/>
          <p:nvPr/>
        </p:nvSpPr>
        <p:spPr>
          <a:xfrm>
            <a:off x="1856232" y="1924812"/>
            <a:ext cx="310896" cy="310896"/>
          </a:xfrm>
          <a:prstGeom prst="ellipse">
            <a:avLst/>
          </a:prstGeom>
          <a:solidFill>
            <a:srgbClr val="2F6E8C"/>
          </a:solidFill>
          <a:ln w="19050">
            <a:solidFill>
              <a:srgbClr val="FFFFFF"/>
            </a:solidFill>
          </a:ln>
        </p:spPr>
        <p:txBody>
          <a:bodyPr rtlCol="0" anchor="ctr"/>
          <a:lstStyle/>
          <a:p>
            <a:pPr algn="ctr"/>
            <a:endParaRPr/>
          </a:p>
        </p:txBody>
      </p:sp>
      <p:sp>
        <p:nvSpPr>
          <p:cNvPr id="70" name="Oval 69"/>
          <p:cNvSpPr/>
          <p:nvPr/>
        </p:nvSpPr>
        <p:spPr>
          <a:xfrm>
            <a:off x="1856232" y="2391156"/>
            <a:ext cx="310896" cy="310896"/>
          </a:xfrm>
          <a:prstGeom prst="ellipse">
            <a:avLst/>
          </a:prstGeom>
          <a:solidFill>
            <a:srgbClr val="2F6E8C"/>
          </a:solidFill>
          <a:ln w="19050">
            <a:solidFill>
              <a:srgbClr val="FFFFFF"/>
            </a:solidFill>
          </a:ln>
        </p:spPr>
        <p:txBody>
          <a:bodyPr rtlCol="0" anchor="ctr"/>
          <a:lstStyle/>
          <a:p>
            <a:pPr algn="ctr"/>
            <a:endParaRPr/>
          </a:p>
        </p:txBody>
      </p:sp>
      <p:sp>
        <p:nvSpPr>
          <p:cNvPr id="71" name="Oval 70"/>
          <p:cNvSpPr/>
          <p:nvPr/>
        </p:nvSpPr>
        <p:spPr>
          <a:xfrm>
            <a:off x="1856232" y="2857500"/>
            <a:ext cx="310896" cy="310896"/>
          </a:xfrm>
          <a:prstGeom prst="ellipse">
            <a:avLst/>
          </a:prstGeom>
          <a:solidFill>
            <a:srgbClr val="2F6E8C"/>
          </a:solidFill>
          <a:ln w="19050">
            <a:solidFill>
              <a:srgbClr val="FFFFFF"/>
            </a:solidFill>
          </a:ln>
        </p:spPr>
        <p:txBody>
          <a:bodyPr rtlCol="0" anchor="ctr"/>
          <a:lstStyle/>
          <a:p>
            <a:pPr algn="ctr"/>
            <a:endParaRPr/>
          </a:p>
        </p:txBody>
      </p:sp>
      <p:sp>
        <p:nvSpPr>
          <p:cNvPr id="72" name="Oval 71"/>
          <p:cNvSpPr/>
          <p:nvPr/>
        </p:nvSpPr>
        <p:spPr>
          <a:xfrm>
            <a:off x="2999232" y="992124"/>
            <a:ext cx="310896" cy="310896"/>
          </a:xfrm>
          <a:prstGeom prst="ellipse">
            <a:avLst/>
          </a:prstGeom>
          <a:solidFill>
            <a:srgbClr val="06717E"/>
          </a:solidFill>
          <a:ln w="19050">
            <a:solidFill>
              <a:srgbClr val="FFFFFF"/>
            </a:solidFill>
          </a:ln>
        </p:spPr>
        <p:txBody>
          <a:bodyPr rtlCol="0" anchor="ctr"/>
          <a:lstStyle/>
          <a:p>
            <a:pPr algn="ctr"/>
            <a:endParaRPr/>
          </a:p>
        </p:txBody>
      </p:sp>
      <p:sp>
        <p:nvSpPr>
          <p:cNvPr id="73" name="Oval 72"/>
          <p:cNvSpPr/>
          <p:nvPr/>
        </p:nvSpPr>
        <p:spPr>
          <a:xfrm>
            <a:off x="2999232" y="1458468"/>
            <a:ext cx="310896" cy="310896"/>
          </a:xfrm>
          <a:prstGeom prst="ellipse">
            <a:avLst/>
          </a:prstGeom>
          <a:solidFill>
            <a:srgbClr val="06717E"/>
          </a:solidFill>
          <a:ln w="19050">
            <a:solidFill>
              <a:srgbClr val="FFFFFF"/>
            </a:solidFill>
          </a:ln>
        </p:spPr>
        <p:txBody>
          <a:bodyPr rtlCol="0" anchor="ctr"/>
          <a:lstStyle/>
          <a:p>
            <a:pPr algn="ctr"/>
            <a:endParaRPr/>
          </a:p>
        </p:txBody>
      </p:sp>
      <p:sp>
        <p:nvSpPr>
          <p:cNvPr id="74" name="Oval 73"/>
          <p:cNvSpPr/>
          <p:nvPr/>
        </p:nvSpPr>
        <p:spPr>
          <a:xfrm>
            <a:off x="2999232" y="1924812"/>
            <a:ext cx="310896" cy="310896"/>
          </a:xfrm>
          <a:prstGeom prst="ellipse">
            <a:avLst/>
          </a:prstGeom>
          <a:solidFill>
            <a:srgbClr val="06717E"/>
          </a:solidFill>
          <a:ln w="19050">
            <a:solidFill>
              <a:srgbClr val="FFFFFF"/>
            </a:solidFill>
          </a:ln>
        </p:spPr>
        <p:txBody>
          <a:bodyPr rtlCol="0" anchor="ctr"/>
          <a:lstStyle/>
          <a:p>
            <a:pPr algn="ctr"/>
            <a:endParaRPr/>
          </a:p>
        </p:txBody>
      </p:sp>
      <p:sp>
        <p:nvSpPr>
          <p:cNvPr id="75" name="Oval 74"/>
          <p:cNvSpPr/>
          <p:nvPr/>
        </p:nvSpPr>
        <p:spPr>
          <a:xfrm>
            <a:off x="2999232" y="2391156"/>
            <a:ext cx="310896" cy="310896"/>
          </a:xfrm>
          <a:prstGeom prst="ellipse">
            <a:avLst/>
          </a:prstGeom>
          <a:solidFill>
            <a:srgbClr val="06717E"/>
          </a:solidFill>
          <a:ln w="19050">
            <a:solidFill>
              <a:srgbClr val="FFFFFF"/>
            </a:solidFill>
          </a:ln>
        </p:spPr>
        <p:txBody>
          <a:bodyPr rtlCol="0" anchor="ctr"/>
          <a:lstStyle/>
          <a:p>
            <a:pPr algn="ctr"/>
            <a:endParaRPr/>
          </a:p>
        </p:txBody>
      </p:sp>
      <p:sp>
        <p:nvSpPr>
          <p:cNvPr id="76" name="Oval 75"/>
          <p:cNvSpPr/>
          <p:nvPr/>
        </p:nvSpPr>
        <p:spPr>
          <a:xfrm>
            <a:off x="2999232" y="2857500"/>
            <a:ext cx="310896" cy="310896"/>
          </a:xfrm>
          <a:prstGeom prst="ellipse">
            <a:avLst/>
          </a:prstGeom>
          <a:solidFill>
            <a:srgbClr val="06717E"/>
          </a:solidFill>
          <a:ln w="19050">
            <a:solidFill>
              <a:srgbClr val="FFFFFF"/>
            </a:solidFill>
          </a:ln>
        </p:spPr>
        <p:txBody>
          <a:bodyPr rtlCol="0" anchor="ctr"/>
          <a:lstStyle/>
          <a:p>
            <a:pPr algn="ctr"/>
            <a:endParaRPr/>
          </a:p>
        </p:txBody>
      </p:sp>
      <p:sp>
        <p:nvSpPr>
          <p:cNvPr id="77" name="Oval 76"/>
          <p:cNvSpPr/>
          <p:nvPr/>
        </p:nvSpPr>
        <p:spPr>
          <a:xfrm>
            <a:off x="4142232" y="1341882"/>
            <a:ext cx="310896" cy="310896"/>
          </a:xfrm>
          <a:prstGeom prst="ellipse">
            <a:avLst/>
          </a:prstGeom>
          <a:solidFill>
            <a:srgbClr val="BF210C"/>
          </a:solidFill>
          <a:ln w="19050">
            <a:solidFill>
              <a:srgbClr val="FFFFFF"/>
            </a:solidFill>
          </a:ln>
        </p:spPr>
        <p:txBody>
          <a:bodyPr rtlCol="0" anchor="ctr"/>
          <a:lstStyle/>
          <a:p>
            <a:pPr algn="ctr"/>
            <a:endParaRPr/>
          </a:p>
        </p:txBody>
      </p:sp>
      <p:sp>
        <p:nvSpPr>
          <p:cNvPr id="78" name="Oval 77"/>
          <p:cNvSpPr/>
          <p:nvPr/>
        </p:nvSpPr>
        <p:spPr>
          <a:xfrm>
            <a:off x="4142232" y="2507741"/>
            <a:ext cx="310896" cy="310896"/>
          </a:xfrm>
          <a:prstGeom prst="ellipse">
            <a:avLst/>
          </a:prstGeom>
          <a:solidFill>
            <a:srgbClr val="BF210C"/>
          </a:solidFill>
          <a:ln w="19050">
            <a:solidFill>
              <a:srgbClr val="FFFFFF"/>
            </a:solidFill>
          </a:ln>
        </p:spPr>
        <p:txBody>
          <a:bodyPr rtlCol="0" anchor="ctr"/>
          <a:lstStyle/>
          <a:p>
            <a:pPr algn="ctr"/>
            <a:endParaRPr/>
          </a:p>
        </p:txBody>
      </p:sp>
      <p:sp>
        <p:nvSpPr>
          <p:cNvPr id="79" name="TextBox 78"/>
          <p:cNvSpPr txBox="1"/>
          <p:nvPr/>
        </p:nvSpPr>
        <p:spPr>
          <a:xfrm>
            <a:off x="301751" y="3364992"/>
            <a:ext cx="1133856" cy="274320"/>
          </a:xfrm>
          <a:prstGeom prst="rect">
            <a:avLst/>
          </a:prstGeom>
          <a:noFill/>
        </p:spPr>
        <p:txBody>
          <a:bodyPr wrap="square" lIns="0" tIns="0" rIns="0" bIns="0" anchor="t">
            <a:noAutofit/>
          </a:bodyPr>
          <a:lstStyle/>
          <a:p>
            <a:pPr algn="ctr">
              <a:spcAft>
                <a:spcPts val="0"/>
              </a:spcAft>
            </a:pPr>
            <a:r>
              <a:rPr sz="1150" b="1" i="0">
                <a:solidFill>
                  <a:srgbClr val="003C58"/>
                </a:solidFill>
                <a:latin typeface="Swis721 Cn BT"/>
              </a:rPr>
              <a:t>Entrada</a:t>
            </a:r>
          </a:p>
        </p:txBody>
      </p:sp>
      <p:sp>
        <p:nvSpPr>
          <p:cNvPr id="80" name="TextBox 79"/>
          <p:cNvSpPr txBox="1"/>
          <p:nvPr/>
        </p:nvSpPr>
        <p:spPr>
          <a:xfrm>
            <a:off x="1444752" y="3364992"/>
            <a:ext cx="1133856" cy="274320"/>
          </a:xfrm>
          <a:prstGeom prst="rect">
            <a:avLst/>
          </a:prstGeom>
          <a:noFill/>
        </p:spPr>
        <p:txBody>
          <a:bodyPr wrap="square" lIns="0" tIns="0" rIns="0" bIns="0" anchor="t">
            <a:noAutofit/>
          </a:bodyPr>
          <a:lstStyle/>
          <a:p>
            <a:pPr algn="ctr">
              <a:spcAft>
                <a:spcPts val="0"/>
              </a:spcAft>
            </a:pPr>
            <a:r>
              <a:rPr sz="1150" b="1" i="0">
                <a:solidFill>
                  <a:srgbClr val="003C58"/>
                </a:solidFill>
                <a:latin typeface="Swis721 Cn BT"/>
              </a:rPr>
              <a:t>Capa oculta 1</a:t>
            </a:r>
          </a:p>
        </p:txBody>
      </p:sp>
      <p:sp>
        <p:nvSpPr>
          <p:cNvPr id="81" name="TextBox 80"/>
          <p:cNvSpPr txBox="1"/>
          <p:nvPr/>
        </p:nvSpPr>
        <p:spPr>
          <a:xfrm>
            <a:off x="2587752" y="3364992"/>
            <a:ext cx="1133856" cy="274320"/>
          </a:xfrm>
          <a:prstGeom prst="rect">
            <a:avLst/>
          </a:prstGeom>
          <a:noFill/>
        </p:spPr>
        <p:txBody>
          <a:bodyPr wrap="square" lIns="0" tIns="0" rIns="0" bIns="0" anchor="t">
            <a:noAutofit/>
          </a:bodyPr>
          <a:lstStyle/>
          <a:p>
            <a:pPr algn="ctr">
              <a:spcAft>
                <a:spcPts val="0"/>
              </a:spcAft>
            </a:pPr>
            <a:r>
              <a:rPr sz="1150" b="1" i="0">
                <a:solidFill>
                  <a:srgbClr val="003C58"/>
                </a:solidFill>
                <a:latin typeface="Swis721 Cn BT"/>
              </a:rPr>
              <a:t>Capa oculta 2</a:t>
            </a:r>
          </a:p>
        </p:txBody>
      </p:sp>
      <p:sp>
        <p:nvSpPr>
          <p:cNvPr id="82" name="TextBox 81"/>
          <p:cNvSpPr txBox="1"/>
          <p:nvPr/>
        </p:nvSpPr>
        <p:spPr>
          <a:xfrm>
            <a:off x="3730752" y="3364992"/>
            <a:ext cx="1133856" cy="274320"/>
          </a:xfrm>
          <a:prstGeom prst="rect">
            <a:avLst/>
          </a:prstGeom>
          <a:noFill/>
        </p:spPr>
        <p:txBody>
          <a:bodyPr wrap="square" lIns="0" tIns="0" rIns="0" bIns="0" anchor="t">
            <a:noAutofit/>
          </a:bodyPr>
          <a:lstStyle/>
          <a:p>
            <a:pPr algn="ctr">
              <a:spcAft>
                <a:spcPts val="0"/>
              </a:spcAft>
            </a:pPr>
            <a:r>
              <a:rPr sz="1150" b="1" i="0">
                <a:solidFill>
                  <a:srgbClr val="003C58"/>
                </a:solidFill>
                <a:latin typeface="Swis721 Cn BT"/>
              </a:rPr>
              <a:t>Salida</a:t>
            </a:r>
          </a:p>
        </p:txBody>
      </p:sp>
      <p:sp>
        <p:nvSpPr>
          <p:cNvPr id="83" name="TextBox 82"/>
          <p:cNvSpPr txBox="1"/>
          <p:nvPr/>
        </p:nvSpPr>
        <p:spPr>
          <a:xfrm>
            <a:off x="502920" y="3657600"/>
            <a:ext cx="4480560" cy="411480"/>
          </a:xfrm>
          <a:prstGeom prst="rect">
            <a:avLst/>
          </a:prstGeom>
          <a:noFill/>
        </p:spPr>
        <p:txBody>
          <a:bodyPr wrap="square" lIns="0" tIns="0" rIns="0" bIns="0" anchor="t">
            <a:noAutofit/>
          </a:bodyPr>
          <a:lstStyle/>
          <a:p>
            <a:pPr algn="ctr">
              <a:spcAft>
                <a:spcPts val="0"/>
              </a:spcAft>
            </a:pPr>
            <a:r>
              <a:rPr sz="1100" b="0" i="1">
                <a:solidFill>
                  <a:srgbClr val="5B6B73"/>
                </a:solidFill>
                <a:latin typeface="Swis721 Cn BT"/>
              </a:rPr>
              <a:t>Cada línea es un peso. Un modelo de lenguaje tiene miles de millones.</a:t>
            </a:r>
          </a:p>
        </p:txBody>
      </p:sp>
      <p:sp>
        <p:nvSpPr>
          <p:cNvPr id="84" name="Rounded Rectangle 83"/>
          <p:cNvSpPr/>
          <p:nvPr/>
        </p:nvSpPr>
        <p:spPr>
          <a:xfrm>
            <a:off x="5074920" y="868680"/>
            <a:ext cx="3566159" cy="3200400"/>
          </a:xfrm>
          <a:prstGeom prst="roundRect">
            <a:avLst>
              <a:gd name="adj" fmla="val 3428"/>
            </a:avLst>
          </a:prstGeom>
          <a:solidFill>
            <a:srgbClr val="E8F0F4"/>
          </a:solidFill>
          <a:ln>
            <a:noFill/>
          </a:ln>
        </p:spPr>
        <p:txBody>
          <a:bodyPr rtlCol="0" anchor="ctr"/>
          <a:lstStyle/>
          <a:p>
            <a:pPr algn="ctr"/>
            <a:endParaRPr/>
          </a:p>
        </p:txBody>
      </p:sp>
      <p:sp>
        <p:nvSpPr>
          <p:cNvPr id="85" name="Oval 84"/>
          <p:cNvSpPr/>
          <p:nvPr/>
        </p:nvSpPr>
        <p:spPr>
          <a:xfrm>
            <a:off x="5212080" y="1005839"/>
            <a:ext cx="512064" cy="512064"/>
          </a:xfrm>
          <a:prstGeom prst="ellipse">
            <a:avLst/>
          </a:prstGeom>
          <a:solidFill>
            <a:srgbClr val="003C58"/>
          </a:solidFill>
          <a:ln>
            <a:noFill/>
          </a:ln>
        </p:spPr>
        <p:txBody>
          <a:bodyPr rtlCol="0" anchor="ctr"/>
          <a:lstStyle/>
          <a:p>
            <a:pPr algn="ctr"/>
            <a:endParaRPr/>
          </a:p>
        </p:txBody>
      </p:sp>
      <p:pic>
        <p:nvPicPr>
          <p:cNvPr id="86" name="Picture 85" descr="MdSchool_blanco.png"/>
          <p:cNvPicPr>
            <a:picLocks noChangeAspect="1"/>
          </p:cNvPicPr>
          <p:nvPr/>
        </p:nvPicPr>
        <p:blipFill>
          <a:blip r:embed="rId3"/>
          <a:stretch>
            <a:fillRect/>
          </a:stretch>
        </p:blipFill>
        <p:spPr>
          <a:xfrm>
            <a:off x="5319613" y="1113373"/>
            <a:ext cx="296997" cy="296997"/>
          </a:xfrm>
          <a:prstGeom prst="rect">
            <a:avLst/>
          </a:prstGeom>
        </p:spPr>
      </p:pic>
      <p:sp>
        <p:nvSpPr>
          <p:cNvPr id="87" name="TextBox 86"/>
          <p:cNvSpPr txBox="1"/>
          <p:nvPr/>
        </p:nvSpPr>
        <p:spPr>
          <a:xfrm>
            <a:off x="5852160" y="1051560"/>
            <a:ext cx="2697480" cy="457200"/>
          </a:xfrm>
          <a:prstGeom prst="rect">
            <a:avLst/>
          </a:prstGeom>
          <a:noFill/>
        </p:spPr>
        <p:txBody>
          <a:bodyPr wrap="square" lIns="0" tIns="0" rIns="0" bIns="0" anchor="ctr">
            <a:noAutofit/>
          </a:bodyPr>
          <a:lstStyle/>
          <a:p>
            <a:pPr algn="l">
              <a:spcAft>
                <a:spcPts val="0"/>
              </a:spcAft>
            </a:pPr>
            <a:r>
              <a:rPr sz="1500" b="1" i="0">
                <a:solidFill>
                  <a:srgbClr val="003C58"/>
                </a:solidFill>
                <a:latin typeface="Swis721 Cn BT"/>
              </a:rPr>
              <a:t>Como la formación clínica</a:t>
            </a:r>
          </a:p>
        </p:txBody>
      </p:sp>
      <p:sp>
        <p:nvSpPr>
          <p:cNvPr id="88" name="TextBox 87"/>
          <p:cNvSpPr txBox="1"/>
          <p:nvPr/>
        </p:nvSpPr>
        <p:spPr>
          <a:xfrm>
            <a:off x="5303520" y="1645919"/>
            <a:ext cx="3200400" cy="2377440"/>
          </a:xfrm>
          <a:prstGeom prst="rect">
            <a:avLst/>
          </a:prstGeom>
          <a:noFill/>
        </p:spPr>
        <p:txBody>
          <a:bodyPr wrap="square" lIns="0" tIns="0" rIns="0" bIns="0" anchor="t">
            <a:noAutofit/>
          </a:bodyPr>
          <a:lstStyle/>
          <a:p>
            <a:pPr algn="l">
              <a:spcAft>
                <a:spcPts val="800"/>
              </a:spcAft>
            </a:pPr>
            <a:r>
              <a:rPr sz="1250" b="1" i="0">
                <a:solidFill>
                  <a:srgbClr val="1F2A30"/>
                </a:solidFill>
                <a:latin typeface="Swis721 Cn BT"/>
              </a:rPr>
              <a:t>Primeras capas:</a:t>
            </a:r>
            <a:r>
              <a:rPr sz="1250" b="0" i="0">
                <a:solidFill>
                  <a:srgbClr val="1F2A30"/>
                </a:solidFill>
                <a:latin typeface="Swis721 Cn BT"/>
              </a:rPr>
              <a:t> rasgos simples (línea de base, variabilidad).</a:t>
            </a:r>
          </a:p>
          <a:p>
            <a:pPr algn="l">
              <a:spcAft>
                <a:spcPts val="800"/>
              </a:spcAft>
            </a:pPr>
            <a:r>
              <a:rPr sz="1250" b="1" i="0">
                <a:solidFill>
                  <a:srgbClr val="1F2A30"/>
                </a:solidFill>
                <a:latin typeface="Swis721 Cn BT"/>
              </a:rPr>
              <a:t>Capas intermedias:</a:t>
            </a:r>
            <a:r>
              <a:rPr sz="1250" b="0" i="0">
                <a:solidFill>
                  <a:srgbClr val="1F2A30"/>
                </a:solidFill>
                <a:latin typeface="Swis721 Cn BT"/>
              </a:rPr>
              <a:t> patrones (aceleraciones, desaceleraciones).</a:t>
            </a:r>
          </a:p>
          <a:p>
            <a:pPr algn="l">
              <a:spcAft>
                <a:spcPts val="800"/>
              </a:spcAft>
            </a:pPr>
            <a:r>
              <a:rPr sz="1250" b="1" i="0">
                <a:solidFill>
                  <a:srgbClr val="1F2A30"/>
                </a:solidFill>
                <a:latin typeface="Swis721 Cn BT"/>
              </a:rPr>
              <a:t>Capa final:</a:t>
            </a:r>
            <a:r>
              <a:rPr sz="1250" b="0" i="0">
                <a:solidFill>
                  <a:srgbClr val="1F2A30"/>
                </a:solidFill>
                <a:latin typeface="Swis721 Cn BT"/>
              </a:rPr>
              <a:t> una interpretación global del registro.</a:t>
            </a:r>
          </a:p>
          <a:p>
            <a:pPr algn="l">
              <a:spcAft>
                <a:spcPts val="800"/>
              </a:spcAft>
            </a:pPr>
            <a:r>
              <a:rPr sz="1250" b="0" i="0">
                <a:solidFill>
                  <a:srgbClr val="1F2A30"/>
                </a:solidFill>
                <a:latin typeface="Swis721 Cn BT"/>
              </a:rPr>
              <a:t>Nadie le dice a la red qué rasgos buscar: los </a:t>
            </a:r>
            <a:r>
              <a:rPr sz="1250" b="1" i="0">
                <a:solidFill>
                  <a:srgbClr val="BF210C"/>
                </a:solidFill>
                <a:latin typeface="Swis721 Cn BT"/>
              </a:rPr>
              <a:t>descubre</a:t>
            </a:r>
            <a:r>
              <a:rPr sz="1250" b="0" i="0">
                <a:solidFill>
                  <a:srgbClr val="1F2A30"/>
                </a:solidFill>
                <a:latin typeface="Swis721 Cn BT"/>
              </a:rPr>
              <a:t> a partir de miles de ejemplos.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Aprender es equivocarse y corregir, millones de veces</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[6] LeCun et al., 2015 · [7] Omiye et al., 2024</a:t>
            </a:r>
          </a:p>
        </p:txBody>
      </p:sp>
      <p:sp>
        <p:nvSpPr>
          <p:cNvPr id="5" name="Oval 4"/>
          <p:cNvSpPr/>
          <p:nvPr/>
        </p:nvSpPr>
        <p:spPr>
          <a:xfrm>
            <a:off x="1874519" y="1828800"/>
            <a:ext cx="1280160" cy="1280160"/>
          </a:xfrm>
          <a:prstGeom prst="ellipse">
            <a:avLst/>
          </a:prstGeom>
          <a:solidFill>
            <a:srgbClr val="E8F0F4"/>
          </a:solidFill>
          <a:ln>
            <a:noFill/>
          </a:ln>
        </p:spPr>
        <p:txBody>
          <a:bodyPr rtlCol="0" anchor="ctr"/>
          <a:lstStyle/>
          <a:p>
            <a:pPr algn="ctr"/>
            <a:endParaRPr/>
          </a:p>
        </p:txBody>
      </p:sp>
      <p:sp>
        <p:nvSpPr>
          <p:cNvPr id="6" name="TextBox 5"/>
          <p:cNvSpPr txBox="1"/>
          <p:nvPr/>
        </p:nvSpPr>
        <p:spPr>
          <a:xfrm>
            <a:off x="1920240" y="2057400"/>
            <a:ext cx="1188720" cy="822960"/>
          </a:xfrm>
          <a:prstGeom prst="rect">
            <a:avLst/>
          </a:prstGeom>
          <a:noFill/>
        </p:spPr>
        <p:txBody>
          <a:bodyPr wrap="square" lIns="0" tIns="0" rIns="0" bIns="0" anchor="ctr">
            <a:noAutofit/>
          </a:bodyPr>
          <a:lstStyle/>
          <a:p>
            <a:pPr algn="ctr">
              <a:spcAft>
                <a:spcPts val="0"/>
              </a:spcAft>
            </a:pPr>
            <a:r>
              <a:rPr sz="1050" b="0" i="0">
                <a:solidFill>
                  <a:srgbClr val="003C58"/>
                </a:solidFill>
                <a:latin typeface="Swis721 Cn BT"/>
              </a:rPr>
              <a:t>Ciclo de</a:t>
            </a:r>
          </a:p>
          <a:p>
            <a:pPr algn="ctr">
              <a:spcAft>
                <a:spcPts val="0"/>
              </a:spcAft>
            </a:pPr>
            <a:r>
              <a:rPr sz="1200" b="1" i="0">
                <a:solidFill>
                  <a:srgbClr val="003C58"/>
                </a:solidFill>
                <a:latin typeface="Swis721 Cn BT"/>
              </a:rPr>
              <a:t>aprendizaje</a:t>
            </a:r>
          </a:p>
          <a:p>
            <a:pPr algn="ctr">
              <a:spcAft>
                <a:spcPts val="0"/>
              </a:spcAft>
            </a:pPr>
            <a:r>
              <a:rPr sz="1000" b="0" i="0">
                <a:solidFill>
                  <a:srgbClr val="003C58"/>
                </a:solidFill>
                <a:latin typeface="Swis721 Cn BT"/>
              </a:rPr>
              <a:t>millones de vueltas</a:t>
            </a:r>
          </a:p>
        </p:txBody>
      </p:sp>
      <p:sp>
        <p:nvSpPr>
          <p:cNvPr id="7" name="Rounded Rectangle 6"/>
          <p:cNvSpPr/>
          <p:nvPr/>
        </p:nvSpPr>
        <p:spPr>
          <a:xfrm>
            <a:off x="1801368" y="896112"/>
            <a:ext cx="1426464" cy="585216"/>
          </a:xfrm>
          <a:prstGeom prst="roundRect">
            <a:avLst>
              <a:gd name="adj" fmla="val 12500"/>
            </a:avLst>
          </a:prstGeom>
          <a:solidFill>
            <a:srgbClr val="003C58"/>
          </a:solidFill>
          <a:ln>
            <a:noFill/>
          </a:ln>
        </p:spPr>
        <p:txBody>
          <a:bodyPr wrap="square" lIns="54864" tIns="54864" rIns="54864" bIns="54864" rtlCol="0" anchor="ctr">
            <a:noAutofit/>
          </a:bodyPr>
          <a:lstStyle/>
          <a:p>
            <a:pPr algn="ctr">
              <a:spcAft>
                <a:spcPts val="0"/>
              </a:spcAft>
            </a:pPr>
            <a:r>
              <a:rPr sz="1300" b="1" i="0">
                <a:solidFill>
                  <a:srgbClr val="FFFFFF"/>
                </a:solidFill>
                <a:latin typeface="Swis721 Cn BT"/>
              </a:rPr>
              <a:t>Predecir</a:t>
            </a:r>
          </a:p>
          <a:p>
            <a:pPr algn="ctr">
              <a:spcAft>
                <a:spcPts val="0"/>
              </a:spcAft>
            </a:pPr>
            <a:r>
              <a:rPr sz="1050" b="0" i="0">
                <a:solidFill>
                  <a:srgbClr val="FFFFFF"/>
                </a:solidFill>
                <a:latin typeface="Swis721 Cn BT"/>
              </a:rPr>
              <a:t>el modelo responde</a:t>
            </a:r>
          </a:p>
        </p:txBody>
      </p:sp>
      <p:sp>
        <p:nvSpPr>
          <p:cNvPr id="8" name="Oval 7"/>
          <p:cNvSpPr/>
          <p:nvPr/>
        </p:nvSpPr>
        <p:spPr>
          <a:xfrm>
            <a:off x="1664208" y="758952"/>
            <a:ext cx="274320" cy="274320"/>
          </a:xfrm>
          <a:prstGeom prst="ellipse">
            <a:avLst/>
          </a:prstGeom>
          <a:solidFill>
            <a:srgbClr val="F2B705"/>
          </a:solidFill>
          <a:ln>
            <a:noFill/>
          </a:ln>
        </p:spPr>
        <p:txBody>
          <a:bodyPr lIns="0" tIns="0" rIns="0" bIns="0" rtlCol="0" anchor="ctr"/>
          <a:lstStyle/>
          <a:p>
            <a:pPr algn="ctr">
              <a:spcAft>
                <a:spcPts val="0"/>
              </a:spcAft>
            </a:pPr>
            <a:r>
              <a:rPr sz="1100" b="1" i="0">
                <a:solidFill>
                  <a:srgbClr val="1F2A30"/>
                </a:solidFill>
                <a:latin typeface="Swis721 Cn BT"/>
              </a:rPr>
              <a:t>1</a:t>
            </a:r>
          </a:p>
        </p:txBody>
      </p:sp>
      <p:sp>
        <p:nvSpPr>
          <p:cNvPr id="9" name="Rounded Rectangle 8"/>
          <p:cNvSpPr/>
          <p:nvPr/>
        </p:nvSpPr>
        <p:spPr>
          <a:xfrm>
            <a:off x="3282696" y="2176272"/>
            <a:ext cx="1426464" cy="585216"/>
          </a:xfrm>
          <a:prstGeom prst="roundRect">
            <a:avLst>
              <a:gd name="adj" fmla="val 12500"/>
            </a:avLst>
          </a:prstGeom>
          <a:solidFill>
            <a:srgbClr val="BF210C"/>
          </a:solidFill>
          <a:ln>
            <a:noFill/>
          </a:ln>
        </p:spPr>
        <p:txBody>
          <a:bodyPr wrap="square" lIns="54864" tIns="54864" rIns="54864" bIns="54864" rtlCol="0" anchor="ctr">
            <a:noAutofit/>
          </a:bodyPr>
          <a:lstStyle/>
          <a:p>
            <a:pPr algn="ctr">
              <a:spcAft>
                <a:spcPts val="0"/>
              </a:spcAft>
            </a:pPr>
            <a:r>
              <a:rPr sz="1300" b="1" i="0">
                <a:solidFill>
                  <a:srgbClr val="FFFFFF"/>
                </a:solidFill>
                <a:latin typeface="Swis721 Cn BT"/>
              </a:rPr>
              <a:t>Comparar</a:t>
            </a:r>
          </a:p>
          <a:p>
            <a:pPr algn="ctr">
              <a:spcAft>
                <a:spcPts val="0"/>
              </a:spcAft>
            </a:pPr>
            <a:r>
              <a:rPr sz="1050" b="0" i="0">
                <a:solidFill>
                  <a:srgbClr val="FFFFFF"/>
                </a:solidFill>
                <a:latin typeface="Swis721 Cn BT"/>
              </a:rPr>
              <a:t>mide el error</a:t>
            </a:r>
          </a:p>
        </p:txBody>
      </p:sp>
      <p:sp>
        <p:nvSpPr>
          <p:cNvPr id="10" name="Oval 9"/>
          <p:cNvSpPr/>
          <p:nvPr/>
        </p:nvSpPr>
        <p:spPr>
          <a:xfrm>
            <a:off x="3145536" y="2039112"/>
            <a:ext cx="274320" cy="274320"/>
          </a:xfrm>
          <a:prstGeom prst="ellipse">
            <a:avLst/>
          </a:prstGeom>
          <a:solidFill>
            <a:srgbClr val="F2B705"/>
          </a:solidFill>
          <a:ln>
            <a:noFill/>
          </a:ln>
        </p:spPr>
        <p:txBody>
          <a:bodyPr lIns="0" tIns="0" rIns="0" bIns="0" rtlCol="0" anchor="ctr"/>
          <a:lstStyle/>
          <a:p>
            <a:pPr algn="ctr">
              <a:spcAft>
                <a:spcPts val="0"/>
              </a:spcAft>
            </a:pPr>
            <a:r>
              <a:rPr sz="1100" b="1" i="0">
                <a:solidFill>
                  <a:srgbClr val="1F2A30"/>
                </a:solidFill>
                <a:latin typeface="Swis721 Cn BT"/>
              </a:rPr>
              <a:t>2</a:t>
            </a:r>
          </a:p>
        </p:txBody>
      </p:sp>
      <p:sp>
        <p:nvSpPr>
          <p:cNvPr id="11" name="Rounded Rectangle 10"/>
          <p:cNvSpPr/>
          <p:nvPr/>
        </p:nvSpPr>
        <p:spPr>
          <a:xfrm>
            <a:off x="1801368" y="3456432"/>
            <a:ext cx="1426464" cy="585216"/>
          </a:xfrm>
          <a:prstGeom prst="roundRect">
            <a:avLst>
              <a:gd name="adj" fmla="val 12500"/>
            </a:avLst>
          </a:prstGeom>
          <a:solidFill>
            <a:srgbClr val="06717E"/>
          </a:solidFill>
          <a:ln>
            <a:noFill/>
          </a:ln>
        </p:spPr>
        <p:txBody>
          <a:bodyPr wrap="square" lIns="54864" tIns="54864" rIns="54864" bIns="54864" rtlCol="0" anchor="ctr">
            <a:noAutofit/>
          </a:bodyPr>
          <a:lstStyle/>
          <a:p>
            <a:pPr algn="ctr">
              <a:spcAft>
                <a:spcPts val="0"/>
              </a:spcAft>
            </a:pPr>
            <a:r>
              <a:rPr sz="1300" b="1" i="0">
                <a:solidFill>
                  <a:srgbClr val="FFFFFF"/>
                </a:solidFill>
                <a:latin typeface="Swis721 Cn BT"/>
              </a:rPr>
              <a:t>Ajustar</a:t>
            </a:r>
          </a:p>
          <a:p>
            <a:pPr algn="ctr">
              <a:spcAft>
                <a:spcPts val="0"/>
              </a:spcAft>
            </a:pPr>
            <a:r>
              <a:rPr sz="1050" b="0" i="0">
                <a:solidFill>
                  <a:srgbClr val="FFFFFF"/>
                </a:solidFill>
                <a:latin typeface="Swis721 Cn BT"/>
              </a:rPr>
              <a:t>corrige los pesos</a:t>
            </a:r>
          </a:p>
        </p:txBody>
      </p:sp>
      <p:sp>
        <p:nvSpPr>
          <p:cNvPr id="12" name="Oval 11"/>
          <p:cNvSpPr/>
          <p:nvPr/>
        </p:nvSpPr>
        <p:spPr>
          <a:xfrm>
            <a:off x="1664208" y="3319272"/>
            <a:ext cx="274320" cy="274320"/>
          </a:xfrm>
          <a:prstGeom prst="ellipse">
            <a:avLst/>
          </a:prstGeom>
          <a:solidFill>
            <a:srgbClr val="F2B705"/>
          </a:solidFill>
          <a:ln>
            <a:noFill/>
          </a:ln>
        </p:spPr>
        <p:txBody>
          <a:bodyPr lIns="0" tIns="0" rIns="0" bIns="0" rtlCol="0" anchor="ctr"/>
          <a:lstStyle/>
          <a:p>
            <a:pPr algn="ctr">
              <a:spcAft>
                <a:spcPts val="0"/>
              </a:spcAft>
            </a:pPr>
            <a:r>
              <a:rPr sz="1100" b="1" i="0">
                <a:solidFill>
                  <a:srgbClr val="1F2A30"/>
                </a:solidFill>
                <a:latin typeface="Swis721 Cn BT"/>
              </a:rPr>
              <a:t>3</a:t>
            </a:r>
          </a:p>
        </p:txBody>
      </p:sp>
      <p:sp>
        <p:nvSpPr>
          <p:cNvPr id="13" name="Rounded Rectangle 12"/>
          <p:cNvSpPr/>
          <p:nvPr/>
        </p:nvSpPr>
        <p:spPr>
          <a:xfrm>
            <a:off x="320039" y="2176272"/>
            <a:ext cx="1426464" cy="585216"/>
          </a:xfrm>
          <a:prstGeom prst="roundRect">
            <a:avLst>
              <a:gd name="adj" fmla="val 12500"/>
            </a:avLst>
          </a:prstGeom>
          <a:solidFill>
            <a:srgbClr val="FFC000"/>
          </a:solidFill>
          <a:ln>
            <a:noFill/>
          </a:ln>
        </p:spPr>
        <p:txBody>
          <a:bodyPr wrap="square" lIns="54864" tIns="54864" rIns="54864" bIns="54864" rtlCol="0" anchor="ctr">
            <a:noAutofit/>
          </a:bodyPr>
          <a:lstStyle/>
          <a:p>
            <a:pPr algn="ctr">
              <a:spcAft>
                <a:spcPts val="0"/>
              </a:spcAft>
            </a:pPr>
            <a:r>
              <a:rPr sz="1300" b="1" i="0">
                <a:solidFill>
                  <a:srgbClr val="FFFFFF"/>
                </a:solidFill>
                <a:latin typeface="Swis721 Cn BT"/>
              </a:rPr>
              <a:t>Repetir</a:t>
            </a:r>
          </a:p>
          <a:p>
            <a:pPr algn="ctr">
              <a:spcAft>
                <a:spcPts val="0"/>
              </a:spcAft>
            </a:pPr>
            <a:r>
              <a:rPr sz="1050" b="0" i="0">
                <a:solidFill>
                  <a:srgbClr val="FFFFFF"/>
                </a:solidFill>
                <a:latin typeface="Swis721 Cn BT"/>
              </a:rPr>
              <a:t>con otro ejemplo</a:t>
            </a:r>
          </a:p>
        </p:txBody>
      </p:sp>
      <p:sp>
        <p:nvSpPr>
          <p:cNvPr id="14" name="Oval 13"/>
          <p:cNvSpPr/>
          <p:nvPr/>
        </p:nvSpPr>
        <p:spPr>
          <a:xfrm>
            <a:off x="182879" y="2039112"/>
            <a:ext cx="274320" cy="274320"/>
          </a:xfrm>
          <a:prstGeom prst="ellipse">
            <a:avLst/>
          </a:prstGeom>
          <a:solidFill>
            <a:srgbClr val="F2B705"/>
          </a:solidFill>
          <a:ln>
            <a:noFill/>
          </a:ln>
        </p:spPr>
        <p:txBody>
          <a:bodyPr lIns="0" tIns="0" rIns="0" bIns="0" rtlCol="0" anchor="ctr"/>
          <a:lstStyle/>
          <a:p>
            <a:pPr algn="ctr">
              <a:spcAft>
                <a:spcPts val="0"/>
              </a:spcAft>
            </a:pPr>
            <a:r>
              <a:rPr sz="1100" b="1" i="0">
                <a:solidFill>
                  <a:srgbClr val="1F2A30"/>
                </a:solidFill>
                <a:latin typeface="Swis721 Cn BT"/>
              </a:rPr>
              <a:t>4</a:t>
            </a:r>
          </a:p>
        </p:txBody>
      </p:sp>
      <p:cxnSp>
        <p:nvCxnSpPr>
          <p:cNvPr id="15" name="Connector 14"/>
          <p:cNvCxnSpPr/>
          <p:nvPr/>
        </p:nvCxnSpPr>
        <p:spPr>
          <a:xfrm>
            <a:off x="3017520" y="1481328"/>
            <a:ext cx="640080" cy="676656"/>
          </a:xfrm>
          <a:prstGeom prst="line">
            <a:avLst/>
          </a:prstGeom>
          <a:ln w="25400">
            <a:solidFill>
              <a:srgbClr val="2F6E8C"/>
            </a:solidFill>
            <a:tailEnd type="triangle" w="med" len="med"/>
          </a:ln>
        </p:spPr>
      </p:cxnSp>
      <p:cxnSp>
        <p:nvCxnSpPr>
          <p:cNvPr id="16" name="Connector 15"/>
          <p:cNvCxnSpPr/>
          <p:nvPr/>
        </p:nvCxnSpPr>
        <p:spPr>
          <a:xfrm flipH="1">
            <a:off x="3017520" y="2779776"/>
            <a:ext cx="640080" cy="676656"/>
          </a:xfrm>
          <a:prstGeom prst="line">
            <a:avLst/>
          </a:prstGeom>
          <a:ln w="25400">
            <a:solidFill>
              <a:srgbClr val="2F6E8C"/>
            </a:solidFill>
            <a:tailEnd type="triangle" w="med" len="med"/>
          </a:ln>
        </p:spPr>
      </p:cxnSp>
      <p:cxnSp>
        <p:nvCxnSpPr>
          <p:cNvPr id="17" name="Connector 16"/>
          <p:cNvCxnSpPr/>
          <p:nvPr/>
        </p:nvCxnSpPr>
        <p:spPr>
          <a:xfrm flipH="1" flipV="1">
            <a:off x="1371600" y="2779776"/>
            <a:ext cx="640080" cy="676656"/>
          </a:xfrm>
          <a:prstGeom prst="line">
            <a:avLst/>
          </a:prstGeom>
          <a:ln w="25400">
            <a:solidFill>
              <a:srgbClr val="2F6E8C"/>
            </a:solidFill>
            <a:tailEnd type="triangle" w="med" len="med"/>
          </a:ln>
        </p:spPr>
      </p:cxnSp>
      <p:cxnSp>
        <p:nvCxnSpPr>
          <p:cNvPr id="18" name="Connector 17"/>
          <p:cNvCxnSpPr/>
          <p:nvPr/>
        </p:nvCxnSpPr>
        <p:spPr>
          <a:xfrm flipV="1">
            <a:off x="1371600" y="1481328"/>
            <a:ext cx="640080" cy="676656"/>
          </a:xfrm>
          <a:prstGeom prst="line">
            <a:avLst/>
          </a:prstGeom>
          <a:ln w="25400">
            <a:solidFill>
              <a:srgbClr val="2F6E8C"/>
            </a:solidFill>
            <a:tailEnd type="triangle" w="med" len="med"/>
          </a:ln>
        </p:spPr>
      </p:cxnSp>
      <p:sp>
        <p:nvSpPr>
          <p:cNvPr id="19" name="Rounded Rectangle 18"/>
          <p:cNvSpPr/>
          <p:nvPr/>
        </p:nvSpPr>
        <p:spPr>
          <a:xfrm>
            <a:off x="4846320" y="868680"/>
            <a:ext cx="3794759" cy="1508760"/>
          </a:xfrm>
          <a:prstGeom prst="roundRect">
            <a:avLst>
              <a:gd name="adj" fmla="val 7272"/>
            </a:avLst>
          </a:prstGeom>
          <a:solidFill>
            <a:srgbClr val="E8F0F4"/>
          </a:solidFill>
          <a:ln>
            <a:noFill/>
          </a:ln>
        </p:spPr>
        <p:txBody>
          <a:bodyPr rtlCol="0" anchor="ctr"/>
          <a:lstStyle/>
          <a:p>
            <a:pPr algn="ctr"/>
            <a:endParaRPr/>
          </a:p>
        </p:txBody>
      </p:sp>
      <p:sp>
        <p:nvSpPr>
          <p:cNvPr id="20" name="Oval 19"/>
          <p:cNvSpPr/>
          <p:nvPr/>
        </p:nvSpPr>
        <p:spPr>
          <a:xfrm>
            <a:off x="4992624" y="1042415"/>
            <a:ext cx="475488" cy="475488"/>
          </a:xfrm>
          <a:prstGeom prst="ellipse">
            <a:avLst/>
          </a:prstGeom>
          <a:solidFill>
            <a:srgbClr val="003C58"/>
          </a:solidFill>
          <a:ln>
            <a:noFill/>
          </a:ln>
        </p:spPr>
        <p:txBody>
          <a:bodyPr rtlCol="0" anchor="ctr"/>
          <a:lstStyle/>
          <a:p>
            <a:pPr algn="ctr"/>
            <a:endParaRPr/>
          </a:p>
        </p:txBody>
      </p:sp>
      <p:pic>
        <p:nvPicPr>
          <p:cNvPr id="21" name="Picture 20" descr="MdSchool_blanco.png"/>
          <p:cNvPicPr>
            <a:picLocks noChangeAspect="1"/>
          </p:cNvPicPr>
          <p:nvPr/>
        </p:nvPicPr>
        <p:blipFill>
          <a:blip r:embed="rId3"/>
          <a:stretch>
            <a:fillRect/>
          </a:stretch>
        </p:blipFill>
        <p:spPr>
          <a:xfrm>
            <a:off x="5092476" y="1142268"/>
            <a:ext cx="275783" cy="275783"/>
          </a:xfrm>
          <a:prstGeom prst="rect">
            <a:avLst/>
          </a:prstGeom>
        </p:spPr>
      </p:pic>
      <p:sp>
        <p:nvSpPr>
          <p:cNvPr id="22" name="TextBox 21"/>
          <p:cNvSpPr txBox="1"/>
          <p:nvPr/>
        </p:nvSpPr>
        <p:spPr>
          <a:xfrm>
            <a:off x="5623560" y="1005839"/>
            <a:ext cx="2880360" cy="1280160"/>
          </a:xfrm>
          <a:prstGeom prst="rect">
            <a:avLst/>
          </a:prstGeom>
          <a:noFill/>
        </p:spPr>
        <p:txBody>
          <a:bodyPr wrap="square" lIns="0" tIns="0" rIns="0" bIns="0" anchor="t">
            <a:noAutofit/>
          </a:bodyPr>
          <a:lstStyle/>
          <a:p>
            <a:pPr algn="l">
              <a:spcAft>
                <a:spcPts val="0"/>
              </a:spcAft>
            </a:pPr>
            <a:r>
              <a:rPr sz="1250" b="1" i="0">
                <a:solidFill>
                  <a:srgbClr val="1F2A30"/>
                </a:solidFill>
                <a:latin typeface="Swis721 Cn BT"/>
              </a:rPr>
              <a:t>Como una interna en práctica:</a:t>
            </a:r>
            <a:r>
              <a:rPr sz="1250" b="0" i="0">
                <a:solidFill>
                  <a:srgbClr val="1F2A30"/>
                </a:solidFill>
                <a:latin typeface="Swis721 Cn BT"/>
              </a:rPr>
              <a:t> intenta, su tutora la corrige y ella ajusta su criterio. La red hace lo mismo, pero millones de veces y sin cansarse.</a:t>
            </a:r>
          </a:p>
        </p:txBody>
      </p:sp>
      <p:sp>
        <p:nvSpPr>
          <p:cNvPr id="23" name="Rounded Rectangle 22"/>
          <p:cNvSpPr/>
          <p:nvPr/>
        </p:nvSpPr>
        <p:spPr>
          <a:xfrm>
            <a:off x="4846320" y="2560320"/>
            <a:ext cx="3794759" cy="1508760"/>
          </a:xfrm>
          <a:prstGeom prst="roundRect">
            <a:avLst>
              <a:gd name="adj" fmla="val 7272"/>
            </a:avLst>
          </a:prstGeom>
          <a:solidFill>
            <a:srgbClr val="F9E3DF"/>
          </a:solidFill>
          <a:ln>
            <a:noFill/>
          </a:ln>
        </p:spPr>
        <p:txBody>
          <a:bodyPr rtlCol="0" anchor="ctr"/>
          <a:lstStyle/>
          <a:p>
            <a:pPr algn="ctr"/>
            <a:endParaRPr/>
          </a:p>
        </p:txBody>
      </p:sp>
      <p:sp>
        <p:nvSpPr>
          <p:cNvPr id="24" name="Oval 23"/>
          <p:cNvSpPr/>
          <p:nvPr/>
        </p:nvSpPr>
        <p:spPr>
          <a:xfrm>
            <a:off x="4992624" y="2734056"/>
            <a:ext cx="475488" cy="475488"/>
          </a:xfrm>
          <a:prstGeom prst="ellipse">
            <a:avLst/>
          </a:prstGeom>
          <a:solidFill>
            <a:srgbClr val="BF210C"/>
          </a:solidFill>
          <a:ln>
            <a:noFill/>
          </a:ln>
        </p:spPr>
        <p:txBody>
          <a:bodyPr rtlCol="0" anchor="ctr"/>
          <a:lstStyle/>
          <a:p>
            <a:pPr algn="ctr"/>
            <a:endParaRPr/>
          </a:p>
        </p:txBody>
      </p:sp>
      <p:pic>
        <p:nvPicPr>
          <p:cNvPr id="25" name="Picture 24" descr="MdWarning_blanco.png"/>
          <p:cNvPicPr>
            <a:picLocks noChangeAspect="1"/>
          </p:cNvPicPr>
          <p:nvPr/>
        </p:nvPicPr>
        <p:blipFill>
          <a:blip r:embed="rId4"/>
          <a:stretch>
            <a:fillRect/>
          </a:stretch>
        </p:blipFill>
        <p:spPr>
          <a:xfrm>
            <a:off x="5092476" y="2833908"/>
            <a:ext cx="275783" cy="275783"/>
          </a:xfrm>
          <a:prstGeom prst="rect">
            <a:avLst/>
          </a:prstGeom>
        </p:spPr>
      </p:pic>
      <p:sp>
        <p:nvSpPr>
          <p:cNvPr id="26" name="TextBox 25"/>
          <p:cNvSpPr txBox="1"/>
          <p:nvPr/>
        </p:nvSpPr>
        <p:spPr>
          <a:xfrm>
            <a:off x="5623560" y="2697480"/>
            <a:ext cx="2880360" cy="1280160"/>
          </a:xfrm>
          <a:prstGeom prst="rect">
            <a:avLst/>
          </a:prstGeom>
          <a:noFill/>
        </p:spPr>
        <p:txBody>
          <a:bodyPr wrap="square" lIns="0" tIns="0" rIns="0" bIns="0" anchor="t">
            <a:noAutofit/>
          </a:bodyPr>
          <a:lstStyle/>
          <a:p>
            <a:pPr algn="l">
              <a:spcAft>
                <a:spcPts val="0"/>
              </a:spcAft>
            </a:pPr>
            <a:r>
              <a:rPr sz="1250" b="1" i="0">
                <a:solidFill>
                  <a:srgbClr val="1F2A30"/>
                </a:solidFill>
                <a:latin typeface="Swis721 Cn BT"/>
              </a:rPr>
              <a:t>Aprende lo que hay en sus datos:</a:t>
            </a:r>
            <a:r>
              <a:rPr sz="1250" b="0" i="0">
                <a:solidFill>
                  <a:srgbClr val="1F2A30"/>
                </a:solidFill>
                <a:latin typeface="Swis721 Cn BT"/>
              </a:rPr>
              <a:t> si están desactualizados o tienen sesgos, el modelo los </a:t>
            </a:r>
            <a:r>
              <a:rPr sz="1250" b="1" i="0">
                <a:solidFill>
                  <a:srgbClr val="BF210C"/>
                </a:solidFill>
                <a:latin typeface="Swis721 Cn BT"/>
              </a:rPr>
              <a:t>reproduce</a:t>
            </a:r>
            <a:r>
              <a:rPr sz="1250" b="0" i="0">
                <a:solidFill>
                  <a:srgbClr val="1F2A30"/>
                </a:solidFill>
                <a:latin typeface="Swis721 Cn BT"/>
              </a:rPr>
              <a:t> con total seguridad.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Para la IA, el texto son números: tokens y significado</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[8] Vaswani et al., 2017 · [7] Omiye et al., 2024</a:t>
            </a:r>
          </a:p>
        </p:txBody>
      </p:sp>
      <p:sp>
        <p:nvSpPr>
          <p:cNvPr id="5" name="TextBox 4"/>
          <p:cNvSpPr txBox="1"/>
          <p:nvPr/>
        </p:nvSpPr>
        <p:spPr>
          <a:xfrm>
            <a:off x="502920" y="868680"/>
            <a:ext cx="8138160" cy="27432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1. El texto se corta en fragmentos (tokens) y cada uno recibe un número</a:t>
            </a:r>
          </a:p>
        </p:txBody>
      </p:sp>
      <p:sp>
        <p:nvSpPr>
          <p:cNvPr id="6" name="Rounded Rectangle 5"/>
          <p:cNvSpPr/>
          <p:nvPr/>
        </p:nvSpPr>
        <p:spPr>
          <a:xfrm>
            <a:off x="502920" y="1234440"/>
            <a:ext cx="493776" cy="384048"/>
          </a:xfrm>
          <a:prstGeom prst="roundRect">
            <a:avLst>
              <a:gd name="adj" fmla="val 19047"/>
            </a:avLst>
          </a:prstGeom>
          <a:solidFill>
            <a:srgbClr val="E8F0F4"/>
          </a:solidFill>
          <a:ln>
            <a:noFill/>
          </a:ln>
        </p:spPr>
        <p:txBody>
          <a:bodyPr wrap="square" lIns="18288" tIns="18288" rIns="18288" bIns="18288" rtlCol="0" anchor="ctr">
            <a:noAutofit/>
          </a:bodyPr>
          <a:lstStyle/>
          <a:p>
            <a:pPr algn="ctr">
              <a:spcAft>
                <a:spcPts val="0"/>
              </a:spcAft>
            </a:pPr>
            <a:r>
              <a:rPr sz="1400" b="0" i="0">
                <a:solidFill>
                  <a:srgbClr val="1F2A30"/>
                </a:solidFill>
                <a:latin typeface="Swis721 Cn BT"/>
              </a:rPr>
              <a:t>La</a:t>
            </a:r>
          </a:p>
        </p:txBody>
      </p:sp>
      <p:sp>
        <p:nvSpPr>
          <p:cNvPr id="7" name="TextBox 6"/>
          <p:cNvSpPr txBox="1"/>
          <p:nvPr/>
        </p:nvSpPr>
        <p:spPr>
          <a:xfrm>
            <a:off x="502920" y="1645920"/>
            <a:ext cx="493776" cy="228600"/>
          </a:xfrm>
          <a:prstGeom prst="rect">
            <a:avLst/>
          </a:prstGeom>
          <a:noFill/>
        </p:spPr>
        <p:txBody>
          <a:bodyPr wrap="square" lIns="0" tIns="0" rIns="0" bIns="0" anchor="t">
            <a:noAutofit/>
          </a:bodyPr>
          <a:lstStyle/>
          <a:p>
            <a:pPr algn="ctr">
              <a:spcAft>
                <a:spcPts val="0"/>
              </a:spcAft>
            </a:pPr>
            <a:r>
              <a:rPr sz="1000" b="0" i="0">
                <a:solidFill>
                  <a:srgbClr val="5B6B73"/>
                </a:solidFill>
                <a:latin typeface="Swis721 Cn BT"/>
              </a:rPr>
              <a:t>2133</a:t>
            </a:r>
          </a:p>
        </p:txBody>
      </p:sp>
      <p:sp>
        <p:nvSpPr>
          <p:cNvPr id="8" name="Rounded Rectangle 7"/>
          <p:cNvSpPr/>
          <p:nvPr/>
        </p:nvSpPr>
        <p:spPr>
          <a:xfrm>
            <a:off x="1060704" y="1234440"/>
            <a:ext cx="594360" cy="384048"/>
          </a:xfrm>
          <a:prstGeom prst="roundRect">
            <a:avLst>
              <a:gd name="adj" fmla="val 19047"/>
            </a:avLst>
          </a:prstGeom>
          <a:solidFill>
            <a:srgbClr val="FFF3C4"/>
          </a:solidFill>
          <a:ln>
            <a:noFill/>
          </a:ln>
        </p:spPr>
        <p:txBody>
          <a:bodyPr wrap="square" lIns="18288" tIns="18288" rIns="18288" bIns="18288" rtlCol="0" anchor="ctr">
            <a:noAutofit/>
          </a:bodyPr>
          <a:lstStyle/>
          <a:p>
            <a:pPr algn="ctr">
              <a:spcAft>
                <a:spcPts val="0"/>
              </a:spcAft>
            </a:pPr>
            <a:r>
              <a:rPr sz="1400" b="0" i="0">
                <a:solidFill>
                  <a:srgbClr val="1F2A30"/>
                </a:solidFill>
                <a:latin typeface="Swis721 Cn BT"/>
              </a:rPr>
              <a:t>mat</a:t>
            </a:r>
          </a:p>
        </p:txBody>
      </p:sp>
      <p:sp>
        <p:nvSpPr>
          <p:cNvPr id="9" name="TextBox 8"/>
          <p:cNvSpPr txBox="1"/>
          <p:nvPr/>
        </p:nvSpPr>
        <p:spPr>
          <a:xfrm>
            <a:off x="1060704" y="1645920"/>
            <a:ext cx="594360" cy="228600"/>
          </a:xfrm>
          <a:prstGeom prst="rect">
            <a:avLst/>
          </a:prstGeom>
          <a:noFill/>
        </p:spPr>
        <p:txBody>
          <a:bodyPr wrap="square" lIns="0" tIns="0" rIns="0" bIns="0" anchor="t">
            <a:noAutofit/>
          </a:bodyPr>
          <a:lstStyle/>
          <a:p>
            <a:pPr algn="ctr">
              <a:spcAft>
                <a:spcPts val="0"/>
              </a:spcAft>
            </a:pPr>
            <a:r>
              <a:rPr sz="1000" b="0" i="0">
                <a:solidFill>
                  <a:srgbClr val="5B6B73"/>
                </a:solidFill>
                <a:latin typeface="Swis721 Cn BT"/>
              </a:rPr>
              <a:t>5521</a:t>
            </a:r>
          </a:p>
        </p:txBody>
      </p:sp>
      <p:sp>
        <p:nvSpPr>
          <p:cNvPr id="10" name="Rounded Rectangle 9"/>
          <p:cNvSpPr/>
          <p:nvPr/>
        </p:nvSpPr>
        <p:spPr>
          <a:xfrm>
            <a:off x="1719072" y="1234440"/>
            <a:ext cx="694944" cy="384048"/>
          </a:xfrm>
          <a:prstGeom prst="roundRect">
            <a:avLst>
              <a:gd name="adj" fmla="val 19047"/>
            </a:avLst>
          </a:prstGeom>
          <a:solidFill>
            <a:srgbClr val="F9E3DF"/>
          </a:solidFill>
          <a:ln>
            <a:noFill/>
          </a:ln>
        </p:spPr>
        <p:txBody>
          <a:bodyPr wrap="square" lIns="18288" tIns="18288" rIns="18288" bIns="18288" rtlCol="0" anchor="ctr">
            <a:noAutofit/>
          </a:bodyPr>
          <a:lstStyle/>
          <a:p>
            <a:pPr algn="ctr">
              <a:spcAft>
                <a:spcPts val="0"/>
              </a:spcAft>
            </a:pPr>
            <a:r>
              <a:rPr sz="1400" b="0" i="0">
                <a:solidFill>
                  <a:srgbClr val="1F2A30"/>
                </a:solidFill>
                <a:latin typeface="Swis721 Cn BT"/>
              </a:rPr>
              <a:t>rona</a:t>
            </a:r>
          </a:p>
        </p:txBody>
      </p:sp>
      <p:sp>
        <p:nvSpPr>
          <p:cNvPr id="11" name="TextBox 10"/>
          <p:cNvSpPr txBox="1"/>
          <p:nvPr/>
        </p:nvSpPr>
        <p:spPr>
          <a:xfrm>
            <a:off x="1719072" y="1645920"/>
            <a:ext cx="694944" cy="228600"/>
          </a:xfrm>
          <a:prstGeom prst="rect">
            <a:avLst/>
          </a:prstGeom>
          <a:noFill/>
        </p:spPr>
        <p:txBody>
          <a:bodyPr wrap="square" lIns="0" tIns="0" rIns="0" bIns="0" anchor="t">
            <a:noAutofit/>
          </a:bodyPr>
          <a:lstStyle/>
          <a:p>
            <a:pPr algn="ctr">
              <a:spcAft>
                <a:spcPts val="0"/>
              </a:spcAft>
            </a:pPr>
            <a:r>
              <a:rPr sz="1000" b="0" i="0">
                <a:solidFill>
                  <a:srgbClr val="5B6B73"/>
                </a:solidFill>
                <a:latin typeface="Swis721 Cn BT"/>
              </a:rPr>
              <a:t>19873</a:t>
            </a:r>
          </a:p>
        </p:txBody>
      </p:sp>
      <p:sp>
        <p:nvSpPr>
          <p:cNvPr id="12" name="Rounded Rectangle 11"/>
          <p:cNvSpPr/>
          <p:nvPr/>
        </p:nvSpPr>
        <p:spPr>
          <a:xfrm>
            <a:off x="2478024" y="1234440"/>
            <a:ext cx="694944" cy="384048"/>
          </a:xfrm>
          <a:prstGeom prst="roundRect">
            <a:avLst>
              <a:gd name="adj" fmla="val 19047"/>
            </a:avLst>
          </a:prstGeom>
          <a:solidFill>
            <a:srgbClr val="E8F0F4"/>
          </a:solidFill>
          <a:ln>
            <a:noFill/>
          </a:ln>
        </p:spPr>
        <p:txBody>
          <a:bodyPr wrap="square" lIns="18288" tIns="18288" rIns="18288" bIns="18288" rtlCol="0" anchor="ctr">
            <a:noAutofit/>
          </a:bodyPr>
          <a:lstStyle/>
          <a:p>
            <a:pPr algn="ctr">
              <a:spcAft>
                <a:spcPts val="0"/>
              </a:spcAft>
            </a:pPr>
            <a:r>
              <a:rPr sz="1400" b="0" i="0">
                <a:solidFill>
                  <a:srgbClr val="1F2A30"/>
                </a:solidFill>
                <a:latin typeface="Swis721 Cn BT"/>
              </a:rPr>
              <a:t>eval</a:t>
            </a:r>
          </a:p>
        </p:txBody>
      </p:sp>
      <p:sp>
        <p:nvSpPr>
          <p:cNvPr id="13" name="TextBox 12"/>
          <p:cNvSpPr txBox="1"/>
          <p:nvPr/>
        </p:nvSpPr>
        <p:spPr>
          <a:xfrm>
            <a:off x="2478024" y="1645920"/>
            <a:ext cx="694944" cy="228600"/>
          </a:xfrm>
          <a:prstGeom prst="rect">
            <a:avLst/>
          </a:prstGeom>
          <a:noFill/>
        </p:spPr>
        <p:txBody>
          <a:bodyPr wrap="square" lIns="0" tIns="0" rIns="0" bIns="0" anchor="t">
            <a:noAutofit/>
          </a:bodyPr>
          <a:lstStyle/>
          <a:p>
            <a:pPr algn="ctr">
              <a:spcAft>
                <a:spcPts val="0"/>
              </a:spcAft>
            </a:pPr>
            <a:r>
              <a:rPr sz="1000" b="0" i="0">
                <a:solidFill>
                  <a:srgbClr val="5B6B73"/>
                </a:solidFill>
                <a:latin typeface="Swis721 Cn BT"/>
              </a:rPr>
              <a:t>7782</a:t>
            </a:r>
          </a:p>
        </p:txBody>
      </p:sp>
      <p:sp>
        <p:nvSpPr>
          <p:cNvPr id="14" name="Rounded Rectangle 13"/>
          <p:cNvSpPr/>
          <p:nvPr/>
        </p:nvSpPr>
        <p:spPr>
          <a:xfrm>
            <a:off x="3236976" y="1234440"/>
            <a:ext cx="493776" cy="384048"/>
          </a:xfrm>
          <a:prstGeom prst="roundRect">
            <a:avLst>
              <a:gd name="adj" fmla="val 19047"/>
            </a:avLst>
          </a:prstGeom>
          <a:solidFill>
            <a:srgbClr val="FFF3C4"/>
          </a:solidFill>
          <a:ln>
            <a:noFill/>
          </a:ln>
        </p:spPr>
        <p:txBody>
          <a:bodyPr wrap="square" lIns="18288" tIns="18288" rIns="18288" bIns="18288" rtlCol="0" anchor="ctr">
            <a:noAutofit/>
          </a:bodyPr>
          <a:lstStyle/>
          <a:p>
            <a:pPr algn="ctr">
              <a:spcAft>
                <a:spcPts val="0"/>
              </a:spcAft>
            </a:pPr>
            <a:r>
              <a:rPr sz="1400" b="0" i="0">
                <a:solidFill>
                  <a:srgbClr val="1F2A30"/>
                </a:solidFill>
                <a:latin typeface="Swis721 Cn BT"/>
              </a:rPr>
              <a:t>úa</a:t>
            </a:r>
          </a:p>
        </p:txBody>
      </p:sp>
      <p:sp>
        <p:nvSpPr>
          <p:cNvPr id="15" name="TextBox 14"/>
          <p:cNvSpPr txBox="1"/>
          <p:nvPr/>
        </p:nvSpPr>
        <p:spPr>
          <a:xfrm>
            <a:off x="3236976" y="1645920"/>
            <a:ext cx="493776" cy="228600"/>
          </a:xfrm>
          <a:prstGeom prst="rect">
            <a:avLst/>
          </a:prstGeom>
          <a:noFill/>
        </p:spPr>
        <p:txBody>
          <a:bodyPr wrap="square" lIns="0" tIns="0" rIns="0" bIns="0" anchor="t">
            <a:noAutofit/>
          </a:bodyPr>
          <a:lstStyle/>
          <a:p>
            <a:pPr algn="ctr">
              <a:spcAft>
                <a:spcPts val="0"/>
              </a:spcAft>
            </a:pPr>
            <a:r>
              <a:rPr sz="1000" b="0" i="0">
                <a:solidFill>
                  <a:srgbClr val="5B6B73"/>
                </a:solidFill>
                <a:latin typeface="Swis721 Cn BT"/>
              </a:rPr>
              <a:t>9012</a:t>
            </a:r>
          </a:p>
        </p:txBody>
      </p:sp>
      <p:sp>
        <p:nvSpPr>
          <p:cNvPr id="16" name="Rounded Rectangle 15"/>
          <p:cNvSpPr/>
          <p:nvPr/>
        </p:nvSpPr>
        <p:spPr>
          <a:xfrm>
            <a:off x="3794760" y="1234440"/>
            <a:ext cx="493776" cy="384048"/>
          </a:xfrm>
          <a:prstGeom prst="roundRect">
            <a:avLst>
              <a:gd name="adj" fmla="val 19047"/>
            </a:avLst>
          </a:prstGeom>
          <a:solidFill>
            <a:srgbClr val="F9E3DF"/>
          </a:solidFill>
          <a:ln>
            <a:noFill/>
          </a:ln>
        </p:spPr>
        <p:txBody>
          <a:bodyPr wrap="square" lIns="18288" tIns="18288" rIns="18288" bIns="18288" rtlCol="0" anchor="ctr">
            <a:noAutofit/>
          </a:bodyPr>
          <a:lstStyle/>
          <a:p>
            <a:pPr algn="ctr">
              <a:spcAft>
                <a:spcPts val="0"/>
              </a:spcAft>
            </a:pPr>
            <a:r>
              <a:rPr sz="1400" b="0" i="0">
                <a:solidFill>
                  <a:srgbClr val="1F2A30"/>
                </a:solidFill>
                <a:latin typeface="Swis721 Cn BT"/>
              </a:rPr>
              <a:t>la</a:t>
            </a:r>
          </a:p>
        </p:txBody>
      </p:sp>
      <p:sp>
        <p:nvSpPr>
          <p:cNvPr id="17" name="TextBox 16"/>
          <p:cNvSpPr txBox="1"/>
          <p:nvPr/>
        </p:nvSpPr>
        <p:spPr>
          <a:xfrm>
            <a:off x="3794760" y="1645920"/>
            <a:ext cx="493776" cy="228600"/>
          </a:xfrm>
          <a:prstGeom prst="rect">
            <a:avLst/>
          </a:prstGeom>
          <a:noFill/>
        </p:spPr>
        <p:txBody>
          <a:bodyPr wrap="square" lIns="0" tIns="0" rIns="0" bIns="0" anchor="t">
            <a:noAutofit/>
          </a:bodyPr>
          <a:lstStyle/>
          <a:p>
            <a:pPr algn="ctr">
              <a:spcAft>
                <a:spcPts val="0"/>
              </a:spcAft>
            </a:pPr>
            <a:r>
              <a:rPr sz="1000" b="0" i="0">
                <a:solidFill>
                  <a:srgbClr val="5B6B73"/>
                </a:solidFill>
                <a:latin typeface="Swis721 Cn BT"/>
              </a:rPr>
              <a:t>1180</a:t>
            </a:r>
          </a:p>
        </p:txBody>
      </p:sp>
      <p:sp>
        <p:nvSpPr>
          <p:cNvPr id="18" name="Rounded Rectangle 17"/>
          <p:cNvSpPr/>
          <p:nvPr/>
        </p:nvSpPr>
        <p:spPr>
          <a:xfrm>
            <a:off x="4352544" y="1234440"/>
            <a:ext cx="594360" cy="384048"/>
          </a:xfrm>
          <a:prstGeom prst="roundRect">
            <a:avLst>
              <a:gd name="adj" fmla="val 19047"/>
            </a:avLst>
          </a:prstGeom>
          <a:solidFill>
            <a:srgbClr val="E8F0F4"/>
          </a:solidFill>
          <a:ln>
            <a:noFill/>
          </a:ln>
        </p:spPr>
        <p:txBody>
          <a:bodyPr wrap="square" lIns="18288" tIns="18288" rIns="18288" bIns="18288" rtlCol="0" anchor="ctr">
            <a:noAutofit/>
          </a:bodyPr>
          <a:lstStyle/>
          <a:p>
            <a:pPr algn="ctr">
              <a:spcAft>
                <a:spcPts val="0"/>
              </a:spcAft>
            </a:pPr>
            <a:r>
              <a:rPr sz="1400" b="0" i="0">
                <a:solidFill>
                  <a:srgbClr val="1F2A30"/>
                </a:solidFill>
                <a:latin typeface="Swis721 Cn BT"/>
              </a:rPr>
              <a:t>din</a:t>
            </a:r>
          </a:p>
        </p:txBody>
      </p:sp>
      <p:sp>
        <p:nvSpPr>
          <p:cNvPr id="19" name="TextBox 18"/>
          <p:cNvSpPr txBox="1"/>
          <p:nvPr/>
        </p:nvSpPr>
        <p:spPr>
          <a:xfrm>
            <a:off x="4352544" y="1645920"/>
            <a:ext cx="594360" cy="228600"/>
          </a:xfrm>
          <a:prstGeom prst="rect">
            <a:avLst/>
          </a:prstGeom>
          <a:noFill/>
        </p:spPr>
        <p:txBody>
          <a:bodyPr wrap="square" lIns="0" tIns="0" rIns="0" bIns="0" anchor="t">
            <a:noAutofit/>
          </a:bodyPr>
          <a:lstStyle/>
          <a:p>
            <a:pPr algn="ctr">
              <a:spcAft>
                <a:spcPts val="0"/>
              </a:spcAft>
            </a:pPr>
            <a:r>
              <a:rPr sz="1000" b="0" i="0">
                <a:solidFill>
                  <a:srgbClr val="5B6B73"/>
                </a:solidFill>
                <a:latin typeface="Swis721 Cn BT"/>
              </a:rPr>
              <a:t>4410</a:t>
            </a:r>
          </a:p>
        </p:txBody>
      </p:sp>
      <p:sp>
        <p:nvSpPr>
          <p:cNvPr id="20" name="Rounded Rectangle 19"/>
          <p:cNvSpPr/>
          <p:nvPr/>
        </p:nvSpPr>
        <p:spPr>
          <a:xfrm>
            <a:off x="5010912" y="1234440"/>
            <a:ext cx="795528" cy="384048"/>
          </a:xfrm>
          <a:prstGeom prst="roundRect">
            <a:avLst>
              <a:gd name="adj" fmla="val 19047"/>
            </a:avLst>
          </a:prstGeom>
          <a:solidFill>
            <a:srgbClr val="FFF3C4"/>
          </a:solidFill>
          <a:ln>
            <a:noFill/>
          </a:ln>
        </p:spPr>
        <p:txBody>
          <a:bodyPr wrap="square" lIns="18288" tIns="18288" rIns="18288" bIns="18288" rtlCol="0" anchor="ctr">
            <a:noAutofit/>
          </a:bodyPr>
          <a:lstStyle/>
          <a:p>
            <a:pPr algn="ctr">
              <a:spcAft>
                <a:spcPts val="0"/>
              </a:spcAft>
            </a:pPr>
            <a:r>
              <a:rPr sz="1400" b="0" i="0">
                <a:solidFill>
                  <a:srgbClr val="1F2A30"/>
                </a:solidFill>
                <a:latin typeface="Swis721 Cn BT"/>
              </a:rPr>
              <a:t>ámica</a:t>
            </a:r>
          </a:p>
        </p:txBody>
      </p:sp>
      <p:sp>
        <p:nvSpPr>
          <p:cNvPr id="21" name="TextBox 20"/>
          <p:cNvSpPr txBox="1"/>
          <p:nvPr/>
        </p:nvSpPr>
        <p:spPr>
          <a:xfrm>
            <a:off x="5010912" y="1645920"/>
            <a:ext cx="795528" cy="228600"/>
          </a:xfrm>
          <a:prstGeom prst="rect">
            <a:avLst/>
          </a:prstGeom>
          <a:noFill/>
        </p:spPr>
        <p:txBody>
          <a:bodyPr wrap="square" lIns="0" tIns="0" rIns="0" bIns="0" anchor="t">
            <a:noAutofit/>
          </a:bodyPr>
          <a:lstStyle/>
          <a:p>
            <a:pPr algn="ctr">
              <a:spcAft>
                <a:spcPts val="0"/>
              </a:spcAft>
            </a:pPr>
            <a:r>
              <a:rPr sz="1000" b="0" i="0">
                <a:solidFill>
                  <a:srgbClr val="5B6B73"/>
                </a:solidFill>
                <a:latin typeface="Swis721 Cn BT"/>
              </a:rPr>
              <a:t>12077</a:t>
            </a:r>
          </a:p>
        </p:txBody>
      </p:sp>
      <p:sp>
        <p:nvSpPr>
          <p:cNvPr id="22" name="Rounded Rectangle 21"/>
          <p:cNvSpPr/>
          <p:nvPr/>
        </p:nvSpPr>
        <p:spPr>
          <a:xfrm>
            <a:off x="5870448" y="1234440"/>
            <a:ext cx="694944" cy="384048"/>
          </a:xfrm>
          <a:prstGeom prst="roundRect">
            <a:avLst>
              <a:gd name="adj" fmla="val 19047"/>
            </a:avLst>
          </a:prstGeom>
          <a:solidFill>
            <a:srgbClr val="F9E3DF"/>
          </a:solidFill>
          <a:ln>
            <a:noFill/>
          </a:ln>
        </p:spPr>
        <p:txBody>
          <a:bodyPr wrap="square" lIns="18288" tIns="18288" rIns="18288" bIns="18288" rtlCol="0" anchor="ctr">
            <a:noAutofit/>
          </a:bodyPr>
          <a:lstStyle/>
          <a:p>
            <a:pPr algn="ctr">
              <a:spcAft>
                <a:spcPts val="0"/>
              </a:spcAft>
            </a:pPr>
            <a:r>
              <a:rPr sz="1400" b="0" i="0">
                <a:solidFill>
                  <a:srgbClr val="1F2A30"/>
                </a:solidFill>
                <a:latin typeface="Swis721 Cn BT"/>
              </a:rPr>
              <a:t>uter</a:t>
            </a:r>
          </a:p>
        </p:txBody>
      </p:sp>
      <p:sp>
        <p:nvSpPr>
          <p:cNvPr id="23" name="TextBox 22"/>
          <p:cNvSpPr txBox="1"/>
          <p:nvPr/>
        </p:nvSpPr>
        <p:spPr>
          <a:xfrm>
            <a:off x="5870448" y="1645920"/>
            <a:ext cx="694944" cy="228600"/>
          </a:xfrm>
          <a:prstGeom prst="rect">
            <a:avLst/>
          </a:prstGeom>
          <a:noFill/>
        </p:spPr>
        <p:txBody>
          <a:bodyPr wrap="square" lIns="0" tIns="0" rIns="0" bIns="0" anchor="t">
            <a:noAutofit/>
          </a:bodyPr>
          <a:lstStyle/>
          <a:p>
            <a:pPr algn="ctr">
              <a:spcAft>
                <a:spcPts val="0"/>
              </a:spcAft>
            </a:pPr>
            <a:r>
              <a:rPr sz="1000" b="0" i="0">
                <a:solidFill>
                  <a:srgbClr val="5B6B73"/>
                </a:solidFill>
                <a:latin typeface="Swis721 Cn BT"/>
              </a:rPr>
              <a:t>30351</a:t>
            </a:r>
          </a:p>
        </p:txBody>
      </p:sp>
      <p:sp>
        <p:nvSpPr>
          <p:cNvPr id="24" name="Rounded Rectangle 23"/>
          <p:cNvSpPr/>
          <p:nvPr/>
        </p:nvSpPr>
        <p:spPr>
          <a:xfrm>
            <a:off x="6629400" y="1234440"/>
            <a:ext cx="594360" cy="384048"/>
          </a:xfrm>
          <a:prstGeom prst="roundRect">
            <a:avLst>
              <a:gd name="adj" fmla="val 19047"/>
            </a:avLst>
          </a:prstGeom>
          <a:solidFill>
            <a:srgbClr val="E8F0F4"/>
          </a:solidFill>
          <a:ln>
            <a:noFill/>
          </a:ln>
        </p:spPr>
        <p:txBody>
          <a:bodyPr wrap="square" lIns="18288" tIns="18288" rIns="18288" bIns="18288" rtlCol="0" anchor="ctr">
            <a:noAutofit/>
          </a:bodyPr>
          <a:lstStyle/>
          <a:p>
            <a:pPr algn="ctr">
              <a:spcAft>
                <a:spcPts val="0"/>
              </a:spcAft>
            </a:pPr>
            <a:r>
              <a:rPr sz="1400" b="0" i="0">
                <a:solidFill>
                  <a:srgbClr val="1F2A30"/>
                </a:solidFill>
                <a:latin typeface="Swis721 Cn BT"/>
              </a:rPr>
              <a:t>ina</a:t>
            </a:r>
          </a:p>
        </p:txBody>
      </p:sp>
      <p:sp>
        <p:nvSpPr>
          <p:cNvPr id="25" name="TextBox 24"/>
          <p:cNvSpPr txBox="1"/>
          <p:nvPr/>
        </p:nvSpPr>
        <p:spPr>
          <a:xfrm>
            <a:off x="6629400" y="1645920"/>
            <a:ext cx="594360" cy="228600"/>
          </a:xfrm>
          <a:prstGeom prst="rect">
            <a:avLst/>
          </a:prstGeom>
          <a:noFill/>
        </p:spPr>
        <p:txBody>
          <a:bodyPr wrap="square" lIns="0" tIns="0" rIns="0" bIns="0" anchor="t">
            <a:noAutofit/>
          </a:bodyPr>
          <a:lstStyle/>
          <a:p>
            <a:pPr algn="ctr">
              <a:spcAft>
                <a:spcPts val="0"/>
              </a:spcAft>
            </a:pPr>
            <a:r>
              <a:rPr sz="1000" b="0" i="0">
                <a:solidFill>
                  <a:srgbClr val="5B6B73"/>
                </a:solidFill>
                <a:latin typeface="Swis721 Cn BT"/>
              </a:rPr>
              <a:t>3307</a:t>
            </a:r>
          </a:p>
        </p:txBody>
      </p:sp>
      <p:sp>
        <p:nvSpPr>
          <p:cNvPr id="26" name="TextBox 25"/>
          <p:cNvSpPr txBox="1"/>
          <p:nvPr/>
        </p:nvSpPr>
        <p:spPr>
          <a:xfrm>
            <a:off x="502920" y="1874519"/>
            <a:ext cx="8138160" cy="228600"/>
          </a:xfrm>
          <a:prstGeom prst="rect">
            <a:avLst/>
          </a:prstGeom>
          <a:noFill/>
        </p:spPr>
        <p:txBody>
          <a:bodyPr wrap="square" lIns="0" tIns="0" rIns="0" bIns="0" anchor="t">
            <a:noAutofit/>
          </a:bodyPr>
          <a:lstStyle/>
          <a:p>
            <a:pPr algn="l">
              <a:spcAft>
                <a:spcPts val="0"/>
              </a:spcAft>
            </a:pPr>
            <a:r>
              <a:rPr sz="1000" b="0" i="1">
                <a:solidFill>
                  <a:srgbClr val="5B6B73"/>
                </a:solidFill>
                <a:latin typeface="Swis721 Cn BT"/>
              </a:rPr>
              <a:t>Cortes y números ilustrativos: cada modelo usa su propio «diccionario» de tokens.</a:t>
            </a:r>
          </a:p>
        </p:txBody>
      </p:sp>
      <p:sp>
        <p:nvSpPr>
          <p:cNvPr id="27" name="TextBox 26"/>
          <p:cNvSpPr txBox="1"/>
          <p:nvPr/>
        </p:nvSpPr>
        <p:spPr>
          <a:xfrm>
            <a:off x="502920" y="2148840"/>
            <a:ext cx="8138160" cy="27432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2. Cada token se ubica en un «mapa de significados»: lo parecido queda cerca</a:t>
            </a:r>
          </a:p>
        </p:txBody>
      </p:sp>
      <p:sp>
        <p:nvSpPr>
          <p:cNvPr id="28" name="Rounded Rectangle 27"/>
          <p:cNvSpPr/>
          <p:nvPr/>
        </p:nvSpPr>
        <p:spPr>
          <a:xfrm>
            <a:off x="502920" y="2487168"/>
            <a:ext cx="4663440" cy="1581912"/>
          </a:xfrm>
          <a:prstGeom prst="roundRect">
            <a:avLst>
              <a:gd name="adj" fmla="val 6936"/>
            </a:avLst>
          </a:prstGeom>
          <a:solidFill>
            <a:srgbClr val="E8F0F4"/>
          </a:solidFill>
          <a:ln>
            <a:noFill/>
          </a:ln>
        </p:spPr>
        <p:txBody>
          <a:bodyPr rtlCol="0" anchor="ctr"/>
          <a:lstStyle/>
          <a:p>
            <a:pPr algn="ctr"/>
            <a:endParaRPr/>
          </a:p>
        </p:txBody>
      </p:sp>
      <p:sp>
        <p:nvSpPr>
          <p:cNvPr id="29" name="Oval 28"/>
          <p:cNvSpPr/>
          <p:nvPr/>
        </p:nvSpPr>
        <p:spPr>
          <a:xfrm>
            <a:off x="777240" y="2660904"/>
            <a:ext cx="109728" cy="109728"/>
          </a:xfrm>
          <a:prstGeom prst="ellipse">
            <a:avLst/>
          </a:prstGeom>
          <a:solidFill>
            <a:srgbClr val="003C58"/>
          </a:solidFill>
          <a:ln>
            <a:noFill/>
          </a:ln>
        </p:spPr>
        <p:txBody>
          <a:bodyPr rtlCol="0" anchor="ctr"/>
          <a:lstStyle/>
          <a:p>
            <a:pPr algn="ctr"/>
            <a:endParaRPr/>
          </a:p>
        </p:txBody>
      </p:sp>
      <p:sp>
        <p:nvSpPr>
          <p:cNvPr id="30" name="TextBox 29"/>
          <p:cNvSpPr txBox="1"/>
          <p:nvPr/>
        </p:nvSpPr>
        <p:spPr>
          <a:xfrm>
            <a:off x="932688" y="2587752"/>
            <a:ext cx="1463040" cy="256032"/>
          </a:xfrm>
          <a:prstGeom prst="rect">
            <a:avLst/>
          </a:prstGeom>
          <a:noFill/>
        </p:spPr>
        <p:txBody>
          <a:bodyPr wrap="square" lIns="0" tIns="0" rIns="0" bIns="0" anchor="t">
            <a:noAutofit/>
          </a:bodyPr>
          <a:lstStyle/>
          <a:p>
            <a:pPr algn="l">
              <a:spcAft>
                <a:spcPts val="0"/>
              </a:spcAft>
            </a:pPr>
            <a:r>
              <a:rPr sz="1150" b="1" i="0">
                <a:solidFill>
                  <a:srgbClr val="003C58"/>
                </a:solidFill>
                <a:latin typeface="Swis721 Cn BT"/>
              </a:rPr>
              <a:t>contracción</a:t>
            </a:r>
          </a:p>
        </p:txBody>
      </p:sp>
      <p:sp>
        <p:nvSpPr>
          <p:cNvPr id="31" name="Oval 30"/>
          <p:cNvSpPr/>
          <p:nvPr/>
        </p:nvSpPr>
        <p:spPr>
          <a:xfrm>
            <a:off x="1097280" y="2907792"/>
            <a:ext cx="109728" cy="109728"/>
          </a:xfrm>
          <a:prstGeom prst="ellipse">
            <a:avLst/>
          </a:prstGeom>
          <a:solidFill>
            <a:srgbClr val="003C58"/>
          </a:solidFill>
          <a:ln>
            <a:noFill/>
          </a:ln>
        </p:spPr>
        <p:txBody>
          <a:bodyPr rtlCol="0" anchor="ctr"/>
          <a:lstStyle/>
          <a:p>
            <a:pPr algn="ctr"/>
            <a:endParaRPr/>
          </a:p>
        </p:txBody>
      </p:sp>
      <p:sp>
        <p:nvSpPr>
          <p:cNvPr id="32" name="TextBox 31"/>
          <p:cNvSpPr txBox="1"/>
          <p:nvPr/>
        </p:nvSpPr>
        <p:spPr>
          <a:xfrm>
            <a:off x="1252728" y="2834640"/>
            <a:ext cx="1463040" cy="256032"/>
          </a:xfrm>
          <a:prstGeom prst="rect">
            <a:avLst/>
          </a:prstGeom>
          <a:noFill/>
        </p:spPr>
        <p:txBody>
          <a:bodyPr wrap="square" lIns="0" tIns="0" rIns="0" bIns="0" anchor="t">
            <a:noAutofit/>
          </a:bodyPr>
          <a:lstStyle/>
          <a:p>
            <a:pPr algn="l">
              <a:spcAft>
                <a:spcPts val="0"/>
              </a:spcAft>
            </a:pPr>
            <a:r>
              <a:rPr sz="1150" b="1" i="0">
                <a:solidFill>
                  <a:srgbClr val="003C58"/>
                </a:solidFill>
                <a:latin typeface="Swis721 Cn BT"/>
              </a:rPr>
              <a:t>dinámica uterina</a:t>
            </a:r>
          </a:p>
        </p:txBody>
      </p:sp>
      <p:sp>
        <p:nvSpPr>
          <p:cNvPr id="33" name="Oval 32"/>
          <p:cNvSpPr/>
          <p:nvPr/>
        </p:nvSpPr>
        <p:spPr>
          <a:xfrm>
            <a:off x="685800" y="3154680"/>
            <a:ext cx="109728" cy="109728"/>
          </a:xfrm>
          <a:prstGeom prst="ellipse">
            <a:avLst/>
          </a:prstGeom>
          <a:solidFill>
            <a:srgbClr val="003C58"/>
          </a:solidFill>
          <a:ln>
            <a:noFill/>
          </a:ln>
        </p:spPr>
        <p:txBody>
          <a:bodyPr rtlCol="0" anchor="ctr"/>
          <a:lstStyle/>
          <a:p>
            <a:pPr algn="ctr"/>
            <a:endParaRPr/>
          </a:p>
        </p:txBody>
      </p:sp>
      <p:sp>
        <p:nvSpPr>
          <p:cNvPr id="34" name="TextBox 33"/>
          <p:cNvSpPr txBox="1"/>
          <p:nvPr/>
        </p:nvSpPr>
        <p:spPr>
          <a:xfrm>
            <a:off x="841248" y="3081528"/>
            <a:ext cx="1463040" cy="256032"/>
          </a:xfrm>
          <a:prstGeom prst="rect">
            <a:avLst/>
          </a:prstGeom>
          <a:noFill/>
        </p:spPr>
        <p:txBody>
          <a:bodyPr wrap="square" lIns="0" tIns="0" rIns="0" bIns="0" anchor="t">
            <a:noAutofit/>
          </a:bodyPr>
          <a:lstStyle/>
          <a:p>
            <a:pPr algn="l">
              <a:spcAft>
                <a:spcPts val="0"/>
              </a:spcAft>
            </a:pPr>
            <a:r>
              <a:rPr sz="1150" b="1" i="0">
                <a:solidFill>
                  <a:srgbClr val="003C58"/>
                </a:solidFill>
                <a:latin typeface="Swis721 Cn BT"/>
              </a:rPr>
              <a:t>actividad uterina</a:t>
            </a:r>
          </a:p>
        </p:txBody>
      </p:sp>
      <p:sp>
        <p:nvSpPr>
          <p:cNvPr id="35" name="Oval 34"/>
          <p:cNvSpPr/>
          <p:nvPr/>
        </p:nvSpPr>
        <p:spPr>
          <a:xfrm>
            <a:off x="3246120" y="2642616"/>
            <a:ext cx="109728" cy="109728"/>
          </a:xfrm>
          <a:prstGeom prst="ellipse">
            <a:avLst/>
          </a:prstGeom>
          <a:solidFill>
            <a:srgbClr val="BF210C"/>
          </a:solidFill>
          <a:ln>
            <a:noFill/>
          </a:ln>
        </p:spPr>
        <p:txBody>
          <a:bodyPr rtlCol="0" anchor="ctr"/>
          <a:lstStyle/>
          <a:p>
            <a:pPr algn="ctr"/>
            <a:endParaRPr/>
          </a:p>
        </p:txBody>
      </p:sp>
      <p:sp>
        <p:nvSpPr>
          <p:cNvPr id="36" name="TextBox 35"/>
          <p:cNvSpPr txBox="1"/>
          <p:nvPr/>
        </p:nvSpPr>
        <p:spPr>
          <a:xfrm>
            <a:off x="3401568" y="2569464"/>
            <a:ext cx="1463040" cy="256032"/>
          </a:xfrm>
          <a:prstGeom prst="rect">
            <a:avLst/>
          </a:prstGeom>
          <a:noFill/>
        </p:spPr>
        <p:txBody>
          <a:bodyPr wrap="square" lIns="0" tIns="0" rIns="0" bIns="0" anchor="t">
            <a:noAutofit/>
          </a:bodyPr>
          <a:lstStyle/>
          <a:p>
            <a:pPr algn="l">
              <a:spcAft>
                <a:spcPts val="0"/>
              </a:spcAft>
            </a:pPr>
            <a:r>
              <a:rPr sz="1150" b="1" i="0">
                <a:solidFill>
                  <a:srgbClr val="BF210C"/>
                </a:solidFill>
                <a:latin typeface="Swis721 Cn BT"/>
              </a:rPr>
              <a:t>lactancia</a:t>
            </a:r>
          </a:p>
        </p:txBody>
      </p:sp>
      <p:sp>
        <p:nvSpPr>
          <p:cNvPr id="37" name="Oval 36"/>
          <p:cNvSpPr/>
          <p:nvPr/>
        </p:nvSpPr>
        <p:spPr>
          <a:xfrm>
            <a:off x="3886200" y="2871216"/>
            <a:ext cx="109728" cy="109728"/>
          </a:xfrm>
          <a:prstGeom prst="ellipse">
            <a:avLst/>
          </a:prstGeom>
          <a:solidFill>
            <a:srgbClr val="BF210C"/>
          </a:solidFill>
          <a:ln>
            <a:noFill/>
          </a:ln>
        </p:spPr>
        <p:txBody>
          <a:bodyPr rtlCol="0" anchor="ctr"/>
          <a:lstStyle/>
          <a:p>
            <a:pPr algn="ctr"/>
            <a:endParaRPr/>
          </a:p>
        </p:txBody>
      </p:sp>
      <p:sp>
        <p:nvSpPr>
          <p:cNvPr id="38" name="TextBox 37"/>
          <p:cNvSpPr txBox="1"/>
          <p:nvPr/>
        </p:nvSpPr>
        <p:spPr>
          <a:xfrm>
            <a:off x="4041648" y="2798064"/>
            <a:ext cx="1463040" cy="256032"/>
          </a:xfrm>
          <a:prstGeom prst="rect">
            <a:avLst/>
          </a:prstGeom>
          <a:noFill/>
        </p:spPr>
        <p:txBody>
          <a:bodyPr wrap="square" lIns="0" tIns="0" rIns="0" bIns="0" anchor="t">
            <a:noAutofit/>
          </a:bodyPr>
          <a:lstStyle/>
          <a:p>
            <a:pPr algn="l">
              <a:spcAft>
                <a:spcPts val="0"/>
              </a:spcAft>
            </a:pPr>
            <a:r>
              <a:rPr sz="1150" b="1" i="0">
                <a:solidFill>
                  <a:srgbClr val="BF210C"/>
                </a:solidFill>
                <a:latin typeface="Swis721 Cn BT"/>
              </a:rPr>
              <a:t>calostro</a:t>
            </a:r>
          </a:p>
        </p:txBody>
      </p:sp>
      <p:sp>
        <p:nvSpPr>
          <p:cNvPr id="39" name="Oval 38"/>
          <p:cNvSpPr/>
          <p:nvPr/>
        </p:nvSpPr>
        <p:spPr>
          <a:xfrm>
            <a:off x="3383280" y="3118104"/>
            <a:ext cx="109728" cy="109728"/>
          </a:xfrm>
          <a:prstGeom prst="ellipse">
            <a:avLst/>
          </a:prstGeom>
          <a:solidFill>
            <a:srgbClr val="BF210C"/>
          </a:solidFill>
          <a:ln>
            <a:noFill/>
          </a:ln>
        </p:spPr>
        <p:txBody>
          <a:bodyPr rtlCol="0" anchor="ctr"/>
          <a:lstStyle/>
          <a:p>
            <a:pPr algn="ctr"/>
            <a:endParaRPr/>
          </a:p>
        </p:txBody>
      </p:sp>
      <p:sp>
        <p:nvSpPr>
          <p:cNvPr id="40" name="TextBox 39"/>
          <p:cNvSpPr txBox="1"/>
          <p:nvPr/>
        </p:nvSpPr>
        <p:spPr>
          <a:xfrm>
            <a:off x="3538728" y="3044952"/>
            <a:ext cx="1463040" cy="256032"/>
          </a:xfrm>
          <a:prstGeom prst="rect">
            <a:avLst/>
          </a:prstGeom>
          <a:noFill/>
        </p:spPr>
        <p:txBody>
          <a:bodyPr wrap="square" lIns="0" tIns="0" rIns="0" bIns="0" anchor="t">
            <a:noAutofit/>
          </a:bodyPr>
          <a:lstStyle/>
          <a:p>
            <a:pPr algn="l">
              <a:spcAft>
                <a:spcPts val="0"/>
              </a:spcAft>
            </a:pPr>
            <a:r>
              <a:rPr sz="1150" b="1" i="0">
                <a:solidFill>
                  <a:srgbClr val="BF210C"/>
                </a:solidFill>
                <a:latin typeface="Swis721 Cn BT"/>
              </a:rPr>
              <a:t>apego</a:t>
            </a:r>
          </a:p>
        </p:txBody>
      </p:sp>
      <p:sp>
        <p:nvSpPr>
          <p:cNvPr id="41" name="Oval 40"/>
          <p:cNvSpPr/>
          <p:nvPr/>
        </p:nvSpPr>
        <p:spPr>
          <a:xfrm>
            <a:off x="1783080" y="3511296"/>
            <a:ext cx="109728" cy="109728"/>
          </a:xfrm>
          <a:prstGeom prst="ellipse">
            <a:avLst/>
          </a:prstGeom>
          <a:solidFill>
            <a:srgbClr val="2F6E8C"/>
          </a:solidFill>
          <a:ln>
            <a:noFill/>
          </a:ln>
        </p:spPr>
        <p:txBody>
          <a:bodyPr rtlCol="0" anchor="ctr"/>
          <a:lstStyle/>
          <a:p>
            <a:pPr algn="ctr"/>
            <a:endParaRPr/>
          </a:p>
        </p:txBody>
      </p:sp>
      <p:sp>
        <p:nvSpPr>
          <p:cNvPr id="42" name="TextBox 41"/>
          <p:cNvSpPr txBox="1"/>
          <p:nvPr/>
        </p:nvSpPr>
        <p:spPr>
          <a:xfrm>
            <a:off x="1938528" y="3438144"/>
            <a:ext cx="1463040" cy="256032"/>
          </a:xfrm>
          <a:prstGeom prst="rect">
            <a:avLst/>
          </a:prstGeom>
          <a:noFill/>
        </p:spPr>
        <p:txBody>
          <a:bodyPr wrap="square" lIns="0" tIns="0" rIns="0" bIns="0" anchor="t">
            <a:noAutofit/>
          </a:bodyPr>
          <a:lstStyle/>
          <a:p>
            <a:pPr algn="l">
              <a:spcAft>
                <a:spcPts val="0"/>
              </a:spcAft>
            </a:pPr>
            <a:r>
              <a:rPr sz="1150" b="1" i="0">
                <a:solidFill>
                  <a:srgbClr val="2F6E8C"/>
                </a:solidFill>
                <a:latin typeface="Swis721 Cn BT"/>
              </a:rPr>
              <a:t>preeclampsia</a:t>
            </a:r>
          </a:p>
        </p:txBody>
      </p:sp>
      <p:sp>
        <p:nvSpPr>
          <p:cNvPr id="43" name="Oval 42"/>
          <p:cNvSpPr/>
          <p:nvPr/>
        </p:nvSpPr>
        <p:spPr>
          <a:xfrm>
            <a:off x="2468880" y="3767327"/>
            <a:ext cx="109728" cy="109728"/>
          </a:xfrm>
          <a:prstGeom prst="ellipse">
            <a:avLst/>
          </a:prstGeom>
          <a:solidFill>
            <a:srgbClr val="2F6E8C"/>
          </a:solidFill>
          <a:ln>
            <a:noFill/>
          </a:ln>
        </p:spPr>
        <p:txBody>
          <a:bodyPr rtlCol="0" anchor="ctr"/>
          <a:lstStyle/>
          <a:p>
            <a:pPr algn="ctr"/>
            <a:endParaRPr/>
          </a:p>
        </p:txBody>
      </p:sp>
      <p:sp>
        <p:nvSpPr>
          <p:cNvPr id="44" name="TextBox 43"/>
          <p:cNvSpPr txBox="1"/>
          <p:nvPr/>
        </p:nvSpPr>
        <p:spPr>
          <a:xfrm>
            <a:off x="2624328" y="3694176"/>
            <a:ext cx="1463040" cy="256032"/>
          </a:xfrm>
          <a:prstGeom prst="rect">
            <a:avLst/>
          </a:prstGeom>
          <a:noFill/>
        </p:spPr>
        <p:txBody>
          <a:bodyPr wrap="square" lIns="0" tIns="0" rIns="0" bIns="0" anchor="t">
            <a:noAutofit/>
          </a:bodyPr>
          <a:lstStyle/>
          <a:p>
            <a:pPr algn="l">
              <a:spcAft>
                <a:spcPts val="0"/>
              </a:spcAft>
            </a:pPr>
            <a:r>
              <a:rPr sz="1150" b="1" i="0">
                <a:solidFill>
                  <a:srgbClr val="2F6E8C"/>
                </a:solidFill>
                <a:latin typeface="Swis721 Cn BT"/>
              </a:rPr>
              <a:t>presión arterial</a:t>
            </a:r>
          </a:p>
        </p:txBody>
      </p:sp>
      <p:sp>
        <p:nvSpPr>
          <p:cNvPr id="45" name="Oval 44"/>
          <p:cNvSpPr/>
          <p:nvPr/>
        </p:nvSpPr>
        <p:spPr>
          <a:xfrm>
            <a:off x="3291840" y="3529584"/>
            <a:ext cx="109728" cy="109728"/>
          </a:xfrm>
          <a:prstGeom prst="ellipse">
            <a:avLst/>
          </a:prstGeom>
          <a:solidFill>
            <a:srgbClr val="2F6E8C"/>
          </a:solidFill>
          <a:ln>
            <a:noFill/>
          </a:ln>
        </p:spPr>
        <p:txBody>
          <a:bodyPr rtlCol="0" anchor="ctr"/>
          <a:lstStyle/>
          <a:p>
            <a:pPr algn="ctr"/>
            <a:endParaRPr/>
          </a:p>
        </p:txBody>
      </p:sp>
      <p:sp>
        <p:nvSpPr>
          <p:cNvPr id="46" name="TextBox 45"/>
          <p:cNvSpPr txBox="1"/>
          <p:nvPr/>
        </p:nvSpPr>
        <p:spPr>
          <a:xfrm>
            <a:off x="3447288" y="3456432"/>
            <a:ext cx="1463040" cy="256032"/>
          </a:xfrm>
          <a:prstGeom prst="rect">
            <a:avLst/>
          </a:prstGeom>
          <a:noFill/>
        </p:spPr>
        <p:txBody>
          <a:bodyPr wrap="square" lIns="0" tIns="0" rIns="0" bIns="0" anchor="t">
            <a:noAutofit/>
          </a:bodyPr>
          <a:lstStyle/>
          <a:p>
            <a:pPr algn="l">
              <a:spcAft>
                <a:spcPts val="0"/>
              </a:spcAft>
            </a:pPr>
            <a:r>
              <a:rPr sz="1150" b="1" i="0">
                <a:solidFill>
                  <a:srgbClr val="2F6E8C"/>
                </a:solidFill>
                <a:latin typeface="Swis721 Cn BT"/>
              </a:rPr>
              <a:t>proteinuria</a:t>
            </a:r>
          </a:p>
        </p:txBody>
      </p:sp>
      <p:sp>
        <p:nvSpPr>
          <p:cNvPr id="47" name="Rounded Rectangle 46"/>
          <p:cNvSpPr/>
          <p:nvPr/>
        </p:nvSpPr>
        <p:spPr>
          <a:xfrm>
            <a:off x="5394960" y="2487168"/>
            <a:ext cx="3246119" cy="1581912"/>
          </a:xfrm>
          <a:prstGeom prst="roundRect">
            <a:avLst>
              <a:gd name="adj" fmla="val 6936"/>
            </a:avLst>
          </a:prstGeom>
          <a:solidFill>
            <a:srgbClr val="003C58"/>
          </a:solidFill>
          <a:ln>
            <a:noFill/>
          </a:ln>
        </p:spPr>
        <p:txBody>
          <a:bodyPr rtlCol="0" anchor="ctr"/>
          <a:lstStyle/>
          <a:p>
            <a:pPr algn="ctr"/>
            <a:endParaRPr/>
          </a:p>
        </p:txBody>
      </p:sp>
      <p:sp>
        <p:nvSpPr>
          <p:cNvPr id="48" name="TextBox 47"/>
          <p:cNvSpPr txBox="1"/>
          <p:nvPr/>
        </p:nvSpPr>
        <p:spPr>
          <a:xfrm>
            <a:off x="5577840" y="2560320"/>
            <a:ext cx="2926080" cy="1463040"/>
          </a:xfrm>
          <a:prstGeom prst="rect">
            <a:avLst/>
          </a:prstGeom>
          <a:noFill/>
        </p:spPr>
        <p:txBody>
          <a:bodyPr wrap="square" lIns="0" tIns="0" rIns="0" bIns="0" anchor="t">
            <a:noAutofit/>
          </a:bodyPr>
          <a:lstStyle/>
          <a:p>
            <a:pPr algn="l">
              <a:spcAft>
                <a:spcPts val="400"/>
              </a:spcAft>
            </a:pPr>
            <a:r>
              <a:rPr sz="1300" b="1" i="0">
                <a:solidFill>
                  <a:srgbClr val="F2B705"/>
                </a:solidFill>
                <a:latin typeface="Swis721 Cn BT"/>
              </a:rPr>
              <a:t>Por qué importa</a:t>
            </a:r>
          </a:p>
          <a:p>
            <a:pPr marL="155448" indent="-155448" algn="l">
              <a:spcAft>
                <a:spcPts val="400"/>
              </a:spcAft>
              <a:buClr>
                <a:srgbClr val="F2B705"/>
              </a:buClr>
              <a:buFont typeface="Arial"/>
              <a:buChar char="•"/>
            </a:pPr>
            <a:r>
              <a:rPr sz="1150" b="0" i="0">
                <a:solidFill>
                  <a:srgbClr val="FFFFFF"/>
                </a:solidFill>
                <a:latin typeface="Swis721 Cn BT"/>
              </a:rPr>
              <a:t>Entiende sinónimos y contexto, no solo palabras exactas.</a:t>
            </a:r>
          </a:p>
          <a:p>
            <a:pPr marL="155448" indent="-155448" algn="l">
              <a:spcAft>
                <a:spcPts val="400"/>
              </a:spcAft>
              <a:buClr>
                <a:srgbClr val="F2B705"/>
              </a:buClr>
              <a:buFont typeface="Arial"/>
              <a:buChar char="•"/>
            </a:pPr>
            <a:r>
              <a:rPr sz="1150" b="0" i="0">
                <a:solidFill>
                  <a:srgbClr val="FFFFFF"/>
                </a:solidFill>
                <a:latin typeface="Swis721 Cn BT"/>
              </a:rPr>
              <a:t>El español y la jerga local pueden rendir distinto según el modelo.</a:t>
            </a:r>
          </a:p>
          <a:p>
            <a:pPr marL="155448" indent="-155448" algn="l">
              <a:spcAft>
                <a:spcPts val="400"/>
              </a:spcAft>
              <a:buClr>
                <a:srgbClr val="F2B705"/>
              </a:buClr>
              <a:buFont typeface="Arial"/>
              <a:buChar char="•"/>
            </a:pPr>
            <a:r>
              <a:rPr sz="1150" b="0" i="0">
                <a:solidFill>
                  <a:srgbClr val="FFFFFF"/>
                </a:solidFill>
                <a:latin typeface="Swis721 Cn BT"/>
              </a:rPr>
              <a:t>Conviene probar tu prompt en más de una plataforma.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 atención: cada palabra se interpreta mirando a las demás</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 [8] Vaswani et al., 2017</a:t>
            </a:r>
          </a:p>
        </p:txBody>
      </p:sp>
      <p:pic>
        <p:nvPicPr>
          <p:cNvPr id="5" name="Picture 4" descr="atencion.png"/>
          <p:cNvPicPr>
            <a:picLocks noChangeAspect="1"/>
          </p:cNvPicPr>
          <p:nvPr/>
        </p:nvPicPr>
        <p:blipFill>
          <a:blip r:embed="rId3"/>
          <a:stretch>
            <a:fillRect/>
          </a:stretch>
        </p:blipFill>
        <p:spPr>
          <a:xfrm>
            <a:off x="502920" y="914400"/>
            <a:ext cx="5257800" cy="2593888"/>
          </a:xfrm>
          <a:prstGeom prst="rect">
            <a:avLst/>
          </a:prstGeom>
        </p:spPr>
      </p:pic>
      <p:sp>
        <p:nvSpPr>
          <p:cNvPr id="6" name="TextBox 5"/>
          <p:cNvSpPr txBox="1"/>
          <p:nvPr/>
        </p:nvSpPr>
        <p:spPr>
          <a:xfrm>
            <a:off x="502920" y="3581440"/>
            <a:ext cx="5257800" cy="411480"/>
          </a:xfrm>
          <a:prstGeom prst="rect">
            <a:avLst/>
          </a:prstGeom>
          <a:noFill/>
        </p:spPr>
        <p:txBody>
          <a:bodyPr wrap="square" lIns="0" tIns="0" rIns="0" bIns="0" anchor="t">
            <a:noAutofit/>
          </a:bodyPr>
          <a:lstStyle/>
          <a:p>
            <a:pPr algn="l">
              <a:spcAft>
                <a:spcPts val="0"/>
              </a:spcAft>
            </a:pPr>
            <a:r>
              <a:rPr sz="1050" b="0" i="1">
                <a:solidFill>
                  <a:srgbClr val="5B6B73"/>
                </a:solidFill>
                <a:latin typeface="Swis721 Cn BT"/>
              </a:rPr>
              <a:t>Pesos de atención ilustrativos. La flecha más gruesa marca la palabra que más «mira» la palabra «estaba».</a:t>
            </a:r>
          </a:p>
        </p:txBody>
      </p:sp>
      <p:sp>
        <p:nvSpPr>
          <p:cNvPr id="7" name="Rounded Rectangle 6"/>
          <p:cNvSpPr/>
          <p:nvPr/>
        </p:nvSpPr>
        <p:spPr>
          <a:xfrm>
            <a:off x="5989320" y="868680"/>
            <a:ext cx="2651759" cy="3200400"/>
          </a:xfrm>
          <a:prstGeom prst="roundRect">
            <a:avLst>
              <a:gd name="adj" fmla="val 4137"/>
            </a:avLst>
          </a:prstGeom>
          <a:solidFill>
            <a:srgbClr val="003C58"/>
          </a:solidFill>
          <a:ln>
            <a:noFill/>
          </a:ln>
        </p:spPr>
        <p:txBody>
          <a:bodyPr rtlCol="0" anchor="ctr"/>
          <a:lstStyle/>
          <a:p>
            <a:pPr algn="ctr"/>
            <a:endParaRPr/>
          </a:p>
        </p:txBody>
      </p:sp>
      <p:sp>
        <p:nvSpPr>
          <p:cNvPr id="8" name="TextBox 7"/>
          <p:cNvSpPr txBox="1"/>
          <p:nvPr/>
        </p:nvSpPr>
        <p:spPr>
          <a:xfrm>
            <a:off x="6199632" y="1033271"/>
            <a:ext cx="2286000" cy="2926080"/>
          </a:xfrm>
          <a:prstGeom prst="rect">
            <a:avLst/>
          </a:prstGeom>
          <a:noFill/>
        </p:spPr>
        <p:txBody>
          <a:bodyPr wrap="square" lIns="0" tIns="0" rIns="0" bIns="0" anchor="t">
            <a:noAutofit/>
          </a:bodyPr>
          <a:lstStyle/>
          <a:p>
            <a:pPr algn="l">
              <a:spcAft>
                <a:spcPts val="800"/>
              </a:spcAft>
            </a:pPr>
            <a:r>
              <a:rPr sz="1500" b="1" i="0">
                <a:solidFill>
                  <a:srgbClr val="F2B705"/>
                </a:solidFill>
                <a:latin typeface="Swis721 Cn BT"/>
              </a:rPr>
              <a:t>La atención</a:t>
            </a:r>
          </a:p>
          <a:p>
            <a:pPr algn="l">
              <a:spcAft>
                <a:spcPts val="800"/>
              </a:spcAft>
            </a:pPr>
            <a:r>
              <a:rPr sz="1200" b="0" i="0">
                <a:solidFill>
                  <a:srgbClr val="FFFFFF"/>
                </a:solidFill>
                <a:latin typeface="Swis721 Cn BT"/>
              </a:rPr>
              <a:t>Para interpretar «estaba», el modelo mira todas las palabras a la vez y pondera cuánto importa cada una.</a:t>
            </a:r>
          </a:p>
          <a:p>
            <a:pPr algn="l">
              <a:spcAft>
                <a:spcPts val="800"/>
              </a:spcAft>
            </a:pPr>
            <a:r>
              <a:rPr sz="1200" b="0" i="0">
                <a:solidFill>
                  <a:srgbClr val="FFFFFF"/>
                </a:solidFill>
                <a:latin typeface="Swis721 Cn BT"/>
              </a:rPr>
              <a:t>Con «incompleto» atiende a </a:t>
            </a:r>
            <a:r>
              <a:rPr sz="1200" b="1" i="0">
                <a:solidFill>
                  <a:srgbClr val="F2B705"/>
                </a:solidFill>
                <a:latin typeface="Swis721 Cn BT"/>
              </a:rPr>
              <a:t>registro</a:t>
            </a:r>
            <a:r>
              <a:rPr sz="1200" b="0" i="0">
                <a:solidFill>
                  <a:srgbClr val="FFFFFF"/>
                </a:solidFill>
                <a:latin typeface="Swis721 Cn BT"/>
              </a:rPr>
              <a:t>; con «cansada», a </a:t>
            </a:r>
            <a:r>
              <a:rPr sz="1200" b="1" i="0">
                <a:solidFill>
                  <a:srgbClr val="F2B705"/>
                </a:solidFill>
                <a:latin typeface="Swis721 Cn BT"/>
              </a:rPr>
              <a:t>matrona</a:t>
            </a:r>
            <a:r>
              <a:rPr sz="1200" b="0" i="0">
                <a:solidFill>
                  <a:srgbClr val="FFFFFF"/>
                </a:solidFill>
                <a:latin typeface="Swis721 Cn BT"/>
              </a:rPr>
              <a:t>.</a:t>
            </a:r>
          </a:p>
          <a:p>
            <a:pPr algn="l">
              <a:spcAft>
                <a:spcPts val="0"/>
              </a:spcAft>
            </a:pPr>
            <a:r>
              <a:rPr sz="1200" b="0" i="0">
                <a:solidFill>
                  <a:srgbClr val="FFFFFF"/>
                </a:solidFill>
                <a:latin typeface="Swis721 Cn BT"/>
              </a:rPr>
              <a:t>Este mecanismo, el </a:t>
            </a:r>
            <a:r>
              <a:rPr sz="1200" b="1" i="0">
                <a:solidFill>
                  <a:srgbClr val="FFFFFF"/>
                </a:solidFill>
                <a:latin typeface="Swis721 Cn BT"/>
              </a:rPr>
              <a:t>Transformer</a:t>
            </a:r>
            <a:r>
              <a:rPr sz="1200" b="0" i="0">
                <a:solidFill>
                  <a:srgbClr val="FFFFFF"/>
                </a:solidFill>
                <a:latin typeface="Swis721 Cn BT"/>
              </a:rPr>
              <a:t> (2017), es la base común de ChatGPT, Gemini, Claude, DeepSeek, Qwen y Llama.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 modelo de lenguaje predice lo más probable, no lo verdadero</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[9] Chelli et al., 2024 · [10] Ayala-Yáñez et al., 2026</a:t>
            </a:r>
          </a:p>
        </p:txBody>
      </p:sp>
      <p:sp>
        <p:nvSpPr>
          <p:cNvPr id="5" name="Rounded Rectangle 4"/>
          <p:cNvSpPr/>
          <p:nvPr/>
        </p:nvSpPr>
        <p:spPr>
          <a:xfrm>
            <a:off x="502920" y="868680"/>
            <a:ext cx="4343400" cy="502920"/>
          </a:xfrm>
          <a:prstGeom prst="roundRect">
            <a:avLst>
              <a:gd name="adj" fmla="val 14545"/>
            </a:avLst>
          </a:prstGeom>
          <a:solidFill>
            <a:srgbClr val="E8F0F4"/>
          </a:solidFill>
          <a:ln>
            <a:noFill/>
          </a:ln>
        </p:spPr>
        <p:txBody>
          <a:bodyPr wrap="square" lIns="137160" tIns="73152" rIns="137160" bIns="73152" rtlCol="0" anchor="ctr">
            <a:noAutofit/>
          </a:bodyPr>
          <a:lstStyle/>
          <a:p>
            <a:pPr algn="l">
              <a:spcAft>
                <a:spcPts val="0"/>
              </a:spcAft>
            </a:pPr>
            <a:r>
              <a:rPr sz="1300" b="0" i="1">
                <a:solidFill>
                  <a:srgbClr val="003C58"/>
                </a:solidFill>
                <a:latin typeface="Swis721 Cn BT"/>
              </a:rPr>
              <a:t>«La frecuencia cardiaca fetal basal normal es de 110 a …»</a:t>
            </a:r>
          </a:p>
        </p:txBody>
      </p:sp>
      <p:graphicFrame>
        <p:nvGraphicFramePr>
          <p:cNvPr id="6" name="Chart 5"/>
          <p:cNvGraphicFramePr>
            <a:graphicFrameLocks noGrp="1"/>
          </p:cNvGraphicFramePr>
          <p:nvPr/>
        </p:nvGraphicFramePr>
        <p:xfrm>
          <a:off x="502920" y="1417320"/>
          <a:ext cx="434340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02920" y="3657600"/>
            <a:ext cx="4343400" cy="411480"/>
          </a:xfrm>
          <a:prstGeom prst="rect">
            <a:avLst/>
          </a:prstGeom>
          <a:noFill/>
        </p:spPr>
        <p:txBody>
          <a:bodyPr wrap="square" lIns="0" tIns="0" rIns="0" bIns="0" anchor="t">
            <a:noAutofit/>
          </a:bodyPr>
          <a:lstStyle/>
          <a:p>
            <a:pPr algn="l">
              <a:spcAft>
                <a:spcPts val="0"/>
              </a:spcAft>
            </a:pPr>
            <a:r>
              <a:rPr sz="1050" b="0" i="1">
                <a:solidFill>
                  <a:srgbClr val="5B6B73"/>
                </a:solidFill>
                <a:latin typeface="Swis721 Cn BT"/>
              </a:rPr>
              <a:t>Probabilidades ilustrativas. El modelo elige un token, lo agrega y repite.</a:t>
            </a:r>
          </a:p>
        </p:txBody>
      </p:sp>
      <p:sp>
        <p:nvSpPr>
          <p:cNvPr id="8" name="TextBox 7"/>
          <p:cNvSpPr txBox="1"/>
          <p:nvPr/>
        </p:nvSpPr>
        <p:spPr>
          <a:xfrm>
            <a:off x="5166360" y="868680"/>
            <a:ext cx="3474720" cy="320040"/>
          </a:xfrm>
          <a:prstGeom prst="rect">
            <a:avLst/>
          </a:prstGeom>
          <a:noFill/>
        </p:spPr>
        <p:txBody>
          <a:bodyPr wrap="square" lIns="0" tIns="0" rIns="0" bIns="0" anchor="t">
            <a:noAutofit/>
          </a:bodyPr>
          <a:lstStyle/>
          <a:p>
            <a:pPr algn="l">
              <a:spcAft>
                <a:spcPts val="0"/>
              </a:spcAft>
            </a:pPr>
            <a:r>
              <a:rPr sz="1500" b="1" i="0">
                <a:solidFill>
                  <a:srgbClr val="BF210C"/>
                </a:solidFill>
                <a:latin typeface="Swis721 Cn BT"/>
              </a:rPr>
              <a:t>Lo plausible no siempre es verdadero</a:t>
            </a:r>
          </a:p>
        </p:txBody>
      </p:sp>
      <p:sp>
        <p:nvSpPr>
          <p:cNvPr id="9" name="TextBox 8"/>
          <p:cNvSpPr txBox="1"/>
          <p:nvPr/>
        </p:nvSpPr>
        <p:spPr>
          <a:xfrm>
            <a:off x="5166360" y="1234440"/>
            <a:ext cx="3474720" cy="45720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Referencias inventadas al pedir bibliografía para revisiones sistemáticas:</a:t>
            </a:r>
          </a:p>
        </p:txBody>
      </p:sp>
      <p:sp>
        <p:nvSpPr>
          <p:cNvPr id="10" name="Rounded Rectangle 9"/>
          <p:cNvSpPr/>
          <p:nvPr/>
        </p:nvSpPr>
        <p:spPr>
          <a:xfrm>
            <a:off x="5166360" y="1755648"/>
            <a:ext cx="1069848" cy="914400"/>
          </a:xfrm>
          <a:prstGeom prst="roundRect">
            <a:avLst>
              <a:gd name="adj" fmla="val 10000"/>
            </a:avLst>
          </a:prstGeom>
          <a:solidFill>
            <a:srgbClr val="E8F0F4"/>
          </a:solidFill>
          <a:ln>
            <a:noFill/>
          </a:ln>
        </p:spPr>
        <p:txBody>
          <a:bodyPr rtlCol="0" anchor="ctr"/>
          <a:lstStyle/>
          <a:p>
            <a:pPr algn="ctr"/>
            <a:endParaRPr/>
          </a:p>
        </p:txBody>
      </p:sp>
      <p:sp>
        <p:nvSpPr>
          <p:cNvPr id="11" name="TextBox 10"/>
          <p:cNvSpPr txBox="1"/>
          <p:nvPr/>
        </p:nvSpPr>
        <p:spPr>
          <a:xfrm>
            <a:off x="5166360" y="1810512"/>
            <a:ext cx="1069848" cy="457200"/>
          </a:xfrm>
          <a:prstGeom prst="rect">
            <a:avLst/>
          </a:prstGeom>
          <a:noFill/>
        </p:spPr>
        <p:txBody>
          <a:bodyPr wrap="square" lIns="0" tIns="0" rIns="0" bIns="0" anchor="t">
            <a:noAutofit/>
          </a:bodyPr>
          <a:lstStyle/>
          <a:p>
            <a:pPr algn="ctr">
              <a:spcAft>
                <a:spcPts val="0"/>
              </a:spcAft>
            </a:pPr>
            <a:r>
              <a:rPr sz="2000" b="1" i="0">
                <a:solidFill>
                  <a:srgbClr val="003C58"/>
                </a:solidFill>
                <a:latin typeface="Swis721 Cn BT"/>
              </a:rPr>
              <a:t>39,6 %</a:t>
            </a:r>
          </a:p>
        </p:txBody>
      </p:sp>
      <p:sp>
        <p:nvSpPr>
          <p:cNvPr id="12" name="TextBox 11"/>
          <p:cNvSpPr txBox="1"/>
          <p:nvPr/>
        </p:nvSpPr>
        <p:spPr>
          <a:xfrm>
            <a:off x="5166360" y="2286000"/>
            <a:ext cx="1069848" cy="274320"/>
          </a:xfrm>
          <a:prstGeom prst="rect">
            <a:avLst/>
          </a:prstGeom>
          <a:noFill/>
        </p:spPr>
        <p:txBody>
          <a:bodyPr wrap="square" lIns="0" tIns="0" rIns="0" bIns="0" anchor="t">
            <a:noAutofit/>
          </a:bodyPr>
          <a:lstStyle/>
          <a:p>
            <a:pPr algn="ctr">
              <a:spcAft>
                <a:spcPts val="0"/>
              </a:spcAft>
            </a:pPr>
            <a:r>
              <a:rPr sz="1100" b="0" i="0">
                <a:solidFill>
                  <a:srgbClr val="5B6B73"/>
                </a:solidFill>
                <a:latin typeface="Swis721 Cn BT"/>
              </a:rPr>
              <a:t>GPT-3.5</a:t>
            </a:r>
          </a:p>
        </p:txBody>
      </p:sp>
      <p:sp>
        <p:nvSpPr>
          <p:cNvPr id="13" name="Rounded Rectangle 12"/>
          <p:cNvSpPr/>
          <p:nvPr/>
        </p:nvSpPr>
        <p:spPr>
          <a:xfrm>
            <a:off x="6327648" y="1755648"/>
            <a:ext cx="1069848" cy="914400"/>
          </a:xfrm>
          <a:prstGeom prst="roundRect">
            <a:avLst>
              <a:gd name="adj" fmla="val 10000"/>
            </a:avLst>
          </a:prstGeom>
          <a:solidFill>
            <a:srgbClr val="E8F0F4"/>
          </a:solidFill>
          <a:ln>
            <a:noFill/>
          </a:ln>
        </p:spPr>
        <p:txBody>
          <a:bodyPr rtlCol="0" anchor="ctr"/>
          <a:lstStyle/>
          <a:p>
            <a:pPr algn="ctr"/>
            <a:endParaRPr/>
          </a:p>
        </p:txBody>
      </p:sp>
      <p:sp>
        <p:nvSpPr>
          <p:cNvPr id="14" name="TextBox 13"/>
          <p:cNvSpPr txBox="1"/>
          <p:nvPr/>
        </p:nvSpPr>
        <p:spPr>
          <a:xfrm>
            <a:off x="6327648" y="1810512"/>
            <a:ext cx="1069848" cy="457200"/>
          </a:xfrm>
          <a:prstGeom prst="rect">
            <a:avLst/>
          </a:prstGeom>
          <a:noFill/>
        </p:spPr>
        <p:txBody>
          <a:bodyPr wrap="square" lIns="0" tIns="0" rIns="0" bIns="0" anchor="t">
            <a:noAutofit/>
          </a:bodyPr>
          <a:lstStyle/>
          <a:p>
            <a:pPr algn="ctr">
              <a:spcAft>
                <a:spcPts val="0"/>
              </a:spcAft>
            </a:pPr>
            <a:r>
              <a:rPr sz="2000" b="1" i="0">
                <a:solidFill>
                  <a:srgbClr val="003C58"/>
                </a:solidFill>
                <a:latin typeface="Swis721 Cn BT"/>
              </a:rPr>
              <a:t>28,6 %</a:t>
            </a:r>
          </a:p>
        </p:txBody>
      </p:sp>
      <p:sp>
        <p:nvSpPr>
          <p:cNvPr id="15" name="TextBox 14"/>
          <p:cNvSpPr txBox="1"/>
          <p:nvPr/>
        </p:nvSpPr>
        <p:spPr>
          <a:xfrm>
            <a:off x="6327648" y="2286000"/>
            <a:ext cx="1069848" cy="274320"/>
          </a:xfrm>
          <a:prstGeom prst="rect">
            <a:avLst/>
          </a:prstGeom>
          <a:noFill/>
        </p:spPr>
        <p:txBody>
          <a:bodyPr wrap="square" lIns="0" tIns="0" rIns="0" bIns="0" anchor="t">
            <a:noAutofit/>
          </a:bodyPr>
          <a:lstStyle/>
          <a:p>
            <a:pPr algn="ctr">
              <a:spcAft>
                <a:spcPts val="0"/>
              </a:spcAft>
            </a:pPr>
            <a:r>
              <a:rPr sz="1100" b="0" i="0">
                <a:solidFill>
                  <a:srgbClr val="5B6B73"/>
                </a:solidFill>
                <a:latin typeface="Swis721 Cn BT"/>
              </a:rPr>
              <a:t>GPT-4</a:t>
            </a:r>
          </a:p>
        </p:txBody>
      </p:sp>
      <p:sp>
        <p:nvSpPr>
          <p:cNvPr id="16" name="Rounded Rectangle 15"/>
          <p:cNvSpPr/>
          <p:nvPr/>
        </p:nvSpPr>
        <p:spPr>
          <a:xfrm>
            <a:off x="7488936" y="1755648"/>
            <a:ext cx="1069848" cy="914400"/>
          </a:xfrm>
          <a:prstGeom prst="roundRect">
            <a:avLst>
              <a:gd name="adj" fmla="val 10000"/>
            </a:avLst>
          </a:prstGeom>
          <a:solidFill>
            <a:srgbClr val="E8F0F4"/>
          </a:solidFill>
          <a:ln>
            <a:noFill/>
          </a:ln>
        </p:spPr>
        <p:txBody>
          <a:bodyPr rtlCol="0" anchor="ctr"/>
          <a:lstStyle/>
          <a:p>
            <a:pPr algn="ctr"/>
            <a:endParaRPr/>
          </a:p>
        </p:txBody>
      </p:sp>
      <p:sp>
        <p:nvSpPr>
          <p:cNvPr id="17" name="TextBox 16"/>
          <p:cNvSpPr txBox="1"/>
          <p:nvPr/>
        </p:nvSpPr>
        <p:spPr>
          <a:xfrm>
            <a:off x="7488936" y="1810512"/>
            <a:ext cx="1069848" cy="457200"/>
          </a:xfrm>
          <a:prstGeom prst="rect">
            <a:avLst/>
          </a:prstGeom>
          <a:noFill/>
        </p:spPr>
        <p:txBody>
          <a:bodyPr wrap="square" lIns="0" tIns="0" rIns="0" bIns="0" anchor="t">
            <a:noAutofit/>
          </a:bodyPr>
          <a:lstStyle/>
          <a:p>
            <a:pPr algn="ctr">
              <a:spcAft>
                <a:spcPts val="0"/>
              </a:spcAft>
            </a:pPr>
            <a:r>
              <a:rPr sz="2000" b="1" i="0">
                <a:solidFill>
                  <a:srgbClr val="BF210C"/>
                </a:solidFill>
                <a:latin typeface="Swis721 Cn BT"/>
              </a:rPr>
              <a:t>91,4 %</a:t>
            </a:r>
          </a:p>
        </p:txBody>
      </p:sp>
      <p:sp>
        <p:nvSpPr>
          <p:cNvPr id="18" name="TextBox 17"/>
          <p:cNvSpPr txBox="1"/>
          <p:nvPr/>
        </p:nvSpPr>
        <p:spPr>
          <a:xfrm>
            <a:off x="7488936" y="2286000"/>
            <a:ext cx="1069848" cy="274320"/>
          </a:xfrm>
          <a:prstGeom prst="rect">
            <a:avLst/>
          </a:prstGeom>
          <a:noFill/>
        </p:spPr>
        <p:txBody>
          <a:bodyPr wrap="square" lIns="0" tIns="0" rIns="0" bIns="0" anchor="t">
            <a:noAutofit/>
          </a:bodyPr>
          <a:lstStyle/>
          <a:p>
            <a:pPr algn="ctr">
              <a:spcAft>
                <a:spcPts val="0"/>
              </a:spcAft>
            </a:pPr>
            <a:r>
              <a:rPr sz="1100" b="0" i="0">
                <a:solidFill>
                  <a:srgbClr val="5B6B73"/>
                </a:solidFill>
                <a:latin typeface="Swis721 Cn BT"/>
              </a:rPr>
              <a:t>Bard</a:t>
            </a:r>
          </a:p>
        </p:txBody>
      </p:sp>
      <p:sp>
        <p:nvSpPr>
          <p:cNvPr id="19" name="TextBox 18"/>
          <p:cNvSpPr txBox="1"/>
          <p:nvPr/>
        </p:nvSpPr>
        <p:spPr>
          <a:xfrm>
            <a:off x="5166360" y="2743200"/>
            <a:ext cx="3474720" cy="411480"/>
          </a:xfrm>
          <a:prstGeom prst="rect">
            <a:avLst/>
          </a:prstGeom>
          <a:noFill/>
        </p:spPr>
        <p:txBody>
          <a:bodyPr wrap="square" lIns="0" tIns="0" rIns="0" bIns="0" anchor="t">
            <a:noAutofit/>
          </a:bodyPr>
          <a:lstStyle/>
          <a:p>
            <a:pPr algn="l">
              <a:spcAft>
                <a:spcPts val="0"/>
              </a:spcAft>
            </a:pPr>
            <a:r>
              <a:rPr sz="1050" b="0" i="1">
                <a:solidFill>
                  <a:srgbClr val="5B6B73"/>
                </a:solidFill>
                <a:latin typeface="Swis721 Cn BT"/>
              </a:rPr>
              <a:t>Modelos de 2023. En 2025, una plataforma aún inventó 3 de 6 citas en un tema perinatal.</a:t>
            </a:r>
          </a:p>
        </p:txBody>
      </p:sp>
      <p:sp>
        <p:nvSpPr>
          <p:cNvPr id="20" name="Rounded Rectangle 19"/>
          <p:cNvSpPr/>
          <p:nvPr/>
        </p:nvSpPr>
        <p:spPr>
          <a:xfrm>
            <a:off x="5166360" y="3310128"/>
            <a:ext cx="3474720" cy="758952"/>
          </a:xfrm>
          <a:prstGeom prst="roundRect">
            <a:avLst>
              <a:gd name="adj" fmla="val 9638"/>
            </a:avLst>
          </a:prstGeom>
          <a:solidFill>
            <a:srgbClr val="FFF3C4"/>
          </a:solidFill>
          <a:ln>
            <a:noFill/>
          </a:ln>
        </p:spPr>
        <p:txBody>
          <a:bodyPr wrap="square" lIns="137160" tIns="73152" rIns="137160" bIns="73152" rtlCol="0" anchor="ctr">
            <a:noAutofit/>
          </a:bodyPr>
          <a:lstStyle/>
          <a:p>
            <a:pPr algn="l">
              <a:spcAft>
                <a:spcPts val="0"/>
              </a:spcAft>
            </a:pPr>
            <a:r>
              <a:rPr sz="1300" b="1" i="0">
                <a:solidFill>
                  <a:srgbClr val="1F2A30"/>
                </a:solidFill>
                <a:latin typeface="Swis721 Cn BT"/>
              </a:rPr>
              <a:t>Regla de oro:</a:t>
            </a:r>
            <a:r>
              <a:rPr sz="1300" b="0" i="0">
                <a:solidFill>
                  <a:srgbClr val="1F2A30"/>
                </a:solidFill>
                <a:latin typeface="Swis721 Cn BT"/>
              </a:rPr>
              <a:t> toda referencia se verifica por su DOI antes de usarla.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Sección 2 de 5</a:t>
            </a:r>
          </a:p>
        </p:txBody>
      </p:sp>
      <p:sp>
        <p:nvSpPr>
          <p:cNvPr id="3" name="TextBox 2"/>
          <p:cNvSpPr txBox="1"/>
          <p:nvPr/>
        </p:nvSpPr>
        <p:spPr>
          <a:xfrm>
            <a:off x="594360" y="960120"/>
            <a:ext cx="1737360" cy="1188720"/>
          </a:xfrm>
          <a:prstGeom prst="rect">
            <a:avLst/>
          </a:prstGeom>
          <a:noFill/>
        </p:spPr>
        <p:txBody>
          <a:bodyPr wrap="square" lIns="0" tIns="0" rIns="0" bIns="0" anchor="t">
            <a:noAutofit/>
          </a:bodyPr>
          <a:lstStyle/>
          <a:p>
            <a:pPr algn="l">
              <a:spcAft>
                <a:spcPts val="0"/>
              </a:spcAft>
            </a:pPr>
            <a:r>
              <a:rPr sz="8000" b="1" i="0">
                <a:solidFill>
                  <a:srgbClr val="BF210C"/>
                </a:solidFill>
                <a:latin typeface="Swis721 Cn BT"/>
              </a:rPr>
              <a:t>02</a:t>
            </a:r>
          </a:p>
        </p:txBody>
      </p:sp>
      <p:sp>
        <p:nvSpPr>
          <p:cNvPr id="4" name="Oval 3"/>
          <p:cNvSpPr/>
          <p:nvPr/>
        </p:nvSpPr>
        <p:spPr>
          <a:xfrm>
            <a:off x="822959" y="2514600"/>
            <a:ext cx="1005840" cy="1005840"/>
          </a:xfrm>
          <a:prstGeom prst="ellipse">
            <a:avLst/>
          </a:prstGeom>
          <a:solidFill>
            <a:srgbClr val="06717E"/>
          </a:solidFill>
          <a:ln>
            <a:noFill/>
          </a:ln>
        </p:spPr>
        <p:txBody>
          <a:bodyPr rtlCol="0" anchor="ctr"/>
          <a:lstStyle/>
          <a:p>
            <a:pPr algn="ctr"/>
            <a:endParaRPr/>
          </a:p>
        </p:txBody>
      </p:sp>
      <p:pic>
        <p:nvPicPr>
          <p:cNvPr id="5" name="Picture 4" descr="MdHub_blanco.png"/>
          <p:cNvPicPr>
            <a:picLocks noChangeAspect="1"/>
          </p:cNvPicPr>
          <p:nvPr/>
        </p:nvPicPr>
        <p:blipFill>
          <a:blip r:embed="rId3"/>
          <a:stretch>
            <a:fillRect/>
          </a:stretch>
        </p:blipFill>
        <p:spPr>
          <a:xfrm>
            <a:off x="1034186" y="2725826"/>
            <a:ext cx="583387" cy="583387"/>
          </a:xfrm>
          <a:prstGeom prst="rect">
            <a:avLst/>
          </a:prstGeom>
        </p:spPr>
      </p:pic>
      <p:sp>
        <p:nvSpPr>
          <p:cNvPr id="6" name="TextBox 5"/>
          <p:cNvSpPr txBox="1"/>
          <p:nvPr/>
        </p:nvSpPr>
        <p:spPr>
          <a:xfrm>
            <a:off x="2606040" y="868680"/>
            <a:ext cx="6035040" cy="822960"/>
          </a:xfrm>
          <a:prstGeom prst="rect">
            <a:avLst/>
          </a:prstGeom>
          <a:noFill/>
        </p:spPr>
        <p:txBody>
          <a:bodyPr wrap="square" lIns="0" tIns="0" rIns="0" bIns="0" anchor="b">
            <a:noAutofit/>
          </a:bodyPr>
          <a:lstStyle/>
          <a:p>
            <a:pPr algn="l">
              <a:spcAft>
                <a:spcPts val="0"/>
              </a:spcAft>
            </a:pPr>
            <a:r>
              <a:rPr sz="2600" b="1" i="0">
                <a:solidFill>
                  <a:srgbClr val="003C58"/>
                </a:solidFill>
                <a:latin typeface="Swis721 Cn BT"/>
              </a:rPr>
              <a:t>Plataformas: mismo motor, distintos vehículos</a:t>
            </a:r>
          </a:p>
        </p:txBody>
      </p:sp>
      <p:sp>
        <p:nvSpPr>
          <p:cNvPr id="7" name="TextBox 6"/>
          <p:cNvSpPr txBox="1"/>
          <p:nvPr/>
        </p:nvSpPr>
        <p:spPr>
          <a:xfrm>
            <a:off x="2606040" y="1755648"/>
            <a:ext cx="6035040" cy="658368"/>
          </a:xfrm>
          <a:prstGeom prst="rect">
            <a:avLst/>
          </a:prstGeom>
          <a:noFill/>
        </p:spPr>
        <p:txBody>
          <a:bodyPr wrap="square" lIns="0" tIns="0" rIns="0" bIns="0" anchor="t">
            <a:noAutofit/>
          </a:bodyPr>
          <a:lstStyle/>
          <a:p>
            <a:pPr algn="l">
              <a:spcAft>
                <a:spcPts val="0"/>
              </a:spcAft>
            </a:pPr>
            <a:r>
              <a:rPr sz="1600" b="0" i="1">
                <a:solidFill>
                  <a:srgbClr val="2F6E8C"/>
                </a:solidFill>
                <a:latin typeface="Swis721 Cn BT"/>
              </a:rPr>
              <a:t>¿ChatGPT, Gemini, Claude o DeepSeek?</a:t>
            </a:r>
          </a:p>
        </p:txBody>
      </p:sp>
      <p:sp>
        <p:nvSpPr>
          <p:cNvPr id="8" name="TextBox 7"/>
          <p:cNvSpPr txBox="1"/>
          <p:nvPr/>
        </p:nvSpPr>
        <p:spPr>
          <a:xfrm>
            <a:off x="2606040" y="2487168"/>
            <a:ext cx="6035040" cy="274320"/>
          </a:xfrm>
          <a:prstGeom prst="rect">
            <a:avLst/>
          </a:prstGeom>
          <a:noFill/>
        </p:spPr>
        <p:txBody>
          <a:bodyPr wrap="square" lIns="0" tIns="0" rIns="0" bIns="0" anchor="t">
            <a:noAutofit/>
          </a:bodyPr>
          <a:lstStyle/>
          <a:p>
            <a:pPr algn="l">
              <a:spcAft>
                <a:spcPts val="0"/>
              </a:spcAft>
            </a:pPr>
            <a:r>
              <a:rPr sz="1200" b="1" i="0">
                <a:solidFill>
                  <a:srgbClr val="5B6B73"/>
                </a:solidFill>
                <a:latin typeface="Swis721 Cn BT"/>
              </a:rPr>
              <a:t>En esta sección</a:t>
            </a:r>
          </a:p>
        </p:txBody>
      </p:sp>
      <p:sp>
        <p:nvSpPr>
          <p:cNvPr id="9" name="Oval 8"/>
          <p:cNvSpPr/>
          <p:nvPr/>
        </p:nvSpPr>
        <p:spPr>
          <a:xfrm>
            <a:off x="2633472" y="2871215"/>
            <a:ext cx="118872" cy="118872"/>
          </a:xfrm>
          <a:prstGeom prst="ellipse">
            <a:avLst/>
          </a:prstGeom>
          <a:solidFill>
            <a:srgbClr val="C00000"/>
          </a:solidFill>
          <a:ln>
            <a:noFill/>
          </a:ln>
        </p:spPr>
        <p:txBody>
          <a:bodyPr rtlCol="0" anchor="ctr"/>
          <a:lstStyle/>
          <a:p>
            <a:pPr algn="ctr"/>
            <a:endParaRPr/>
          </a:p>
        </p:txBody>
      </p:sp>
      <p:sp>
        <p:nvSpPr>
          <p:cNvPr id="10" name="TextBox 9"/>
          <p:cNvSpPr txBox="1"/>
          <p:nvPr/>
        </p:nvSpPr>
        <p:spPr>
          <a:xfrm>
            <a:off x="2880360" y="2788920"/>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Cómo se construye un asistente</a:t>
            </a:r>
          </a:p>
        </p:txBody>
      </p:sp>
      <p:sp>
        <p:nvSpPr>
          <p:cNvPr id="11" name="Oval 10"/>
          <p:cNvSpPr/>
          <p:nvPr/>
        </p:nvSpPr>
        <p:spPr>
          <a:xfrm>
            <a:off x="2633472" y="3182111"/>
            <a:ext cx="118872" cy="118872"/>
          </a:xfrm>
          <a:prstGeom prst="ellipse">
            <a:avLst/>
          </a:prstGeom>
          <a:solidFill>
            <a:srgbClr val="C00000"/>
          </a:solidFill>
          <a:ln>
            <a:noFill/>
          </a:ln>
        </p:spPr>
        <p:txBody>
          <a:bodyPr rtlCol="0" anchor="ctr"/>
          <a:lstStyle/>
          <a:p>
            <a:pPr algn="ctr"/>
            <a:endParaRPr/>
          </a:p>
        </p:txBody>
      </p:sp>
      <p:sp>
        <p:nvSpPr>
          <p:cNvPr id="12" name="TextBox 11"/>
          <p:cNvSpPr txBox="1"/>
          <p:nvPr/>
        </p:nvSpPr>
        <p:spPr>
          <a:xfrm>
            <a:off x="2880360" y="3099815"/>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Rasgos documentados de cada plataforma</a:t>
            </a:r>
          </a:p>
        </p:txBody>
      </p:sp>
      <p:sp>
        <p:nvSpPr>
          <p:cNvPr id="13" name="Oval 12"/>
          <p:cNvSpPr/>
          <p:nvPr/>
        </p:nvSpPr>
        <p:spPr>
          <a:xfrm>
            <a:off x="2633472" y="3493008"/>
            <a:ext cx="118872" cy="118872"/>
          </a:xfrm>
          <a:prstGeom prst="ellipse">
            <a:avLst/>
          </a:prstGeom>
          <a:solidFill>
            <a:srgbClr val="C00000"/>
          </a:solidFill>
          <a:ln>
            <a:noFill/>
          </a:ln>
        </p:spPr>
        <p:txBody>
          <a:bodyPr rtlCol="0" anchor="ctr"/>
          <a:lstStyle/>
          <a:p>
            <a:pPr algn="ctr"/>
            <a:endParaRPr/>
          </a:p>
        </p:txBody>
      </p:sp>
      <p:sp>
        <p:nvSpPr>
          <p:cNvPr id="14" name="TextBox 13"/>
          <p:cNvSpPr txBox="1"/>
          <p:nvPr/>
        </p:nvSpPr>
        <p:spPr>
          <a:xfrm>
            <a:off x="2880360" y="3410712"/>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Alternativas abiertas, incluidas las chinas</a:t>
            </a:r>
          </a:p>
        </p:txBody>
      </p:sp>
      <p:sp>
        <p:nvSpPr>
          <p:cNvPr id="15" name="Oval 14"/>
          <p:cNvSpPr/>
          <p:nvPr/>
        </p:nvSpPr>
        <p:spPr>
          <a:xfrm>
            <a:off x="2633472" y="3803904"/>
            <a:ext cx="118872" cy="118872"/>
          </a:xfrm>
          <a:prstGeom prst="ellipse">
            <a:avLst/>
          </a:prstGeom>
          <a:solidFill>
            <a:srgbClr val="C00000"/>
          </a:solidFill>
          <a:ln>
            <a:noFill/>
          </a:ln>
        </p:spPr>
        <p:txBody>
          <a:bodyPr rtlCol="0" anchor="ctr"/>
          <a:lstStyle/>
          <a:p>
            <a:pPr algn="ctr"/>
            <a:endParaRPr/>
          </a:p>
        </p:txBody>
      </p:sp>
      <p:sp>
        <p:nvSpPr>
          <p:cNvPr id="16" name="TextBox 15"/>
          <p:cNvSpPr txBox="1"/>
          <p:nvPr/>
        </p:nvSpPr>
        <p:spPr>
          <a:xfrm>
            <a:off x="2880360" y="3721608"/>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Qué dice la evidencia al compararlas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Cómo se construye un asistente como ChatGPT, Gemini o Claude</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[11] Ouyang et al., 2022 · [12] Singhal et al., 2025 · [13] Guo et al., 2025 · [7] Omiye et al., 2024</a:t>
            </a:r>
          </a:p>
        </p:txBody>
      </p:sp>
      <p:sp>
        <p:nvSpPr>
          <p:cNvPr id="5" name="Rounded Rectangle 4"/>
          <p:cNvSpPr/>
          <p:nvPr/>
        </p:nvSpPr>
        <p:spPr>
          <a:xfrm>
            <a:off x="502920" y="868680"/>
            <a:ext cx="2514600" cy="2331720"/>
          </a:xfrm>
          <a:prstGeom prst="roundRect">
            <a:avLst>
              <a:gd name="adj" fmla="val 4705"/>
            </a:avLst>
          </a:prstGeom>
          <a:solidFill>
            <a:srgbClr val="E8F0F4"/>
          </a:solidFill>
          <a:ln>
            <a:noFill/>
          </a:ln>
        </p:spPr>
        <p:txBody>
          <a:bodyPr rtlCol="0" anchor="ctr"/>
          <a:lstStyle/>
          <a:p>
            <a:pPr algn="ctr"/>
            <a:endParaRPr/>
          </a:p>
        </p:txBody>
      </p:sp>
      <p:sp>
        <p:nvSpPr>
          <p:cNvPr id="6" name="Oval 5"/>
          <p:cNvSpPr/>
          <p:nvPr/>
        </p:nvSpPr>
        <p:spPr>
          <a:xfrm>
            <a:off x="667512" y="1033271"/>
            <a:ext cx="548640" cy="548640"/>
          </a:xfrm>
          <a:prstGeom prst="ellipse">
            <a:avLst/>
          </a:prstGeom>
          <a:solidFill>
            <a:srgbClr val="003C58"/>
          </a:solidFill>
          <a:ln>
            <a:noFill/>
          </a:ln>
        </p:spPr>
        <p:txBody>
          <a:bodyPr rtlCol="0" anchor="ctr"/>
          <a:lstStyle/>
          <a:p>
            <a:pPr algn="ctr"/>
            <a:endParaRPr/>
          </a:p>
        </p:txBody>
      </p:sp>
      <p:pic>
        <p:nvPicPr>
          <p:cNvPr id="7" name="Picture 6" descr="MdLibraryBooks_blanco.png"/>
          <p:cNvPicPr>
            <a:picLocks noChangeAspect="1"/>
          </p:cNvPicPr>
          <p:nvPr/>
        </p:nvPicPr>
        <p:blipFill>
          <a:blip r:embed="rId3"/>
          <a:stretch>
            <a:fillRect/>
          </a:stretch>
        </p:blipFill>
        <p:spPr>
          <a:xfrm>
            <a:off x="782726" y="1148486"/>
            <a:ext cx="318211" cy="318211"/>
          </a:xfrm>
          <a:prstGeom prst="rect">
            <a:avLst/>
          </a:prstGeom>
        </p:spPr>
      </p:pic>
      <p:sp>
        <p:nvSpPr>
          <p:cNvPr id="8" name="Oval 7"/>
          <p:cNvSpPr/>
          <p:nvPr/>
        </p:nvSpPr>
        <p:spPr>
          <a:xfrm>
            <a:off x="1106424" y="923543"/>
            <a:ext cx="256032" cy="256032"/>
          </a:xfrm>
          <a:prstGeom prst="ellipse">
            <a:avLst/>
          </a:prstGeom>
          <a:solidFill>
            <a:srgbClr val="F2B705"/>
          </a:solidFill>
          <a:ln>
            <a:noFill/>
          </a:ln>
        </p:spPr>
        <p:txBody>
          <a:bodyPr lIns="0" tIns="0" rIns="0" bIns="0" rtlCol="0" anchor="ctr"/>
          <a:lstStyle/>
          <a:p>
            <a:pPr algn="ctr">
              <a:spcAft>
                <a:spcPts val="0"/>
              </a:spcAft>
            </a:pPr>
            <a:r>
              <a:rPr sz="1100" b="1" i="0">
                <a:solidFill>
                  <a:srgbClr val="1F2A30"/>
                </a:solidFill>
                <a:latin typeface="Swis721 Cn BT"/>
              </a:rPr>
              <a:t>1</a:t>
            </a:r>
          </a:p>
        </p:txBody>
      </p:sp>
      <p:sp>
        <p:nvSpPr>
          <p:cNvPr id="9" name="TextBox 8"/>
          <p:cNvSpPr txBox="1"/>
          <p:nvPr/>
        </p:nvSpPr>
        <p:spPr>
          <a:xfrm>
            <a:off x="1344168" y="1069848"/>
            <a:ext cx="1600200" cy="502920"/>
          </a:xfrm>
          <a:prstGeom prst="rect">
            <a:avLst/>
          </a:prstGeom>
          <a:noFill/>
        </p:spPr>
        <p:txBody>
          <a:bodyPr wrap="square" lIns="0" tIns="0" rIns="0" bIns="0" anchor="ctr">
            <a:noAutofit/>
          </a:bodyPr>
          <a:lstStyle/>
          <a:p>
            <a:pPr algn="l">
              <a:spcAft>
                <a:spcPts val="0"/>
              </a:spcAft>
            </a:pPr>
            <a:r>
              <a:rPr sz="1400" b="1" i="0">
                <a:solidFill>
                  <a:srgbClr val="003C58"/>
                </a:solidFill>
                <a:latin typeface="Swis721 Cn BT"/>
              </a:rPr>
              <a:t>Preentrenamiento</a:t>
            </a:r>
          </a:p>
        </p:txBody>
      </p:sp>
      <p:sp>
        <p:nvSpPr>
          <p:cNvPr id="10" name="TextBox 9"/>
          <p:cNvSpPr txBox="1"/>
          <p:nvPr/>
        </p:nvSpPr>
        <p:spPr>
          <a:xfrm>
            <a:off x="685800" y="1737360"/>
            <a:ext cx="2194560" cy="86868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Lee enormes cantidades de texto y aprende a predecir el siguiente token.</a:t>
            </a:r>
          </a:p>
        </p:txBody>
      </p:sp>
      <p:sp>
        <p:nvSpPr>
          <p:cNvPr id="11" name="TextBox 10"/>
          <p:cNvSpPr txBox="1"/>
          <p:nvPr/>
        </p:nvSpPr>
        <p:spPr>
          <a:xfrm>
            <a:off x="685800" y="2560320"/>
            <a:ext cx="2194560" cy="548640"/>
          </a:xfrm>
          <a:prstGeom prst="rect">
            <a:avLst/>
          </a:prstGeom>
          <a:noFill/>
        </p:spPr>
        <p:txBody>
          <a:bodyPr wrap="square" lIns="0" tIns="0" rIns="0" bIns="0" anchor="t">
            <a:noAutofit/>
          </a:bodyPr>
          <a:lstStyle/>
          <a:p>
            <a:pPr algn="l">
              <a:spcAft>
                <a:spcPts val="0"/>
              </a:spcAft>
            </a:pPr>
            <a:r>
              <a:rPr sz="1100" b="1" i="0">
                <a:solidFill>
                  <a:srgbClr val="003C58"/>
                </a:solidFill>
                <a:latin typeface="Swis721 Cn BT"/>
              </a:rPr>
              <a:t>Resultado:</a:t>
            </a:r>
            <a:r>
              <a:rPr sz="1100" b="0" i="0">
                <a:solidFill>
                  <a:srgbClr val="003C58"/>
                </a:solidFill>
                <a:latin typeface="Swis721 Cn BT"/>
              </a:rPr>
              <a:t> «Modelo base»: domina el lenguaje, pero no conversa.</a:t>
            </a:r>
          </a:p>
        </p:txBody>
      </p:sp>
      <p:cxnSp>
        <p:nvCxnSpPr>
          <p:cNvPr id="12" name="Connector 11"/>
          <p:cNvCxnSpPr/>
          <p:nvPr/>
        </p:nvCxnSpPr>
        <p:spPr>
          <a:xfrm>
            <a:off x="3035808" y="2029967"/>
            <a:ext cx="237744" cy="0"/>
          </a:xfrm>
          <a:prstGeom prst="line">
            <a:avLst/>
          </a:prstGeom>
          <a:ln w="31750">
            <a:solidFill>
              <a:srgbClr val="BF210C"/>
            </a:solidFill>
            <a:tailEnd type="triangle" w="med" len="med"/>
          </a:ln>
        </p:spPr>
      </p:cxnSp>
      <p:sp>
        <p:nvSpPr>
          <p:cNvPr id="13" name="Rounded Rectangle 12"/>
          <p:cNvSpPr/>
          <p:nvPr/>
        </p:nvSpPr>
        <p:spPr>
          <a:xfrm>
            <a:off x="3291839" y="868680"/>
            <a:ext cx="2514600" cy="2331720"/>
          </a:xfrm>
          <a:prstGeom prst="roundRect">
            <a:avLst>
              <a:gd name="adj" fmla="val 4705"/>
            </a:avLst>
          </a:prstGeom>
          <a:solidFill>
            <a:srgbClr val="E8F0F4"/>
          </a:solidFill>
          <a:ln>
            <a:noFill/>
          </a:ln>
        </p:spPr>
        <p:txBody>
          <a:bodyPr rtlCol="0" anchor="ctr"/>
          <a:lstStyle/>
          <a:p>
            <a:pPr algn="ctr"/>
            <a:endParaRPr/>
          </a:p>
        </p:txBody>
      </p:sp>
      <p:sp>
        <p:nvSpPr>
          <p:cNvPr id="14" name="Oval 13"/>
          <p:cNvSpPr/>
          <p:nvPr/>
        </p:nvSpPr>
        <p:spPr>
          <a:xfrm>
            <a:off x="3456432" y="1033271"/>
            <a:ext cx="548640" cy="548640"/>
          </a:xfrm>
          <a:prstGeom prst="ellipse">
            <a:avLst/>
          </a:prstGeom>
          <a:solidFill>
            <a:srgbClr val="BF210C"/>
          </a:solidFill>
          <a:ln>
            <a:noFill/>
          </a:ln>
        </p:spPr>
        <p:txBody>
          <a:bodyPr rtlCol="0" anchor="ctr"/>
          <a:lstStyle/>
          <a:p>
            <a:pPr algn="ctr"/>
            <a:endParaRPr/>
          </a:p>
        </p:txBody>
      </p:sp>
      <p:pic>
        <p:nvPicPr>
          <p:cNvPr id="15" name="Picture 14" descr="MdTune_blanco.png"/>
          <p:cNvPicPr>
            <a:picLocks noChangeAspect="1"/>
          </p:cNvPicPr>
          <p:nvPr/>
        </p:nvPicPr>
        <p:blipFill>
          <a:blip r:embed="rId4"/>
          <a:stretch>
            <a:fillRect/>
          </a:stretch>
        </p:blipFill>
        <p:spPr>
          <a:xfrm>
            <a:off x="3571646" y="1148486"/>
            <a:ext cx="318211" cy="318211"/>
          </a:xfrm>
          <a:prstGeom prst="rect">
            <a:avLst/>
          </a:prstGeom>
        </p:spPr>
      </p:pic>
      <p:sp>
        <p:nvSpPr>
          <p:cNvPr id="16" name="Oval 15"/>
          <p:cNvSpPr/>
          <p:nvPr/>
        </p:nvSpPr>
        <p:spPr>
          <a:xfrm>
            <a:off x="3895344" y="923543"/>
            <a:ext cx="256032" cy="256032"/>
          </a:xfrm>
          <a:prstGeom prst="ellipse">
            <a:avLst/>
          </a:prstGeom>
          <a:solidFill>
            <a:srgbClr val="F2B705"/>
          </a:solidFill>
          <a:ln>
            <a:noFill/>
          </a:ln>
        </p:spPr>
        <p:txBody>
          <a:bodyPr lIns="0" tIns="0" rIns="0" bIns="0" rtlCol="0" anchor="ctr"/>
          <a:lstStyle/>
          <a:p>
            <a:pPr algn="ctr">
              <a:spcAft>
                <a:spcPts val="0"/>
              </a:spcAft>
            </a:pPr>
            <a:r>
              <a:rPr sz="1100" b="1" i="0">
                <a:solidFill>
                  <a:srgbClr val="1F2A30"/>
                </a:solidFill>
                <a:latin typeface="Swis721 Cn BT"/>
              </a:rPr>
              <a:t>2</a:t>
            </a:r>
          </a:p>
        </p:txBody>
      </p:sp>
      <p:sp>
        <p:nvSpPr>
          <p:cNvPr id="17" name="TextBox 16"/>
          <p:cNvSpPr txBox="1"/>
          <p:nvPr/>
        </p:nvSpPr>
        <p:spPr>
          <a:xfrm>
            <a:off x="4133087" y="1069848"/>
            <a:ext cx="1600200" cy="502920"/>
          </a:xfrm>
          <a:prstGeom prst="rect">
            <a:avLst/>
          </a:prstGeom>
          <a:noFill/>
        </p:spPr>
        <p:txBody>
          <a:bodyPr wrap="square" lIns="0" tIns="0" rIns="0" bIns="0" anchor="ctr">
            <a:noAutofit/>
          </a:bodyPr>
          <a:lstStyle/>
          <a:p>
            <a:pPr algn="l">
              <a:spcAft>
                <a:spcPts val="0"/>
              </a:spcAft>
            </a:pPr>
            <a:r>
              <a:rPr sz="1400" b="1" i="0">
                <a:solidFill>
                  <a:srgbClr val="003C58"/>
                </a:solidFill>
                <a:latin typeface="Swis721 Cn BT"/>
              </a:rPr>
              <a:t>Ajuste y alineamiento</a:t>
            </a:r>
          </a:p>
        </p:txBody>
      </p:sp>
      <p:sp>
        <p:nvSpPr>
          <p:cNvPr id="18" name="TextBox 17"/>
          <p:cNvSpPr txBox="1"/>
          <p:nvPr/>
        </p:nvSpPr>
        <p:spPr>
          <a:xfrm>
            <a:off x="3474720" y="1737360"/>
            <a:ext cx="2194560" cy="86868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Aprende de ejemplos de instrucciones y de preferencias humanas. Puede especializarse con datos médicos.</a:t>
            </a:r>
          </a:p>
        </p:txBody>
      </p:sp>
      <p:sp>
        <p:nvSpPr>
          <p:cNvPr id="19" name="TextBox 18"/>
          <p:cNvSpPr txBox="1"/>
          <p:nvPr/>
        </p:nvSpPr>
        <p:spPr>
          <a:xfrm>
            <a:off x="3474720" y="2560320"/>
            <a:ext cx="2194560" cy="548640"/>
          </a:xfrm>
          <a:prstGeom prst="rect">
            <a:avLst/>
          </a:prstGeom>
          <a:noFill/>
        </p:spPr>
        <p:txBody>
          <a:bodyPr wrap="square" lIns="0" tIns="0" rIns="0" bIns="0" anchor="t">
            <a:noAutofit/>
          </a:bodyPr>
          <a:lstStyle/>
          <a:p>
            <a:pPr algn="l">
              <a:spcAft>
                <a:spcPts val="0"/>
              </a:spcAft>
            </a:pPr>
            <a:r>
              <a:rPr sz="1100" b="1" i="0">
                <a:solidFill>
                  <a:srgbClr val="003C58"/>
                </a:solidFill>
                <a:latin typeface="Swis721 Cn BT"/>
              </a:rPr>
              <a:t>Resultado:</a:t>
            </a:r>
            <a:r>
              <a:rPr sz="1100" b="0" i="0">
                <a:solidFill>
                  <a:srgbClr val="003C58"/>
                </a:solidFill>
                <a:latin typeface="Swis721 Cn BT"/>
              </a:rPr>
              <a:t> «Asistente» que sigue instrucciones.</a:t>
            </a:r>
          </a:p>
        </p:txBody>
      </p:sp>
      <p:cxnSp>
        <p:nvCxnSpPr>
          <p:cNvPr id="20" name="Connector 19"/>
          <p:cNvCxnSpPr/>
          <p:nvPr/>
        </p:nvCxnSpPr>
        <p:spPr>
          <a:xfrm>
            <a:off x="5824727" y="2029967"/>
            <a:ext cx="237744" cy="0"/>
          </a:xfrm>
          <a:prstGeom prst="line">
            <a:avLst/>
          </a:prstGeom>
          <a:ln w="31750">
            <a:solidFill>
              <a:srgbClr val="BF210C"/>
            </a:solidFill>
            <a:tailEnd type="triangle" w="med" len="med"/>
          </a:ln>
        </p:spPr>
      </p:cxnSp>
      <p:sp>
        <p:nvSpPr>
          <p:cNvPr id="21" name="Rounded Rectangle 20"/>
          <p:cNvSpPr/>
          <p:nvPr/>
        </p:nvSpPr>
        <p:spPr>
          <a:xfrm>
            <a:off x="6080759" y="868680"/>
            <a:ext cx="2514600" cy="2331720"/>
          </a:xfrm>
          <a:prstGeom prst="roundRect">
            <a:avLst>
              <a:gd name="adj" fmla="val 4705"/>
            </a:avLst>
          </a:prstGeom>
          <a:solidFill>
            <a:srgbClr val="E8F0F4"/>
          </a:solidFill>
          <a:ln>
            <a:noFill/>
          </a:ln>
        </p:spPr>
        <p:txBody>
          <a:bodyPr rtlCol="0" anchor="ctr"/>
          <a:lstStyle/>
          <a:p>
            <a:pPr algn="ctr"/>
            <a:endParaRPr/>
          </a:p>
        </p:txBody>
      </p:sp>
      <p:sp>
        <p:nvSpPr>
          <p:cNvPr id="22" name="Oval 21"/>
          <p:cNvSpPr/>
          <p:nvPr/>
        </p:nvSpPr>
        <p:spPr>
          <a:xfrm>
            <a:off x="6245351" y="1033271"/>
            <a:ext cx="548640" cy="548640"/>
          </a:xfrm>
          <a:prstGeom prst="ellipse">
            <a:avLst/>
          </a:prstGeom>
          <a:solidFill>
            <a:srgbClr val="06717E"/>
          </a:solidFill>
          <a:ln>
            <a:noFill/>
          </a:ln>
        </p:spPr>
        <p:txBody>
          <a:bodyPr rtlCol="0" anchor="ctr"/>
          <a:lstStyle/>
          <a:p>
            <a:pPr algn="ctr"/>
            <a:endParaRPr/>
          </a:p>
        </p:txBody>
      </p:sp>
      <p:pic>
        <p:nvPicPr>
          <p:cNvPr id="23" name="Picture 22" descr="MdBolt_blanco.png"/>
          <p:cNvPicPr>
            <a:picLocks noChangeAspect="1"/>
          </p:cNvPicPr>
          <p:nvPr/>
        </p:nvPicPr>
        <p:blipFill>
          <a:blip r:embed="rId5"/>
          <a:stretch>
            <a:fillRect/>
          </a:stretch>
        </p:blipFill>
        <p:spPr>
          <a:xfrm>
            <a:off x="6360566" y="1148486"/>
            <a:ext cx="318211" cy="318211"/>
          </a:xfrm>
          <a:prstGeom prst="rect">
            <a:avLst/>
          </a:prstGeom>
        </p:spPr>
      </p:pic>
      <p:sp>
        <p:nvSpPr>
          <p:cNvPr id="24" name="Oval 23"/>
          <p:cNvSpPr/>
          <p:nvPr/>
        </p:nvSpPr>
        <p:spPr>
          <a:xfrm>
            <a:off x="6684264" y="923543"/>
            <a:ext cx="256032" cy="256032"/>
          </a:xfrm>
          <a:prstGeom prst="ellipse">
            <a:avLst/>
          </a:prstGeom>
          <a:solidFill>
            <a:srgbClr val="F2B705"/>
          </a:solidFill>
          <a:ln>
            <a:noFill/>
          </a:ln>
        </p:spPr>
        <p:txBody>
          <a:bodyPr lIns="0" tIns="0" rIns="0" bIns="0" rtlCol="0" anchor="ctr"/>
          <a:lstStyle/>
          <a:p>
            <a:pPr algn="ctr">
              <a:spcAft>
                <a:spcPts val="0"/>
              </a:spcAft>
            </a:pPr>
            <a:r>
              <a:rPr sz="1100" b="1" i="0">
                <a:solidFill>
                  <a:srgbClr val="1F2A30"/>
                </a:solidFill>
                <a:latin typeface="Swis721 Cn BT"/>
              </a:rPr>
              <a:t>3</a:t>
            </a:r>
          </a:p>
        </p:txBody>
      </p:sp>
      <p:sp>
        <p:nvSpPr>
          <p:cNvPr id="25" name="TextBox 24"/>
          <p:cNvSpPr txBox="1"/>
          <p:nvPr/>
        </p:nvSpPr>
        <p:spPr>
          <a:xfrm>
            <a:off x="6922007" y="1069848"/>
            <a:ext cx="1600200" cy="502920"/>
          </a:xfrm>
          <a:prstGeom prst="rect">
            <a:avLst/>
          </a:prstGeom>
          <a:noFill/>
        </p:spPr>
        <p:txBody>
          <a:bodyPr wrap="square" lIns="0" tIns="0" rIns="0" bIns="0" anchor="ctr">
            <a:noAutofit/>
          </a:bodyPr>
          <a:lstStyle/>
          <a:p>
            <a:pPr algn="l">
              <a:spcAft>
                <a:spcPts val="0"/>
              </a:spcAft>
            </a:pPr>
            <a:r>
              <a:rPr sz="1400" b="1" i="0">
                <a:solidFill>
                  <a:srgbClr val="003C58"/>
                </a:solidFill>
                <a:latin typeface="Swis721 Cn BT"/>
              </a:rPr>
              <a:t>Herramientas y razonamiento</a:t>
            </a:r>
          </a:p>
        </p:txBody>
      </p:sp>
      <p:sp>
        <p:nvSpPr>
          <p:cNvPr id="26" name="TextBox 25"/>
          <p:cNvSpPr txBox="1"/>
          <p:nvPr/>
        </p:nvSpPr>
        <p:spPr>
          <a:xfrm>
            <a:off x="6263640" y="1737360"/>
            <a:ext cx="2194560" cy="86868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Se conecta a búsqueda web, archivos y código; algunos «piensan» paso a paso antes de responder.</a:t>
            </a:r>
          </a:p>
        </p:txBody>
      </p:sp>
      <p:sp>
        <p:nvSpPr>
          <p:cNvPr id="27" name="TextBox 26"/>
          <p:cNvSpPr txBox="1"/>
          <p:nvPr/>
        </p:nvSpPr>
        <p:spPr>
          <a:xfrm>
            <a:off x="6263640" y="2560320"/>
            <a:ext cx="2194560" cy="548640"/>
          </a:xfrm>
          <a:prstGeom prst="rect">
            <a:avLst/>
          </a:prstGeom>
          <a:noFill/>
        </p:spPr>
        <p:txBody>
          <a:bodyPr wrap="square" lIns="0" tIns="0" rIns="0" bIns="0" anchor="t">
            <a:noAutofit/>
          </a:bodyPr>
          <a:lstStyle/>
          <a:p>
            <a:pPr algn="l">
              <a:spcAft>
                <a:spcPts val="0"/>
              </a:spcAft>
            </a:pPr>
            <a:r>
              <a:rPr sz="1100" b="1" i="0">
                <a:solidFill>
                  <a:srgbClr val="003C58"/>
                </a:solidFill>
                <a:latin typeface="Swis721 Cn BT"/>
              </a:rPr>
              <a:t>Resultado:</a:t>
            </a:r>
            <a:r>
              <a:rPr sz="1100" b="0" i="0">
                <a:solidFill>
                  <a:srgbClr val="003C58"/>
                </a:solidFill>
                <a:latin typeface="Swis721 Cn BT"/>
              </a:rPr>
              <a:t> Asistente que actúa y razona, con errores posibles.</a:t>
            </a:r>
          </a:p>
        </p:txBody>
      </p:sp>
      <p:sp>
        <p:nvSpPr>
          <p:cNvPr id="28" name="Rounded Rectangle 27"/>
          <p:cNvSpPr/>
          <p:nvPr/>
        </p:nvSpPr>
        <p:spPr>
          <a:xfrm>
            <a:off x="502920" y="3383280"/>
            <a:ext cx="8138159" cy="685800"/>
          </a:xfrm>
          <a:prstGeom prst="roundRect">
            <a:avLst>
              <a:gd name="adj" fmla="val 13333"/>
            </a:avLst>
          </a:prstGeom>
          <a:solidFill>
            <a:srgbClr val="003C58"/>
          </a:solidFill>
          <a:ln>
            <a:noFill/>
          </a:ln>
        </p:spPr>
        <p:txBody>
          <a:bodyPr rtlCol="0" anchor="ctr"/>
          <a:lstStyle/>
          <a:p>
            <a:pPr algn="ctr"/>
            <a:endParaRPr/>
          </a:p>
        </p:txBody>
      </p:sp>
      <p:sp>
        <p:nvSpPr>
          <p:cNvPr id="29" name="TextBox 28"/>
          <p:cNvSpPr txBox="1"/>
          <p:nvPr/>
        </p:nvSpPr>
        <p:spPr>
          <a:xfrm>
            <a:off x="731520" y="3401568"/>
            <a:ext cx="7680960" cy="649224"/>
          </a:xfrm>
          <a:prstGeom prst="rect">
            <a:avLst/>
          </a:prstGeom>
          <a:noFill/>
        </p:spPr>
        <p:txBody>
          <a:bodyPr wrap="square" lIns="0" tIns="0" rIns="0" bIns="0" anchor="ctr">
            <a:noAutofit/>
          </a:bodyPr>
          <a:lstStyle/>
          <a:p>
            <a:pPr algn="l">
              <a:spcAft>
                <a:spcPts val="0"/>
              </a:spcAft>
            </a:pPr>
            <a:r>
              <a:rPr sz="1400" b="0" i="0">
                <a:solidFill>
                  <a:srgbClr val="FFFFFF"/>
                </a:solidFill>
                <a:latin typeface="Swis721 Cn BT"/>
              </a:rPr>
              <a:t>Todos comparten esta receta (Transformer + predicción de tokens + alineamiento). Por eso </a:t>
            </a:r>
            <a:r>
              <a:rPr sz="1400" b="1" i="0">
                <a:solidFill>
                  <a:srgbClr val="F2B705"/>
                </a:solidFill>
                <a:latin typeface="Swis721 Cn BT"/>
              </a:rPr>
              <a:t>un buen método funciona en cualquiera de ellos</a:t>
            </a:r>
            <a:r>
              <a:rPr sz="1400" b="0" i="0">
                <a:solidFill>
                  <a:srgbClr val="FFFFFF"/>
                </a:solidFill>
                <a:latin typeface="Swis721 Cn BT"/>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Cuatro plataformas: misma base, distintos énfasis</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[11] Ouyang et al., 2022 · [14] Gemini Team, 2023 · [15] Bai et al., 2022 · [13] Guo et al., 2025</a:t>
            </a:r>
          </a:p>
        </p:txBody>
      </p:sp>
      <p:sp>
        <p:nvSpPr>
          <p:cNvPr id="5" name="Rounded Rectangle 4"/>
          <p:cNvSpPr/>
          <p:nvPr/>
        </p:nvSpPr>
        <p:spPr>
          <a:xfrm>
            <a:off x="502920" y="868680"/>
            <a:ext cx="1920240" cy="3200400"/>
          </a:xfrm>
          <a:prstGeom prst="roundRect">
            <a:avLst>
              <a:gd name="adj" fmla="val 4761"/>
            </a:avLst>
          </a:prstGeom>
          <a:solidFill>
            <a:srgbClr val="E8F0F4"/>
          </a:solidFill>
          <a:ln>
            <a:noFill/>
          </a:ln>
        </p:spPr>
        <p:txBody>
          <a:bodyPr rtlCol="0" anchor="ctr"/>
          <a:lstStyle/>
          <a:p>
            <a:pPr algn="ctr"/>
            <a:endParaRPr/>
          </a:p>
        </p:txBody>
      </p:sp>
      <p:sp>
        <p:nvSpPr>
          <p:cNvPr id="6" name="Rounded Rectangle 5"/>
          <p:cNvSpPr/>
          <p:nvPr/>
        </p:nvSpPr>
        <p:spPr>
          <a:xfrm>
            <a:off x="502920" y="868680"/>
            <a:ext cx="1920240" cy="713232"/>
          </a:xfrm>
          <a:prstGeom prst="roundRect">
            <a:avLst>
              <a:gd name="adj" fmla="val 12820"/>
            </a:avLst>
          </a:prstGeom>
          <a:solidFill>
            <a:srgbClr val="003C58"/>
          </a:solidFill>
          <a:ln>
            <a:noFill/>
          </a:ln>
        </p:spPr>
        <p:txBody>
          <a:bodyPr rtlCol="0" anchor="ctr"/>
          <a:lstStyle/>
          <a:p>
            <a:pPr algn="ctr"/>
            <a:endParaRPr/>
          </a:p>
        </p:txBody>
      </p:sp>
      <p:sp>
        <p:nvSpPr>
          <p:cNvPr id="7" name="TextBox 6"/>
          <p:cNvSpPr txBox="1"/>
          <p:nvPr/>
        </p:nvSpPr>
        <p:spPr>
          <a:xfrm>
            <a:off x="640080" y="923544"/>
            <a:ext cx="1691640" cy="365760"/>
          </a:xfrm>
          <a:prstGeom prst="rect">
            <a:avLst/>
          </a:prstGeom>
          <a:noFill/>
        </p:spPr>
        <p:txBody>
          <a:bodyPr wrap="square" lIns="0" tIns="0" rIns="0" bIns="0" anchor="t">
            <a:noAutofit/>
          </a:bodyPr>
          <a:lstStyle/>
          <a:p>
            <a:pPr algn="l">
              <a:spcAft>
                <a:spcPts val="0"/>
              </a:spcAft>
            </a:pPr>
            <a:r>
              <a:rPr sz="1700" b="1" i="0">
                <a:solidFill>
                  <a:srgbClr val="FFFFFF"/>
                </a:solidFill>
                <a:latin typeface="Swis721 Cn BT"/>
              </a:rPr>
              <a:t>ChatGPT</a:t>
            </a:r>
          </a:p>
        </p:txBody>
      </p:sp>
      <p:sp>
        <p:nvSpPr>
          <p:cNvPr id="8" name="TextBox 7"/>
          <p:cNvSpPr txBox="1"/>
          <p:nvPr/>
        </p:nvSpPr>
        <p:spPr>
          <a:xfrm>
            <a:off x="640080" y="1280160"/>
            <a:ext cx="1691640" cy="256032"/>
          </a:xfrm>
          <a:prstGeom prst="rect">
            <a:avLst/>
          </a:prstGeom>
          <a:noFill/>
        </p:spPr>
        <p:txBody>
          <a:bodyPr wrap="square" lIns="0" tIns="0" rIns="0" bIns="0" anchor="t">
            <a:noAutofit/>
          </a:bodyPr>
          <a:lstStyle/>
          <a:p>
            <a:pPr algn="l">
              <a:spcAft>
                <a:spcPts val="0"/>
              </a:spcAft>
            </a:pPr>
            <a:r>
              <a:rPr sz="1050" b="0" i="0">
                <a:solidFill>
                  <a:srgbClr val="F2B705"/>
                </a:solidFill>
                <a:latin typeface="Swis721 Cn BT"/>
              </a:rPr>
              <a:t>OpenAI · EE. UU.</a:t>
            </a:r>
          </a:p>
        </p:txBody>
      </p:sp>
      <p:sp>
        <p:nvSpPr>
          <p:cNvPr id="9" name="TextBox 8"/>
          <p:cNvSpPr txBox="1"/>
          <p:nvPr/>
        </p:nvSpPr>
        <p:spPr>
          <a:xfrm>
            <a:off x="640080" y="1691640"/>
            <a:ext cx="1691640" cy="228600"/>
          </a:xfrm>
          <a:prstGeom prst="rect">
            <a:avLst/>
          </a:prstGeom>
          <a:noFill/>
        </p:spPr>
        <p:txBody>
          <a:bodyPr wrap="square" lIns="0" tIns="0" rIns="0" bIns="0" anchor="t">
            <a:noAutofit/>
          </a:bodyPr>
          <a:lstStyle/>
          <a:p>
            <a:pPr algn="l">
              <a:spcAft>
                <a:spcPts val="0"/>
              </a:spcAft>
            </a:pPr>
            <a:r>
              <a:rPr sz="1050" b="1" i="0">
                <a:solidFill>
                  <a:srgbClr val="5B6B73"/>
                </a:solidFill>
                <a:latin typeface="Swis721 Cn BT"/>
              </a:rPr>
              <a:t>Cómo se alinea</a:t>
            </a:r>
          </a:p>
        </p:txBody>
      </p:sp>
      <p:sp>
        <p:nvSpPr>
          <p:cNvPr id="10" name="TextBox 9"/>
          <p:cNvSpPr txBox="1"/>
          <p:nvPr/>
        </p:nvSpPr>
        <p:spPr>
          <a:xfrm>
            <a:off x="640080" y="1911095"/>
            <a:ext cx="1691640" cy="5669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Retroalimentación humana (RLHF), descrita en InstructGPT.</a:t>
            </a:r>
          </a:p>
        </p:txBody>
      </p:sp>
      <p:sp>
        <p:nvSpPr>
          <p:cNvPr id="11" name="TextBox 10"/>
          <p:cNvSpPr txBox="1"/>
          <p:nvPr/>
        </p:nvSpPr>
        <p:spPr>
          <a:xfrm>
            <a:off x="640080" y="2478024"/>
            <a:ext cx="1691640" cy="228600"/>
          </a:xfrm>
          <a:prstGeom prst="rect">
            <a:avLst/>
          </a:prstGeom>
          <a:noFill/>
        </p:spPr>
        <p:txBody>
          <a:bodyPr wrap="square" lIns="0" tIns="0" rIns="0" bIns="0" anchor="t">
            <a:noAutofit/>
          </a:bodyPr>
          <a:lstStyle/>
          <a:p>
            <a:pPr algn="l">
              <a:spcAft>
                <a:spcPts val="0"/>
              </a:spcAft>
            </a:pPr>
            <a:r>
              <a:rPr sz="1050" b="1" i="0">
                <a:solidFill>
                  <a:srgbClr val="5B6B73"/>
                </a:solidFill>
                <a:latin typeface="Swis721 Cn BT"/>
              </a:rPr>
              <a:t>Rasgo distintivo</a:t>
            </a:r>
          </a:p>
        </p:txBody>
      </p:sp>
      <p:sp>
        <p:nvSpPr>
          <p:cNvPr id="12" name="TextBox 11"/>
          <p:cNvSpPr txBox="1"/>
          <p:nvPr/>
        </p:nvSpPr>
        <p:spPr>
          <a:xfrm>
            <a:off x="640080" y="2697480"/>
            <a:ext cx="1691640" cy="5669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Ecosistema amplio: búsqueda, análisis de archivos e imágenes.</a:t>
            </a:r>
          </a:p>
        </p:txBody>
      </p:sp>
      <p:sp>
        <p:nvSpPr>
          <p:cNvPr id="13" name="TextBox 12"/>
          <p:cNvSpPr txBox="1"/>
          <p:nvPr/>
        </p:nvSpPr>
        <p:spPr>
          <a:xfrm>
            <a:off x="640080" y="3264408"/>
            <a:ext cx="1691640" cy="228600"/>
          </a:xfrm>
          <a:prstGeom prst="rect">
            <a:avLst/>
          </a:prstGeom>
          <a:noFill/>
        </p:spPr>
        <p:txBody>
          <a:bodyPr wrap="square" lIns="0" tIns="0" rIns="0" bIns="0" anchor="t">
            <a:noAutofit/>
          </a:bodyPr>
          <a:lstStyle/>
          <a:p>
            <a:pPr algn="l">
              <a:spcAft>
                <a:spcPts val="0"/>
              </a:spcAft>
            </a:pPr>
            <a:r>
              <a:rPr sz="1050" b="1" i="0">
                <a:solidFill>
                  <a:srgbClr val="BF210C"/>
                </a:solidFill>
                <a:latin typeface="Swis721 Cn BT"/>
              </a:rPr>
              <a:t>Aprovéchalo para</a:t>
            </a:r>
          </a:p>
        </p:txBody>
      </p:sp>
      <p:sp>
        <p:nvSpPr>
          <p:cNvPr id="14" name="TextBox 13"/>
          <p:cNvSpPr txBox="1"/>
          <p:nvPr/>
        </p:nvSpPr>
        <p:spPr>
          <a:xfrm>
            <a:off x="640080" y="3483864"/>
            <a:ext cx="1691640" cy="5669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Tareas variadas y prototipos rápidos.</a:t>
            </a:r>
          </a:p>
        </p:txBody>
      </p:sp>
      <p:sp>
        <p:nvSpPr>
          <p:cNvPr id="15" name="Rounded Rectangle 14"/>
          <p:cNvSpPr/>
          <p:nvPr/>
        </p:nvSpPr>
        <p:spPr>
          <a:xfrm>
            <a:off x="2564891" y="868680"/>
            <a:ext cx="1920240" cy="3200400"/>
          </a:xfrm>
          <a:prstGeom prst="roundRect">
            <a:avLst>
              <a:gd name="adj" fmla="val 4761"/>
            </a:avLst>
          </a:prstGeom>
          <a:solidFill>
            <a:srgbClr val="E8F0F4"/>
          </a:solidFill>
          <a:ln>
            <a:noFill/>
          </a:ln>
        </p:spPr>
        <p:txBody>
          <a:bodyPr rtlCol="0" anchor="ctr"/>
          <a:lstStyle/>
          <a:p>
            <a:pPr algn="ctr"/>
            <a:endParaRPr/>
          </a:p>
        </p:txBody>
      </p:sp>
      <p:sp>
        <p:nvSpPr>
          <p:cNvPr id="16" name="Rounded Rectangle 15"/>
          <p:cNvSpPr/>
          <p:nvPr/>
        </p:nvSpPr>
        <p:spPr>
          <a:xfrm>
            <a:off x="2564891" y="868680"/>
            <a:ext cx="1920240" cy="713232"/>
          </a:xfrm>
          <a:prstGeom prst="roundRect">
            <a:avLst>
              <a:gd name="adj" fmla="val 12820"/>
            </a:avLst>
          </a:prstGeom>
          <a:solidFill>
            <a:srgbClr val="2F6E8C"/>
          </a:solidFill>
          <a:ln>
            <a:noFill/>
          </a:ln>
        </p:spPr>
        <p:txBody>
          <a:bodyPr rtlCol="0" anchor="ctr"/>
          <a:lstStyle/>
          <a:p>
            <a:pPr algn="ctr"/>
            <a:endParaRPr/>
          </a:p>
        </p:txBody>
      </p:sp>
      <p:sp>
        <p:nvSpPr>
          <p:cNvPr id="17" name="TextBox 16"/>
          <p:cNvSpPr txBox="1"/>
          <p:nvPr/>
        </p:nvSpPr>
        <p:spPr>
          <a:xfrm>
            <a:off x="2702051" y="923544"/>
            <a:ext cx="1691640" cy="365760"/>
          </a:xfrm>
          <a:prstGeom prst="rect">
            <a:avLst/>
          </a:prstGeom>
          <a:noFill/>
        </p:spPr>
        <p:txBody>
          <a:bodyPr wrap="square" lIns="0" tIns="0" rIns="0" bIns="0" anchor="t">
            <a:noAutofit/>
          </a:bodyPr>
          <a:lstStyle/>
          <a:p>
            <a:pPr algn="l">
              <a:spcAft>
                <a:spcPts val="0"/>
              </a:spcAft>
            </a:pPr>
            <a:r>
              <a:rPr sz="1700" b="1" i="0">
                <a:solidFill>
                  <a:srgbClr val="FFFFFF"/>
                </a:solidFill>
                <a:latin typeface="Swis721 Cn BT"/>
              </a:rPr>
              <a:t>Gemini</a:t>
            </a:r>
          </a:p>
        </p:txBody>
      </p:sp>
      <p:sp>
        <p:nvSpPr>
          <p:cNvPr id="18" name="TextBox 17"/>
          <p:cNvSpPr txBox="1"/>
          <p:nvPr/>
        </p:nvSpPr>
        <p:spPr>
          <a:xfrm>
            <a:off x="2702051" y="1280160"/>
            <a:ext cx="1691640" cy="256032"/>
          </a:xfrm>
          <a:prstGeom prst="rect">
            <a:avLst/>
          </a:prstGeom>
          <a:noFill/>
        </p:spPr>
        <p:txBody>
          <a:bodyPr wrap="square" lIns="0" tIns="0" rIns="0" bIns="0" anchor="t">
            <a:noAutofit/>
          </a:bodyPr>
          <a:lstStyle/>
          <a:p>
            <a:pPr algn="l">
              <a:spcAft>
                <a:spcPts val="0"/>
              </a:spcAft>
            </a:pPr>
            <a:r>
              <a:rPr sz="1050" b="0" i="0">
                <a:solidFill>
                  <a:srgbClr val="FFFFFF"/>
                </a:solidFill>
                <a:latin typeface="Swis721 Cn BT"/>
              </a:rPr>
              <a:t>Google · EE. UU.</a:t>
            </a:r>
          </a:p>
        </p:txBody>
      </p:sp>
      <p:sp>
        <p:nvSpPr>
          <p:cNvPr id="19" name="TextBox 18"/>
          <p:cNvSpPr txBox="1"/>
          <p:nvPr/>
        </p:nvSpPr>
        <p:spPr>
          <a:xfrm>
            <a:off x="2702051" y="1691640"/>
            <a:ext cx="1691640" cy="228600"/>
          </a:xfrm>
          <a:prstGeom prst="rect">
            <a:avLst/>
          </a:prstGeom>
          <a:noFill/>
        </p:spPr>
        <p:txBody>
          <a:bodyPr wrap="square" lIns="0" tIns="0" rIns="0" bIns="0" anchor="t">
            <a:noAutofit/>
          </a:bodyPr>
          <a:lstStyle/>
          <a:p>
            <a:pPr algn="l">
              <a:spcAft>
                <a:spcPts val="0"/>
              </a:spcAft>
            </a:pPr>
            <a:r>
              <a:rPr sz="1050" b="1" i="0">
                <a:solidFill>
                  <a:srgbClr val="5B6B73"/>
                </a:solidFill>
                <a:latin typeface="Swis721 Cn BT"/>
              </a:rPr>
              <a:t>Cómo se alinea</a:t>
            </a:r>
          </a:p>
        </p:txBody>
      </p:sp>
      <p:sp>
        <p:nvSpPr>
          <p:cNvPr id="20" name="TextBox 19"/>
          <p:cNvSpPr txBox="1"/>
          <p:nvPr/>
        </p:nvSpPr>
        <p:spPr>
          <a:xfrm>
            <a:off x="2702051" y="1911095"/>
            <a:ext cx="1691640" cy="5669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Instrucciones y preferencias humanas.</a:t>
            </a:r>
          </a:p>
        </p:txBody>
      </p:sp>
      <p:sp>
        <p:nvSpPr>
          <p:cNvPr id="21" name="TextBox 20"/>
          <p:cNvSpPr txBox="1"/>
          <p:nvPr/>
        </p:nvSpPr>
        <p:spPr>
          <a:xfrm>
            <a:off x="2702051" y="2478024"/>
            <a:ext cx="1691640" cy="228600"/>
          </a:xfrm>
          <a:prstGeom prst="rect">
            <a:avLst/>
          </a:prstGeom>
          <a:noFill/>
        </p:spPr>
        <p:txBody>
          <a:bodyPr wrap="square" lIns="0" tIns="0" rIns="0" bIns="0" anchor="t">
            <a:noAutofit/>
          </a:bodyPr>
          <a:lstStyle/>
          <a:p>
            <a:pPr algn="l">
              <a:spcAft>
                <a:spcPts val="0"/>
              </a:spcAft>
            </a:pPr>
            <a:r>
              <a:rPr sz="1050" b="1" i="0">
                <a:solidFill>
                  <a:srgbClr val="5B6B73"/>
                </a:solidFill>
                <a:latin typeface="Swis721 Cn BT"/>
              </a:rPr>
              <a:t>Rasgo distintivo</a:t>
            </a:r>
          </a:p>
        </p:txBody>
      </p:sp>
      <p:sp>
        <p:nvSpPr>
          <p:cNvPr id="22" name="TextBox 21"/>
          <p:cNvSpPr txBox="1"/>
          <p:nvPr/>
        </p:nvSpPr>
        <p:spPr>
          <a:xfrm>
            <a:off x="2702051" y="2697480"/>
            <a:ext cx="1691640" cy="5669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Multimodal desde su diseño: texto, imagen, audio y video.</a:t>
            </a:r>
          </a:p>
        </p:txBody>
      </p:sp>
      <p:sp>
        <p:nvSpPr>
          <p:cNvPr id="23" name="TextBox 22"/>
          <p:cNvSpPr txBox="1"/>
          <p:nvPr/>
        </p:nvSpPr>
        <p:spPr>
          <a:xfrm>
            <a:off x="2702051" y="3264408"/>
            <a:ext cx="1691640" cy="228600"/>
          </a:xfrm>
          <a:prstGeom prst="rect">
            <a:avLst/>
          </a:prstGeom>
          <a:noFill/>
        </p:spPr>
        <p:txBody>
          <a:bodyPr wrap="square" lIns="0" tIns="0" rIns="0" bIns="0" anchor="t">
            <a:noAutofit/>
          </a:bodyPr>
          <a:lstStyle/>
          <a:p>
            <a:pPr algn="l">
              <a:spcAft>
                <a:spcPts val="0"/>
              </a:spcAft>
            </a:pPr>
            <a:r>
              <a:rPr sz="1050" b="1" i="0">
                <a:solidFill>
                  <a:srgbClr val="BF210C"/>
                </a:solidFill>
                <a:latin typeface="Swis721 Cn BT"/>
              </a:rPr>
              <a:t>Aprovéchalo para</a:t>
            </a:r>
          </a:p>
        </p:txBody>
      </p:sp>
      <p:sp>
        <p:nvSpPr>
          <p:cNvPr id="24" name="TextBox 23"/>
          <p:cNvSpPr txBox="1"/>
          <p:nvPr/>
        </p:nvSpPr>
        <p:spPr>
          <a:xfrm>
            <a:off x="2702051" y="3483864"/>
            <a:ext cx="1691640" cy="5669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Material con imágenes o video; trabajo en Google Workspace.</a:t>
            </a:r>
          </a:p>
        </p:txBody>
      </p:sp>
      <p:sp>
        <p:nvSpPr>
          <p:cNvPr id="25" name="Rounded Rectangle 24"/>
          <p:cNvSpPr/>
          <p:nvPr/>
        </p:nvSpPr>
        <p:spPr>
          <a:xfrm>
            <a:off x="4626864" y="868680"/>
            <a:ext cx="1920240" cy="3200400"/>
          </a:xfrm>
          <a:prstGeom prst="roundRect">
            <a:avLst>
              <a:gd name="adj" fmla="val 4761"/>
            </a:avLst>
          </a:prstGeom>
          <a:solidFill>
            <a:srgbClr val="E8F0F4"/>
          </a:solidFill>
          <a:ln>
            <a:noFill/>
          </a:ln>
        </p:spPr>
        <p:txBody>
          <a:bodyPr rtlCol="0" anchor="ctr"/>
          <a:lstStyle/>
          <a:p>
            <a:pPr algn="ctr"/>
            <a:endParaRPr/>
          </a:p>
        </p:txBody>
      </p:sp>
      <p:sp>
        <p:nvSpPr>
          <p:cNvPr id="26" name="Rounded Rectangle 25"/>
          <p:cNvSpPr/>
          <p:nvPr/>
        </p:nvSpPr>
        <p:spPr>
          <a:xfrm>
            <a:off x="4626864" y="868680"/>
            <a:ext cx="1920240" cy="713232"/>
          </a:xfrm>
          <a:prstGeom prst="roundRect">
            <a:avLst>
              <a:gd name="adj" fmla="val 12820"/>
            </a:avLst>
          </a:prstGeom>
          <a:solidFill>
            <a:srgbClr val="BF210C"/>
          </a:solidFill>
          <a:ln>
            <a:noFill/>
          </a:ln>
        </p:spPr>
        <p:txBody>
          <a:bodyPr rtlCol="0" anchor="ctr"/>
          <a:lstStyle/>
          <a:p>
            <a:pPr algn="ctr"/>
            <a:endParaRPr/>
          </a:p>
        </p:txBody>
      </p:sp>
      <p:sp>
        <p:nvSpPr>
          <p:cNvPr id="27" name="TextBox 26"/>
          <p:cNvSpPr txBox="1"/>
          <p:nvPr/>
        </p:nvSpPr>
        <p:spPr>
          <a:xfrm>
            <a:off x="4764024" y="923544"/>
            <a:ext cx="1691640" cy="365760"/>
          </a:xfrm>
          <a:prstGeom prst="rect">
            <a:avLst/>
          </a:prstGeom>
          <a:noFill/>
        </p:spPr>
        <p:txBody>
          <a:bodyPr wrap="square" lIns="0" tIns="0" rIns="0" bIns="0" anchor="t">
            <a:noAutofit/>
          </a:bodyPr>
          <a:lstStyle/>
          <a:p>
            <a:pPr algn="l">
              <a:spcAft>
                <a:spcPts val="0"/>
              </a:spcAft>
            </a:pPr>
            <a:r>
              <a:rPr sz="1700" b="1" i="0">
                <a:solidFill>
                  <a:srgbClr val="FFFFFF"/>
                </a:solidFill>
                <a:latin typeface="Swis721 Cn BT"/>
              </a:rPr>
              <a:t>Claude</a:t>
            </a:r>
          </a:p>
        </p:txBody>
      </p:sp>
      <p:sp>
        <p:nvSpPr>
          <p:cNvPr id="28" name="TextBox 27"/>
          <p:cNvSpPr txBox="1"/>
          <p:nvPr/>
        </p:nvSpPr>
        <p:spPr>
          <a:xfrm>
            <a:off x="4764024" y="1280160"/>
            <a:ext cx="1691640" cy="256032"/>
          </a:xfrm>
          <a:prstGeom prst="rect">
            <a:avLst/>
          </a:prstGeom>
          <a:noFill/>
        </p:spPr>
        <p:txBody>
          <a:bodyPr wrap="square" lIns="0" tIns="0" rIns="0" bIns="0" anchor="t">
            <a:noAutofit/>
          </a:bodyPr>
          <a:lstStyle/>
          <a:p>
            <a:pPr algn="l">
              <a:spcAft>
                <a:spcPts val="0"/>
              </a:spcAft>
            </a:pPr>
            <a:r>
              <a:rPr sz="1050" b="0" i="0">
                <a:solidFill>
                  <a:srgbClr val="FFFFFF"/>
                </a:solidFill>
                <a:latin typeface="Swis721 Cn BT"/>
              </a:rPr>
              <a:t>Anthropic · EE. UU.</a:t>
            </a:r>
          </a:p>
        </p:txBody>
      </p:sp>
      <p:sp>
        <p:nvSpPr>
          <p:cNvPr id="29" name="TextBox 28"/>
          <p:cNvSpPr txBox="1"/>
          <p:nvPr/>
        </p:nvSpPr>
        <p:spPr>
          <a:xfrm>
            <a:off x="4764024" y="1691640"/>
            <a:ext cx="1691640" cy="228600"/>
          </a:xfrm>
          <a:prstGeom prst="rect">
            <a:avLst/>
          </a:prstGeom>
          <a:noFill/>
        </p:spPr>
        <p:txBody>
          <a:bodyPr wrap="square" lIns="0" tIns="0" rIns="0" bIns="0" anchor="t">
            <a:noAutofit/>
          </a:bodyPr>
          <a:lstStyle/>
          <a:p>
            <a:pPr algn="l">
              <a:spcAft>
                <a:spcPts val="0"/>
              </a:spcAft>
            </a:pPr>
            <a:r>
              <a:rPr sz="1050" b="1" i="0">
                <a:solidFill>
                  <a:srgbClr val="5B6B73"/>
                </a:solidFill>
                <a:latin typeface="Swis721 Cn BT"/>
              </a:rPr>
              <a:t>Cómo se alinea</a:t>
            </a:r>
          </a:p>
        </p:txBody>
      </p:sp>
      <p:sp>
        <p:nvSpPr>
          <p:cNvPr id="30" name="TextBox 29"/>
          <p:cNvSpPr txBox="1"/>
          <p:nvPr/>
        </p:nvSpPr>
        <p:spPr>
          <a:xfrm>
            <a:off x="4764024" y="1911095"/>
            <a:ext cx="1691640" cy="5669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«IA constitucional»: principios escritos guían su autocrítica.</a:t>
            </a:r>
          </a:p>
        </p:txBody>
      </p:sp>
      <p:sp>
        <p:nvSpPr>
          <p:cNvPr id="31" name="TextBox 30"/>
          <p:cNvSpPr txBox="1"/>
          <p:nvPr/>
        </p:nvSpPr>
        <p:spPr>
          <a:xfrm>
            <a:off x="4764024" y="2478024"/>
            <a:ext cx="1691640" cy="228600"/>
          </a:xfrm>
          <a:prstGeom prst="rect">
            <a:avLst/>
          </a:prstGeom>
          <a:noFill/>
        </p:spPr>
        <p:txBody>
          <a:bodyPr wrap="square" lIns="0" tIns="0" rIns="0" bIns="0" anchor="t">
            <a:noAutofit/>
          </a:bodyPr>
          <a:lstStyle/>
          <a:p>
            <a:pPr algn="l">
              <a:spcAft>
                <a:spcPts val="0"/>
              </a:spcAft>
            </a:pPr>
            <a:r>
              <a:rPr sz="1050" b="1" i="0">
                <a:solidFill>
                  <a:srgbClr val="5B6B73"/>
                </a:solidFill>
                <a:latin typeface="Swis721 Cn BT"/>
              </a:rPr>
              <a:t>Rasgo distintivo</a:t>
            </a:r>
          </a:p>
        </p:txBody>
      </p:sp>
      <p:sp>
        <p:nvSpPr>
          <p:cNvPr id="32" name="TextBox 31"/>
          <p:cNvSpPr txBox="1"/>
          <p:nvPr/>
        </p:nvSpPr>
        <p:spPr>
          <a:xfrm>
            <a:off x="4764024" y="2697480"/>
            <a:ext cx="1691640" cy="5669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Trabajo con documentos extensos y redacción cuidada.</a:t>
            </a:r>
          </a:p>
        </p:txBody>
      </p:sp>
      <p:sp>
        <p:nvSpPr>
          <p:cNvPr id="33" name="TextBox 32"/>
          <p:cNvSpPr txBox="1"/>
          <p:nvPr/>
        </p:nvSpPr>
        <p:spPr>
          <a:xfrm>
            <a:off x="4764024" y="3264408"/>
            <a:ext cx="1691640" cy="228600"/>
          </a:xfrm>
          <a:prstGeom prst="rect">
            <a:avLst/>
          </a:prstGeom>
          <a:noFill/>
        </p:spPr>
        <p:txBody>
          <a:bodyPr wrap="square" lIns="0" tIns="0" rIns="0" bIns="0" anchor="t">
            <a:noAutofit/>
          </a:bodyPr>
          <a:lstStyle/>
          <a:p>
            <a:pPr algn="l">
              <a:spcAft>
                <a:spcPts val="0"/>
              </a:spcAft>
            </a:pPr>
            <a:r>
              <a:rPr sz="1050" b="1" i="0">
                <a:solidFill>
                  <a:srgbClr val="BF210C"/>
                </a:solidFill>
                <a:latin typeface="Swis721 Cn BT"/>
              </a:rPr>
              <a:t>Aprovéchalo para</a:t>
            </a:r>
          </a:p>
        </p:txBody>
      </p:sp>
      <p:sp>
        <p:nvSpPr>
          <p:cNvPr id="34" name="TextBox 33"/>
          <p:cNvSpPr txBox="1"/>
          <p:nvPr/>
        </p:nvSpPr>
        <p:spPr>
          <a:xfrm>
            <a:off x="4764024" y="3483864"/>
            <a:ext cx="1691640" cy="5669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Comparar normas largas; redactar y revisar protocolos.</a:t>
            </a:r>
          </a:p>
        </p:txBody>
      </p:sp>
      <p:sp>
        <p:nvSpPr>
          <p:cNvPr id="35" name="Rounded Rectangle 34"/>
          <p:cNvSpPr/>
          <p:nvPr/>
        </p:nvSpPr>
        <p:spPr>
          <a:xfrm>
            <a:off x="6688836" y="868680"/>
            <a:ext cx="1920240" cy="3200400"/>
          </a:xfrm>
          <a:prstGeom prst="roundRect">
            <a:avLst>
              <a:gd name="adj" fmla="val 4761"/>
            </a:avLst>
          </a:prstGeom>
          <a:solidFill>
            <a:srgbClr val="E8F0F4"/>
          </a:solidFill>
          <a:ln>
            <a:noFill/>
          </a:ln>
        </p:spPr>
        <p:txBody>
          <a:bodyPr rtlCol="0" anchor="ctr"/>
          <a:lstStyle/>
          <a:p>
            <a:pPr algn="ctr"/>
            <a:endParaRPr/>
          </a:p>
        </p:txBody>
      </p:sp>
      <p:sp>
        <p:nvSpPr>
          <p:cNvPr id="36" name="Rounded Rectangle 35"/>
          <p:cNvSpPr/>
          <p:nvPr/>
        </p:nvSpPr>
        <p:spPr>
          <a:xfrm>
            <a:off x="6688836" y="868680"/>
            <a:ext cx="1920240" cy="713232"/>
          </a:xfrm>
          <a:prstGeom prst="roundRect">
            <a:avLst>
              <a:gd name="adj" fmla="val 12820"/>
            </a:avLst>
          </a:prstGeom>
          <a:solidFill>
            <a:srgbClr val="1F2A30"/>
          </a:solidFill>
          <a:ln>
            <a:noFill/>
          </a:ln>
        </p:spPr>
        <p:txBody>
          <a:bodyPr rtlCol="0" anchor="ctr"/>
          <a:lstStyle/>
          <a:p>
            <a:pPr algn="ctr"/>
            <a:endParaRPr/>
          </a:p>
        </p:txBody>
      </p:sp>
      <p:sp>
        <p:nvSpPr>
          <p:cNvPr id="37" name="TextBox 36"/>
          <p:cNvSpPr txBox="1"/>
          <p:nvPr/>
        </p:nvSpPr>
        <p:spPr>
          <a:xfrm>
            <a:off x="6825996" y="923544"/>
            <a:ext cx="1691640" cy="365760"/>
          </a:xfrm>
          <a:prstGeom prst="rect">
            <a:avLst/>
          </a:prstGeom>
          <a:noFill/>
        </p:spPr>
        <p:txBody>
          <a:bodyPr wrap="square" lIns="0" tIns="0" rIns="0" bIns="0" anchor="t">
            <a:noAutofit/>
          </a:bodyPr>
          <a:lstStyle/>
          <a:p>
            <a:pPr algn="l">
              <a:spcAft>
                <a:spcPts val="0"/>
              </a:spcAft>
            </a:pPr>
            <a:r>
              <a:rPr sz="1700" b="1" i="0">
                <a:solidFill>
                  <a:srgbClr val="FFFFFF"/>
                </a:solidFill>
                <a:latin typeface="Swis721 Cn BT"/>
              </a:rPr>
              <a:t>DeepSeek</a:t>
            </a:r>
          </a:p>
        </p:txBody>
      </p:sp>
      <p:sp>
        <p:nvSpPr>
          <p:cNvPr id="38" name="TextBox 37"/>
          <p:cNvSpPr txBox="1"/>
          <p:nvPr/>
        </p:nvSpPr>
        <p:spPr>
          <a:xfrm>
            <a:off x="6825996" y="1280160"/>
            <a:ext cx="1691640" cy="256032"/>
          </a:xfrm>
          <a:prstGeom prst="rect">
            <a:avLst/>
          </a:prstGeom>
          <a:noFill/>
        </p:spPr>
        <p:txBody>
          <a:bodyPr wrap="square" lIns="0" tIns="0" rIns="0" bIns="0" anchor="t">
            <a:noAutofit/>
          </a:bodyPr>
          <a:lstStyle/>
          <a:p>
            <a:pPr algn="l">
              <a:spcAft>
                <a:spcPts val="0"/>
              </a:spcAft>
            </a:pPr>
            <a:r>
              <a:rPr sz="1050" b="0" i="0">
                <a:solidFill>
                  <a:srgbClr val="F2B705"/>
                </a:solidFill>
                <a:latin typeface="Swis721 Cn BT"/>
              </a:rPr>
              <a:t>DeepSeek · China</a:t>
            </a:r>
          </a:p>
        </p:txBody>
      </p:sp>
      <p:sp>
        <p:nvSpPr>
          <p:cNvPr id="39" name="TextBox 38"/>
          <p:cNvSpPr txBox="1"/>
          <p:nvPr/>
        </p:nvSpPr>
        <p:spPr>
          <a:xfrm>
            <a:off x="6825996" y="1691640"/>
            <a:ext cx="1691640" cy="228600"/>
          </a:xfrm>
          <a:prstGeom prst="rect">
            <a:avLst/>
          </a:prstGeom>
          <a:noFill/>
        </p:spPr>
        <p:txBody>
          <a:bodyPr wrap="square" lIns="0" tIns="0" rIns="0" bIns="0" anchor="t">
            <a:noAutofit/>
          </a:bodyPr>
          <a:lstStyle/>
          <a:p>
            <a:pPr algn="l">
              <a:spcAft>
                <a:spcPts val="0"/>
              </a:spcAft>
            </a:pPr>
            <a:r>
              <a:rPr sz="1050" b="1" i="0">
                <a:solidFill>
                  <a:srgbClr val="5B6B73"/>
                </a:solidFill>
                <a:latin typeface="Swis721 Cn BT"/>
              </a:rPr>
              <a:t>Cómo se alinea</a:t>
            </a:r>
          </a:p>
        </p:txBody>
      </p:sp>
      <p:sp>
        <p:nvSpPr>
          <p:cNvPr id="40" name="TextBox 39"/>
          <p:cNvSpPr txBox="1"/>
          <p:nvPr/>
        </p:nvSpPr>
        <p:spPr>
          <a:xfrm>
            <a:off x="6825996" y="1911095"/>
            <a:ext cx="1691640" cy="5669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Razonamiento entrenado con aprendizaje por refuerzo.</a:t>
            </a:r>
          </a:p>
        </p:txBody>
      </p:sp>
      <p:sp>
        <p:nvSpPr>
          <p:cNvPr id="41" name="TextBox 40"/>
          <p:cNvSpPr txBox="1"/>
          <p:nvPr/>
        </p:nvSpPr>
        <p:spPr>
          <a:xfrm>
            <a:off x="6825996" y="2478024"/>
            <a:ext cx="1691640" cy="228600"/>
          </a:xfrm>
          <a:prstGeom prst="rect">
            <a:avLst/>
          </a:prstGeom>
          <a:noFill/>
        </p:spPr>
        <p:txBody>
          <a:bodyPr wrap="square" lIns="0" tIns="0" rIns="0" bIns="0" anchor="t">
            <a:noAutofit/>
          </a:bodyPr>
          <a:lstStyle/>
          <a:p>
            <a:pPr algn="l">
              <a:spcAft>
                <a:spcPts val="0"/>
              </a:spcAft>
            </a:pPr>
            <a:r>
              <a:rPr sz="1050" b="1" i="0">
                <a:solidFill>
                  <a:srgbClr val="5B6B73"/>
                </a:solidFill>
                <a:latin typeface="Swis721 Cn BT"/>
              </a:rPr>
              <a:t>Rasgo distintivo</a:t>
            </a:r>
          </a:p>
        </p:txBody>
      </p:sp>
      <p:sp>
        <p:nvSpPr>
          <p:cNvPr id="42" name="TextBox 41"/>
          <p:cNvSpPr txBox="1"/>
          <p:nvPr/>
        </p:nvSpPr>
        <p:spPr>
          <a:xfrm>
            <a:off x="6825996" y="2697480"/>
            <a:ext cx="1691640" cy="5669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Pesos abiertos: puede instalarse en servidores propios.</a:t>
            </a:r>
          </a:p>
        </p:txBody>
      </p:sp>
      <p:sp>
        <p:nvSpPr>
          <p:cNvPr id="43" name="TextBox 42"/>
          <p:cNvSpPr txBox="1"/>
          <p:nvPr/>
        </p:nvSpPr>
        <p:spPr>
          <a:xfrm>
            <a:off x="6825996" y="3264408"/>
            <a:ext cx="1691640" cy="228600"/>
          </a:xfrm>
          <a:prstGeom prst="rect">
            <a:avLst/>
          </a:prstGeom>
          <a:noFill/>
        </p:spPr>
        <p:txBody>
          <a:bodyPr wrap="square" lIns="0" tIns="0" rIns="0" bIns="0" anchor="t">
            <a:noAutofit/>
          </a:bodyPr>
          <a:lstStyle/>
          <a:p>
            <a:pPr algn="l">
              <a:spcAft>
                <a:spcPts val="0"/>
              </a:spcAft>
            </a:pPr>
            <a:r>
              <a:rPr sz="1050" b="1" i="0">
                <a:solidFill>
                  <a:srgbClr val="BF210C"/>
                </a:solidFill>
                <a:latin typeface="Swis721 Cn BT"/>
              </a:rPr>
              <a:t>Aprovéchalo para</a:t>
            </a:r>
          </a:p>
        </p:txBody>
      </p:sp>
      <p:sp>
        <p:nvSpPr>
          <p:cNvPr id="44" name="TextBox 43"/>
          <p:cNvSpPr txBox="1"/>
          <p:nvPr/>
        </p:nvSpPr>
        <p:spPr>
          <a:xfrm>
            <a:off x="6825996" y="3483864"/>
            <a:ext cx="1691640" cy="5669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Soluciones institucionales locales (privacidad).</a:t>
            </a:r>
          </a:p>
        </p:txBody>
      </p:sp>
      <p:pic>
        <p:nvPicPr>
          <p:cNvPr id="45" name="Imagen 44" descr="File:Google Gemini icon 2025.svg">
            <a:extLst>
              <a:ext uri="{FF2B5EF4-FFF2-40B4-BE49-F238E27FC236}">
                <a16:creationId xmlns:a16="http://schemas.microsoft.com/office/drawing/2014/main" id="{B92DA264-6F8A-B93B-A9BF-D2940A1944A9}"/>
              </a:ext>
            </a:extLst>
          </p:cNvPr>
          <p:cNvPicPr>
            <a:picLocks noChangeAspect="1"/>
          </p:cNvPicPr>
          <p:nvPr/>
        </p:nvPicPr>
        <p:blipFill>
          <a:blip r:embed="rId3"/>
          <a:stretch>
            <a:fillRect/>
          </a:stretch>
        </p:blipFill>
        <p:spPr>
          <a:xfrm>
            <a:off x="3706005" y="914653"/>
            <a:ext cx="598036" cy="598036"/>
          </a:xfrm>
          <a:prstGeom prst="rect">
            <a:avLst/>
          </a:prstGeom>
        </p:spPr>
      </p:pic>
      <p:pic>
        <p:nvPicPr>
          <p:cNvPr id="46" name="Imagen 45" descr="File:Claude AI symbol.svg">
            <a:extLst>
              <a:ext uri="{FF2B5EF4-FFF2-40B4-BE49-F238E27FC236}">
                <a16:creationId xmlns:a16="http://schemas.microsoft.com/office/drawing/2014/main" id="{A70C95D4-DDC5-65B3-E841-6761F469B053}"/>
              </a:ext>
            </a:extLst>
          </p:cNvPr>
          <p:cNvPicPr>
            <a:picLocks noChangeAspect="1"/>
          </p:cNvPicPr>
          <p:nvPr/>
        </p:nvPicPr>
        <p:blipFill>
          <a:blip r:embed="rId4"/>
          <a:stretch>
            <a:fillRect/>
          </a:stretch>
        </p:blipFill>
        <p:spPr>
          <a:xfrm>
            <a:off x="5857628" y="922257"/>
            <a:ext cx="598036" cy="598036"/>
          </a:xfrm>
          <a:prstGeom prst="rect">
            <a:avLst/>
          </a:prstGeom>
        </p:spPr>
      </p:pic>
      <p:pic>
        <p:nvPicPr>
          <p:cNvPr id="47" name="Imagen 46" descr="File:Deepseek-logo-icon.svg">
            <a:extLst>
              <a:ext uri="{FF2B5EF4-FFF2-40B4-BE49-F238E27FC236}">
                <a16:creationId xmlns:a16="http://schemas.microsoft.com/office/drawing/2014/main" id="{C3506A95-7720-3983-4553-7D82E4417133}"/>
              </a:ext>
            </a:extLst>
          </p:cNvPr>
          <p:cNvPicPr>
            <a:picLocks noChangeAspect="1"/>
          </p:cNvPicPr>
          <p:nvPr/>
        </p:nvPicPr>
        <p:blipFill>
          <a:blip r:embed="rId5"/>
          <a:stretch>
            <a:fillRect/>
          </a:stretch>
        </p:blipFill>
        <p:spPr>
          <a:xfrm>
            <a:off x="7875778" y="901683"/>
            <a:ext cx="641858" cy="639184"/>
          </a:xfrm>
          <a:prstGeom prst="rect">
            <a:avLst/>
          </a:prstGeom>
        </p:spPr>
      </p:pic>
      <p:pic>
        <p:nvPicPr>
          <p:cNvPr id="48" name="Imagen 47" descr="File:ChatGPT-Logo.png">
            <a:extLst>
              <a:ext uri="{FF2B5EF4-FFF2-40B4-BE49-F238E27FC236}">
                <a16:creationId xmlns:a16="http://schemas.microsoft.com/office/drawing/2014/main" id="{17DBA014-DA3C-5E72-BDCD-5A6E5091B7F2}"/>
              </a:ext>
            </a:extLst>
          </p:cNvPr>
          <p:cNvPicPr>
            <a:picLocks noChangeAspect="1"/>
          </p:cNvPicPr>
          <p:nvPr/>
        </p:nvPicPr>
        <p:blipFill>
          <a:blip r:embed="rId6">
            <a:lum bright="70000" contrast="-70000"/>
          </a:blip>
          <a:stretch>
            <a:fillRect/>
          </a:stretch>
        </p:blipFill>
        <p:spPr>
          <a:xfrm>
            <a:off x="1315524" y="868679"/>
            <a:ext cx="1267970" cy="71323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Tres familias de herramientas sobre una misma base</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[16] Riedemann et al., 2024 · [10] Ayala-Yáñez et al., 2026</a:t>
            </a:r>
          </a:p>
        </p:txBody>
      </p:sp>
      <p:sp>
        <p:nvSpPr>
          <p:cNvPr id="5" name="Rounded Rectangle 4"/>
          <p:cNvSpPr/>
          <p:nvPr/>
        </p:nvSpPr>
        <p:spPr>
          <a:xfrm>
            <a:off x="502920" y="868680"/>
            <a:ext cx="2606040" cy="2788920"/>
          </a:xfrm>
          <a:prstGeom prst="roundRect">
            <a:avLst>
              <a:gd name="adj" fmla="val 4210"/>
            </a:avLst>
          </a:prstGeom>
          <a:solidFill>
            <a:srgbClr val="E8F0F4"/>
          </a:solidFill>
          <a:ln>
            <a:noFill/>
          </a:ln>
        </p:spPr>
        <p:txBody>
          <a:bodyPr rtlCol="0" anchor="ctr"/>
          <a:lstStyle/>
          <a:p>
            <a:pPr algn="ctr"/>
            <a:endParaRPr/>
          </a:p>
        </p:txBody>
      </p:sp>
      <p:sp>
        <p:nvSpPr>
          <p:cNvPr id="6" name="Oval 5"/>
          <p:cNvSpPr/>
          <p:nvPr/>
        </p:nvSpPr>
        <p:spPr>
          <a:xfrm>
            <a:off x="640080" y="1005839"/>
            <a:ext cx="548640" cy="548640"/>
          </a:xfrm>
          <a:prstGeom prst="ellipse">
            <a:avLst/>
          </a:prstGeom>
          <a:solidFill>
            <a:srgbClr val="003C58"/>
          </a:solidFill>
          <a:ln>
            <a:noFill/>
          </a:ln>
        </p:spPr>
        <p:txBody>
          <a:bodyPr rtlCol="0" anchor="ctr"/>
          <a:lstStyle/>
          <a:p>
            <a:pPr algn="ctr"/>
            <a:endParaRPr/>
          </a:p>
        </p:txBody>
      </p:sp>
      <p:pic>
        <p:nvPicPr>
          <p:cNvPr id="7" name="Picture 6" descr="MdCloud_blanco.png"/>
          <p:cNvPicPr>
            <a:picLocks noChangeAspect="1"/>
          </p:cNvPicPr>
          <p:nvPr/>
        </p:nvPicPr>
        <p:blipFill>
          <a:blip r:embed="rId3"/>
          <a:stretch>
            <a:fillRect/>
          </a:stretch>
        </p:blipFill>
        <p:spPr>
          <a:xfrm>
            <a:off x="755294" y="1121054"/>
            <a:ext cx="318211" cy="318211"/>
          </a:xfrm>
          <a:prstGeom prst="rect">
            <a:avLst/>
          </a:prstGeom>
        </p:spPr>
      </p:pic>
      <p:sp>
        <p:nvSpPr>
          <p:cNvPr id="8" name="TextBox 7"/>
          <p:cNvSpPr txBox="1"/>
          <p:nvPr/>
        </p:nvSpPr>
        <p:spPr>
          <a:xfrm>
            <a:off x="1307592" y="1024127"/>
            <a:ext cx="1737360" cy="548640"/>
          </a:xfrm>
          <a:prstGeom prst="rect">
            <a:avLst/>
          </a:prstGeom>
          <a:noFill/>
        </p:spPr>
        <p:txBody>
          <a:bodyPr wrap="square" lIns="0" tIns="0" rIns="0" bIns="0" anchor="ctr">
            <a:noAutofit/>
          </a:bodyPr>
          <a:lstStyle/>
          <a:p>
            <a:pPr algn="l">
              <a:spcAft>
                <a:spcPts val="0"/>
              </a:spcAft>
            </a:pPr>
            <a:r>
              <a:rPr sz="1400" b="1" i="0">
                <a:solidFill>
                  <a:srgbClr val="003C58"/>
                </a:solidFill>
                <a:latin typeface="Swis721 Cn BT"/>
              </a:rPr>
              <a:t>Asistentes en la nube</a:t>
            </a:r>
          </a:p>
        </p:txBody>
      </p:sp>
      <p:sp>
        <p:nvSpPr>
          <p:cNvPr id="9" name="TextBox 8"/>
          <p:cNvSpPr txBox="1"/>
          <p:nvPr/>
        </p:nvSpPr>
        <p:spPr>
          <a:xfrm>
            <a:off x="667512" y="1673352"/>
            <a:ext cx="2286000" cy="566928"/>
          </a:xfrm>
          <a:prstGeom prst="rect">
            <a:avLst/>
          </a:prstGeom>
          <a:noFill/>
        </p:spPr>
        <p:txBody>
          <a:bodyPr wrap="square" lIns="0" tIns="0" rIns="0" bIns="0" anchor="t">
            <a:noAutofit/>
          </a:bodyPr>
          <a:lstStyle/>
          <a:p>
            <a:pPr algn="l">
              <a:spcAft>
                <a:spcPts val="0"/>
              </a:spcAft>
            </a:pPr>
            <a:r>
              <a:rPr sz="1150" b="1" i="0">
                <a:solidFill>
                  <a:srgbClr val="003C58"/>
                </a:solidFill>
                <a:latin typeface="Swis721 Cn BT"/>
              </a:rPr>
              <a:t>ChatGPT · Gemini · Claude · Copilot</a:t>
            </a:r>
          </a:p>
        </p:txBody>
      </p:sp>
      <p:sp>
        <p:nvSpPr>
          <p:cNvPr id="10" name="TextBox 9"/>
          <p:cNvSpPr txBox="1"/>
          <p:nvPr/>
        </p:nvSpPr>
        <p:spPr>
          <a:xfrm>
            <a:off x="667512" y="2240280"/>
            <a:ext cx="2286000" cy="713232"/>
          </a:xfrm>
          <a:prstGeom prst="rect">
            <a:avLst/>
          </a:prstGeom>
          <a:noFill/>
        </p:spPr>
        <p:txBody>
          <a:bodyPr wrap="square" lIns="0" tIns="0" rIns="0" bIns="0" anchor="t">
            <a:noAutofit/>
          </a:bodyPr>
          <a:lstStyle/>
          <a:p>
            <a:pPr algn="l">
              <a:spcAft>
                <a:spcPts val="0"/>
              </a:spcAft>
            </a:pPr>
            <a:r>
              <a:rPr sz="1100" b="1" i="0">
                <a:solidFill>
                  <a:srgbClr val="1F2A30"/>
                </a:solidFill>
                <a:latin typeface="Swis721 Cn BT"/>
              </a:rPr>
              <a:t>+</a:t>
            </a:r>
            <a:r>
              <a:rPr sz="1100" b="0" i="0">
                <a:solidFill>
                  <a:srgbClr val="1F2A30"/>
                </a:solidFill>
                <a:latin typeface="Swis721 Cn BT"/>
              </a:rPr>
              <a:t> Fáciles de usar; leen archivos, buscan en la web y trabajan con imágenes.</a:t>
            </a:r>
          </a:p>
        </p:txBody>
      </p:sp>
      <p:sp>
        <p:nvSpPr>
          <p:cNvPr id="11" name="TextBox 10"/>
          <p:cNvSpPr txBox="1"/>
          <p:nvPr/>
        </p:nvSpPr>
        <p:spPr>
          <a:xfrm>
            <a:off x="667512" y="2926080"/>
            <a:ext cx="2286000" cy="685800"/>
          </a:xfrm>
          <a:prstGeom prst="rect">
            <a:avLst/>
          </a:prstGeom>
          <a:noFill/>
        </p:spPr>
        <p:txBody>
          <a:bodyPr wrap="square" lIns="0" tIns="0" rIns="0" bIns="0" anchor="t">
            <a:noAutofit/>
          </a:bodyPr>
          <a:lstStyle/>
          <a:p>
            <a:pPr algn="l">
              <a:spcAft>
                <a:spcPts val="0"/>
              </a:spcAft>
            </a:pPr>
            <a:r>
              <a:rPr sz="1100" b="1" i="0">
                <a:solidFill>
                  <a:srgbClr val="BF210C"/>
                </a:solidFill>
                <a:latin typeface="Swis721 Cn BT"/>
              </a:rPr>
              <a:t>–</a:t>
            </a:r>
            <a:r>
              <a:rPr sz="1100" b="0" i="0">
                <a:solidFill>
                  <a:srgbClr val="1F2A30"/>
                </a:solidFill>
                <a:latin typeface="Swis721 Cn BT"/>
              </a:rPr>
              <a:t> Los datos salen de la institución; versiones y condiciones cambian.</a:t>
            </a:r>
          </a:p>
        </p:txBody>
      </p:sp>
      <p:sp>
        <p:nvSpPr>
          <p:cNvPr id="12" name="Rounded Rectangle 11"/>
          <p:cNvSpPr/>
          <p:nvPr/>
        </p:nvSpPr>
        <p:spPr>
          <a:xfrm>
            <a:off x="3268980" y="868680"/>
            <a:ext cx="2606040" cy="2788920"/>
          </a:xfrm>
          <a:prstGeom prst="roundRect">
            <a:avLst>
              <a:gd name="adj" fmla="val 4210"/>
            </a:avLst>
          </a:prstGeom>
          <a:solidFill>
            <a:srgbClr val="E8F0F4"/>
          </a:solidFill>
          <a:ln>
            <a:noFill/>
          </a:ln>
        </p:spPr>
        <p:txBody>
          <a:bodyPr rtlCol="0" anchor="ctr"/>
          <a:lstStyle/>
          <a:p>
            <a:pPr algn="ctr"/>
            <a:endParaRPr/>
          </a:p>
        </p:txBody>
      </p:sp>
      <p:sp>
        <p:nvSpPr>
          <p:cNvPr id="13" name="Oval 12"/>
          <p:cNvSpPr/>
          <p:nvPr/>
        </p:nvSpPr>
        <p:spPr>
          <a:xfrm>
            <a:off x="3406140" y="1005839"/>
            <a:ext cx="548640" cy="548640"/>
          </a:xfrm>
          <a:prstGeom prst="ellipse">
            <a:avLst/>
          </a:prstGeom>
          <a:solidFill>
            <a:srgbClr val="BF210C"/>
          </a:solidFill>
          <a:ln>
            <a:noFill/>
          </a:ln>
        </p:spPr>
        <p:txBody>
          <a:bodyPr rtlCol="0" anchor="ctr"/>
          <a:lstStyle/>
          <a:p>
            <a:pPr algn="ctr"/>
            <a:endParaRPr/>
          </a:p>
        </p:txBody>
      </p:sp>
      <p:pic>
        <p:nvPicPr>
          <p:cNvPr id="14" name="Picture 13" descr="MdDns_blanco.png"/>
          <p:cNvPicPr>
            <a:picLocks noChangeAspect="1"/>
          </p:cNvPicPr>
          <p:nvPr/>
        </p:nvPicPr>
        <p:blipFill>
          <a:blip r:embed="rId4"/>
          <a:stretch>
            <a:fillRect/>
          </a:stretch>
        </p:blipFill>
        <p:spPr>
          <a:xfrm>
            <a:off x="3521354" y="1121054"/>
            <a:ext cx="318211" cy="318211"/>
          </a:xfrm>
          <a:prstGeom prst="rect">
            <a:avLst/>
          </a:prstGeom>
        </p:spPr>
      </p:pic>
      <p:sp>
        <p:nvSpPr>
          <p:cNvPr id="15" name="TextBox 14"/>
          <p:cNvSpPr txBox="1"/>
          <p:nvPr/>
        </p:nvSpPr>
        <p:spPr>
          <a:xfrm>
            <a:off x="4073652" y="1024127"/>
            <a:ext cx="1737360" cy="548640"/>
          </a:xfrm>
          <a:prstGeom prst="rect">
            <a:avLst/>
          </a:prstGeom>
          <a:noFill/>
        </p:spPr>
        <p:txBody>
          <a:bodyPr wrap="square" lIns="0" tIns="0" rIns="0" bIns="0" anchor="ctr">
            <a:noAutofit/>
          </a:bodyPr>
          <a:lstStyle/>
          <a:p>
            <a:pPr algn="l">
              <a:spcAft>
                <a:spcPts val="0"/>
              </a:spcAft>
            </a:pPr>
            <a:r>
              <a:rPr sz="1400" b="1" i="0">
                <a:solidFill>
                  <a:srgbClr val="003C58"/>
                </a:solidFill>
                <a:latin typeface="Swis721 Cn BT"/>
              </a:rPr>
              <a:t>Modelos de pesos abiertos</a:t>
            </a:r>
          </a:p>
        </p:txBody>
      </p:sp>
      <p:sp>
        <p:nvSpPr>
          <p:cNvPr id="16" name="TextBox 15"/>
          <p:cNvSpPr txBox="1"/>
          <p:nvPr/>
        </p:nvSpPr>
        <p:spPr>
          <a:xfrm>
            <a:off x="3433572" y="1673352"/>
            <a:ext cx="2286000" cy="566928"/>
          </a:xfrm>
          <a:prstGeom prst="rect">
            <a:avLst/>
          </a:prstGeom>
          <a:noFill/>
        </p:spPr>
        <p:txBody>
          <a:bodyPr wrap="square" lIns="0" tIns="0" rIns="0" bIns="0" anchor="t">
            <a:noAutofit/>
          </a:bodyPr>
          <a:lstStyle/>
          <a:p>
            <a:pPr algn="l">
              <a:spcAft>
                <a:spcPts val="0"/>
              </a:spcAft>
            </a:pPr>
            <a:r>
              <a:rPr sz="1150" b="1" i="0">
                <a:solidFill>
                  <a:srgbClr val="BF210C"/>
                </a:solidFill>
                <a:latin typeface="Swis721 Cn BT"/>
              </a:rPr>
              <a:t>DeepSeek · Qwen · Kimi · GLM (China) · Llama · Gemma · Mistral</a:t>
            </a:r>
          </a:p>
        </p:txBody>
      </p:sp>
      <p:sp>
        <p:nvSpPr>
          <p:cNvPr id="17" name="TextBox 16"/>
          <p:cNvSpPr txBox="1"/>
          <p:nvPr/>
        </p:nvSpPr>
        <p:spPr>
          <a:xfrm>
            <a:off x="3433572" y="2240280"/>
            <a:ext cx="2286000" cy="713232"/>
          </a:xfrm>
          <a:prstGeom prst="rect">
            <a:avLst/>
          </a:prstGeom>
          <a:noFill/>
        </p:spPr>
        <p:txBody>
          <a:bodyPr wrap="square" lIns="0" tIns="0" rIns="0" bIns="0" anchor="t">
            <a:noAutofit/>
          </a:bodyPr>
          <a:lstStyle/>
          <a:p>
            <a:pPr algn="l">
              <a:spcAft>
                <a:spcPts val="0"/>
              </a:spcAft>
            </a:pPr>
            <a:r>
              <a:rPr sz="1100" b="1" i="0">
                <a:solidFill>
                  <a:srgbClr val="1F2A30"/>
                </a:solidFill>
                <a:latin typeface="Swis721 Cn BT"/>
              </a:rPr>
              <a:t>+</a:t>
            </a:r>
            <a:r>
              <a:rPr sz="1100" b="0" i="0">
                <a:solidFill>
                  <a:srgbClr val="1F2A30"/>
                </a:solidFill>
                <a:latin typeface="Swis721 Cn BT"/>
              </a:rPr>
              <a:t> Se pueden instalar en servidores propios: privacidad y adaptación.</a:t>
            </a:r>
          </a:p>
        </p:txBody>
      </p:sp>
      <p:sp>
        <p:nvSpPr>
          <p:cNvPr id="18" name="TextBox 17"/>
          <p:cNvSpPr txBox="1"/>
          <p:nvPr/>
        </p:nvSpPr>
        <p:spPr>
          <a:xfrm>
            <a:off x="3433572" y="2926080"/>
            <a:ext cx="2286000" cy="685800"/>
          </a:xfrm>
          <a:prstGeom prst="rect">
            <a:avLst/>
          </a:prstGeom>
          <a:noFill/>
        </p:spPr>
        <p:txBody>
          <a:bodyPr wrap="square" lIns="0" tIns="0" rIns="0" bIns="0" anchor="t">
            <a:noAutofit/>
          </a:bodyPr>
          <a:lstStyle/>
          <a:p>
            <a:pPr algn="l">
              <a:spcAft>
                <a:spcPts val="0"/>
              </a:spcAft>
            </a:pPr>
            <a:r>
              <a:rPr sz="1100" b="1" i="0">
                <a:solidFill>
                  <a:srgbClr val="BF210C"/>
                </a:solidFill>
                <a:latin typeface="Swis721 Cn BT"/>
              </a:rPr>
              <a:t>–</a:t>
            </a:r>
            <a:r>
              <a:rPr sz="1100" b="0" i="0">
                <a:solidFill>
                  <a:srgbClr val="1F2A30"/>
                </a:solidFill>
                <a:latin typeface="Swis721 Cn BT"/>
              </a:rPr>
              <a:t> Requieren equipo técnico; su app web pública también es un servicio externo.</a:t>
            </a:r>
          </a:p>
        </p:txBody>
      </p:sp>
      <p:sp>
        <p:nvSpPr>
          <p:cNvPr id="19" name="Rounded Rectangle 18"/>
          <p:cNvSpPr/>
          <p:nvPr/>
        </p:nvSpPr>
        <p:spPr>
          <a:xfrm>
            <a:off x="6035040" y="868680"/>
            <a:ext cx="2606040" cy="2788920"/>
          </a:xfrm>
          <a:prstGeom prst="roundRect">
            <a:avLst>
              <a:gd name="adj" fmla="val 4210"/>
            </a:avLst>
          </a:prstGeom>
          <a:solidFill>
            <a:srgbClr val="E8F0F4"/>
          </a:solidFill>
          <a:ln>
            <a:noFill/>
          </a:ln>
        </p:spPr>
        <p:txBody>
          <a:bodyPr rtlCol="0" anchor="ctr"/>
          <a:lstStyle/>
          <a:p>
            <a:pPr algn="ctr"/>
            <a:endParaRPr/>
          </a:p>
        </p:txBody>
      </p:sp>
      <p:sp>
        <p:nvSpPr>
          <p:cNvPr id="20" name="Oval 19"/>
          <p:cNvSpPr/>
          <p:nvPr/>
        </p:nvSpPr>
        <p:spPr>
          <a:xfrm>
            <a:off x="6172200" y="1005839"/>
            <a:ext cx="548640" cy="548640"/>
          </a:xfrm>
          <a:prstGeom prst="ellipse">
            <a:avLst/>
          </a:prstGeom>
          <a:solidFill>
            <a:srgbClr val="06717E"/>
          </a:solidFill>
          <a:ln>
            <a:noFill/>
          </a:ln>
        </p:spPr>
        <p:txBody>
          <a:bodyPr rtlCol="0" anchor="ctr"/>
          <a:lstStyle/>
          <a:p>
            <a:pPr algn="ctr"/>
            <a:endParaRPr/>
          </a:p>
        </p:txBody>
      </p:sp>
      <p:pic>
        <p:nvPicPr>
          <p:cNvPr id="21" name="Picture 20" descr="MdSearch_blanco.png"/>
          <p:cNvPicPr>
            <a:picLocks noChangeAspect="1"/>
          </p:cNvPicPr>
          <p:nvPr/>
        </p:nvPicPr>
        <p:blipFill>
          <a:blip r:embed="rId5"/>
          <a:stretch>
            <a:fillRect/>
          </a:stretch>
        </p:blipFill>
        <p:spPr>
          <a:xfrm>
            <a:off x="6287414" y="1121054"/>
            <a:ext cx="318211" cy="318211"/>
          </a:xfrm>
          <a:prstGeom prst="rect">
            <a:avLst/>
          </a:prstGeom>
        </p:spPr>
      </p:pic>
      <p:sp>
        <p:nvSpPr>
          <p:cNvPr id="22" name="TextBox 21"/>
          <p:cNvSpPr txBox="1"/>
          <p:nvPr/>
        </p:nvSpPr>
        <p:spPr>
          <a:xfrm>
            <a:off x="6839712" y="1024127"/>
            <a:ext cx="1737360" cy="548640"/>
          </a:xfrm>
          <a:prstGeom prst="rect">
            <a:avLst/>
          </a:prstGeom>
          <a:noFill/>
        </p:spPr>
        <p:txBody>
          <a:bodyPr wrap="square" lIns="0" tIns="0" rIns="0" bIns="0" anchor="ctr">
            <a:noAutofit/>
          </a:bodyPr>
          <a:lstStyle/>
          <a:p>
            <a:pPr algn="l">
              <a:spcAft>
                <a:spcPts val="0"/>
              </a:spcAft>
            </a:pPr>
            <a:r>
              <a:rPr sz="1400" b="1" i="0">
                <a:solidFill>
                  <a:srgbClr val="003C58"/>
                </a:solidFill>
                <a:latin typeface="Swis721 Cn BT"/>
              </a:rPr>
              <a:t>Buscadores con IA y citas</a:t>
            </a:r>
          </a:p>
        </p:txBody>
      </p:sp>
      <p:sp>
        <p:nvSpPr>
          <p:cNvPr id="23" name="TextBox 22"/>
          <p:cNvSpPr txBox="1"/>
          <p:nvPr/>
        </p:nvSpPr>
        <p:spPr>
          <a:xfrm>
            <a:off x="6199631" y="1673352"/>
            <a:ext cx="2286000" cy="566928"/>
          </a:xfrm>
          <a:prstGeom prst="rect">
            <a:avLst/>
          </a:prstGeom>
          <a:noFill/>
        </p:spPr>
        <p:txBody>
          <a:bodyPr wrap="square" lIns="0" tIns="0" rIns="0" bIns="0" anchor="t">
            <a:noAutofit/>
          </a:bodyPr>
          <a:lstStyle/>
          <a:p>
            <a:pPr algn="l">
              <a:spcAft>
                <a:spcPts val="0"/>
              </a:spcAft>
            </a:pPr>
            <a:r>
              <a:rPr sz="1150" b="1" i="0">
                <a:solidFill>
                  <a:srgbClr val="003C58"/>
                </a:solidFill>
                <a:latin typeface="Swis721 Cn BT"/>
              </a:rPr>
              <a:t>Perplexity · OpenEvidence · Consensus</a:t>
            </a:r>
          </a:p>
        </p:txBody>
      </p:sp>
      <p:sp>
        <p:nvSpPr>
          <p:cNvPr id="24" name="TextBox 23"/>
          <p:cNvSpPr txBox="1"/>
          <p:nvPr/>
        </p:nvSpPr>
        <p:spPr>
          <a:xfrm>
            <a:off x="6199631" y="2240280"/>
            <a:ext cx="2286000" cy="713232"/>
          </a:xfrm>
          <a:prstGeom prst="rect">
            <a:avLst/>
          </a:prstGeom>
          <a:noFill/>
        </p:spPr>
        <p:txBody>
          <a:bodyPr wrap="square" lIns="0" tIns="0" rIns="0" bIns="0" anchor="t">
            <a:noAutofit/>
          </a:bodyPr>
          <a:lstStyle/>
          <a:p>
            <a:pPr algn="l">
              <a:spcAft>
                <a:spcPts val="0"/>
              </a:spcAft>
            </a:pPr>
            <a:r>
              <a:rPr sz="1100" b="1" i="0">
                <a:solidFill>
                  <a:srgbClr val="1F2A30"/>
                </a:solidFill>
                <a:latin typeface="Swis721 Cn BT"/>
              </a:rPr>
              <a:t>+</a:t>
            </a:r>
            <a:r>
              <a:rPr sz="1100" b="0" i="0">
                <a:solidFill>
                  <a:srgbClr val="1F2A30"/>
                </a:solidFill>
                <a:latin typeface="Swis721 Cn BT"/>
              </a:rPr>
              <a:t> Responden con referencias enlazadas: buen punto de partida para buscar evidencia.</a:t>
            </a:r>
          </a:p>
        </p:txBody>
      </p:sp>
      <p:sp>
        <p:nvSpPr>
          <p:cNvPr id="25" name="TextBox 24"/>
          <p:cNvSpPr txBox="1"/>
          <p:nvPr/>
        </p:nvSpPr>
        <p:spPr>
          <a:xfrm>
            <a:off x="6199631" y="2926080"/>
            <a:ext cx="2286000" cy="685800"/>
          </a:xfrm>
          <a:prstGeom prst="rect">
            <a:avLst/>
          </a:prstGeom>
          <a:noFill/>
        </p:spPr>
        <p:txBody>
          <a:bodyPr wrap="square" lIns="0" tIns="0" rIns="0" bIns="0" anchor="t">
            <a:noAutofit/>
          </a:bodyPr>
          <a:lstStyle/>
          <a:p>
            <a:pPr algn="l">
              <a:spcAft>
                <a:spcPts val="0"/>
              </a:spcAft>
            </a:pPr>
            <a:r>
              <a:rPr sz="1100" b="1" i="0">
                <a:solidFill>
                  <a:srgbClr val="BF210C"/>
                </a:solidFill>
                <a:latin typeface="Swis721 Cn BT"/>
              </a:rPr>
              <a:t>–</a:t>
            </a:r>
            <a:r>
              <a:rPr sz="1100" b="0" i="0">
                <a:solidFill>
                  <a:srgbClr val="1F2A30"/>
                </a:solidFill>
                <a:latin typeface="Swis721 Cn BT"/>
              </a:rPr>
              <a:t> También citan mal: se verifica cada referencia.</a:t>
            </a:r>
          </a:p>
        </p:txBody>
      </p:sp>
      <p:sp>
        <p:nvSpPr>
          <p:cNvPr id="26" name="TextBox 25"/>
          <p:cNvSpPr txBox="1"/>
          <p:nvPr/>
        </p:nvSpPr>
        <p:spPr>
          <a:xfrm>
            <a:off x="502920" y="3749039"/>
            <a:ext cx="8138159" cy="320040"/>
          </a:xfrm>
          <a:prstGeom prst="rect">
            <a:avLst/>
          </a:prstGeom>
          <a:noFill/>
        </p:spPr>
        <p:txBody>
          <a:bodyPr wrap="square" lIns="0" tIns="0" rIns="0" bIns="0" anchor="t">
            <a:noAutofit/>
          </a:bodyPr>
          <a:lstStyle/>
          <a:p>
            <a:pPr algn="ctr">
              <a:spcAft>
                <a:spcPts val="0"/>
              </a:spcAft>
            </a:pPr>
            <a:r>
              <a:rPr sz="1100" b="0" i="1">
                <a:solidFill>
                  <a:srgbClr val="5B6B73"/>
                </a:solidFill>
                <a:latin typeface="Swis721 Cn BT"/>
              </a:rPr>
              <a:t>Nombres vigentes a octubre de 2026. Los productos cambian rápido; el método perdura.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 compararlas, ninguna gana siempre: el método decide</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[17] Wang et al., 2025 · [18] Yapıcı Coşkun et al., 2025 · [10] Ayala-Yáñez et al., 2026 · [19] Chen et al., 2024</a:t>
            </a:r>
          </a:p>
        </p:txBody>
      </p:sp>
      <p:sp>
        <p:nvSpPr>
          <p:cNvPr id="5" name="Rounded Rectangle 4"/>
          <p:cNvSpPr/>
          <p:nvPr/>
        </p:nvSpPr>
        <p:spPr>
          <a:xfrm>
            <a:off x="502920" y="868680"/>
            <a:ext cx="4000500" cy="1508760"/>
          </a:xfrm>
          <a:prstGeom prst="roundRect">
            <a:avLst>
              <a:gd name="adj" fmla="val 7272"/>
            </a:avLst>
          </a:prstGeom>
          <a:solidFill>
            <a:srgbClr val="E8F0F4"/>
          </a:solidFill>
          <a:ln>
            <a:noFill/>
          </a:ln>
        </p:spPr>
        <p:txBody>
          <a:bodyPr rtlCol="0" anchor="ctr"/>
          <a:lstStyle/>
          <a:p>
            <a:pPr algn="ctr"/>
            <a:endParaRPr/>
          </a:p>
        </p:txBody>
      </p:sp>
      <p:sp>
        <p:nvSpPr>
          <p:cNvPr id="6" name="TextBox 5"/>
          <p:cNvSpPr txBox="1"/>
          <p:nvPr/>
        </p:nvSpPr>
        <p:spPr>
          <a:xfrm>
            <a:off x="594360" y="960120"/>
            <a:ext cx="1645920" cy="1325880"/>
          </a:xfrm>
          <a:prstGeom prst="rect">
            <a:avLst/>
          </a:prstGeom>
          <a:noFill/>
        </p:spPr>
        <p:txBody>
          <a:bodyPr wrap="square" lIns="0" tIns="0" rIns="0" bIns="0" anchor="ctr">
            <a:noAutofit/>
          </a:bodyPr>
          <a:lstStyle/>
          <a:p>
            <a:pPr algn="ctr">
              <a:spcAft>
                <a:spcPts val="0"/>
              </a:spcAft>
            </a:pPr>
            <a:r>
              <a:rPr sz="2000" b="1" i="0">
                <a:solidFill>
                  <a:srgbClr val="BF210C"/>
                </a:solidFill>
                <a:latin typeface="Swis721 Cn BT"/>
              </a:rPr>
              <a:t>96 %
vs 75 %</a:t>
            </a:r>
          </a:p>
        </p:txBody>
      </p:sp>
      <p:sp>
        <p:nvSpPr>
          <p:cNvPr id="7" name="TextBox 6"/>
          <p:cNvSpPr txBox="1"/>
          <p:nvPr/>
        </p:nvSpPr>
        <p:spPr>
          <a:xfrm>
            <a:off x="2331720" y="1005839"/>
            <a:ext cx="2057400" cy="27432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El idioma pesa</a:t>
            </a:r>
          </a:p>
        </p:txBody>
      </p:sp>
      <p:sp>
        <p:nvSpPr>
          <p:cNvPr id="8" name="TextBox 7"/>
          <p:cNvSpPr txBox="1"/>
          <p:nvPr/>
        </p:nvSpPr>
        <p:spPr>
          <a:xfrm>
            <a:off x="2331720" y="1307592"/>
            <a:ext cx="2057400" cy="10241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DeepSeek-R1 superó a GPT-4o en el examen médico nacional chino, en chino. Prueba con casos en español.</a:t>
            </a:r>
          </a:p>
        </p:txBody>
      </p:sp>
      <p:sp>
        <p:nvSpPr>
          <p:cNvPr id="9" name="Rounded Rectangle 8"/>
          <p:cNvSpPr/>
          <p:nvPr/>
        </p:nvSpPr>
        <p:spPr>
          <a:xfrm>
            <a:off x="4640580" y="868680"/>
            <a:ext cx="4000500" cy="1508760"/>
          </a:xfrm>
          <a:prstGeom prst="roundRect">
            <a:avLst>
              <a:gd name="adj" fmla="val 7272"/>
            </a:avLst>
          </a:prstGeom>
          <a:solidFill>
            <a:srgbClr val="E8F0F4"/>
          </a:solidFill>
          <a:ln>
            <a:noFill/>
          </a:ln>
        </p:spPr>
        <p:txBody>
          <a:bodyPr rtlCol="0" anchor="ctr"/>
          <a:lstStyle/>
          <a:p>
            <a:pPr algn="ctr"/>
            <a:endParaRPr/>
          </a:p>
        </p:txBody>
      </p:sp>
      <p:sp>
        <p:nvSpPr>
          <p:cNvPr id="10" name="TextBox 9"/>
          <p:cNvSpPr txBox="1"/>
          <p:nvPr/>
        </p:nvSpPr>
        <p:spPr>
          <a:xfrm>
            <a:off x="4732020" y="960120"/>
            <a:ext cx="1645920" cy="1325880"/>
          </a:xfrm>
          <a:prstGeom prst="rect">
            <a:avLst/>
          </a:prstGeom>
          <a:noFill/>
        </p:spPr>
        <p:txBody>
          <a:bodyPr wrap="square" lIns="0" tIns="0" rIns="0" bIns="0" anchor="ctr">
            <a:noAutofit/>
          </a:bodyPr>
          <a:lstStyle/>
          <a:p>
            <a:pPr algn="ctr">
              <a:spcAft>
                <a:spcPts val="0"/>
              </a:spcAft>
            </a:pPr>
            <a:r>
              <a:rPr sz="2000" b="1" i="0">
                <a:solidFill>
                  <a:srgbClr val="003C58"/>
                </a:solidFill>
                <a:latin typeface="Swis721 Cn BT"/>
              </a:rPr>
              <a:t>≈ 91 %</a:t>
            </a:r>
          </a:p>
        </p:txBody>
      </p:sp>
      <p:sp>
        <p:nvSpPr>
          <p:cNvPr id="11" name="TextBox 10"/>
          <p:cNvSpPr txBox="1"/>
          <p:nvPr/>
        </p:nvSpPr>
        <p:spPr>
          <a:xfrm>
            <a:off x="6469380" y="1005839"/>
            <a:ext cx="2057400" cy="27432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Rendimiento similar</a:t>
            </a:r>
          </a:p>
        </p:txBody>
      </p:sp>
      <p:sp>
        <p:nvSpPr>
          <p:cNvPr id="12" name="TextBox 11"/>
          <p:cNvSpPr txBox="1"/>
          <p:nvPr/>
        </p:nvSpPr>
        <p:spPr>
          <a:xfrm>
            <a:off x="6469380" y="1307592"/>
            <a:ext cx="2057400" cy="10241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Ítems de concordancia de scripts en ginecoobstetricia: ChatGPT-4o 90,6 % y Claude 3.5 Sonnet 91,5 % cumplieron criterios.</a:t>
            </a:r>
          </a:p>
        </p:txBody>
      </p:sp>
      <p:sp>
        <p:nvSpPr>
          <p:cNvPr id="13" name="Rounded Rectangle 12"/>
          <p:cNvSpPr/>
          <p:nvPr/>
        </p:nvSpPr>
        <p:spPr>
          <a:xfrm>
            <a:off x="502920" y="2514600"/>
            <a:ext cx="4000500" cy="1508760"/>
          </a:xfrm>
          <a:prstGeom prst="roundRect">
            <a:avLst>
              <a:gd name="adj" fmla="val 7272"/>
            </a:avLst>
          </a:prstGeom>
          <a:solidFill>
            <a:srgbClr val="E8F0F4"/>
          </a:solidFill>
          <a:ln>
            <a:noFill/>
          </a:ln>
        </p:spPr>
        <p:txBody>
          <a:bodyPr rtlCol="0" anchor="ctr"/>
          <a:lstStyle/>
          <a:p>
            <a:pPr algn="ctr"/>
            <a:endParaRPr/>
          </a:p>
        </p:txBody>
      </p:sp>
      <p:sp>
        <p:nvSpPr>
          <p:cNvPr id="14" name="TextBox 13"/>
          <p:cNvSpPr txBox="1"/>
          <p:nvPr/>
        </p:nvSpPr>
        <p:spPr>
          <a:xfrm>
            <a:off x="594360" y="2606040"/>
            <a:ext cx="1645920" cy="1325880"/>
          </a:xfrm>
          <a:prstGeom prst="rect">
            <a:avLst/>
          </a:prstGeom>
          <a:noFill/>
        </p:spPr>
        <p:txBody>
          <a:bodyPr wrap="square" lIns="0" tIns="0" rIns="0" bIns="0" anchor="ctr">
            <a:noAutofit/>
          </a:bodyPr>
          <a:lstStyle/>
          <a:p>
            <a:pPr algn="ctr">
              <a:spcAft>
                <a:spcPts val="0"/>
              </a:spcAft>
            </a:pPr>
            <a:r>
              <a:rPr sz="2000" b="1" i="0">
                <a:solidFill>
                  <a:srgbClr val="003C58"/>
                </a:solidFill>
                <a:latin typeface="Swis721 Cn BT"/>
              </a:rPr>
              <a:t>35–70 %</a:t>
            </a:r>
          </a:p>
        </p:txBody>
      </p:sp>
      <p:sp>
        <p:nvSpPr>
          <p:cNvPr id="15" name="TextBox 14"/>
          <p:cNvSpPr txBox="1"/>
          <p:nvPr/>
        </p:nvSpPr>
        <p:spPr>
          <a:xfrm>
            <a:off x="2331720" y="2651760"/>
            <a:ext cx="2057400" cy="27432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Ahorra tiempo</a:t>
            </a:r>
          </a:p>
        </p:txBody>
      </p:sp>
      <p:sp>
        <p:nvSpPr>
          <p:cNvPr id="16" name="TextBox 15"/>
          <p:cNvSpPr txBox="1"/>
          <p:nvPr/>
        </p:nvSpPr>
        <p:spPr>
          <a:xfrm>
            <a:off x="2331720" y="2953512"/>
            <a:ext cx="2057400" cy="10241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Revisión de literatura perinatal con cuatro plataformas: todas requirieron corregir citas.</a:t>
            </a:r>
          </a:p>
        </p:txBody>
      </p:sp>
      <p:sp>
        <p:nvSpPr>
          <p:cNvPr id="17" name="Rounded Rectangle 16"/>
          <p:cNvSpPr/>
          <p:nvPr/>
        </p:nvSpPr>
        <p:spPr>
          <a:xfrm>
            <a:off x="4640580" y="2514600"/>
            <a:ext cx="4000500" cy="1508760"/>
          </a:xfrm>
          <a:prstGeom prst="roundRect">
            <a:avLst>
              <a:gd name="adj" fmla="val 7272"/>
            </a:avLst>
          </a:prstGeom>
          <a:solidFill>
            <a:srgbClr val="E8F0F4"/>
          </a:solidFill>
          <a:ln>
            <a:noFill/>
          </a:ln>
        </p:spPr>
        <p:txBody>
          <a:bodyPr rtlCol="0" anchor="ctr"/>
          <a:lstStyle/>
          <a:p>
            <a:pPr algn="ctr"/>
            <a:endParaRPr/>
          </a:p>
        </p:txBody>
      </p:sp>
      <p:sp>
        <p:nvSpPr>
          <p:cNvPr id="18" name="TextBox 17"/>
          <p:cNvSpPr txBox="1"/>
          <p:nvPr/>
        </p:nvSpPr>
        <p:spPr>
          <a:xfrm>
            <a:off x="4732020" y="2606040"/>
            <a:ext cx="1645920" cy="1325880"/>
          </a:xfrm>
          <a:prstGeom prst="rect">
            <a:avLst/>
          </a:prstGeom>
          <a:noFill/>
        </p:spPr>
        <p:txBody>
          <a:bodyPr wrap="square" lIns="0" tIns="0" rIns="0" bIns="0" anchor="ctr">
            <a:noAutofit/>
          </a:bodyPr>
          <a:lstStyle/>
          <a:p>
            <a:pPr algn="ctr">
              <a:spcAft>
                <a:spcPts val="0"/>
              </a:spcAft>
            </a:pPr>
            <a:r>
              <a:rPr sz="2000" b="1" i="0">
                <a:solidFill>
                  <a:srgbClr val="BF210C"/>
                </a:solidFill>
                <a:latin typeface="Swis721 Cn BT"/>
              </a:rPr>
              <a:t>84 %
→ 51 %</a:t>
            </a:r>
          </a:p>
        </p:txBody>
      </p:sp>
      <p:sp>
        <p:nvSpPr>
          <p:cNvPr id="19" name="TextBox 18"/>
          <p:cNvSpPr txBox="1"/>
          <p:nvPr/>
        </p:nvSpPr>
        <p:spPr>
          <a:xfrm>
            <a:off x="6469380" y="2651760"/>
            <a:ext cx="2057400" cy="27432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El mismo modelo cambia</a:t>
            </a:r>
          </a:p>
        </p:txBody>
      </p:sp>
      <p:sp>
        <p:nvSpPr>
          <p:cNvPr id="20" name="TextBox 19"/>
          <p:cNvSpPr txBox="1"/>
          <p:nvPr/>
        </p:nvSpPr>
        <p:spPr>
          <a:xfrm>
            <a:off x="6469380" y="2953512"/>
            <a:ext cx="2057400" cy="1024128"/>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GPT-4 bajó su acierto en una tarea en solo tres meses (marzo a junio de 2023).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Sección 3 de 5</a:t>
            </a:r>
          </a:p>
        </p:txBody>
      </p:sp>
      <p:sp>
        <p:nvSpPr>
          <p:cNvPr id="3" name="TextBox 2"/>
          <p:cNvSpPr txBox="1"/>
          <p:nvPr/>
        </p:nvSpPr>
        <p:spPr>
          <a:xfrm>
            <a:off x="594360" y="960120"/>
            <a:ext cx="1737360" cy="1188720"/>
          </a:xfrm>
          <a:prstGeom prst="rect">
            <a:avLst/>
          </a:prstGeom>
          <a:noFill/>
        </p:spPr>
        <p:txBody>
          <a:bodyPr wrap="square" lIns="0" tIns="0" rIns="0" bIns="0" anchor="t">
            <a:noAutofit/>
          </a:bodyPr>
          <a:lstStyle/>
          <a:p>
            <a:pPr algn="l">
              <a:spcAft>
                <a:spcPts val="0"/>
              </a:spcAft>
            </a:pPr>
            <a:r>
              <a:rPr sz="8000" b="1" i="0">
                <a:solidFill>
                  <a:srgbClr val="BF210C"/>
                </a:solidFill>
                <a:latin typeface="Swis721 Cn BT"/>
              </a:rPr>
              <a:t>03</a:t>
            </a:r>
          </a:p>
        </p:txBody>
      </p:sp>
      <p:sp>
        <p:nvSpPr>
          <p:cNvPr id="4" name="Oval 3"/>
          <p:cNvSpPr/>
          <p:nvPr/>
        </p:nvSpPr>
        <p:spPr>
          <a:xfrm>
            <a:off x="822959" y="2514600"/>
            <a:ext cx="1005840" cy="1005840"/>
          </a:xfrm>
          <a:prstGeom prst="ellipse">
            <a:avLst/>
          </a:prstGeom>
          <a:solidFill>
            <a:srgbClr val="06717E"/>
          </a:solidFill>
          <a:ln>
            <a:noFill/>
          </a:ln>
        </p:spPr>
        <p:txBody>
          <a:bodyPr rtlCol="0" anchor="ctr"/>
          <a:lstStyle/>
          <a:p>
            <a:pPr algn="ctr"/>
            <a:endParaRPr/>
          </a:p>
        </p:txBody>
      </p:sp>
      <p:pic>
        <p:nvPicPr>
          <p:cNvPr id="5" name="Picture 4" descr="MdCompareArrows_blanco.png"/>
          <p:cNvPicPr>
            <a:picLocks noChangeAspect="1"/>
          </p:cNvPicPr>
          <p:nvPr/>
        </p:nvPicPr>
        <p:blipFill>
          <a:blip r:embed="rId3"/>
          <a:stretch>
            <a:fillRect/>
          </a:stretch>
        </p:blipFill>
        <p:spPr>
          <a:xfrm>
            <a:off x="1034186" y="2725826"/>
            <a:ext cx="583387" cy="583387"/>
          </a:xfrm>
          <a:prstGeom prst="rect">
            <a:avLst/>
          </a:prstGeom>
        </p:spPr>
      </p:pic>
      <p:sp>
        <p:nvSpPr>
          <p:cNvPr id="6" name="TextBox 5"/>
          <p:cNvSpPr txBox="1"/>
          <p:nvPr/>
        </p:nvSpPr>
        <p:spPr>
          <a:xfrm>
            <a:off x="2606040" y="868680"/>
            <a:ext cx="6035040" cy="822960"/>
          </a:xfrm>
          <a:prstGeom prst="rect">
            <a:avLst/>
          </a:prstGeom>
          <a:noFill/>
        </p:spPr>
        <p:txBody>
          <a:bodyPr wrap="square" lIns="0" tIns="0" rIns="0" bIns="0" anchor="b">
            <a:noAutofit/>
          </a:bodyPr>
          <a:lstStyle/>
          <a:p>
            <a:pPr algn="l">
              <a:spcAft>
                <a:spcPts val="0"/>
              </a:spcAft>
            </a:pPr>
            <a:r>
              <a:rPr sz="2600" b="1" i="0">
                <a:solidFill>
                  <a:srgbClr val="003C58"/>
                </a:solidFill>
                <a:latin typeface="Swis721 Cn BT"/>
              </a:rPr>
              <a:t>Pensamiento agnóstico</a:t>
            </a:r>
          </a:p>
        </p:txBody>
      </p:sp>
      <p:sp>
        <p:nvSpPr>
          <p:cNvPr id="7" name="TextBox 6"/>
          <p:cNvSpPr txBox="1"/>
          <p:nvPr/>
        </p:nvSpPr>
        <p:spPr>
          <a:xfrm>
            <a:off x="2606040" y="1755648"/>
            <a:ext cx="6035040" cy="658368"/>
          </a:xfrm>
          <a:prstGeom prst="rect">
            <a:avLst/>
          </a:prstGeom>
          <a:noFill/>
        </p:spPr>
        <p:txBody>
          <a:bodyPr wrap="square" lIns="0" tIns="0" rIns="0" bIns="0" anchor="t">
            <a:noAutofit/>
          </a:bodyPr>
          <a:lstStyle/>
          <a:p>
            <a:pPr algn="l">
              <a:spcAft>
                <a:spcPts val="0"/>
              </a:spcAft>
            </a:pPr>
            <a:r>
              <a:rPr sz="1600" b="0" i="1">
                <a:solidFill>
                  <a:srgbClr val="2F6E8C"/>
                </a:solidFill>
                <a:latin typeface="Swis721 Cn BT"/>
              </a:rPr>
              <a:t>¿Y si mañana cambia el modelo, o la institución contrata otro?</a:t>
            </a:r>
          </a:p>
        </p:txBody>
      </p:sp>
      <p:sp>
        <p:nvSpPr>
          <p:cNvPr id="8" name="TextBox 7"/>
          <p:cNvSpPr txBox="1"/>
          <p:nvPr/>
        </p:nvSpPr>
        <p:spPr>
          <a:xfrm>
            <a:off x="2606040" y="2487168"/>
            <a:ext cx="6035040" cy="274320"/>
          </a:xfrm>
          <a:prstGeom prst="rect">
            <a:avLst/>
          </a:prstGeom>
          <a:noFill/>
        </p:spPr>
        <p:txBody>
          <a:bodyPr wrap="square" lIns="0" tIns="0" rIns="0" bIns="0" anchor="t">
            <a:noAutofit/>
          </a:bodyPr>
          <a:lstStyle/>
          <a:p>
            <a:pPr algn="l">
              <a:spcAft>
                <a:spcPts val="0"/>
              </a:spcAft>
            </a:pPr>
            <a:r>
              <a:rPr sz="1200" b="1" i="0">
                <a:solidFill>
                  <a:srgbClr val="5B6B73"/>
                </a:solidFill>
                <a:latin typeface="Swis721 Cn BT"/>
              </a:rPr>
              <a:t>En esta sección</a:t>
            </a:r>
          </a:p>
        </p:txBody>
      </p:sp>
      <p:sp>
        <p:nvSpPr>
          <p:cNvPr id="9" name="Oval 8"/>
          <p:cNvSpPr/>
          <p:nvPr/>
        </p:nvSpPr>
        <p:spPr>
          <a:xfrm>
            <a:off x="2633472" y="2871215"/>
            <a:ext cx="118872" cy="118872"/>
          </a:xfrm>
          <a:prstGeom prst="ellipse">
            <a:avLst/>
          </a:prstGeom>
          <a:solidFill>
            <a:srgbClr val="C00000"/>
          </a:solidFill>
          <a:ln>
            <a:noFill/>
          </a:ln>
        </p:spPr>
        <p:txBody>
          <a:bodyPr rtlCol="0" anchor="ctr"/>
          <a:lstStyle/>
          <a:p>
            <a:pPr algn="ctr"/>
            <a:endParaRPr/>
          </a:p>
        </p:txBody>
      </p:sp>
      <p:sp>
        <p:nvSpPr>
          <p:cNvPr id="10" name="TextBox 9"/>
          <p:cNvSpPr txBox="1"/>
          <p:nvPr/>
        </p:nvSpPr>
        <p:spPr>
          <a:xfrm>
            <a:off x="2880360" y="2788920"/>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El método es tuyo; el modelo, reemplazable</a:t>
            </a:r>
          </a:p>
        </p:txBody>
      </p:sp>
      <p:sp>
        <p:nvSpPr>
          <p:cNvPr id="11" name="Oval 10"/>
          <p:cNvSpPr/>
          <p:nvPr/>
        </p:nvSpPr>
        <p:spPr>
          <a:xfrm>
            <a:off x="2633472" y="3182111"/>
            <a:ext cx="118872" cy="118872"/>
          </a:xfrm>
          <a:prstGeom prst="ellipse">
            <a:avLst/>
          </a:prstGeom>
          <a:solidFill>
            <a:srgbClr val="C00000"/>
          </a:solidFill>
          <a:ln>
            <a:noFill/>
          </a:ln>
        </p:spPr>
        <p:txBody>
          <a:bodyPr rtlCol="0" anchor="ctr"/>
          <a:lstStyle/>
          <a:p>
            <a:pPr algn="ctr"/>
            <a:endParaRPr/>
          </a:p>
        </p:txBody>
      </p:sp>
      <p:sp>
        <p:nvSpPr>
          <p:cNvPr id="12" name="TextBox 11"/>
          <p:cNvSpPr txBox="1"/>
          <p:nvPr/>
        </p:nvSpPr>
        <p:spPr>
          <a:xfrm>
            <a:off x="2880360" y="3099815"/>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Elegir por capacidad, no por marca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El método es tuyo; el modelo es un componente reemplazable</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[20] Amugongo et al., 2025 · [21] Liu et al., 2025 · [22] Gallifant et al., 2025</a:t>
            </a:r>
          </a:p>
        </p:txBody>
      </p:sp>
      <p:cxnSp>
        <p:nvCxnSpPr>
          <p:cNvPr id="5" name="Connector 4"/>
          <p:cNvCxnSpPr/>
          <p:nvPr/>
        </p:nvCxnSpPr>
        <p:spPr>
          <a:xfrm flipV="1">
            <a:off x="2377440" y="1207008"/>
            <a:ext cx="0" cy="1261872"/>
          </a:xfrm>
          <a:prstGeom prst="line">
            <a:avLst/>
          </a:prstGeom>
          <a:ln w="15875">
            <a:solidFill>
              <a:srgbClr val="2F6E8C"/>
            </a:solidFill>
            <a:prstDash val="dash"/>
          </a:ln>
        </p:spPr>
      </p:cxnSp>
      <p:sp>
        <p:nvSpPr>
          <p:cNvPr id="6" name="Rounded Rectangle 5"/>
          <p:cNvSpPr/>
          <p:nvPr/>
        </p:nvSpPr>
        <p:spPr>
          <a:xfrm>
            <a:off x="1901952" y="1051560"/>
            <a:ext cx="950976" cy="310896"/>
          </a:xfrm>
          <a:prstGeom prst="roundRect">
            <a:avLst>
              <a:gd name="adj" fmla="val 50000"/>
            </a:avLst>
          </a:prstGeom>
          <a:solidFill>
            <a:srgbClr val="FFFFFF"/>
          </a:solidFill>
          <a:ln w="12700">
            <a:solidFill>
              <a:srgbClr val="2F6E8C"/>
            </a:solidFill>
          </a:ln>
        </p:spPr>
        <p:txBody>
          <a:bodyPr wrap="square" lIns="18288" tIns="18288" rIns="18288" bIns="18288" rtlCol="0" anchor="ctr">
            <a:noAutofit/>
          </a:bodyPr>
          <a:lstStyle/>
          <a:p>
            <a:pPr algn="ctr">
              <a:spcAft>
                <a:spcPts val="0"/>
              </a:spcAft>
            </a:pPr>
            <a:r>
              <a:rPr sz="1050" b="0" i="0">
                <a:solidFill>
                  <a:srgbClr val="1F2A30"/>
                </a:solidFill>
                <a:latin typeface="Swis721 Cn BT"/>
              </a:rPr>
              <a:t>ChatGPT</a:t>
            </a:r>
          </a:p>
        </p:txBody>
      </p:sp>
      <p:cxnSp>
        <p:nvCxnSpPr>
          <p:cNvPr id="7" name="Connector 6"/>
          <p:cNvCxnSpPr/>
          <p:nvPr/>
        </p:nvCxnSpPr>
        <p:spPr>
          <a:xfrm flipV="1">
            <a:off x="2377440" y="1576601"/>
            <a:ext cx="969867" cy="892279"/>
          </a:xfrm>
          <a:prstGeom prst="line">
            <a:avLst/>
          </a:prstGeom>
          <a:ln w="15875">
            <a:solidFill>
              <a:srgbClr val="2F6E8C"/>
            </a:solidFill>
            <a:prstDash val="dash"/>
          </a:ln>
        </p:spPr>
      </p:cxnSp>
      <p:sp>
        <p:nvSpPr>
          <p:cNvPr id="8" name="Rounded Rectangle 7"/>
          <p:cNvSpPr/>
          <p:nvPr/>
        </p:nvSpPr>
        <p:spPr>
          <a:xfrm>
            <a:off x="2871819" y="1421153"/>
            <a:ext cx="950976" cy="310896"/>
          </a:xfrm>
          <a:prstGeom prst="roundRect">
            <a:avLst>
              <a:gd name="adj" fmla="val 50000"/>
            </a:avLst>
          </a:prstGeom>
          <a:solidFill>
            <a:srgbClr val="FFFFFF"/>
          </a:solidFill>
          <a:ln w="12700">
            <a:solidFill>
              <a:srgbClr val="2F6E8C"/>
            </a:solidFill>
          </a:ln>
        </p:spPr>
        <p:txBody>
          <a:bodyPr wrap="square" lIns="18288" tIns="18288" rIns="18288" bIns="18288" rtlCol="0" anchor="ctr">
            <a:noAutofit/>
          </a:bodyPr>
          <a:lstStyle/>
          <a:p>
            <a:pPr algn="ctr">
              <a:spcAft>
                <a:spcPts val="0"/>
              </a:spcAft>
            </a:pPr>
            <a:r>
              <a:rPr sz="1050" b="0" i="0">
                <a:solidFill>
                  <a:srgbClr val="1F2A30"/>
                </a:solidFill>
                <a:latin typeface="Swis721 Cn BT"/>
              </a:rPr>
              <a:t>Gemini</a:t>
            </a:r>
          </a:p>
        </p:txBody>
      </p:sp>
      <p:cxnSp>
        <p:nvCxnSpPr>
          <p:cNvPr id="9" name="Connector 8"/>
          <p:cNvCxnSpPr/>
          <p:nvPr/>
        </p:nvCxnSpPr>
        <p:spPr>
          <a:xfrm>
            <a:off x="2377440" y="2468880"/>
            <a:ext cx="1371599" cy="0"/>
          </a:xfrm>
          <a:prstGeom prst="line">
            <a:avLst/>
          </a:prstGeom>
          <a:ln w="15875">
            <a:solidFill>
              <a:srgbClr val="2F6E8C"/>
            </a:solidFill>
            <a:prstDash val="dash"/>
          </a:ln>
        </p:spPr>
      </p:cxnSp>
      <p:sp>
        <p:nvSpPr>
          <p:cNvPr id="10" name="Rounded Rectangle 9"/>
          <p:cNvSpPr/>
          <p:nvPr/>
        </p:nvSpPr>
        <p:spPr>
          <a:xfrm>
            <a:off x="3273551" y="2313432"/>
            <a:ext cx="950976" cy="310896"/>
          </a:xfrm>
          <a:prstGeom prst="roundRect">
            <a:avLst>
              <a:gd name="adj" fmla="val 50000"/>
            </a:avLst>
          </a:prstGeom>
          <a:solidFill>
            <a:srgbClr val="FFFFFF"/>
          </a:solidFill>
          <a:ln w="12700">
            <a:solidFill>
              <a:srgbClr val="2F6E8C"/>
            </a:solidFill>
          </a:ln>
        </p:spPr>
        <p:txBody>
          <a:bodyPr wrap="square" lIns="18288" tIns="18288" rIns="18288" bIns="18288" rtlCol="0" anchor="ctr">
            <a:noAutofit/>
          </a:bodyPr>
          <a:lstStyle/>
          <a:p>
            <a:pPr algn="ctr">
              <a:spcAft>
                <a:spcPts val="0"/>
              </a:spcAft>
            </a:pPr>
            <a:r>
              <a:rPr sz="1050" b="0" i="0">
                <a:solidFill>
                  <a:srgbClr val="1F2A30"/>
                </a:solidFill>
                <a:latin typeface="Swis721 Cn BT"/>
              </a:rPr>
              <a:t>Claude</a:t>
            </a:r>
          </a:p>
        </p:txBody>
      </p:sp>
      <p:cxnSp>
        <p:nvCxnSpPr>
          <p:cNvPr id="11" name="Connector 10"/>
          <p:cNvCxnSpPr/>
          <p:nvPr/>
        </p:nvCxnSpPr>
        <p:spPr>
          <a:xfrm>
            <a:off x="2377440" y="2468880"/>
            <a:ext cx="969867" cy="892278"/>
          </a:xfrm>
          <a:prstGeom prst="line">
            <a:avLst/>
          </a:prstGeom>
          <a:ln w="15875">
            <a:solidFill>
              <a:srgbClr val="2F6E8C"/>
            </a:solidFill>
            <a:prstDash val="dash"/>
          </a:ln>
        </p:spPr>
      </p:cxnSp>
      <p:sp>
        <p:nvSpPr>
          <p:cNvPr id="12" name="Rounded Rectangle 11"/>
          <p:cNvSpPr/>
          <p:nvPr/>
        </p:nvSpPr>
        <p:spPr>
          <a:xfrm>
            <a:off x="2871819" y="3205710"/>
            <a:ext cx="950976" cy="310896"/>
          </a:xfrm>
          <a:prstGeom prst="roundRect">
            <a:avLst>
              <a:gd name="adj" fmla="val 50000"/>
            </a:avLst>
          </a:prstGeom>
          <a:solidFill>
            <a:srgbClr val="FFFFFF"/>
          </a:solidFill>
          <a:ln w="12700">
            <a:solidFill>
              <a:srgbClr val="2F6E8C"/>
            </a:solidFill>
          </a:ln>
        </p:spPr>
        <p:txBody>
          <a:bodyPr wrap="square" lIns="18288" tIns="18288" rIns="18288" bIns="18288" rtlCol="0" anchor="ctr">
            <a:noAutofit/>
          </a:bodyPr>
          <a:lstStyle/>
          <a:p>
            <a:pPr algn="ctr">
              <a:spcAft>
                <a:spcPts val="0"/>
              </a:spcAft>
            </a:pPr>
            <a:r>
              <a:rPr sz="1050" b="0" i="0">
                <a:solidFill>
                  <a:srgbClr val="1F2A30"/>
                </a:solidFill>
                <a:latin typeface="Swis721 Cn BT"/>
              </a:rPr>
              <a:t>Copilot</a:t>
            </a:r>
          </a:p>
        </p:txBody>
      </p:sp>
      <p:cxnSp>
        <p:nvCxnSpPr>
          <p:cNvPr id="13" name="Connector 12"/>
          <p:cNvCxnSpPr/>
          <p:nvPr/>
        </p:nvCxnSpPr>
        <p:spPr>
          <a:xfrm>
            <a:off x="2377440" y="2468880"/>
            <a:ext cx="0" cy="1261872"/>
          </a:xfrm>
          <a:prstGeom prst="line">
            <a:avLst/>
          </a:prstGeom>
          <a:ln w="15875">
            <a:solidFill>
              <a:srgbClr val="2F6E8C"/>
            </a:solidFill>
            <a:prstDash val="dash"/>
          </a:ln>
        </p:spPr>
      </p:cxnSp>
      <p:sp>
        <p:nvSpPr>
          <p:cNvPr id="14" name="Rounded Rectangle 13"/>
          <p:cNvSpPr/>
          <p:nvPr/>
        </p:nvSpPr>
        <p:spPr>
          <a:xfrm>
            <a:off x="1901952" y="3575304"/>
            <a:ext cx="950976" cy="310896"/>
          </a:xfrm>
          <a:prstGeom prst="roundRect">
            <a:avLst>
              <a:gd name="adj" fmla="val 50000"/>
            </a:avLst>
          </a:prstGeom>
          <a:solidFill>
            <a:srgbClr val="FFFFFF"/>
          </a:solidFill>
          <a:ln w="12700">
            <a:solidFill>
              <a:srgbClr val="2F6E8C"/>
            </a:solidFill>
          </a:ln>
        </p:spPr>
        <p:txBody>
          <a:bodyPr wrap="square" lIns="18288" tIns="18288" rIns="18288" bIns="18288" rtlCol="0" anchor="ctr">
            <a:noAutofit/>
          </a:bodyPr>
          <a:lstStyle/>
          <a:p>
            <a:pPr algn="ctr">
              <a:spcAft>
                <a:spcPts val="0"/>
              </a:spcAft>
            </a:pPr>
            <a:r>
              <a:rPr sz="1050" b="0" i="0">
                <a:solidFill>
                  <a:srgbClr val="1F2A30"/>
                </a:solidFill>
                <a:latin typeface="Swis721 Cn BT"/>
              </a:rPr>
              <a:t>DeepSeek</a:t>
            </a:r>
          </a:p>
        </p:txBody>
      </p:sp>
      <p:cxnSp>
        <p:nvCxnSpPr>
          <p:cNvPr id="15" name="Connector 14"/>
          <p:cNvCxnSpPr/>
          <p:nvPr/>
        </p:nvCxnSpPr>
        <p:spPr>
          <a:xfrm flipH="1">
            <a:off x="1407572" y="2468880"/>
            <a:ext cx="969868" cy="892278"/>
          </a:xfrm>
          <a:prstGeom prst="line">
            <a:avLst/>
          </a:prstGeom>
          <a:ln w="15875">
            <a:solidFill>
              <a:srgbClr val="2F6E8C"/>
            </a:solidFill>
            <a:prstDash val="dash"/>
          </a:ln>
        </p:spPr>
      </p:cxnSp>
      <p:sp>
        <p:nvSpPr>
          <p:cNvPr id="16" name="Rounded Rectangle 15"/>
          <p:cNvSpPr/>
          <p:nvPr/>
        </p:nvSpPr>
        <p:spPr>
          <a:xfrm>
            <a:off x="932084" y="3205710"/>
            <a:ext cx="950976" cy="310896"/>
          </a:xfrm>
          <a:prstGeom prst="roundRect">
            <a:avLst>
              <a:gd name="adj" fmla="val 50000"/>
            </a:avLst>
          </a:prstGeom>
          <a:solidFill>
            <a:srgbClr val="FFFFFF"/>
          </a:solidFill>
          <a:ln w="12700">
            <a:solidFill>
              <a:srgbClr val="2F6E8C"/>
            </a:solidFill>
          </a:ln>
        </p:spPr>
        <p:txBody>
          <a:bodyPr wrap="square" lIns="18288" tIns="18288" rIns="18288" bIns="18288" rtlCol="0" anchor="ctr">
            <a:noAutofit/>
          </a:bodyPr>
          <a:lstStyle/>
          <a:p>
            <a:pPr algn="ctr">
              <a:spcAft>
                <a:spcPts val="0"/>
              </a:spcAft>
            </a:pPr>
            <a:r>
              <a:rPr sz="1050" b="0" i="0">
                <a:solidFill>
                  <a:srgbClr val="1F2A30"/>
                </a:solidFill>
                <a:latin typeface="Swis721 Cn BT"/>
              </a:rPr>
              <a:t>Qwen</a:t>
            </a:r>
          </a:p>
        </p:txBody>
      </p:sp>
      <p:cxnSp>
        <p:nvCxnSpPr>
          <p:cNvPr id="17" name="Connector 16"/>
          <p:cNvCxnSpPr/>
          <p:nvPr/>
        </p:nvCxnSpPr>
        <p:spPr>
          <a:xfrm flipH="1">
            <a:off x="1005840" y="2468880"/>
            <a:ext cx="1371600" cy="0"/>
          </a:xfrm>
          <a:prstGeom prst="line">
            <a:avLst/>
          </a:prstGeom>
          <a:ln w="15875">
            <a:solidFill>
              <a:srgbClr val="2F6E8C"/>
            </a:solidFill>
            <a:prstDash val="dash"/>
          </a:ln>
        </p:spPr>
      </p:cxnSp>
      <p:sp>
        <p:nvSpPr>
          <p:cNvPr id="18" name="Rounded Rectangle 17"/>
          <p:cNvSpPr/>
          <p:nvPr/>
        </p:nvSpPr>
        <p:spPr>
          <a:xfrm>
            <a:off x="530352" y="2313432"/>
            <a:ext cx="950976" cy="310896"/>
          </a:xfrm>
          <a:prstGeom prst="roundRect">
            <a:avLst>
              <a:gd name="adj" fmla="val 50000"/>
            </a:avLst>
          </a:prstGeom>
          <a:solidFill>
            <a:srgbClr val="FFFFFF"/>
          </a:solidFill>
          <a:ln w="12700">
            <a:solidFill>
              <a:srgbClr val="2F6E8C"/>
            </a:solidFill>
          </a:ln>
        </p:spPr>
        <p:txBody>
          <a:bodyPr wrap="square" lIns="18288" tIns="18288" rIns="18288" bIns="18288" rtlCol="0" anchor="ctr">
            <a:noAutofit/>
          </a:bodyPr>
          <a:lstStyle/>
          <a:p>
            <a:pPr algn="ctr">
              <a:spcAft>
                <a:spcPts val="0"/>
              </a:spcAft>
            </a:pPr>
            <a:r>
              <a:rPr sz="1050" b="0" i="0">
                <a:solidFill>
                  <a:srgbClr val="1F2A30"/>
                </a:solidFill>
                <a:latin typeface="Swis721 Cn BT"/>
              </a:rPr>
              <a:t>Llama</a:t>
            </a:r>
          </a:p>
        </p:txBody>
      </p:sp>
      <p:cxnSp>
        <p:nvCxnSpPr>
          <p:cNvPr id="19" name="Connector 18"/>
          <p:cNvCxnSpPr/>
          <p:nvPr/>
        </p:nvCxnSpPr>
        <p:spPr>
          <a:xfrm flipH="1" flipV="1">
            <a:off x="1407572" y="1576601"/>
            <a:ext cx="969868" cy="892279"/>
          </a:xfrm>
          <a:prstGeom prst="line">
            <a:avLst/>
          </a:prstGeom>
          <a:ln w="15875">
            <a:solidFill>
              <a:srgbClr val="2F6E8C"/>
            </a:solidFill>
            <a:prstDash val="dash"/>
          </a:ln>
        </p:spPr>
      </p:cxnSp>
      <p:sp>
        <p:nvSpPr>
          <p:cNvPr id="20" name="Rounded Rectangle 19"/>
          <p:cNvSpPr/>
          <p:nvPr/>
        </p:nvSpPr>
        <p:spPr>
          <a:xfrm>
            <a:off x="932084" y="1421153"/>
            <a:ext cx="950976" cy="310896"/>
          </a:xfrm>
          <a:prstGeom prst="roundRect">
            <a:avLst>
              <a:gd name="adj" fmla="val 50000"/>
            </a:avLst>
          </a:prstGeom>
          <a:solidFill>
            <a:srgbClr val="F9E3DF"/>
          </a:solidFill>
          <a:ln w="12700">
            <a:solidFill>
              <a:srgbClr val="BF210C"/>
            </a:solidFill>
          </a:ln>
        </p:spPr>
        <p:txBody>
          <a:bodyPr wrap="square" lIns="18288" tIns="18288" rIns="18288" bIns="18288" rtlCol="0" anchor="ctr">
            <a:noAutofit/>
          </a:bodyPr>
          <a:lstStyle/>
          <a:p>
            <a:pPr algn="ctr">
              <a:spcAft>
                <a:spcPts val="0"/>
              </a:spcAft>
            </a:pPr>
            <a:r>
              <a:rPr sz="1050" b="0" i="0">
                <a:solidFill>
                  <a:srgbClr val="1F2A30"/>
                </a:solidFill>
                <a:latin typeface="Swis721 Cn BT"/>
              </a:rPr>
              <a:t>Modelo local</a:t>
            </a:r>
          </a:p>
        </p:txBody>
      </p:sp>
      <p:sp>
        <p:nvSpPr>
          <p:cNvPr id="21" name="Oval 20"/>
          <p:cNvSpPr/>
          <p:nvPr/>
        </p:nvSpPr>
        <p:spPr>
          <a:xfrm>
            <a:off x="1755648" y="1847088"/>
            <a:ext cx="1243584" cy="1243584"/>
          </a:xfrm>
          <a:prstGeom prst="ellipse">
            <a:avLst/>
          </a:prstGeom>
          <a:solidFill>
            <a:srgbClr val="003C58"/>
          </a:solidFill>
          <a:ln w="38100">
            <a:solidFill>
              <a:srgbClr val="F2B705"/>
            </a:solidFill>
          </a:ln>
        </p:spPr>
        <p:txBody>
          <a:bodyPr lIns="18288" rIns="18288" rtlCol="0" anchor="ctr"/>
          <a:lstStyle/>
          <a:p>
            <a:pPr algn="ctr">
              <a:spcAft>
                <a:spcPts val="0"/>
              </a:spcAft>
            </a:pPr>
            <a:r>
              <a:rPr sz="1200" b="0" i="0">
                <a:solidFill>
                  <a:srgbClr val="FFFFFF"/>
                </a:solidFill>
                <a:latin typeface="Swis721 Cn BT"/>
              </a:rPr>
              <a:t>Tu</a:t>
            </a:r>
          </a:p>
          <a:p>
            <a:pPr algn="ctr">
              <a:spcAft>
                <a:spcPts val="0"/>
              </a:spcAft>
            </a:pPr>
            <a:r>
              <a:rPr sz="1600" b="1" i="0">
                <a:solidFill>
                  <a:srgbClr val="FFFFFF"/>
                </a:solidFill>
                <a:latin typeface="Swis721 Cn BT"/>
              </a:rPr>
              <a:t>método</a:t>
            </a:r>
          </a:p>
        </p:txBody>
      </p:sp>
      <p:sp>
        <p:nvSpPr>
          <p:cNvPr id="22" name="Oval 21"/>
          <p:cNvSpPr/>
          <p:nvPr/>
        </p:nvSpPr>
        <p:spPr>
          <a:xfrm>
            <a:off x="4425696" y="950976"/>
            <a:ext cx="384048" cy="384048"/>
          </a:xfrm>
          <a:prstGeom prst="ellipse">
            <a:avLst/>
          </a:prstGeom>
          <a:solidFill>
            <a:srgbClr val="F2B705"/>
          </a:solidFill>
          <a:ln>
            <a:noFill/>
          </a:ln>
        </p:spPr>
        <p:txBody>
          <a:bodyPr lIns="0" tIns="0" rIns="0" bIns="0" rtlCol="0" anchor="ctr"/>
          <a:lstStyle/>
          <a:p>
            <a:pPr algn="ctr">
              <a:spcAft>
                <a:spcPts val="0"/>
              </a:spcAft>
            </a:pPr>
            <a:r>
              <a:rPr sz="1400" b="1" i="0">
                <a:solidFill>
                  <a:srgbClr val="1F2A30"/>
                </a:solidFill>
                <a:latin typeface="Swis721 Cn BT"/>
              </a:rPr>
              <a:t>1</a:t>
            </a:r>
          </a:p>
        </p:txBody>
      </p:sp>
      <p:sp>
        <p:nvSpPr>
          <p:cNvPr id="23" name="TextBox 22"/>
          <p:cNvSpPr txBox="1"/>
          <p:nvPr/>
        </p:nvSpPr>
        <p:spPr>
          <a:xfrm>
            <a:off x="4937760" y="868680"/>
            <a:ext cx="3703320" cy="603504"/>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Ancla en fuentes oficiales</a:t>
            </a:r>
          </a:p>
          <a:p>
            <a:pPr algn="l">
              <a:spcAft>
                <a:spcPts val="0"/>
              </a:spcAft>
            </a:pPr>
            <a:r>
              <a:rPr sz="1100" b="0" i="0">
                <a:solidFill>
                  <a:srgbClr val="1F2A30"/>
                </a:solidFill>
                <a:latin typeface="Swis721 Cn BT"/>
              </a:rPr>
              <a:t>Adjunta la norma o guía y pide responder solo desde ella, citando la página.</a:t>
            </a:r>
          </a:p>
        </p:txBody>
      </p:sp>
      <p:sp>
        <p:nvSpPr>
          <p:cNvPr id="24" name="Oval 23"/>
          <p:cNvSpPr/>
          <p:nvPr/>
        </p:nvSpPr>
        <p:spPr>
          <a:xfrm>
            <a:off x="4425696" y="1600200"/>
            <a:ext cx="384048" cy="384048"/>
          </a:xfrm>
          <a:prstGeom prst="ellipse">
            <a:avLst/>
          </a:prstGeom>
          <a:solidFill>
            <a:srgbClr val="003C58"/>
          </a:solidFill>
          <a:ln>
            <a:noFill/>
          </a:ln>
        </p:spPr>
        <p:txBody>
          <a:bodyPr lIns="0" tIns="0" rIns="0" bIns="0" rtlCol="0" anchor="ctr"/>
          <a:lstStyle/>
          <a:p>
            <a:pPr algn="ctr">
              <a:spcAft>
                <a:spcPts val="0"/>
              </a:spcAft>
            </a:pPr>
            <a:r>
              <a:rPr sz="1400" b="1" i="0">
                <a:solidFill>
                  <a:srgbClr val="FFFFFF"/>
                </a:solidFill>
                <a:latin typeface="Swis721 Cn BT"/>
              </a:rPr>
              <a:t>2</a:t>
            </a:r>
          </a:p>
        </p:txBody>
      </p:sp>
      <p:sp>
        <p:nvSpPr>
          <p:cNvPr id="25" name="TextBox 24"/>
          <p:cNvSpPr txBox="1"/>
          <p:nvPr/>
        </p:nvSpPr>
        <p:spPr>
          <a:xfrm>
            <a:off x="4937760" y="1517904"/>
            <a:ext cx="3703320" cy="603504"/>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Prompt estructurado y portable</a:t>
            </a:r>
          </a:p>
          <a:p>
            <a:pPr algn="l">
              <a:spcAft>
                <a:spcPts val="0"/>
              </a:spcAft>
            </a:pPr>
            <a:r>
              <a:rPr sz="1100" b="0" i="0">
                <a:solidFill>
                  <a:srgbClr val="1F2A30"/>
                </a:solidFill>
                <a:latin typeface="Swis721 Cn BT"/>
              </a:rPr>
              <a:t>El mismo prompt PARTO sirve en cualquier plataforma.</a:t>
            </a:r>
          </a:p>
        </p:txBody>
      </p:sp>
      <p:sp>
        <p:nvSpPr>
          <p:cNvPr id="26" name="Oval 25"/>
          <p:cNvSpPr/>
          <p:nvPr/>
        </p:nvSpPr>
        <p:spPr>
          <a:xfrm>
            <a:off x="4425696" y="2249424"/>
            <a:ext cx="384048" cy="384048"/>
          </a:xfrm>
          <a:prstGeom prst="ellipse">
            <a:avLst/>
          </a:prstGeom>
          <a:solidFill>
            <a:srgbClr val="F2B705"/>
          </a:solidFill>
          <a:ln>
            <a:noFill/>
          </a:ln>
        </p:spPr>
        <p:txBody>
          <a:bodyPr lIns="0" tIns="0" rIns="0" bIns="0" rtlCol="0" anchor="ctr"/>
          <a:lstStyle/>
          <a:p>
            <a:pPr algn="ctr">
              <a:spcAft>
                <a:spcPts val="0"/>
              </a:spcAft>
            </a:pPr>
            <a:r>
              <a:rPr sz="1400" b="1" i="0">
                <a:solidFill>
                  <a:srgbClr val="1F2A30"/>
                </a:solidFill>
                <a:latin typeface="Swis721 Cn BT"/>
              </a:rPr>
              <a:t>3</a:t>
            </a:r>
          </a:p>
        </p:txBody>
      </p:sp>
      <p:sp>
        <p:nvSpPr>
          <p:cNvPr id="27" name="TextBox 26"/>
          <p:cNvSpPr txBox="1"/>
          <p:nvPr/>
        </p:nvSpPr>
        <p:spPr>
          <a:xfrm>
            <a:off x="4937760" y="2167128"/>
            <a:ext cx="3703320" cy="603504"/>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Triangula</a:t>
            </a:r>
          </a:p>
          <a:p>
            <a:pPr algn="l">
              <a:spcAft>
                <a:spcPts val="0"/>
              </a:spcAft>
            </a:pPr>
            <a:r>
              <a:rPr sz="1100" b="0" i="0">
                <a:solidFill>
                  <a:srgbClr val="1F2A30"/>
                </a:solidFill>
                <a:latin typeface="Swis721 Cn BT"/>
              </a:rPr>
              <a:t>Corre el prompt en dos modelos, o tres veces, y compara.</a:t>
            </a:r>
          </a:p>
        </p:txBody>
      </p:sp>
      <p:sp>
        <p:nvSpPr>
          <p:cNvPr id="28" name="Oval 27"/>
          <p:cNvSpPr/>
          <p:nvPr/>
        </p:nvSpPr>
        <p:spPr>
          <a:xfrm>
            <a:off x="4425696" y="2898648"/>
            <a:ext cx="384048" cy="384048"/>
          </a:xfrm>
          <a:prstGeom prst="ellipse">
            <a:avLst/>
          </a:prstGeom>
          <a:solidFill>
            <a:srgbClr val="003C58"/>
          </a:solidFill>
          <a:ln>
            <a:noFill/>
          </a:ln>
        </p:spPr>
        <p:txBody>
          <a:bodyPr lIns="0" tIns="0" rIns="0" bIns="0" rtlCol="0" anchor="ctr"/>
          <a:lstStyle/>
          <a:p>
            <a:pPr algn="ctr">
              <a:spcAft>
                <a:spcPts val="0"/>
              </a:spcAft>
            </a:pPr>
            <a:r>
              <a:rPr sz="1400" b="1" i="0">
                <a:solidFill>
                  <a:srgbClr val="FFFFFF"/>
                </a:solidFill>
                <a:latin typeface="Swis721 Cn BT"/>
              </a:rPr>
              <a:t>4</a:t>
            </a:r>
          </a:p>
        </p:txBody>
      </p:sp>
      <p:sp>
        <p:nvSpPr>
          <p:cNvPr id="29" name="TextBox 28"/>
          <p:cNvSpPr txBox="1"/>
          <p:nvPr/>
        </p:nvSpPr>
        <p:spPr>
          <a:xfrm>
            <a:off x="4937760" y="2816352"/>
            <a:ext cx="3703320" cy="603504"/>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Verifica como experta</a:t>
            </a:r>
          </a:p>
          <a:p>
            <a:pPr algn="l">
              <a:spcAft>
                <a:spcPts val="0"/>
              </a:spcAft>
            </a:pPr>
            <a:r>
              <a:rPr sz="1100" b="0" i="0">
                <a:solidFill>
                  <a:srgbClr val="1F2A30"/>
                </a:solidFill>
                <a:latin typeface="Swis721 Cn BT"/>
              </a:rPr>
              <a:t>Cada dato clínico contra la fuente; cada cita por su DOI.</a:t>
            </a:r>
          </a:p>
        </p:txBody>
      </p:sp>
      <p:sp>
        <p:nvSpPr>
          <p:cNvPr id="30" name="Oval 29"/>
          <p:cNvSpPr/>
          <p:nvPr/>
        </p:nvSpPr>
        <p:spPr>
          <a:xfrm>
            <a:off x="4425696" y="3547872"/>
            <a:ext cx="384048" cy="384048"/>
          </a:xfrm>
          <a:prstGeom prst="ellipse">
            <a:avLst/>
          </a:prstGeom>
          <a:solidFill>
            <a:srgbClr val="F2B705"/>
          </a:solidFill>
          <a:ln>
            <a:noFill/>
          </a:ln>
        </p:spPr>
        <p:txBody>
          <a:bodyPr lIns="0" tIns="0" rIns="0" bIns="0" rtlCol="0" anchor="ctr"/>
          <a:lstStyle/>
          <a:p>
            <a:pPr algn="ctr">
              <a:spcAft>
                <a:spcPts val="0"/>
              </a:spcAft>
            </a:pPr>
            <a:r>
              <a:rPr sz="1400" b="1" i="0">
                <a:solidFill>
                  <a:srgbClr val="1F2A30"/>
                </a:solidFill>
                <a:latin typeface="Swis721 Cn BT"/>
              </a:rPr>
              <a:t>5</a:t>
            </a:r>
          </a:p>
        </p:txBody>
      </p:sp>
      <p:sp>
        <p:nvSpPr>
          <p:cNvPr id="31" name="TextBox 30"/>
          <p:cNvSpPr txBox="1"/>
          <p:nvPr/>
        </p:nvSpPr>
        <p:spPr>
          <a:xfrm>
            <a:off x="4937760" y="3465576"/>
            <a:ext cx="3703320" cy="603504"/>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Registra</a:t>
            </a:r>
          </a:p>
          <a:p>
            <a:pPr algn="l">
              <a:spcAft>
                <a:spcPts val="0"/>
              </a:spcAft>
            </a:pPr>
            <a:r>
              <a:rPr sz="1100" b="0" i="0">
                <a:solidFill>
                  <a:srgbClr val="1F2A30"/>
                </a:solidFill>
                <a:latin typeface="Swis721 Cn BT"/>
              </a:rPr>
              <a:t>Plataforma, versión, fecha y prompt: trazabilidad.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Elige por capacidad, no por marca</a:t>
            </a:r>
          </a:p>
        </p:txBody>
      </p:sp>
      <p:graphicFrame>
        <p:nvGraphicFramePr>
          <p:cNvPr id="3" name="Table 2"/>
          <p:cNvGraphicFramePr>
            <a:graphicFrameLocks noGrp="1"/>
          </p:cNvGraphicFramePr>
          <p:nvPr/>
        </p:nvGraphicFramePr>
        <p:xfrm>
          <a:off x="502920" y="868680"/>
          <a:ext cx="8138160" cy="32004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57200">
                <a:tc>
                  <a:txBody>
                    <a:bodyPr/>
                    <a:lstStyle/>
                    <a:p>
                      <a:pPr algn="l">
                        <a:spcAft>
                          <a:spcPts val="0"/>
                        </a:spcAft>
                      </a:pPr>
                      <a:r>
                        <a:rPr sz="1200" b="1" i="0">
                          <a:solidFill>
                            <a:srgbClr val="FFFFFF"/>
                          </a:solidFill>
                          <a:latin typeface="Swis721 Cn BT"/>
                        </a:rPr>
                        <a:t>Si necesitas…</a:t>
                      </a:r>
                    </a:p>
                  </a:txBody>
                  <a:tcPr marT="36576" marB="36576" anchor="ctr">
                    <a:solidFill>
                      <a:srgbClr val="003C58"/>
                    </a:solidFill>
                  </a:tcPr>
                </a:tc>
                <a:tc>
                  <a:txBody>
                    <a:bodyPr/>
                    <a:lstStyle/>
                    <a:p>
                      <a:pPr algn="l">
                        <a:spcAft>
                          <a:spcPts val="0"/>
                        </a:spcAft>
                      </a:pPr>
                      <a:r>
                        <a:rPr sz="1200" b="1" i="0">
                          <a:solidFill>
                            <a:srgbClr val="FFFFFF"/>
                          </a:solidFill>
                          <a:latin typeface="Swis721 Cn BT"/>
                        </a:rPr>
                        <a:t>Busca esta capacidad</a:t>
                      </a:r>
                    </a:p>
                  </a:txBody>
                  <a:tcPr marT="36576" marB="36576" anchor="ctr">
                    <a:solidFill>
                      <a:srgbClr val="003C58"/>
                    </a:solidFill>
                  </a:tcPr>
                </a:tc>
                <a:tc>
                  <a:txBody>
                    <a:bodyPr/>
                    <a:lstStyle/>
                    <a:p>
                      <a:pPr algn="l">
                        <a:spcAft>
                          <a:spcPts val="0"/>
                        </a:spcAft>
                      </a:pPr>
                      <a:r>
                        <a:rPr sz="1200" b="1" i="0">
                          <a:solidFill>
                            <a:srgbClr val="F2B705"/>
                          </a:solidFill>
                          <a:latin typeface="Swis721 Cn BT"/>
                        </a:rPr>
                        <a:t>Opción agnóstica</a:t>
                      </a:r>
                    </a:p>
                  </a:txBody>
                  <a:tcPr marT="36576" marB="36576" anchor="ctr">
                    <a:solidFill>
                      <a:srgbClr val="003C58"/>
                    </a:solidFill>
                  </a:tcPr>
                </a:tc>
                <a:extLst>
                  <a:ext uri="{0D108BD9-81ED-4DB2-BD59-A6C34878D82A}">
                    <a16:rowId xmlns:a16="http://schemas.microsoft.com/office/drawing/2014/main" val="10000"/>
                  </a:ext>
                </a:extLst>
              </a:tr>
              <a:tr h="457200">
                <a:tc>
                  <a:txBody>
                    <a:bodyPr/>
                    <a:lstStyle/>
                    <a:p>
                      <a:pPr algn="l">
                        <a:spcAft>
                          <a:spcPts val="0"/>
                        </a:spcAft>
                      </a:pPr>
                      <a:r>
                        <a:rPr sz="1100" b="1" i="0">
                          <a:solidFill>
                            <a:srgbClr val="003C58"/>
                          </a:solidFill>
                          <a:latin typeface="Swis721 Cn BT"/>
                        </a:rPr>
                        <a:t>Resumir o comparar normas extensas</a:t>
                      </a:r>
                    </a:p>
                  </a:txBody>
                  <a:tcPr marT="36576" marB="36576" anchor="ctr">
                    <a:solidFill>
                      <a:srgbClr val="E8F0F4"/>
                    </a:solidFill>
                  </a:tcPr>
                </a:tc>
                <a:tc>
                  <a:txBody>
                    <a:bodyPr/>
                    <a:lstStyle/>
                    <a:p>
                      <a:pPr algn="l">
                        <a:spcAft>
                          <a:spcPts val="0"/>
                        </a:spcAft>
                      </a:pPr>
                      <a:r>
                        <a:rPr sz="1100" b="0" i="0">
                          <a:solidFill>
                            <a:srgbClr val="1F2A30"/>
                          </a:solidFill>
                          <a:latin typeface="Swis721 Cn BT"/>
                        </a:rPr>
                        <a:t>Lectura de archivos largos (PDF, Word)</a:t>
                      </a:r>
                    </a:p>
                  </a:txBody>
                  <a:tcPr marT="36576" marB="36576" anchor="ctr">
                    <a:solidFill>
                      <a:srgbClr val="E8F0F4"/>
                    </a:solidFill>
                  </a:tcPr>
                </a:tc>
                <a:tc>
                  <a:txBody>
                    <a:bodyPr/>
                    <a:lstStyle/>
                    <a:p>
                      <a:pPr algn="l">
                        <a:spcAft>
                          <a:spcPts val="0"/>
                        </a:spcAft>
                      </a:pPr>
                      <a:r>
                        <a:rPr sz="1100" b="0" i="0">
                          <a:solidFill>
                            <a:srgbClr val="1F2A30"/>
                          </a:solidFill>
                          <a:latin typeface="Swis721 Cn BT"/>
                        </a:rPr>
                        <a:t>Cualquier asistente que acepte documentos; pide citar la página</a:t>
                      </a:r>
                    </a:p>
                  </a:txBody>
                  <a:tcPr marT="36576" marB="36576" anchor="ctr">
                    <a:solidFill>
                      <a:srgbClr val="E8F0F4"/>
                    </a:solidFill>
                  </a:tcPr>
                </a:tc>
                <a:extLst>
                  <a:ext uri="{0D108BD9-81ED-4DB2-BD59-A6C34878D82A}">
                    <a16:rowId xmlns:a16="http://schemas.microsoft.com/office/drawing/2014/main" val="10001"/>
                  </a:ext>
                </a:extLst>
              </a:tr>
              <a:tr h="457200">
                <a:tc>
                  <a:txBody>
                    <a:bodyPr/>
                    <a:lstStyle/>
                    <a:p>
                      <a:pPr algn="l">
                        <a:spcAft>
                          <a:spcPts val="0"/>
                        </a:spcAft>
                      </a:pPr>
                      <a:r>
                        <a:rPr sz="1100" b="1" i="0">
                          <a:solidFill>
                            <a:srgbClr val="003C58"/>
                          </a:solidFill>
                          <a:latin typeface="Swis721 Cn BT"/>
                        </a:rPr>
                        <a:t>Trabajar con un PDF escaneado</a:t>
                      </a:r>
                    </a:p>
                  </a:txBody>
                  <a:tcPr marT="36576" marB="36576" anchor="ctr">
                    <a:solidFill>
                      <a:srgbClr val="FFFFFF"/>
                    </a:solidFill>
                  </a:tcPr>
                </a:tc>
                <a:tc>
                  <a:txBody>
                    <a:bodyPr/>
                    <a:lstStyle/>
                    <a:p>
                      <a:pPr algn="l">
                        <a:spcAft>
                          <a:spcPts val="0"/>
                        </a:spcAft>
                      </a:pPr>
                      <a:r>
                        <a:rPr sz="1100" b="0" i="0">
                          <a:solidFill>
                            <a:srgbClr val="1F2A30"/>
                          </a:solidFill>
                          <a:latin typeface="Swis721 Cn BT"/>
                        </a:rPr>
                        <a:t>Reconocimiento de texto (OCR) o visión</a:t>
                      </a:r>
                    </a:p>
                  </a:txBody>
                  <a:tcPr marT="36576" marB="36576" anchor="ctr">
                    <a:solidFill>
                      <a:srgbClr val="FFFFFF"/>
                    </a:solidFill>
                  </a:tcPr>
                </a:tc>
                <a:tc>
                  <a:txBody>
                    <a:bodyPr/>
                    <a:lstStyle/>
                    <a:p>
                      <a:pPr algn="l">
                        <a:spcAft>
                          <a:spcPts val="0"/>
                        </a:spcAft>
                      </a:pPr>
                      <a:r>
                        <a:rPr sz="1100" b="0" i="0">
                          <a:solidFill>
                            <a:srgbClr val="1F2A30"/>
                          </a:solidFill>
                          <a:latin typeface="Swis721 Cn BT"/>
                        </a:rPr>
                        <a:t>Convertir a texto antes, o usar un modelo multimodal</a:t>
                      </a:r>
                    </a:p>
                  </a:txBody>
                  <a:tcPr marT="36576" marB="36576" anchor="ctr">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100" b="1" i="0">
                          <a:solidFill>
                            <a:srgbClr val="003C58"/>
                          </a:solidFill>
                          <a:latin typeface="Swis721 Cn BT"/>
                        </a:rPr>
                        <a:t>Buscar evidencia reciente</a:t>
                      </a:r>
                    </a:p>
                  </a:txBody>
                  <a:tcPr marT="36576" marB="36576" anchor="ctr">
                    <a:solidFill>
                      <a:srgbClr val="E8F0F4"/>
                    </a:solidFill>
                  </a:tcPr>
                </a:tc>
                <a:tc>
                  <a:txBody>
                    <a:bodyPr/>
                    <a:lstStyle/>
                    <a:p>
                      <a:pPr algn="l">
                        <a:spcAft>
                          <a:spcPts val="0"/>
                        </a:spcAft>
                      </a:pPr>
                      <a:r>
                        <a:rPr sz="1100" b="0" i="0">
                          <a:solidFill>
                            <a:srgbClr val="1F2A30"/>
                          </a:solidFill>
                          <a:latin typeface="Swis721 Cn BT"/>
                        </a:rPr>
                        <a:t>Búsqueda web con citas enlazadas</a:t>
                      </a:r>
                    </a:p>
                  </a:txBody>
                  <a:tcPr marT="36576" marB="36576" anchor="ctr">
                    <a:solidFill>
                      <a:srgbClr val="E8F0F4"/>
                    </a:solidFill>
                  </a:tcPr>
                </a:tc>
                <a:tc>
                  <a:txBody>
                    <a:bodyPr/>
                    <a:lstStyle/>
                    <a:p>
                      <a:pPr algn="l">
                        <a:spcAft>
                          <a:spcPts val="0"/>
                        </a:spcAft>
                      </a:pPr>
                      <a:r>
                        <a:rPr sz="1100" b="0" i="0">
                          <a:solidFill>
                            <a:srgbClr val="1F2A30"/>
                          </a:solidFill>
                          <a:latin typeface="Swis721 Cn BT"/>
                        </a:rPr>
                        <a:t>Buscador con IA + verificación de cada DOI</a:t>
                      </a:r>
                    </a:p>
                  </a:txBody>
                  <a:tcPr marT="36576" marB="36576" anchor="ctr">
                    <a:solidFill>
                      <a:srgbClr val="E8F0F4"/>
                    </a:solidFill>
                  </a:tcPr>
                </a:tc>
                <a:extLst>
                  <a:ext uri="{0D108BD9-81ED-4DB2-BD59-A6C34878D82A}">
                    <a16:rowId xmlns:a16="http://schemas.microsoft.com/office/drawing/2014/main" val="10003"/>
                  </a:ext>
                </a:extLst>
              </a:tr>
              <a:tr h="457200">
                <a:tc>
                  <a:txBody>
                    <a:bodyPr/>
                    <a:lstStyle/>
                    <a:p>
                      <a:pPr algn="l">
                        <a:spcAft>
                          <a:spcPts val="0"/>
                        </a:spcAft>
                      </a:pPr>
                      <a:r>
                        <a:rPr sz="1100" b="1" i="0">
                          <a:solidFill>
                            <a:srgbClr val="BF210C"/>
                          </a:solidFill>
                          <a:latin typeface="Swis721 Cn BT"/>
                        </a:rPr>
                        <a:t>Usar datos de pacientes</a:t>
                      </a:r>
                    </a:p>
                  </a:txBody>
                  <a:tcPr marT="36576" marB="36576" anchor="ctr">
                    <a:solidFill>
                      <a:srgbClr val="FFFFFF"/>
                    </a:solidFill>
                  </a:tcPr>
                </a:tc>
                <a:tc>
                  <a:txBody>
                    <a:bodyPr/>
                    <a:lstStyle/>
                    <a:p>
                      <a:pPr algn="l">
                        <a:spcAft>
                          <a:spcPts val="0"/>
                        </a:spcAft>
                      </a:pPr>
                      <a:r>
                        <a:rPr sz="1100" b="0" i="0">
                          <a:solidFill>
                            <a:srgbClr val="1F2A30"/>
                          </a:solidFill>
                          <a:latin typeface="Swis721 Cn BT"/>
                        </a:rPr>
                        <a:t>Ejecución local, sin envío a terceros</a:t>
                      </a:r>
                    </a:p>
                  </a:txBody>
                  <a:tcPr marT="36576" marB="36576" anchor="ctr">
                    <a:solidFill>
                      <a:srgbClr val="FFFFFF"/>
                    </a:solidFill>
                  </a:tcPr>
                </a:tc>
                <a:tc>
                  <a:txBody>
                    <a:bodyPr/>
                    <a:lstStyle/>
                    <a:p>
                      <a:pPr algn="l">
                        <a:spcAft>
                          <a:spcPts val="0"/>
                        </a:spcAft>
                      </a:pPr>
                      <a:r>
                        <a:rPr sz="1100" b="0" i="0">
                          <a:solidFill>
                            <a:srgbClr val="1F2A30"/>
                          </a:solidFill>
                          <a:latin typeface="Swis721 Cn BT"/>
                        </a:rPr>
                        <a:t>Modelo abierto en servidor institucional, o anonimizar</a:t>
                      </a:r>
                    </a:p>
                  </a:txBody>
                  <a:tcPr marT="36576" marB="36576" anchor="ctr">
                    <a:solidFill>
                      <a:srgbClr val="FFFFFF"/>
                    </a:solidFill>
                  </a:tcPr>
                </a:tc>
                <a:extLst>
                  <a:ext uri="{0D108BD9-81ED-4DB2-BD59-A6C34878D82A}">
                    <a16:rowId xmlns:a16="http://schemas.microsoft.com/office/drawing/2014/main" val="10004"/>
                  </a:ext>
                </a:extLst>
              </a:tr>
              <a:tr h="457200">
                <a:tc>
                  <a:txBody>
                    <a:bodyPr/>
                    <a:lstStyle/>
                    <a:p>
                      <a:pPr algn="l">
                        <a:spcAft>
                          <a:spcPts val="0"/>
                        </a:spcAft>
                      </a:pPr>
                      <a:r>
                        <a:rPr sz="1100" b="1" i="0">
                          <a:solidFill>
                            <a:srgbClr val="003C58"/>
                          </a:solidFill>
                          <a:latin typeface="Swis721 Cn BT"/>
                        </a:rPr>
                        <a:t>Crear infografías o imágenes</a:t>
                      </a:r>
                    </a:p>
                  </a:txBody>
                  <a:tcPr marT="36576" marB="36576" anchor="ctr">
                    <a:solidFill>
                      <a:srgbClr val="E8F0F4"/>
                    </a:solidFill>
                  </a:tcPr>
                </a:tc>
                <a:tc>
                  <a:txBody>
                    <a:bodyPr/>
                    <a:lstStyle/>
                    <a:p>
                      <a:pPr algn="l">
                        <a:spcAft>
                          <a:spcPts val="0"/>
                        </a:spcAft>
                      </a:pPr>
                      <a:r>
                        <a:rPr sz="1100" b="0" i="0">
                          <a:solidFill>
                            <a:srgbClr val="1F2A30"/>
                          </a:solidFill>
                          <a:latin typeface="Swis721 Cn BT"/>
                        </a:rPr>
                        <a:t>Generación de imágenes</a:t>
                      </a:r>
                    </a:p>
                  </a:txBody>
                  <a:tcPr marT="36576" marB="36576" anchor="ctr">
                    <a:solidFill>
                      <a:srgbClr val="E8F0F4"/>
                    </a:solidFill>
                  </a:tcPr>
                </a:tc>
                <a:tc>
                  <a:txBody>
                    <a:bodyPr/>
                    <a:lstStyle/>
                    <a:p>
                      <a:pPr algn="l">
                        <a:spcAft>
                          <a:spcPts val="0"/>
                        </a:spcAft>
                      </a:pPr>
                      <a:r>
                        <a:rPr sz="1100" b="0" i="0">
                          <a:solidFill>
                            <a:srgbClr val="1F2A30"/>
                          </a:solidFill>
                          <a:latin typeface="Swis721 Cn BT"/>
                        </a:rPr>
                        <a:t>Modelo multimodal; revisar el texto dentro de la imagen</a:t>
                      </a:r>
                    </a:p>
                  </a:txBody>
                  <a:tcPr marT="36576" marB="36576" anchor="ctr">
                    <a:solidFill>
                      <a:srgbClr val="E8F0F4"/>
                    </a:solidFill>
                  </a:tcPr>
                </a:tc>
                <a:extLst>
                  <a:ext uri="{0D108BD9-81ED-4DB2-BD59-A6C34878D82A}">
                    <a16:rowId xmlns:a16="http://schemas.microsoft.com/office/drawing/2014/main" val="10005"/>
                  </a:ext>
                </a:extLst>
              </a:tr>
              <a:tr h="457200">
                <a:tc>
                  <a:txBody>
                    <a:bodyPr/>
                    <a:lstStyle/>
                    <a:p>
                      <a:pPr algn="l">
                        <a:spcAft>
                          <a:spcPts val="0"/>
                        </a:spcAft>
                      </a:pPr>
                      <a:r>
                        <a:rPr sz="1100" b="1" i="0">
                          <a:solidFill>
                            <a:srgbClr val="003C58"/>
                          </a:solidFill>
                          <a:latin typeface="Swis721 Cn BT"/>
                        </a:rPr>
                        <a:t>Redactar para usuarias en español de Chile</a:t>
                      </a:r>
                    </a:p>
                  </a:txBody>
                  <a:tcPr marT="36576" marB="36576" anchor="ctr">
                    <a:solidFill>
                      <a:srgbClr val="FFFFFF"/>
                    </a:solidFill>
                  </a:tcPr>
                </a:tc>
                <a:tc>
                  <a:txBody>
                    <a:bodyPr/>
                    <a:lstStyle/>
                    <a:p>
                      <a:pPr algn="l">
                        <a:spcAft>
                          <a:spcPts val="0"/>
                        </a:spcAft>
                      </a:pPr>
                      <a:r>
                        <a:rPr sz="1100" b="0" i="0">
                          <a:solidFill>
                            <a:srgbClr val="1F2A30"/>
                          </a:solidFill>
                          <a:latin typeface="Swis721 Cn BT"/>
                        </a:rPr>
                        <a:t>Buen manejo del idioma y registro</a:t>
                      </a:r>
                    </a:p>
                  </a:txBody>
                  <a:tcPr marT="36576" marB="36576" anchor="ctr">
                    <a:solidFill>
                      <a:srgbClr val="FFFFFF"/>
                    </a:solidFill>
                  </a:tcPr>
                </a:tc>
                <a:tc>
                  <a:txBody>
                    <a:bodyPr/>
                    <a:lstStyle/>
                    <a:p>
                      <a:pPr algn="l">
                        <a:spcAft>
                          <a:spcPts val="0"/>
                        </a:spcAft>
                      </a:pPr>
                      <a:r>
                        <a:rPr sz="1100" b="0" i="0">
                          <a:solidFill>
                            <a:srgbClr val="1F2A30"/>
                          </a:solidFill>
                          <a:latin typeface="Swis721 Cn BT"/>
                        </a:rPr>
                        <a:t>Probar el mismo prompt en dos modelos y elegir</a:t>
                      </a:r>
                    </a:p>
                  </a:txBody>
                  <a:tcPr marT="36576" marB="36576" anchor="c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Sección 4 de 5</a:t>
            </a:r>
          </a:p>
        </p:txBody>
      </p:sp>
      <p:sp>
        <p:nvSpPr>
          <p:cNvPr id="3" name="TextBox 2"/>
          <p:cNvSpPr txBox="1"/>
          <p:nvPr/>
        </p:nvSpPr>
        <p:spPr>
          <a:xfrm>
            <a:off x="594360" y="960120"/>
            <a:ext cx="1737360" cy="1188720"/>
          </a:xfrm>
          <a:prstGeom prst="rect">
            <a:avLst/>
          </a:prstGeom>
          <a:noFill/>
        </p:spPr>
        <p:txBody>
          <a:bodyPr wrap="square" lIns="0" tIns="0" rIns="0" bIns="0" anchor="t">
            <a:noAutofit/>
          </a:bodyPr>
          <a:lstStyle/>
          <a:p>
            <a:pPr algn="l">
              <a:spcAft>
                <a:spcPts val="0"/>
              </a:spcAft>
            </a:pPr>
            <a:r>
              <a:rPr sz="8000" b="1" i="0">
                <a:solidFill>
                  <a:srgbClr val="BF210C"/>
                </a:solidFill>
                <a:latin typeface="Swis721 Cn BT"/>
              </a:rPr>
              <a:t>04</a:t>
            </a:r>
          </a:p>
        </p:txBody>
      </p:sp>
      <p:sp>
        <p:nvSpPr>
          <p:cNvPr id="4" name="Oval 3"/>
          <p:cNvSpPr/>
          <p:nvPr/>
        </p:nvSpPr>
        <p:spPr>
          <a:xfrm>
            <a:off x="822959" y="2514600"/>
            <a:ext cx="1005840" cy="1005840"/>
          </a:xfrm>
          <a:prstGeom prst="ellipse">
            <a:avLst/>
          </a:prstGeom>
          <a:solidFill>
            <a:srgbClr val="003C58"/>
          </a:solidFill>
          <a:ln>
            <a:noFill/>
          </a:ln>
        </p:spPr>
        <p:txBody>
          <a:bodyPr rtlCol="0" anchor="ctr"/>
          <a:lstStyle/>
          <a:p>
            <a:pPr algn="ctr"/>
            <a:endParaRPr/>
          </a:p>
        </p:txBody>
      </p:sp>
      <p:pic>
        <p:nvPicPr>
          <p:cNvPr id="5" name="Picture 4" descr="MdEditNote_blanco.png"/>
          <p:cNvPicPr>
            <a:picLocks noChangeAspect="1"/>
          </p:cNvPicPr>
          <p:nvPr/>
        </p:nvPicPr>
        <p:blipFill>
          <a:blip r:embed="rId3"/>
          <a:stretch>
            <a:fillRect/>
          </a:stretch>
        </p:blipFill>
        <p:spPr>
          <a:xfrm>
            <a:off x="1034186" y="2725826"/>
            <a:ext cx="583387" cy="583387"/>
          </a:xfrm>
          <a:prstGeom prst="rect">
            <a:avLst/>
          </a:prstGeom>
        </p:spPr>
      </p:pic>
      <p:sp>
        <p:nvSpPr>
          <p:cNvPr id="6" name="TextBox 5"/>
          <p:cNvSpPr txBox="1"/>
          <p:nvPr/>
        </p:nvSpPr>
        <p:spPr>
          <a:xfrm>
            <a:off x="2606040" y="868680"/>
            <a:ext cx="6035040" cy="822960"/>
          </a:xfrm>
          <a:prstGeom prst="rect">
            <a:avLst/>
          </a:prstGeom>
          <a:noFill/>
        </p:spPr>
        <p:txBody>
          <a:bodyPr wrap="square" lIns="0" tIns="0" rIns="0" bIns="0" anchor="b">
            <a:noAutofit/>
          </a:bodyPr>
          <a:lstStyle/>
          <a:p>
            <a:pPr algn="l">
              <a:spcAft>
                <a:spcPts val="0"/>
              </a:spcAft>
            </a:pPr>
            <a:r>
              <a:rPr sz="2600" b="1" i="0">
                <a:solidFill>
                  <a:srgbClr val="003C58"/>
                </a:solidFill>
                <a:latin typeface="Swis721 Cn BT"/>
              </a:rPr>
              <a:t>Prompts que funcionan en cualquier plataforma</a:t>
            </a:r>
          </a:p>
        </p:txBody>
      </p:sp>
      <p:sp>
        <p:nvSpPr>
          <p:cNvPr id="7" name="TextBox 6"/>
          <p:cNvSpPr txBox="1"/>
          <p:nvPr/>
        </p:nvSpPr>
        <p:spPr>
          <a:xfrm>
            <a:off x="2606040" y="1755648"/>
            <a:ext cx="6035040" cy="658368"/>
          </a:xfrm>
          <a:prstGeom prst="rect">
            <a:avLst/>
          </a:prstGeom>
          <a:noFill/>
        </p:spPr>
        <p:txBody>
          <a:bodyPr wrap="square" lIns="0" tIns="0" rIns="0" bIns="0" anchor="t">
            <a:noAutofit/>
          </a:bodyPr>
          <a:lstStyle/>
          <a:p>
            <a:pPr algn="l">
              <a:spcAft>
                <a:spcPts val="0"/>
              </a:spcAft>
            </a:pPr>
            <a:r>
              <a:rPr sz="1600" b="0" i="1">
                <a:solidFill>
                  <a:srgbClr val="2F6E8C"/>
                </a:solidFill>
                <a:latin typeface="Swis721 Cn BT"/>
              </a:rPr>
              <a:t>¿Cómo pedirle algo a la IA para obtener lo que necesito?</a:t>
            </a:r>
          </a:p>
        </p:txBody>
      </p:sp>
      <p:sp>
        <p:nvSpPr>
          <p:cNvPr id="8" name="TextBox 7"/>
          <p:cNvSpPr txBox="1"/>
          <p:nvPr/>
        </p:nvSpPr>
        <p:spPr>
          <a:xfrm>
            <a:off x="2606040" y="2487168"/>
            <a:ext cx="6035040" cy="274320"/>
          </a:xfrm>
          <a:prstGeom prst="rect">
            <a:avLst/>
          </a:prstGeom>
          <a:noFill/>
        </p:spPr>
        <p:txBody>
          <a:bodyPr wrap="square" lIns="0" tIns="0" rIns="0" bIns="0" anchor="t">
            <a:noAutofit/>
          </a:bodyPr>
          <a:lstStyle/>
          <a:p>
            <a:pPr algn="l">
              <a:spcAft>
                <a:spcPts val="0"/>
              </a:spcAft>
            </a:pPr>
            <a:r>
              <a:rPr sz="1200" b="1" i="0">
                <a:solidFill>
                  <a:srgbClr val="5B6B73"/>
                </a:solidFill>
                <a:latin typeface="Swis721 Cn BT"/>
              </a:rPr>
              <a:t>En esta sección</a:t>
            </a:r>
          </a:p>
        </p:txBody>
      </p:sp>
      <p:sp>
        <p:nvSpPr>
          <p:cNvPr id="9" name="Oval 8"/>
          <p:cNvSpPr/>
          <p:nvPr/>
        </p:nvSpPr>
        <p:spPr>
          <a:xfrm>
            <a:off x="2633472" y="2871215"/>
            <a:ext cx="118872" cy="118872"/>
          </a:xfrm>
          <a:prstGeom prst="ellipse">
            <a:avLst/>
          </a:prstGeom>
          <a:solidFill>
            <a:srgbClr val="C00000"/>
          </a:solidFill>
          <a:ln>
            <a:noFill/>
          </a:ln>
        </p:spPr>
        <p:txBody>
          <a:bodyPr rtlCol="0" anchor="ctr"/>
          <a:lstStyle/>
          <a:p>
            <a:pPr algn="ctr"/>
            <a:endParaRPr/>
          </a:p>
        </p:txBody>
      </p:sp>
      <p:sp>
        <p:nvSpPr>
          <p:cNvPr id="10" name="TextBox 9"/>
          <p:cNvSpPr txBox="1"/>
          <p:nvPr/>
        </p:nvSpPr>
        <p:spPr>
          <a:xfrm>
            <a:off x="2880360" y="2788920"/>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Método PARTO</a:t>
            </a:r>
          </a:p>
        </p:txBody>
      </p:sp>
      <p:sp>
        <p:nvSpPr>
          <p:cNvPr id="11" name="Oval 10"/>
          <p:cNvSpPr/>
          <p:nvPr/>
        </p:nvSpPr>
        <p:spPr>
          <a:xfrm>
            <a:off x="2633472" y="3182111"/>
            <a:ext cx="118872" cy="118872"/>
          </a:xfrm>
          <a:prstGeom prst="ellipse">
            <a:avLst/>
          </a:prstGeom>
          <a:solidFill>
            <a:srgbClr val="C00000"/>
          </a:solidFill>
          <a:ln>
            <a:noFill/>
          </a:ln>
        </p:spPr>
        <p:txBody>
          <a:bodyPr rtlCol="0" anchor="ctr"/>
          <a:lstStyle/>
          <a:p>
            <a:pPr algn="ctr"/>
            <a:endParaRPr/>
          </a:p>
        </p:txBody>
      </p:sp>
      <p:sp>
        <p:nvSpPr>
          <p:cNvPr id="12" name="TextBox 11"/>
          <p:cNvSpPr txBox="1"/>
          <p:nvPr/>
        </p:nvSpPr>
        <p:spPr>
          <a:xfrm>
            <a:off x="2880360" y="3099815"/>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Antes y después</a:t>
            </a:r>
          </a:p>
        </p:txBody>
      </p:sp>
      <p:sp>
        <p:nvSpPr>
          <p:cNvPr id="13" name="Oval 12"/>
          <p:cNvSpPr/>
          <p:nvPr/>
        </p:nvSpPr>
        <p:spPr>
          <a:xfrm>
            <a:off x="2633472" y="3493008"/>
            <a:ext cx="118872" cy="118872"/>
          </a:xfrm>
          <a:prstGeom prst="ellipse">
            <a:avLst/>
          </a:prstGeom>
          <a:solidFill>
            <a:srgbClr val="C00000"/>
          </a:solidFill>
          <a:ln>
            <a:noFill/>
          </a:ln>
        </p:spPr>
        <p:txBody>
          <a:bodyPr rtlCol="0" anchor="ctr"/>
          <a:lstStyle/>
          <a:p>
            <a:pPr algn="ctr"/>
            <a:endParaRPr/>
          </a:p>
        </p:txBody>
      </p:sp>
      <p:sp>
        <p:nvSpPr>
          <p:cNvPr id="14" name="TextBox 13"/>
          <p:cNvSpPr txBox="1"/>
          <p:nvPr/>
        </p:nvSpPr>
        <p:spPr>
          <a:xfrm>
            <a:off x="2880360" y="3410712"/>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Seis técnicas que suben la calidad</a:t>
            </a:r>
          </a:p>
        </p:txBody>
      </p:sp>
      <p:sp>
        <p:nvSpPr>
          <p:cNvPr id="15" name="Oval 14"/>
          <p:cNvSpPr/>
          <p:nvPr/>
        </p:nvSpPr>
        <p:spPr>
          <a:xfrm>
            <a:off x="2633472" y="3803904"/>
            <a:ext cx="118872" cy="118872"/>
          </a:xfrm>
          <a:prstGeom prst="ellipse">
            <a:avLst/>
          </a:prstGeom>
          <a:solidFill>
            <a:srgbClr val="C00000"/>
          </a:solidFill>
          <a:ln>
            <a:noFill/>
          </a:ln>
        </p:spPr>
        <p:txBody>
          <a:bodyPr rtlCol="0" anchor="ctr"/>
          <a:lstStyle/>
          <a:p>
            <a:pPr algn="ctr"/>
            <a:endParaRPr/>
          </a:p>
        </p:txBody>
      </p:sp>
      <p:sp>
        <p:nvSpPr>
          <p:cNvPr id="16" name="TextBox 15"/>
          <p:cNvSpPr txBox="1"/>
          <p:nvPr/>
        </p:nvSpPr>
        <p:spPr>
          <a:xfrm>
            <a:off x="2880360" y="3721608"/>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Semáforo de uso seguro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Método PARTO: cinco piezas de un buen prompt</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[23] Meskó, 2023 · [24] Zaghir et al., 2024 · [21] Liu et al., 2025</a:t>
            </a:r>
          </a:p>
        </p:txBody>
      </p:sp>
      <p:sp>
        <p:nvSpPr>
          <p:cNvPr id="5" name="Rounded Rectangle 4"/>
          <p:cNvSpPr/>
          <p:nvPr/>
        </p:nvSpPr>
        <p:spPr>
          <a:xfrm>
            <a:off x="502920" y="868680"/>
            <a:ext cx="548640" cy="548640"/>
          </a:xfrm>
          <a:prstGeom prst="roundRect">
            <a:avLst>
              <a:gd name="adj" fmla="val 16666"/>
            </a:avLst>
          </a:prstGeom>
          <a:solidFill>
            <a:srgbClr val="003C58"/>
          </a:solidFill>
          <a:ln>
            <a:noFill/>
          </a:ln>
        </p:spPr>
        <p:txBody>
          <a:bodyPr rtlCol="0" anchor="ctr"/>
          <a:lstStyle/>
          <a:p>
            <a:pPr algn="ctr">
              <a:spcAft>
                <a:spcPts val="0"/>
              </a:spcAft>
            </a:pPr>
            <a:r>
              <a:rPr sz="2400" b="1" i="0">
                <a:solidFill>
                  <a:srgbClr val="FFFFFF"/>
                </a:solidFill>
                <a:latin typeface="Swis721 Cn BT"/>
              </a:rPr>
              <a:t>P</a:t>
            </a:r>
          </a:p>
        </p:txBody>
      </p:sp>
      <p:sp>
        <p:nvSpPr>
          <p:cNvPr id="6" name="TextBox 5"/>
          <p:cNvSpPr txBox="1"/>
          <p:nvPr/>
        </p:nvSpPr>
        <p:spPr>
          <a:xfrm>
            <a:off x="1188720" y="886968"/>
            <a:ext cx="1828800" cy="548640"/>
          </a:xfrm>
          <a:prstGeom prst="rect">
            <a:avLst/>
          </a:prstGeom>
          <a:noFill/>
        </p:spPr>
        <p:txBody>
          <a:bodyPr wrap="square" lIns="0" tIns="0" rIns="0" bIns="0" anchor="t">
            <a:noAutofit/>
          </a:bodyPr>
          <a:lstStyle/>
          <a:p>
            <a:pPr algn="l">
              <a:spcAft>
                <a:spcPts val="0"/>
              </a:spcAft>
            </a:pPr>
            <a:r>
              <a:rPr sz="1350" b="1" i="0">
                <a:solidFill>
                  <a:srgbClr val="003C58"/>
                </a:solidFill>
                <a:latin typeface="Swis721 Cn BT"/>
              </a:rPr>
              <a:t>Papel</a:t>
            </a:r>
          </a:p>
          <a:p>
            <a:pPr algn="l">
              <a:spcAft>
                <a:spcPts val="0"/>
              </a:spcAft>
            </a:pPr>
            <a:r>
              <a:rPr sz="1050" b="0" i="0">
                <a:solidFill>
                  <a:srgbClr val="5B6B73"/>
                </a:solidFill>
                <a:latin typeface="Swis721 Cn BT"/>
              </a:rPr>
              <a:t>quién debe ser la IA</a:t>
            </a:r>
          </a:p>
        </p:txBody>
      </p:sp>
      <p:sp>
        <p:nvSpPr>
          <p:cNvPr id="7" name="Rounded Rectangle 6"/>
          <p:cNvSpPr/>
          <p:nvPr/>
        </p:nvSpPr>
        <p:spPr>
          <a:xfrm>
            <a:off x="3063240" y="868680"/>
            <a:ext cx="5577840" cy="548640"/>
          </a:xfrm>
          <a:prstGeom prst="roundRect">
            <a:avLst>
              <a:gd name="adj" fmla="val 13333"/>
            </a:avLst>
          </a:prstGeom>
          <a:solidFill>
            <a:srgbClr val="E8F0F4"/>
          </a:solidFill>
          <a:ln>
            <a:noFill/>
          </a:ln>
        </p:spPr>
        <p:txBody>
          <a:bodyPr wrap="square" lIns="109728" tIns="73152" rIns="109728" bIns="73152" rtlCol="0" anchor="ctr">
            <a:noAutofit/>
          </a:bodyPr>
          <a:lstStyle/>
          <a:p>
            <a:pPr algn="l">
              <a:spcAft>
                <a:spcPts val="0"/>
              </a:spcAft>
            </a:pPr>
            <a:r>
              <a:rPr sz="1100" b="0" i="1">
                <a:solidFill>
                  <a:srgbClr val="1F2A30"/>
                </a:solidFill>
                <a:latin typeface="Swis721 Cn BT"/>
              </a:rPr>
              <a:t>«Actúa como matrona experta en prevención de IAAS y en redacción de protocolos.»</a:t>
            </a:r>
          </a:p>
        </p:txBody>
      </p:sp>
      <p:sp>
        <p:nvSpPr>
          <p:cNvPr id="8" name="Rounded Rectangle 7"/>
          <p:cNvSpPr/>
          <p:nvPr/>
        </p:nvSpPr>
        <p:spPr>
          <a:xfrm>
            <a:off x="502920" y="1517904"/>
            <a:ext cx="548640" cy="548640"/>
          </a:xfrm>
          <a:prstGeom prst="roundRect">
            <a:avLst>
              <a:gd name="adj" fmla="val 16666"/>
            </a:avLst>
          </a:prstGeom>
          <a:solidFill>
            <a:srgbClr val="2F6E8C"/>
          </a:solidFill>
          <a:ln>
            <a:noFill/>
          </a:ln>
        </p:spPr>
        <p:txBody>
          <a:bodyPr rtlCol="0" anchor="ctr"/>
          <a:lstStyle/>
          <a:p>
            <a:pPr algn="ctr">
              <a:spcAft>
                <a:spcPts val="0"/>
              </a:spcAft>
            </a:pPr>
            <a:r>
              <a:rPr sz="2400" b="1" i="0">
                <a:solidFill>
                  <a:srgbClr val="FFFFFF"/>
                </a:solidFill>
                <a:latin typeface="Swis721 Cn BT"/>
              </a:rPr>
              <a:t>A</a:t>
            </a:r>
          </a:p>
        </p:txBody>
      </p:sp>
      <p:sp>
        <p:nvSpPr>
          <p:cNvPr id="9" name="TextBox 8"/>
          <p:cNvSpPr txBox="1"/>
          <p:nvPr/>
        </p:nvSpPr>
        <p:spPr>
          <a:xfrm>
            <a:off x="1188720" y="1536192"/>
            <a:ext cx="1828800" cy="548640"/>
          </a:xfrm>
          <a:prstGeom prst="rect">
            <a:avLst/>
          </a:prstGeom>
          <a:noFill/>
        </p:spPr>
        <p:txBody>
          <a:bodyPr wrap="square" lIns="0" tIns="0" rIns="0" bIns="0" anchor="t">
            <a:noAutofit/>
          </a:bodyPr>
          <a:lstStyle/>
          <a:p>
            <a:pPr algn="l">
              <a:spcAft>
                <a:spcPts val="0"/>
              </a:spcAft>
            </a:pPr>
            <a:r>
              <a:rPr sz="1350" b="1" i="0">
                <a:solidFill>
                  <a:srgbClr val="003C58"/>
                </a:solidFill>
                <a:latin typeface="Swis721 Cn BT"/>
              </a:rPr>
              <a:t>Antecedentes</a:t>
            </a:r>
          </a:p>
          <a:p>
            <a:pPr algn="l">
              <a:spcAft>
                <a:spcPts val="0"/>
              </a:spcAft>
            </a:pPr>
            <a:r>
              <a:rPr sz="1050" b="0" i="0">
                <a:solidFill>
                  <a:srgbClr val="5B6B73"/>
                </a:solidFill>
                <a:latin typeface="Swis721 Cn BT"/>
              </a:rPr>
              <a:t>contexto y fuentes</a:t>
            </a:r>
          </a:p>
        </p:txBody>
      </p:sp>
      <p:sp>
        <p:nvSpPr>
          <p:cNvPr id="10" name="Rounded Rectangle 9"/>
          <p:cNvSpPr/>
          <p:nvPr/>
        </p:nvSpPr>
        <p:spPr>
          <a:xfrm>
            <a:off x="3063240" y="1517904"/>
            <a:ext cx="5577840" cy="548640"/>
          </a:xfrm>
          <a:prstGeom prst="roundRect">
            <a:avLst>
              <a:gd name="adj" fmla="val 13333"/>
            </a:avLst>
          </a:prstGeom>
          <a:solidFill>
            <a:srgbClr val="E8F0F4"/>
          </a:solidFill>
          <a:ln>
            <a:noFill/>
          </a:ln>
        </p:spPr>
        <p:txBody>
          <a:bodyPr wrap="square" lIns="109728" tIns="73152" rIns="109728" bIns="73152" rtlCol="0" anchor="ctr">
            <a:noAutofit/>
          </a:bodyPr>
          <a:lstStyle/>
          <a:p>
            <a:pPr algn="l">
              <a:spcAft>
                <a:spcPts val="0"/>
              </a:spcAft>
            </a:pPr>
            <a:r>
              <a:rPr sz="1100" b="0" i="1">
                <a:solidFill>
                  <a:srgbClr val="1F2A30"/>
                </a:solidFill>
                <a:latin typeface="Swis721 Cn BT"/>
              </a:rPr>
              <a:t>«Trabajo en una maternidad de alta complejidad. Adjunto la norma institucional y la normativa ministerial vigente.»</a:t>
            </a:r>
          </a:p>
        </p:txBody>
      </p:sp>
      <p:sp>
        <p:nvSpPr>
          <p:cNvPr id="11" name="Rounded Rectangle 10"/>
          <p:cNvSpPr/>
          <p:nvPr/>
        </p:nvSpPr>
        <p:spPr>
          <a:xfrm>
            <a:off x="502920" y="2167128"/>
            <a:ext cx="548640" cy="548640"/>
          </a:xfrm>
          <a:prstGeom prst="roundRect">
            <a:avLst>
              <a:gd name="adj" fmla="val 16666"/>
            </a:avLst>
          </a:prstGeom>
          <a:solidFill>
            <a:srgbClr val="BF210C"/>
          </a:solidFill>
          <a:ln>
            <a:noFill/>
          </a:ln>
        </p:spPr>
        <p:txBody>
          <a:bodyPr rtlCol="0" anchor="ctr"/>
          <a:lstStyle/>
          <a:p>
            <a:pPr algn="ctr">
              <a:spcAft>
                <a:spcPts val="0"/>
              </a:spcAft>
            </a:pPr>
            <a:r>
              <a:rPr sz="2400" b="1" i="0">
                <a:solidFill>
                  <a:srgbClr val="FFFFFF"/>
                </a:solidFill>
                <a:latin typeface="Swis721 Cn BT"/>
              </a:rPr>
              <a:t>R</a:t>
            </a:r>
          </a:p>
        </p:txBody>
      </p:sp>
      <p:sp>
        <p:nvSpPr>
          <p:cNvPr id="12" name="TextBox 11"/>
          <p:cNvSpPr txBox="1"/>
          <p:nvPr/>
        </p:nvSpPr>
        <p:spPr>
          <a:xfrm>
            <a:off x="1188720" y="2185416"/>
            <a:ext cx="1828800" cy="548640"/>
          </a:xfrm>
          <a:prstGeom prst="rect">
            <a:avLst/>
          </a:prstGeom>
          <a:noFill/>
        </p:spPr>
        <p:txBody>
          <a:bodyPr wrap="square" lIns="0" tIns="0" rIns="0" bIns="0" anchor="t">
            <a:noAutofit/>
          </a:bodyPr>
          <a:lstStyle/>
          <a:p>
            <a:pPr algn="l">
              <a:spcAft>
                <a:spcPts val="0"/>
              </a:spcAft>
            </a:pPr>
            <a:r>
              <a:rPr sz="1350" b="1" i="0">
                <a:solidFill>
                  <a:srgbClr val="003C58"/>
                </a:solidFill>
                <a:latin typeface="Swis721 Cn BT"/>
              </a:rPr>
              <a:t>Requerimiento</a:t>
            </a:r>
          </a:p>
          <a:p>
            <a:pPr algn="l">
              <a:spcAft>
                <a:spcPts val="0"/>
              </a:spcAft>
            </a:pPr>
            <a:r>
              <a:rPr sz="1050" b="0" i="0">
                <a:solidFill>
                  <a:srgbClr val="5B6B73"/>
                </a:solidFill>
                <a:latin typeface="Swis721 Cn BT"/>
              </a:rPr>
              <a:t>la tarea concreta</a:t>
            </a:r>
          </a:p>
        </p:txBody>
      </p:sp>
      <p:sp>
        <p:nvSpPr>
          <p:cNvPr id="13" name="Rounded Rectangle 12"/>
          <p:cNvSpPr/>
          <p:nvPr/>
        </p:nvSpPr>
        <p:spPr>
          <a:xfrm>
            <a:off x="3063240" y="2167128"/>
            <a:ext cx="5577840" cy="548640"/>
          </a:xfrm>
          <a:prstGeom prst="roundRect">
            <a:avLst>
              <a:gd name="adj" fmla="val 13333"/>
            </a:avLst>
          </a:prstGeom>
          <a:solidFill>
            <a:srgbClr val="E8F0F4"/>
          </a:solidFill>
          <a:ln>
            <a:noFill/>
          </a:ln>
        </p:spPr>
        <p:txBody>
          <a:bodyPr wrap="square" lIns="109728" tIns="73152" rIns="109728" bIns="73152" rtlCol="0" anchor="ctr">
            <a:noAutofit/>
          </a:bodyPr>
          <a:lstStyle/>
          <a:p>
            <a:pPr algn="l">
              <a:spcAft>
                <a:spcPts val="0"/>
              </a:spcAft>
            </a:pPr>
            <a:r>
              <a:rPr sz="1100" b="0" i="1">
                <a:solidFill>
                  <a:srgbClr val="1F2A30"/>
                </a:solidFill>
                <a:latin typeface="Swis721 Cn BT"/>
              </a:rPr>
              <a:t>«Propón la actualización del protocolo de prevención de endometritis puerperal.»</a:t>
            </a:r>
          </a:p>
        </p:txBody>
      </p:sp>
      <p:sp>
        <p:nvSpPr>
          <p:cNvPr id="14" name="Rounded Rectangle 13"/>
          <p:cNvSpPr/>
          <p:nvPr/>
        </p:nvSpPr>
        <p:spPr>
          <a:xfrm>
            <a:off x="502920" y="2816352"/>
            <a:ext cx="548640" cy="548640"/>
          </a:xfrm>
          <a:prstGeom prst="roundRect">
            <a:avLst>
              <a:gd name="adj" fmla="val 16666"/>
            </a:avLst>
          </a:prstGeom>
          <a:solidFill>
            <a:srgbClr val="F2B705"/>
          </a:solidFill>
          <a:ln>
            <a:noFill/>
          </a:ln>
        </p:spPr>
        <p:txBody>
          <a:bodyPr rtlCol="0" anchor="ctr"/>
          <a:lstStyle/>
          <a:p>
            <a:pPr algn="ctr">
              <a:spcAft>
                <a:spcPts val="0"/>
              </a:spcAft>
            </a:pPr>
            <a:r>
              <a:rPr sz="2400" b="1" i="0">
                <a:solidFill>
                  <a:srgbClr val="1F2A30"/>
                </a:solidFill>
                <a:latin typeface="Swis721 Cn BT"/>
              </a:rPr>
              <a:t>T</a:t>
            </a:r>
          </a:p>
        </p:txBody>
      </p:sp>
      <p:sp>
        <p:nvSpPr>
          <p:cNvPr id="15" name="TextBox 14"/>
          <p:cNvSpPr txBox="1"/>
          <p:nvPr/>
        </p:nvSpPr>
        <p:spPr>
          <a:xfrm>
            <a:off x="1188720" y="2834640"/>
            <a:ext cx="1828800" cy="548640"/>
          </a:xfrm>
          <a:prstGeom prst="rect">
            <a:avLst/>
          </a:prstGeom>
          <a:noFill/>
        </p:spPr>
        <p:txBody>
          <a:bodyPr wrap="square" lIns="0" tIns="0" rIns="0" bIns="0" anchor="t">
            <a:noAutofit/>
          </a:bodyPr>
          <a:lstStyle/>
          <a:p>
            <a:pPr algn="l">
              <a:spcAft>
                <a:spcPts val="0"/>
              </a:spcAft>
            </a:pPr>
            <a:r>
              <a:rPr sz="1350" b="1" i="0">
                <a:solidFill>
                  <a:srgbClr val="003C58"/>
                </a:solidFill>
                <a:latin typeface="Swis721 Cn BT"/>
              </a:rPr>
              <a:t>Tono y formato</a:t>
            </a:r>
          </a:p>
          <a:p>
            <a:pPr algn="l">
              <a:spcAft>
                <a:spcPts val="0"/>
              </a:spcAft>
            </a:pPr>
            <a:r>
              <a:rPr sz="1050" b="0" i="0">
                <a:solidFill>
                  <a:srgbClr val="5B6B73"/>
                </a:solidFill>
                <a:latin typeface="Swis721 Cn BT"/>
              </a:rPr>
              <a:t>cómo quieres la salida</a:t>
            </a:r>
          </a:p>
        </p:txBody>
      </p:sp>
      <p:sp>
        <p:nvSpPr>
          <p:cNvPr id="16" name="Rounded Rectangle 15"/>
          <p:cNvSpPr/>
          <p:nvPr/>
        </p:nvSpPr>
        <p:spPr>
          <a:xfrm>
            <a:off x="3063240" y="2816352"/>
            <a:ext cx="5577840" cy="548640"/>
          </a:xfrm>
          <a:prstGeom prst="roundRect">
            <a:avLst>
              <a:gd name="adj" fmla="val 13333"/>
            </a:avLst>
          </a:prstGeom>
          <a:solidFill>
            <a:srgbClr val="E8F0F4"/>
          </a:solidFill>
          <a:ln>
            <a:noFill/>
          </a:ln>
        </p:spPr>
        <p:txBody>
          <a:bodyPr wrap="square" lIns="109728" tIns="73152" rIns="109728" bIns="73152" rtlCol="0" anchor="ctr">
            <a:noAutofit/>
          </a:bodyPr>
          <a:lstStyle/>
          <a:p>
            <a:pPr algn="l">
              <a:spcAft>
                <a:spcPts val="0"/>
              </a:spcAft>
            </a:pPr>
            <a:r>
              <a:rPr sz="1100" b="0" i="1">
                <a:solidFill>
                  <a:srgbClr val="1F2A30"/>
                </a:solidFill>
                <a:latin typeface="Swis721 Cn BT"/>
              </a:rPr>
              <a:t>«Lenguaje técnico. Secciones: objetivo, alcance, responsables, desarrollo, indicador y pauta de supervisión.»</a:t>
            </a:r>
          </a:p>
        </p:txBody>
      </p:sp>
      <p:sp>
        <p:nvSpPr>
          <p:cNvPr id="17" name="Rounded Rectangle 16"/>
          <p:cNvSpPr/>
          <p:nvPr/>
        </p:nvSpPr>
        <p:spPr>
          <a:xfrm>
            <a:off x="502920" y="3465576"/>
            <a:ext cx="548640" cy="548640"/>
          </a:xfrm>
          <a:prstGeom prst="roundRect">
            <a:avLst>
              <a:gd name="adj" fmla="val 16666"/>
            </a:avLst>
          </a:prstGeom>
          <a:solidFill>
            <a:srgbClr val="003C58"/>
          </a:solidFill>
          <a:ln>
            <a:noFill/>
          </a:ln>
        </p:spPr>
        <p:txBody>
          <a:bodyPr rtlCol="0" anchor="ctr"/>
          <a:lstStyle/>
          <a:p>
            <a:pPr algn="ctr">
              <a:spcAft>
                <a:spcPts val="0"/>
              </a:spcAft>
            </a:pPr>
            <a:r>
              <a:rPr sz="2400" b="1" i="0">
                <a:solidFill>
                  <a:srgbClr val="FFFFFF"/>
                </a:solidFill>
                <a:latin typeface="Swis721 Cn BT"/>
              </a:rPr>
              <a:t>O</a:t>
            </a:r>
          </a:p>
        </p:txBody>
      </p:sp>
      <p:sp>
        <p:nvSpPr>
          <p:cNvPr id="18" name="TextBox 17"/>
          <p:cNvSpPr txBox="1"/>
          <p:nvPr/>
        </p:nvSpPr>
        <p:spPr>
          <a:xfrm>
            <a:off x="1188720" y="3483864"/>
            <a:ext cx="1828800" cy="548640"/>
          </a:xfrm>
          <a:prstGeom prst="rect">
            <a:avLst/>
          </a:prstGeom>
          <a:noFill/>
        </p:spPr>
        <p:txBody>
          <a:bodyPr wrap="square" lIns="0" tIns="0" rIns="0" bIns="0" anchor="t">
            <a:noAutofit/>
          </a:bodyPr>
          <a:lstStyle/>
          <a:p>
            <a:pPr algn="l">
              <a:spcAft>
                <a:spcPts val="0"/>
              </a:spcAft>
            </a:pPr>
            <a:r>
              <a:rPr sz="1350" b="1" i="0">
                <a:solidFill>
                  <a:srgbClr val="003C58"/>
                </a:solidFill>
                <a:latin typeface="Swis721 Cn BT"/>
              </a:rPr>
              <a:t>Observaciones</a:t>
            </a:r>
          </a:p>
          <a:p>
            <a:pPr algn="l">
              <a:spcAft>
                <a:spcPts val="0"/>
              </a:spcAft>
            </a:pPr>
            <a:r>
              <a:rPr sz="1050" b="0" i="0">
                <a:solidFill>
                  <a:srgbClr val="5B6B73"/>
                </a:solidFill>
                <a:latin typeface="Swis721 Cn BT"/>
              </a:rPr>
              <a:t>límites y verificación</a:t>
            </a:r>
          </a:p>
        </p:txBody>
      </p:sp>
      <p:sp>
        <p:nvSpPr>
          <p:cNvPr id="19" name="Rounded Rectangle 18"/>
          <p:cNvSpPr/>
          <p:nvPr/>
        </p:nvSpPr>
        <p:spPr>
          <a:xfrm>
            <a:off x="3063240" y="3465576"/>
            <a:ext cx="5577840" cy="548640"/>
          </a:xfrm>
          <a:prstGeom prst="roundRect">
            <a:avLst>
              <a:gd name="adj" fmla="val 13333"/>
            </a:avLst>
          </a:prstGeom>
          <a:solidFill>
            <a:srgbClr val="E8F0F4"/>
          </a:solidFill>
          <a:ln>
            <a:noFill/>
          </a:ln>
        </p:spPr>
        <p:txBody>
          <a:bodyPr wrap="square" lIns="109728" tIns="73152" rIns="109728" bIns="73152" rtlCol="0" anchor="ctr">
            <a:noAutofit/>
          </a:bodyPr>
          <a:lstStyle/>
          <a:p>
            <a:pPr algn="l">
              <a:spcAft>
                <a:spcPts val="0"/>
              </a:spcAft>
            </a:pPr>
            <a:r>
              <a:rPr sz="1100" b="0" i="1">
                <a:solidFill>
                  <a:srgbClr val="1F2A30"/>
                </a:solidFill>
                <a:latin typeface="Swis721 Cn BT"/>
              </a:rPr>
              <a:t>«Usa solo los adjuntos; marca [VERIFICAR] lo que no respalde una página; no inventes referencias.»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Mismo pedido, distinto resultado: el prompt hace la diferencia</a:t>
            </a:r>
          </a:p>
        </p:txBody>
      </p:sp>
      <p:sp>
        <p:nvSpPr>
          <p:cNvPr id="3" name="Rounded Rectangle 2"/>
          <p:cNvSpPr/>
          <p:nvPr/>
        </p:nvSpPr>
        <p:spPr>
          <a:xfrm>
            <a:off x="502920" y="868680"/>
            <a:ext cx="3474720" cy="3200400"/>
          </a:xfrm>
          <a:prstGeom prst="roundRect">
            <a:avLst>
              <a:gd name="adj" fmla="val 3428"/>
            </a:avLst>
          </a:prstGeom>
          <a:solidFill>
            <a:srgbClr val="F9E3DF"/>
          </a:solidFill>
          <a:ln>
            <a:noFill/>
          </a:ln>
        </p:spPr>
        <p:txBody>
          <a:bodyPr rtlCol="0" anchor="ctr"/>
          <a:lstStyle/>
          <a:p>
            <a:pPr algn="ctr"/>
            <a:endParaRPr/>
          </a:p>
        </p:txBody>
      </p:sp>
      <p:sp>
        <p:nvSpPr>
          <p:cNvPr id="4" name="Rounded Rectangle 3"/>
          <p:cNvSpPr/>
          <p:nvPr/>
        </p:nvSpPr>
        <p:spPr>
          <a:xfrm>
            <a:off x="685800" y="1033271"/>
            <a:ext cx="1417320" cy="310896"/>
          </a:xfrm>
          <a:prstGeom prst="roundRect">
            <a:avLst>
              <a:gd name="adj" fmla="val 50000"/>
            </a:avLst>
          </a:prstGeom>
          <a:solidFill>
            <a:srgbClr val="BF210C"/>
          </a:solidFill>
          <a:ln>
            <a:noFill/>
          </a:ln>
        </p:spPr>
        <p:txBody>
          <a:bodyPr wrap="square" lIns="54864" tIns="54864" rIns="54864" bIns="54864" rtlCol="0" anchor="ctr">
            <a:noAutofit/>
          </a:bodyPr>
          <a:lstStyle/>
          <a:p>
            <a:pPr algn="ctr">
              <a:spcAft>
                <a:spcPts val="0"/>
              </a:spcAft>
            </a:pPr>
            <a:r>
              <a:rPr sz="1200" b="1" i="0">
                <a:solidFill>
                  <a:srgbClr val="FFFFFF"/>
                </a:solidFill>
                <a:latin typeface="Swis721 Cn BT"/>
              </a:rPr>
              <a:t>Prompt vago</a:t>
            </a:r>
          </a:p>
        </p:txBody>
      </p:sp>
      <p:sp>
        <p:nvSpPr>
          <p:cNvPr id="5" name="TextBox 4"/>
          <p:cNvSpPr txBox="1"/>
          <p:nvPr/>
        </p:nvSpPr>
        <p:spPr>
          <a:xfrm>
            <a:off x="685800" y="1508760"/>
            <a:ext cx="3108960" cy="548640"/>
          </a:xfrm>
          <a:prstGeom prst="rect">
            <a:avLst/>
          </a:prstGeom>
          <a:noFill/>
        </p:spPr>
        <p:txBody>
          <a:bodyPr wrap="square" lIns="0" tIns="0" rIns="0" bIns="0" anchor="t">
            <a:noAutofit/>
          </a:bodyPr>
          <a:lstStyle/>
          <a:p>
            <a:pPr algn="l">
              <a:spcAft>
                <a:spcPts val="0"/>
              </a:spcAft>
            </a:pPr>
            <a:r>
              <a:rPr sz="1500" b="0" i="1">
                <a:solidFill>
                  <a:srgbClr val="1F2A30"/>
                </a:solidFill>
                <a:latin typeface="Swis721 Cn BT"/>
              </a:rPr>
              <a:t>«Hazme un protocolo de endometritis.»</a:t>
            </a:r>
          </a:p>
        </p:txBody>
      </p:sp>
      <p:sp>
        <p:nvSpPr>
          <p:cNvPr id="6" name="TextBox 5"/>
          <p:cNvSpPr txBox="1"/>
          <p:nvPr/>
        </p:nvSpPr>
        <p:spPr>
          <a:xfrm>
            <a:off x="685800" y="2194560"/>
            <a:ext cx="3108960" cy="1783080"/>
          </a:xfrm>
          <a:prstGeom prst="rect">
            <a:avLst/>
          </a:prstGeom>
          <a:noFill/>
        </p:spPr>
        <p:txBody>
          <a:bodyPr wrap="square" lIns="0" tIns="0" rIns="0" bIns="0" anchor="t">
            <a:noAutofit/>
          </a:bodyPr>
          <a:lstStyle/>
          <a:p>
            <a:pPr algn="l">
              <a:spcAft>
                <a:spcPts val="400"/>
              </a:spcAft>
            </a:pPr>
            <a:r>
              <a:rPr sz="1250" b="1" i="0">
                <a:solidFill>
                  <a:srgbClr val="BF210C"/>
                </a:solidFill>
                <a:latin typeface="Swis721 Cn BT"/>
              </a:rPr>
              <a:t>Qué suele salir</a:t>
            </a:r>
          </a:p>
          <a:p>
            <a:pPr marL="155448" indent="-155448" algn="l">
              <a:spcAft>
                <a:spcPts val="400"/>
              </a:spcAft>
              <a:buClr>
                <a:srgbClr val="BF210C"/>
              </a:buClr>
              <a:buFont typeface="Arial"/>
              <a:buChar char="•"/>
            </a:pPr>
            <a:r>
              <a:rPr sz="1200" b="0" i="0">
                <a:solidFill>
                  <a:srgbClr val="1F2A30"/>
                </a:solidFill>
                <a:latin typeface="Swis721 Cn BT"/>
              </a:rPr>
              <a:t>Texto genérico, sin contexto local</a:t>
            </a:r>
          </a:p>
          <a:p>
            <a:pPr marL="155448" indent="-155448" algn="l">
              <a:spcAft>
                <a:spcPts val="400"/>
              </a:spcAft>
              <a:buClr>
                <a:srgbClr val="BF210C"/>
              </a:buClr>
              <a:buFont typeface="Arial"/>
              <a:buChar char="•"/>
            </a:pPr>
            <a:r>
              <a:rPr sz="1200" b="0" i="0">
                <a:solidFill>
                  <a:srgbClr val="1F2A30"/>
                </a:solidFill>
                <a:latin typeface="Swis721 Cn BT"/>
              </a:rPr>
              <a:t>Formato impredecible</a:t>
            </a:r>
          </a:p>
          <a:p>
            <a:pPr marL="155448" indent="-155448" algn="l">
              <a:spcAft>
                <a:spcPts val="400"/>
              </a:spcAft>
              <a:buClr>
                <a:srgbClr val="BF210C"/>
              </a:buClr>
              <a:buFont typeface="Arial"/>
              <a:buChar char="•"/>
            </a:pPr>
            <a:r>
              <a:rPr sz="1200" b="0" i="0">
                <a:solidFill>
                  <a:srgbClr val="1F2A30"/>
                </a:solidFill>
                <a:latin typeface="Swis721 Cn BT"/>
              </a:rPr>
              <a:t>Posibles referencias inventadas</a:t>
            </a:r>
          </a:p>
          <a:p>
            <a:pPr marL="155448" indent="-155448" algn="l">
              <a:spcAft>
                <a:spcPts val="400"/>
              </a:spcAft>
              <a:buClr>
                <a:srgbClr val="BF210C"/>
              </a:buClr>
              <a:buFont typeface="Arial"/>
              <a:buChar char="•"/>
            </a:pPr>
            <a:r>
              <a:rPr sz="1200" b="0" i="0">
                <a:solidFill>
                  <a:srgbClr val="1F2A30"/>
                </a:solidFill>
                <a:latin typeface="Swis721 Cn BT"/>
              </a:rPr>
              <a:t>Nada que permita verificarlo</a:t>
            </a:r>
          </a:p>
        </p:txBody>
      </p:sp>
      <p:sp>
        <p:nvSpPr>
          <p:cNvPr id="7" name="Rounded Rectangle 6"/>
          <p:cNvSpPr/>
          <p:nvPr/>
        </p:nvSpPr>
        <p:spPr>
          <a:xfrm>
            <a:off x="4206240" y="868680"/>
            <a:ext cx="4434840" cy="3200400"/>
          </a:xfrm>
          <a:prstGeom prst="roundRect">
            <a:avLst>
              <a:gd name="adj" fmla="val 3428"/>
            </a:avLst>
          </a:prstGeom>
          <a:solidFill>
            <a:srgbClr val="E8F0F4"/>
          </a:solidFill>
          <a:ln>
            <a:noFill/>
          </a:ln>
        </p:spPr>
        <p:txBody>
          <a:bodyPr rtlCol="0" anchor="ctr"/>
          <a:lstStyle/>
          <a:p>
            <a:pPr algn="ctr"/>
            <a:endParaRPr/>
          </a:p>
        </p:txBody>
      </p:sp>
      <p:sp>
        <p:nvSpPr>
          <p:cNvPr id="8" name="Rounded Rectangle 7"/>
          <p:cNvSpPr/>
          <p:nvPr/>
        </p:nvSpPr>
        <p:spPr>
          <a:xfrm>
            <a:off x="4389120" y="1033271"/>
            <a:ext cx="1554480" cy="310896"/>
          </a:xfrm>
          <a:prstGeom prst="roundRect">
            <a:avLst>
              <a:gd name="adj" fmla="val 50000"/>
            </a:avLst>
          </a:prstGeom>
          <a:solidFill>
            <a:srgbClr val="003C58"/>
          </a:solidFill>
          <a:ln>
            <a:noFill/>
          </a:ln>
        </p:spPr>
        <p:txBody>
          <a:bodyPr wrap="square" lIns="54864" tIns="54864" rIns="54864" bIns="54864" rtlCol="0" anchor="ctr">
            <a:noAutofit/>
          </a:bodyPr>
          <a:lstStyle/>
          <a:p>
            <a:pPr algn="ctr">
              <a:spcAft>
                <a:spcPts val="0"/>
              </a:spcAft>
            </a:pPr>
            <a:r>
              <a:rPr sz="1200" b="1" i="0">
                <a:solidFill>
                  <a:srgbClr val="FFFFFF"/>
                </a:solidFill>
                <a:latin typeface="Swis721 Cn BT"/>
              </a:rPr>
              <a:t>Prompt PARTO</a:t>
            </a:r>
          </a:p>
        </p:txBody>
      </p:sp>
      <p:sp>
        <p:nvSpPr>
          <p:cNvPr id="9" name="TextBox 8"/>
          <p:cNvSpPr txBox="1"/>
          <p:nvPr/>
        </p:nvSpPr>
        <p:spPr>
          <a:xfrm>
            <a:off x="4389120" y="1463040"/>
            <a:ext cx="4069080" cy="1600200"/>
          </a:xfrm>
          <a:prstGeom prst="rect">
            <a:avLst/>
          </a:prstGeom>
          <a:noFill/>
        </p:spPr>
        <p:txBody>
          <a:bodyPr wrap="square" lIns="0" tIns="0" rIns="0" bIns="0" anchor="t">
            <a:noAutofit/>
          </a:bodyPr>
          <a:lstStyle/>
          <a:p>
            <a:pPr algn="l">
              <a:spcAft>
                <a:spcPts val="0"/>
              </a:spcAft>
            </a:pPr>
            <a:r>
              <a:rPr sz="1150" b="0" i="1">
                <a:solidFill>
                  <a:srgbClr val="1F2A30"/>
                </a:solidFill>
                <a:latin typeface="Swis721 Cn BT"/>
              </a:rPr>
              <a:t>«Actúa como matrona experta en IAAS </a:t>
            </a:r>
            <a:r>
              <a:rPr sz="1150" b="1" i="1">
                <a:solidFill>
                  <a:srgbClr val="BF210C"/>
                </a:solidFill>
                <a:latin typeface="Swis721 Cn BT"/>
              </a:rPr>
              <a:t>[P]</a:t>
            </a:r>
            <a:r>
              <a:rPr sz="1150" b="0" i="1">
                <a:solidFill>
                  <a:srgbClr val="1F2A30"/>
                </a:solidFill>
                <a:latin typeface="Swis721 Cn BT"/>
              </a:rPr>
              <a:t>. Adjunto dos protocolos hospitalarios vencidos y la normativa vigente </a:t>
            </a:r>
            <a:r>
              <a:rPr sz="1150" b="1" i="1">
                <a:solidFill>
                  <a:srgbClr val="BF210C"/>
                </a:solidFill>
                <a:latin typeface="Swis721 Cn BT"/>
              </a:rPr>
              <a:t>[A]</a:t>
            </a:r>
            <a:r>
              <a:rPr sz="1150" b="0" i="1">
                <a:solidFill>
                  <a:srgbClr val="1F2A30"/>
                </a:solidFill>
                <a:latin typeface="Swis721 Cn BT"/>
              </a:rPr>
              <a:t>. Compáralos y propón una versión actualizada </a:t>
            </a:r>
            <a:r>
              <a:rPr sz="1150" b="1" i="1">
                <a:solidFill>
                  <a:srgbClr val="BF210C"/>
                </a:solidFill>
                <a:latin typeface="Swis721 Cn BT"/>
              </a:rPr>
              <a:t>[R]</a:t>
            </a:r>
            <a:r>
              <a:rPr sz="1150" b="0" i="1">
                <a:solidFill>
                  <a:srgbClr val="1F2A30"/>
                </a:solidFill>
                <a:latin typeface="Swis721 Cn BT"/>
              </a:rPr>
              <a:t>. Entrega una tabla comparativa y el borrador con las secciones institucionales </a:t>
            </a:r>
            <a:r>
              <a:rPr sz="1150" b="1" i="1">
                <a:solidFill>
                  <a:srgbClr val="BF210C"/>
                </a:solidFill>
                <a:latin typeface="Swis721 Cn BT"/>
              </a:rPr>
              <a:t>[T]</a:t>
            </a:r>
            <a:r>
              <a:rPr sz="1150" b="0" i="1">
                <a:solidFill>
                  <a:srgbClr val="1F2A30"/>
                </a:solidFill>
                <a:latin typeface="Swis721 Cn BT"/>
              </a:rPr>
              <a:t>. Usa solo los adjuntos, cita la página y marca [VERIFICAR] lo no respaldado </a:t>
            </a:r>
            <a:r>
              <a:rPr sz="1150" b="1" i="1">
                <a:solidFill>
                  <a:srgbClr val="BF210C"/>
                </a:solidFill>
                <a:latin typeface="Swis721 Cn BT"/>
              </a:rPr>
              <a:t>[O]</a:t>
            </a:r>
            <a:r>
              <a:rPr sz="1150" b="0" i="1">
                <a:solidFill>
                  <a:srgbClr val="1F2A30"/>
                </a:solidFill>
                <a:latin typeface="Swis721 Cn BT"/>
              </a:rPr>
              <a:t>.»</a:t>
            </a:r>
          </a:p>
        </p:txBody>
      </p:sp>
      <p:sp>
        <p:nvSpPr>
          <p:cNvPr id="10" name="TextBox 9"/>
          <p:cNvSpPr txBox="1"/>
          <p:nvPr/>
        </p:nvSpPr>
        <p:spPr>
          <a:xfrm>
            <a:off x="4389120" y="3017520"/>
            <a:ext cx="4069080" cy="1005840"/>
          </a:xfrm>
          <a:prstGeom prst="rect">
            <a:avLst/>
          </a:prstGeom>
          <a:noFill/>
        </p:spPr>
        <p:txBody>
          <a:bodyPr wrap="square" lIns="0" tIns="0" rIns="0" bIns="0" anchor="t">
            <a:noAutofit/>
          </a:bodyPr>
          <a:lstStyle/>
          <a:p>
            <a:pPr algn="l">
              <a:spcAft>
                <a:spcPts val="300"/>
              </a:spcAft>
            </a:pPr>
            <a:r>
              <a:rPr sz="1250" b="1" i="0">
                <a:solidFill>
                  <a:srgbClr val="003C58"/>
                </a:solidFill>
                <a:latin typeface="Swis721 Cn BT"/>
              </a:rPr>
              <a:t>Qué suele salir</a:t>
            </a:r>
          </a:p>
          <a:p>
            <a:pPr marL="155448" indent="-155448" algn="l">
              <a:spcAft>
                <a:spcPts val="300"/>
              </a:spcAft>
              <a:buClr>
                <a:srgbClr val="003C58"/>
              </a:buClr>
              <a:buFont typeface="Arial"/>
              <a:buChar char="•"/>
            </a:pPr>
            <a:r>
              <a:rPr sz="1200" b="0" i="0">
                <a:solidFill>
                  <a:srgbClr val="1F2A30"/>
                </a:solidFill>
                <a:latin typeface="Swis721 Cn BT"/>
              </a:rPr>
              <a:t>Borrador con la estructura institucional</a:t>
            </a:r>
          </a:p>
          <a:p>
            <a:pPr marL="155448" indent="-155448" algn="l">
              <a:spcAft>
                <a:spcPts val="300"/>
              </a:spcAft>
              <a:buClr>
                <a:srgbClr val="003C58"/>
              </a:buClr>
              <a:buFont typeface="Arial"/>
              <a:buChar char="•"/>
            </a:pPr>
            <a:r>
              <a:rPr sz="1200" b="0" i="0">
                <a:solidFill>
                  <a:srgbClr val="1F2A30"/>
                </a:solidFill>
                <a:latin typeface="Swis721 Cn BT"/>
              </a:rPr>
              <a:t>Cada cambio trazable a una página</a:t>
            </a:r>
          </a:p>
          <a:p>
            <a:pPr marL="155448" indent="-155448" algn="l">
              <a:spcAft>
                <a:spcPts val="300"/>
              </a:spcAft>
              <a:buClr>
                <a:srgbClr val="003C58"/>
              </a:buClr>
              <a:buFont typeface="Arial"/>
              <a:buChar char="•"/>
            </a:pPr>
            <a:r>
              <a:rPr sz="1200" b="0" i="0">
                <a:solidFill>
                  <a:srgbClr val="1F2A30"/>
                </a:solidFill>
                <a:latin typeface="Swis721 Cn BT"/>
              </a:rPr>
              <a:t>Dudas visibles para el equipo revisor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Seis técnicas que mejoran el resultado en cualquier modelo</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[24] Zaghir et al., 2024 · [21] Liu et al., 2025</a:t>
            </a:r>
          </a:p>
        </p:txBody>
      </p:sp>
      <p:sp>
        <p:nvSpPr>
          <p:cNvPr id="5" name="Rounded Rectangle 4"/>
          <p:cNvSpPr/>
          <p:nvPr/>
        </p:nvSpPr>
        <p:spPr>
          <a:xfrm>
            <a:off x="502920" y="868680"/>
            <a:ext cx="2606040" cy="1508760"/>
          </a:xfrm>
          <a:prstGeom prst="roundRect">
            <a:avLst>
              <a:gd name="adj" fmla="val 7272"/>
            </a:avLst>
          </a:prstGeom>
          <a:solidFill>
            <a:srgbClr val="E8F0F4"/>
          </a:solidFill>
          <a:ln>
            <a:noFill/>
          </a:ln>
        </p:spPr>
        <p:txBody>
          <a:bodyPr rtlCol="0" anchor="ctr"/>
          <a:lstStyle/>
          <a:p>
            <a:pPr algn="ctr"/>
            <a:endParaRPr/>
          </a:p>
        </p:txBody>
      </p:sp>
      <p:sp>
        <p:nvSpPr>
          <p:cNvPr id="6" name="Oval 5"/>
          <p:cNvSpPr/>
          <p:nvPr/>
        </p:nvSpPr>
        <p:spPr>
          <a:xfrm>
            <a:off x="649224" y="1014983"/>
            <a:ext cx="475488" cy="475488"/>
          </a:xfrm>
          <a:prstGeom prst="ellipse">
            <a:avLst/>
          </a:prstGeom>
          <a:solidFill>
            <a:srgbClr val="003C58"/>
          </a:solidFill>
          <a:ln>
            <a:noFill/>
          </a:ln>
        </p:spPr>
        <p:txBody>
          <a:bodyPr rtlCol="0" anchor="ctr"/>
          <a:lstStyle/>
          <a:p>
            <a:pPr algn="ctr"/>
            <a:endParaRPr/>
          </a:p>
        </p:txBody>
      </p:sp>
      <p:pic>
        <p:nvPicPr>
          <p:cNvPr id="7" name="Picture 6" descr="MdContentCopy_blanco.png"/>
          <p:cNvPicPr>
            <a:picLocks noChangeAspect="1"/>
          </p:cNvPicPr>
          <p:nvPr/>
        </p:nvPicPr>
        <p:blipFill>
          <a:blip r:embed="rId3"/>
          <a:stretch>
            <a:fillRect/>
          </a:stretch>
        </p:blipFill>
        <p:spPr>
          <a:xfrm>
            <a:off x="749076" y="1114836"/>
            <a:ext cx="275783" cy="275783"/>
          </a:xfrm>
          <a:prstGeom prst="rect">
            <a:avLst/>
          </a:prstGeom>
        </p:spPr>
      </p:pic>
      <p:sp>
        <p:nvSpPr>
          <p:cNvPr id="8" name="TextBox 7"/>
          <p:cNvSpPr txBox="1"/>
          <p:nvPr/>
        </p:nvSpPr>
        <p:spPr>
          <a:xfrm>
            <a:off x="1234440" y="1051560"/>
            <a:ext cx="1783080" cy="411480"/>
          </a:xfrm>
          <a:prstGeom prst="rect">
            <a:avLst/>
          </a:prstGeom>
          <a:noFill/>
        </p:spPr>
        <p:txBody>
          <a:bodyPr wrap="square" lIns="0" tIns="0" rIns="0" bIns="0" anchor="ctr">
            <a:noAutofit/>
          </a:bodyPr>
          <a:lstStyle/>
          <a:p>
            <a:pPr algn="l">
              <a:spcAft>
                <a:spcPts val="0"/>
              </a:spcAft>
            </a:pPr>
            <a:r>
              <a:rPr sz="1350" b="1" i="0">
                <a:solidFill>
                  <a:srgbClr val="003C58"/>
                </a:solidFill>
                <a:latin typeface="Swis721 Cn BT"/>
              </a:rPr>
              <a:t>Dar ejemplos</a:t>
            </a:r>
          </a:p>
        </p:txBody>
      </p:sp>
      <p:sp>
        <p:nvSpPr>
          <p:cNvPr id="9" name="TextBox 8"/>
          <p:cNvSpPr txBox="1"/>
          <p:nvPr/>
        </p:nvSpPr>
        <p:spPr>
          <a:xfrm>
            <a:off x="685800" y="1581912"/>
            <a:ext cx="2286000" cy="77724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Adjunta un protocolo bien hecho como modelo de estilo y estructura.</a:t>
            </a:r>
          </a:p>
        </p:txBody>
      </p:sp>
      <p:sp>
        <p:nvSpPr>
          <p:cNvPr id="10" name="Rounded Rectangle 9"/>
          <p:cNvSpPr/>
          <p:nvPr/>
        </p:nvSpPr>
        <p:spPr>
          <a:xfrm>
            <a:off x="3268980" y="868680"/>
            <a:ext cx="2606040" cy="1508760"/>
          </a:xfrm>
          <a:prstGeom prst="roundRect">
            <a:avLst>
              <a:gd name="adj" fmla="val 7272"/>
            </a:avLst>
          </a:prstGeom>
          <a:solidFill>
            <a:srgbClr val="E8F0F4"/>
          </a:solidFill>
          <a:ln>
            <a:noFill/>
          </a:ln>
        </p:spPr>
        <p:txBody>
          <a:bodyPr rtlCol="0" anchor="ctr"/>
          <a:lstStyle/>
          <a:p>
            <a:pPr algn="ctr"/>
            <a:endParaRPr/>
          </a:p>
        </p:txBody>
      </p:sp>
      <p:sp>
        <p:nvSpPr>
          <p:cNvPr id="11" name="Oval 10"/>
          <p:cNvSpPr/>
          <p:nvPr/>
        </p:nvSpPr>
        <p:spPr>
          <a:xfrm>
            <a:off x="3415284" y="1014983"/>
            <a:ext cx="475488" cy="475488"/>
          </a:xfrm>
          <a:prstGeom prst="ellipse">
            <a:avLst/>
          </a:prstGeom>
          <a:solidFill>
            <a:srgbClr val="003C58"/>
          </a:solidFill>
          <a:ln>
            <a:noFill/>
          </a:ln>
        </p:spPr>
        <p:txBody>
          <a:bodyPr rtlCol="0" anchor="ctr"/>
          <a:lstStyle/>
          <a:p>
            <a:pPr algn="ctr"/>
            <a:endParaRPr/>
          </a:p>
        </p:txBody>
      </p:sp>
      <p:pic>
        <p:nvPicPr>
          <p:cNvPr id="12" name="Picture 11" descr="MdStairs_blanco.png"/>
          <p:cNvPicPr>
            <a:picLocks noChangeAspect="1"/>
          </p:cNvPicPr>
          <p:nvPr/>
        </p:nvPicPr>
        <p:blipFill>
          <a:blip r:embed="rId4"/>
          <a:stretch>
            <a:fillRect/>
          </a:stretch>
        </p:blipFill>
        <p:spPr>
          <a:xfrm>
            <a:off x="3515136" y="1114836"/>
            <a:ext cx="275783" cy="275783"/>
          </a:xfrm>
          <a:prstGeom prst="rect">
            <a:avLst/>
          </a:prstGeom>
        </p:spPr>
      </p:pic>
      <p:sp>
        <p:nvSpPr>
          <p:cNvPr id="13" name="TextBox 12"/>
          <p:cNvSpPr txBox="1"/>
          <p:nvPr/>
        </p:nvSpPr>
        <p:spPr>
          <a:xfrm>
            <a:off x="4000500" y="1051560"/>
            <a:ext cx="1783080" cy="411480"/>
          </a:xfrm>
          <a:prstGeom prst="rect">
            <a:avLst/>
          </a:prstGeom>
          <a:noFill/>
        </p:spPr>
        <p:txBody>
          <a:bodyPr wrap="square" lIns="0" tIns="0" rIns="0" bIns="0" anchor="ctr">
            <a:noAutofit/>
          </a:bodyPr>
          <a:lstStyle/>
          <a:p>
            <a:pPr algn="l">
              <a:spcAft>
                <a:spcPts val="0"/>
              </a:spcAft>
            </a:pPr>
            <a:r>
              <a:rPr sz="1350" b="1" i="0">
                <a:solidFill>
                  <a:srgbClr val="003C58"/>
                </a:solidFill>
                <a:latin typeface="Swis721 Cn BT"/>
              </a:rPr>
              <a:t>Paso a paso</a:t>
            </a:r>
          </a:p>
        </p:txBody>
      </p:sp>
      <p:sp>
        <p:nvSpPr>
          <p:cNvPr id="14" name="TextBox 13"/>
          <p:cNvSpPr txBox="1"/>
          <p:nvPr/>
        </p:nvSpPr>
        <p:spPr>
          <a:xfrm>
            <a:off x="3451860" y="1581912"/>
            <a:ext cx="2286000" cy="77724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«Primero extrae las recomendaciones, luego compáralas y al final redacta.»</a:t>
            </a:r>
          </a:p>
        </p:txBody>
      </p:sp>
      <p:sp>
        <p:nvSpPr>
          <p:cNvPr id="15" name="Rounded Rectangle 14"/>
          <p:cNvSpPr/>
          <p:nvPr/>
        </p:nvSpPr>
        <p:spPr>
          <a:xfrm>
            <a:off x="6035040" y="868680"/>
            <a:ext cx="2606040" cy="1508760"/>
          </a:xfrm>
          <a:prstGeom prst="roundRect">
            <a:avLst>
              <a:gd name="adj" fmla="val 7272"/>
            </a:avLst>
          </a:prstGeom>
          <a:solidFill>
            <a:srgbClr val="E8F0F4"/>
          </a:solidFill>
          <a:ln>
            <a:noFill/>
          </a:ln>
        </p:spPr>
        <p:txBody>
          <a:bodyPr rtlCol="0" anchor="ctr"/>
          <a:lstStyle/>
          <a:p>
            <a:pPr algn="ctr"/>
            <a:endParaRPr/>
          </a:p>
        </p:txBody>
      </p:sp>
      <p:sp>
        <p:nvSpPr>
          <p:cNvPr id="16" name="Oval 15"/>
          <p:cNvSpPr/>
          <p:nvPr/>
        </p:nvSpPr>
        <p:spPr>
          <a:xfrm>
            <a:off x="6181344" y="1014983"/>
            <a:ext cx="475488" cy="475488"/>
          </a:xfrm>
          <a:prstGeom prst="ellipse">
            <a:avLst/>
          </a:prstGeom>
          <a:solidFill>
            <a:srgbClr val="BF210C"/>
          </a:solidFill>
          <a:ln>
            <a:noFill/>
          </a:ln>
        </p:spPr>
        <p:txBody>
          <a:bodyPr rtlCol="0" anchor="ctr"/>
          <a:lstStyle/>
          <a:p>
            <a:pPr algn="ctr"/>
            <a:endParaRPr/>
          </a:p>
        </p:txBody>
      </p:sp>
      <p:pic>
        <p:nvPicPr>
          <p:cNvPr id="17" name="Picture 16" descr="MdRepeat_blanco.png"/>
          <p:cNvPicPr>
            <a:picLocks noChangeAspect="1"/>
          </p:cNvPicPr>
          <p:nvPr/>
        </p:nvPicPr>
        <p:blipFill>
          <a:blip r:embed="rId5"/>
          <a:stretch>
            <a:fillRect/>
          </a:stretch>
        </p:blipFill>
        <p:spPr>
          <a:xfrm>
            <a:off x="6281196" y="1114836"/>
            <a:ext cx="275783" cy="275783"/>
          </a:xfrm>
          <a:prstGeom prst="rect">
            <a:avLst/>
          </a:prstGeom>
        </p:spPr>
      </p:pic>
      <p:sp>
        <p:nvSpPr>
          <p:cNvPr id="18" name="TextBox 17"/>
          <p:cNvSpPr txBox="1"/>
          <p:nvPr/>
        </p:nvSpPr>
        <p:spPr>
          <a:xfrm>
            <a:off x="6766559" y="1051560"/>
            <a:ext cx="1783080" cy="411480"/>
          </a:xfrm>
          <a:prstGeom prst="rect">
            <a:avLst/>
          </a:prstGeom>
          <a:noFill/>
        </p:spPr>
        <p:txBody>
          <a:bodyPr wrap="square" lIns="0" tIns="0" rIns="0" bIns="0" anchor="ctr">
            <a:noAutofit/>
          </a:bodyPr>
          <a:lstStyle/>
          <a:p>
            <a:pPr algn="l">
              <a:spcAft>
                <a:spcPts val="0"/>
              </a:spcAft>
            </a:pPr>
            <a:r>
              <a:rPr sz="1350" b="1" i="0">
                <a:solidFill>
                  <a:srgbClr val="003C58"/>
                </a:solidFill>
                <a:latin typeface="Swis721 Cn BT"/>
              </a:rPr>
              <a:t>Autoconsistencia</a:t>
            </a:r>
          </a:p>
        </p:txBody>
      </p:sp>
      <p:sp>
        <p:nvSpPr>
          <p:cNvPr id="19" name="TextBox 18"/>
          <p:cNvSpPr txBox="1"/>
          <p:nvPr/>
        </p:nvSpPr>
        <p:spPr>
          <a:xfrm>
            <a:off x="6217920" y="1581912"/>
            <a:ext cx="2286000" cy="77724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Repite el prompt tres veces o en dos modelos; confía en lo que coincide.</a:t>
            </a:r>
          </a:p>
        </p:txBody>
      </p:sp>
      <p:sp>
        <p:nvSpPr>
          <p:cNvPr id="20" name="Rounded Rectangle 19"/>
          <p:cNvSpPr/>
          <p:nvPr/>
        </p:nvSpPr>
        <p:spPr>
          <a:xfrm>
            <a:off x="502920" y="2514600"/>
            <a:ext cx="2606040" cy="1508760"/>
          </a:xfrm>
          <a:prstGeom prst="roundRect">
            <a:avLst>
              <a:gd name="adj" fmla="val 7272"/>
            </a:avLst>
          </a:prstGeom>
          <a:solidFill>
            <a:srgbClr val="E8F0F4"/>
          </a:solidFill>
          <a:ln>
            <a:noFill/>
          </a:ln>
        </p:spPr>
        <p:txBody>
          <a:bodyPr rtlCol="0" anchor="ctr"/>
          <a:lstStyle/>
          <a:p>
            <a:pPr algn="ctr"/>
            <a:endParaRPr/>
          </a:p>
        </p:txBody>
      </p:sp>
      <p:sp>
        <p:nvSpPr>
          <p:cNvPr id="21" name="Oval 20"/>
          <p:cNvSpPr/>
          <p:nvPr/>
        </p:nvSpPr>
        <p:spPr>
          <a:xfrm>
            <a:off x="649224" y="2660904"/>
            <a:ext cx="475488" cy="475488"/>
          </a:xfrm>
          <a:prstGeom prst="ellipse">
            <a:avLst/>
          </a:prstGeom>
          <a:solidFill>
            <a:srgbClr val="003C58"/>
          </a:solidFill>
          <a:ln>
            <a:noFill/>
          </a:ln>
        </p:spPr>
        <p:txBody>
          <a:bodyPr rtlCol="0" anchor="ctr"/>
          <a:lstStyle/>
          <a:p>
            <a:pPr algn="ctr"/>
            <a:endParaRPr/>
          </a:p>
        </p:txBody>
      </p:sp>
      <p:pic>
        <p:nvPicPr>
          <p:cNvPr id="22" name="Picture 21" descr="MdAutoFixHigh_blanco.png"/>
          <p:cNvPicPr>
            <a:picLocks noChangeAspect="1"/>
          </p:cNvPicPr>
          <p:nvPr/>
        </p:nvPicPr>
        <p:blipFill>
          <a:blip r:embed="rId6"/>
          <a:stretch>
            <a:fillRect/>
          </a:stretch>
        </p:blipFill>
        <p:spPr>
          <a:xfrm>
            <a:off x="749076" y="2760756"/>
            <a:ext cx="275783" cy="275783"/>
          </a:xfrm>
          <a:prstGeom prst="rect">
            <a:avLst/>
          </a:prstGeom>
        </p:spPr>
      </p:pic>
      <p:sp>
        <p:nvSpPr>
          <p:cNvPr id="23" name="TextBox 22"/>
          <p:cNvSpPr txBox="1"/>
          <p:nvPr/>
        </p:nvSpPr>
        <p:spPr>
          <a:xfrm>
            <a:off x="1234440" y="2697480"/>
            <a:ext cx="1783080" cy="411480"/>
          </a:xfrm>
          <a:prstGeom prst="rect">
            <a:avLst/>
          </a:prstGeom>
          <a:noFill/>
        </p:spPr>
        <p:txBody>
          <a:bodyPr wrap="square" lIns="0" tIns="0" rIns="0" bIns="0" anchor="ctr">
            <a:noAutofit/>
          </a:bodyPr>
          <a:lstStyle/>
          <a:p>
            <a:pPr algn="l">
              <a:spcAft>
                <a:spcPts val="0"/>
              </a:spcAft>
            </a:pPr>
            <a:r>
              <a:rPr sz="1350" b="1" i="0">
                <a:solidFill>
                  <a:srgbClr val="003C58"/>
                </a:solidFill>
                <a:latin typeface="Swis721 Cn BT"/>
              </a:rPr>
              <a:t>Meta-prompt</a:t>
            </a:r>
          </a:p>
        </p:txBody>
      </p:sp>
      <p:sp>
        <p:nvSpPr>
          <p:cNvPr id="24" name="TextBox 23"/>
          <p:cNvSpPr txBox="1"/>
          <p:nvPr/>
        </p:nvSpPr>
        <p:spPr>
          <a:xfrm>
            <a:off x="685800" y="3227832"/>
            <a:ext cx="2286000" cy="77724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«Mejora este prompt y pregúntame lo que falte antes de responder.»</a:t>
            </a:r>
          </a:p>
        </p:txBody>
      </p:sp>
      <p:sp>
        <p:nvSpPr>
          <p:cNvPr id="25" name="Rounded Rectangle 24"/>
          <p:cNvSpPr/>
          <p:nvPr/>
        </p:nvSpPr>
        <p:spPr>
          <a:xfrm>
            <a:off x="3268980" y="2514600"/>
            <a:ext cx="2606040" cy="1508760"/>
          </a:xfrm>
          <a:prstGeom prst="roundRect">
            <a:avLst>
              <a:gd name="adj" fmla="val 7272"/>
            </a:avLst>
          </a:prstGeom>
          <a:solidFill>
            <a:srgbClr val="E8F0F4"/>
          </a:solidFill>
          <a:ln>
            <a:noFill/>
          </a:ln>
        </p:spPr>
        <p:txBody>
          <a:bodyPr rtlCol="0" anchor="ctr"/>
          <a:lstStyle/>
          <a:p>
            <a:pPr algn="ctr"/>
            <a:endParaRPr/>
          </a:p>
        </p:txBody>
      </p:sp>
      <p:sp>
        <p:nvSpPr>
          <p:cNvPr id="26" name="Oval 25"/>
          <p:cNvSpPr/>
          <p:nvPr/>
        </p:nvSpPr>
        <p:spPr>
          <a:xfrm>
            <a:off x="3415284" y="2660904"/>
            <a:ext cx="475488" cy="475488"/>
          </a:xfrm>
          <a:prstGeom prst="ellipse">
            <a:avLst/>
          </a:prstGeom>
          <a:solidFill>
            <a:srgbClr val="003C58"/>
          </a:solidFill>
          <a:ln>
            <a:noFill/>
          </a:ln>
        </p:spPr>
        <p:txBody>
          <a:bodyPr rtlCol="0" anchor="ctr"/>
          <a:lstStyle/>
          <a:p>
            <a:pPr algn="ctr"/>
            <a:endParaRPr/>
          </a:p>
        </p:txBody>
      </p:sp>
      <p:pic>
        <p:nvPicPr>
          <p:cNvPr id="27" name="Picture 26" descr="MdLoop_blanco.png"/>
          <p:cNvPicPr>
            <a:picLocks noChangeAspect="1"/>
          </p:cNvPicPr>
          <p:nvPr/>
        </p:nvPicPr>
        <p:blipFill>
          <a:blip r:embed="rId7"/>
          <a:stretch>
            <a:fillRect/>
          </a:stretch>
        </p:blipFill>
        <p:spPr>
          <a:xfrm>
            <a:off x="3515136" y="2760756"/>
            <a:ext cx="275783" cy="275783"/>
          </a:xfrm>
          <a:prstGeom prst="rect">
            <a:avLst/>
          </a:prstGeom>
        </p:spPr>
      </p:pic>
      <p:sp>
        <p:nvSpPr>
          <p:cNvPr id="28" name="TextBox 27"/>
          <p:cNvSpPr txBox="1"/>
          <p:nvPr/>
        </p:nvSpPr>
        <p:spPr>
          <a:xfrm>
            <a:off x="4000500" y="2697480"/>
            <a:ext cx="1783080" cy="411480"/>
          </a:xfrm>
          <a:prstGeom prst="rect">
            <a:avLst/>
          </a:prstGeom>
          <a:noFill/>
        </p:spPr>
        <p:txBody>
          <a:bodyPr wrap="square" lIns="0" tIns="0" rIns="0" bIns="0" anchor="ctr">
            <a:noAutofit/>
          </a:bodyPr>
          <a:lstStyle/>
          <a:p>
            <a:pPr algn="l">
              <a:spcAft>
                <a:spcPts val="0"/>
              </a:spcAft>
            </a:pPr>
            <a:r>
              <a:rPr sz="1350" b="1" i="0">
                <a:solidFill>
                  <a:srgbClr val="003C58"/>
                </a:solidFill>
                <a:latin typeface="Swis721 Cn BT"/>
              </a:rPr>
              <a:t>Una mejora a la vez</a:t>
            </a:r>
          </a:p>
        </p:txBody>
      </p:sp>
      <p:sp>
        <p:nvSpPr>
          <p:cNvPr id="29" name="TextBox 28"/>
          <p:cNvSpPr txBox="1"/>
          <p:nvPr/>
        </p:nvSpPr>
        <p:spPr>
          <a:xfrm>
            <a:off x="3451860" y="3227832"/>
            <a:ext cx="2286000" cy="77724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Corrige una deficiencia a la vez; así sabes qué cambió.</a:t>
            </a:r>
          </a:p>
        </p:txBody>
      </p:sp>
      <p:sp>
        <p:nvSpPr>
          <p:cNvPr id="30" name="Rounded Rectangle 29"/>
          <p:cNvSpPr/>
          <p:nvPr/>
        </p:nvSpPr>
        <p:spPr>
          <a:xfrm>
            <a:off x="6035040" y="2514600"/>
            <a:ext cx="2606040" cy="1508760"/>
          </a:xfrm>
          <a:prstGeom prst="roundRect">
            <a:avLst>
              <a:gd name="adj" fmla="val 7272"/>
            </a:avLst>
          </a:prstGeom>
          <a:solidFill>
            <a:srgbClr val="E8F0F4"/>
          </a:solidFill>
          <a:ln>
            <a:noFill/>
          </a:ln>
        </p:spPr>
        <p:txBody>
          <a:bodyPr rtlCol="0" anchor="ctr"/>
          <a:lstStyle/>
          <a:p>
            <a:pPr algn="ctr"/>
            <a:endParaRPr/>
          </a:p>
        </p:txBody>
      </p:sp>
      <p:sp>
        <p:nvSpPr>
          <p:cNvPr id="31" name="Oval 30"/>
          <p:cNvSpPr/>
          <p:nvPr/>
        </p:nvSpPr>
        <p:spPr>
          <a:xfrm>
            <a:off x="6181344" y="2660904"/>
            <a:ext cx="475488" cy="475488"/>
          </a:xfrm>
          <a:prstGeom prst="ellipse">
            <a:avLst/>
          </a:prstGeom>
          <a:solidFill>
            <a:srgbClr val="BF210C"/>
          </a:solidFill>
          <a:ln>
            <a:noFill/>
          </a:ln>
        </p:spPr>
        <p:txBody>
          <a:bodyPr rtlCol="0" anchor="ctr"/>
          <a:lstStyle/>
          <a:p>
            <a:pPr algn="ctr"/>
            <a:endParaRPr/>
          </a:p>
        </p:txBody>
      </p:sp>
      <p:pic>
        <p:nvPicPr>
          <p:cNvPr id="32" name="Picture 31" descr="MdHelpOutline_blanco.png"/>
          <p:cNvPicPr>
            <a:picLocks noChangeAspect="1"/>
          </p:cNvPicPr>
          <p:nvPr/>
        </p:nvPicPr>
        <p:blipFill>
          <a:blip r:embed="rId8"/>
          <a:stretch>
            <a:fillRect/>
          </a:stretch>
        </p:blipFill>
        <p:spPr>
          <a:xfrm>
            <a:off x="6281196" y="2760756"/>
            <a:ext cx="275783" cy="275783"/>
          </a:xfrm>
          <a:prstGeom prst="rect">
            <a:avLst/>
          </a:prstGeom>
        </p:spPr>
      </p:pic>
      <p:sp>
        <p:nvSpPr>
          <p:cNvPr id="33" name="TextBox 32"/>
          <p:cNvSpPr txBox="1"/>
          <p:nvPr/>
        </p:nvSpPr>
        <p:spPr>
          <a:xfrm>
            <a:off x="6766559" y="2697480"/>
            <a:ext cx="1783080" cy="411480"/>
          </a:xfrm>
          <a:prstGeom prst="rect">
            <a:avLst/>
          </a:prstGeom>
          <a:noFill/>
        </p:spPr>
        <p:txBody>
          <a:bodyPr wrap="square" lIns="0" tIns="0" rIns="0" bIns="0" anchor="ctr">
            <a:noAutofit/>
          </a:bodyPr>
          <a:lstStyle/>
          <a:p>
            <a:pPr algn="l">
              <a:spcAft>
                <a:spcPts val="0"/>
              </a:spcAft>
            </a:pPr>
            <a:r>
              <a:rPr sz="1350" b="1" i="0">
                <a:solidFill>
                  <a:srgbClr val="003C58"/>
                </a:solidFill>
                <a:latin typeface="Swis721 Cn BT"/>
              </a:rPr>
              <a:t>Permitir el «no sé»</a:t>
            </a:r>
          </a:p>
        </p:txBody>
      </p:sp>
      <p:sp>
        <p:nvSpPr>
          <p:cNvPr id="34" name="TextBox 33"/>
          <p:cNvSpPr txBox="1"/>
          <p:nvPr/>
        </p:nvSpPr>
        <p:spPr>
          <a:xfrm>
            <a:off x="6217920" y="3227832"/>
            <a:ext cx="2286000" cy="77724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«Si no está en la fuente, responde: no consta.»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Semáforo de uso seguro</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[7] Omiye et al., 2024 · [24] Zaghir et al., 2024</a:t>
            </a:r>
          </a:p>
        </p:txBody>
      </p:sp>
      <p:sp>
        <p:nvSpPr>
          <p:cNvPr id="5" name="Rounded Rectangle 4"/>
          <p:cNvSpPr/>
          <p:nvPr/>
        </p:nvSpPr>
        <p:spPr>
          <a:xfrm>
            <a:off x="502920" y="868680"/>
            <a:ext cx="2606040" cy="3200400"/>
          </a:xfrm>
          <a:prstGeom prst="roundRect">
            <a:avLst>
              <a:gd name="adj" fmla="val 4210"/>
            </a:avLst>
          </a:prstGeom>
          <a:solidFill>
            <a:srgbClr val="E3F1E5"/>
          </a:solidFill>
          <a:ln>
            <a:noFill/>
          </a:ln>
        </p:spPr>
        <p:txBody>
          <a:bodyPr rtlCol="0" anchor="ctr"/>
          <a:lstStyle/>
          <a:p>
            <a:pPr algn="ctr"/>
            <a:endParaRPr/>
          </a:p>
        </p:txBody>
      </p:sp>
      <p:sp>
        <p:nvSpPr>
          <p:cNvPr id="6" name="Rounded Rectangle 5"/>
          <p:cNvSpPr/>
          <p:nvPr/>
        </p:nvSpPr>
        <p:spPr>
          <a:xfrm>
            <a:off x="502920" y="868680"/>
            <a:ext cx="2606040" cy="640080"/>
          </a:xfrm>
          <a:prstGeom prst="roundRect">
            <a:avLst>
              <a:gd name="adj" fmla="val 17142"/>
            </a:avLst>
          </a:prstGeom>
          <a:solidFill>
            <a:srgbClr val="3A7D44"/>
          </a:solidFill>
          <a:ln>
            <a:noFill/>
          </a:ln>
        </p:spPr>
        <p:txBody>
          <a:bodyPr rtlCol="0" anchor="ctr"/>
          <a:lstStyle/>
          <a:p>
            <a:pPr algn="ctr"/>
            <a:endParaRPr/>
          </a:p>
        </p:txBody>
      </p:sp>
      <p:pic>
        <p:nvPicPr>
          <p:cNvPr id="7" name="Picture 6" descr="MdTaskAlt_blanco.png"/>
          <p:cNvPicPr>
            <a:picLocks noChangeAspect="1"/>
          </p:cNvPicPr>
          <p:nvPr/>
        </p:nvPicPr>
        <p:blipFill>
          <a:blip r:embed="rId3"/>
          <a:stretch>
            <a:fillRect/>
          </a:stretch>
        </p:blipFill>
        <p:spPr>
          <a:xfrm>
            <a:off x="658368" y="996695"/>
            <a:ext cx="384048" cy="384048"/>
          </a:xfrm>
          <a:prstGeom prst="rect">
            <a:avLst/>
          </a:prstGeom>
        </p:spPr>
      </p:pic>
      <p:sp>
        <p:nvSpPr>
          <p:cNvPr id="8" name="TextBox 7"/>
          <p:cNvSpPr txBox="1"/>
          <p:nvPr/>
        </p:nvSpPr>
        <p:spPr>
          <a:xfrm>
            <a:off x="1143000" y="914400"/>
            <a:ext cx="1874519" cy="548640"/>
          </a:xfrm>
          <a:prstGeom prst="rect">
            <a:avLst/>
          </a:prstGeom>
          <a:noFill/>
        </p:spPr>
        <p:txBody>
          <a:bodyPr wrap="square" lIns="0" tIns="0" rIns="0" bIns="0" anchor="ctr">
            <a:noAutofit/>
          </a:bodyPr>
          <a:lstStyle/>
          <a:p>
            <a:pPr algn="l">
              <a:spcAft>
                <a:spcPts val="0"/>
              </a:spcAft>
            </a:pPr>
            <a:r>
              <a:rPr sz="1350" b="1" i="0">
                <a:solidFill>
                  <a:srgbClr val="FFFFFF"/>
                </a:solidFill>
                <a:latin typeface="Swis721 Cn BT"/>
              </a:rPr>
              <a:t>Adelante, con revisión</a:t>
            </a:r>
          </a:p>
        </p:txBody>
      </p:sp>
      <p:sp>
        <p:nvSpPr>
          <p:cNvPr id="9" name="TextBox 8"/>
          <p:cNvSpPr txBox="1"/>
          <p:nvPr/>
        </p:nvSpPr>
        <p:spPr>
          <a:xfrm>
            <a:off x="685800" y="1673352"/>
            <a:ext cx="2286000" cy="2331720"/>
          </a:xfrm>
          <a:prstGeom prst="rect">
            <a:avLst/>
          </a:prstGeom>
          <a:noFill/>
        </p:spPr>
        <p:txBody>
          <a:bodyPr wrap="square" lIns="0" tIns="0" rIns="0" bIns="0" anchor="t">
            <a:noAutofit/>
          </a:bodyPr>
          <a:lstStyle/>
          <a:p>
            <a:pPr marL="155448" indent="-155448" algn="l">
              <a:spcAft>
                <a:spcPts val="600"/>
              </a:spcAft>
              <a:buClr>
                <a:srgbClr val="3A7D44"/>
              </a:buClr>
              <a:buFont typeface="Arial"/>
              <a:buChar char="•"/>
            </a:pPr>
            <a:r>
              <a:rPr sz="1200" b="0" i="0">
                <a:solidFill>
                  <a:srgbClr val="1F2A30"/>
                </a:solidFill>
                <a:latin typeface="Swis721 Cn BT"/>
              </a:rPr>
              <a:t>Borradores de protocolos y documentos</a:t>
            </a:r>
          </a:p>
          <a:p>
            <a:pPr marL="155448" indent="-155448" algn="l">
              <a:spcAft>
                <a:spcPts val="600"/>
              </a:spcAft>
              <a:buClr>
                <a:srgbClr val="3A7D44"/>
              </a:buClr>
              <a:buFont typeface="Arial"/>
              <a:buChar char="•"/>
            </a:pPr>
            <a:r>
              <a:rPr sz="1200" b="0" i="0">
                <a:solidFill>
                  <a:srgbClr val="1F2A30"/>
                </a:solidFill>
                <a:latin typeface="Swis721 Cn BT"/>
              </a:rPr>
              <a:t>Resúmenes y comparaciones de normas</a:t>
            </a:r>
          </a:p>
          <a:p>
            <a:pPr marL="155448" indent="-155448" algn="l">
              <a:spcAft>
                <a:spcPts val="600"/>
              </a:spcAft>
              <a:buClr>
                <a:srgbClr val="3A7D44"/>
              </a:buClr>
              <a:buFont typeface="Arial"/>
              <a:buChar char="•"/>
            </a:pPr>
            <a:r>
              <a:rPr sz="1200" b="0" i="0">
                <a:solidFill>
                  <a:srgbClr val="1F2A30"/>
                </a:solidFill>
                <a:latin typeface="Swis721 Cn BT"/>
              </a:rPr>
              <a:t>Casos clínicos ficticios</a:t>
            </a:r>
          </a:p>
          <a:p>
            <a:pPr marL="155448" indent="-155448" algn="l">
              <a:spcAft>
                <a:spcPts val="600"/>
              </a:spcAft>
              <a:buClr>
                <a:srgbClr val="3A7D44"/>
              </a:buClr>
              <a:buFont typeface="Arial"/>
              <a:buChar char="•"/>
            </a:pPr>
            <a:r>
              <a:rPr sz="1200" b="0" i="0">
                <a:solidFill>
                  <a:srgbClr val="1F2A30"/>
                </a:solidFill>
                <a:latin typeface="Swis721 Cn BT"/>
              </a:rPr>
              <a:t>Preguntas, rúbricas y pautas</a:t>
            </a:r>
          </a:p>
          <a:p>
            <a:pPr marL="155448" indent="-155448" algn="l">
              <a:spcAft>
                <a:spcPts val="600"/>
              </a:spcAft>
              <a:buClr>
                <a:srgbClr val="3A7D44"/>
              </a:buClr>
              <a:buFont typeface="Arial"/>
              <a:buChar char="•"/>
            </a:pPr>
            <a:r>
              <a:rPr sz="1200" b="0" i="0">
                <a:solidFill>
                  <a:srgbClr val="1F2A30"/>
                </a:solidFill>
                <a:latin typeface="Swis721 Cn BT"/>
              </a:rPr>
              <a:t>Adaptar lenguaje para usuarias</a:t>
            </a:r>
          </a:p>
        </p:txBody>
      </p:sp>
      <p:sp>
        <p:nvSpPr>
          <p:cNvPr id="10" name="Rounded Rectangle 9"/>
          <p:cNvSpPr/>
          <p:nvPr/>
        </p:nvSpPr>
        <p:spPr>
          <a:xfrm>
            <a:off x="3268980" y="868680"/>
            <a:ext cx="2606040" cy="3200400"/>
          </a:xfrm>
          <a:prstGeom prst="roundRect">
            <a:avLst>
              <a:gd name="adj" fmla="val 4210"/>
            </a:avLst>
          </a:prstGeom>
          <a:solidFill>
            <a:srgbClr val="FFF3C4"/>
          </a:solidFill>
          <a:ln>
            <a:noFill/>
          </a:ln>
        </p:spPr>
        <p:txBody>
          <a:bodyPr rtlCol="0" anchor="ctr"/>
          <a:lstStyle/>
          <a:p>
            <a:pPr algn="ctr"/>
            <a:endParaRPr/>
          </a:p>
        </p:txBody>
      </p:sp>
      <p:sp>
        <p:nvSpPr>
          <p:cNvPr id="11" name="Rounded Rectangle 10"/>
          <p:cNvSpPr/>
          <p:nvPr/>
        </p:nvSpPr>
        <p:spPr>
          <a:xfrm>
            <a:off x="3268980" y="868680"/>
            <a:ext cx="2606040" cy="640080"/>
          </a:xfrm>
          <a:prstGeom prst="roundRect">
            <a:avLst>
              <a:gd name="adj" fmla="val 17142"/>
            </a:avLst>
          </a:prstGeom>
          <a:solidFill>
            <a:srgbClr val="F2B705"/>
          </a:solidFill>
          <a:ln>
            <a:noFill/>
          </a:ln>
        </p:spPr>
        <p:txBody>
          <a:bodyPr rtlCol="0" anchor="ctr"/>
          <a:lstStyle/>
          <a:p>
            <a:pPr algn="ctr"/>
            <a:endParaRPr/>
          </a:p>
        </p:txBody>
      </p:sp>
      <p:pic>
        <p:nvPicPr>
          <p:cNvPr id="12" name="Picture 11" descr="MdWarning_tinta.png"/>
          <p:cNvPicPr>
            <a:picLocks noChangeAspect="1"/>
          </p:cNvPicPr>
          <p:nvPr/>
        </p:nvPicPr>
        <p:blipFill>
          <a:blip r:embed="rId4"/>
          <a:stretch>
            <a:fillRect/>
          </a:stretch>
        </p:blipFill>
        <p:spPr>
          <a:xfrm>
            <a:off x="3424428" y="996695"/>
            <a:ext cx="384048" cy="384048"/>
          </a:xfrm>
          <a:prstGeom prst="rect">
            <a:avLst/>
          </a:prstGeom>
        </p:spPr>
      </p:pic>
      <p:sp>
        <p:nvSpPr>
          <p:cNvPr id="13" name="TextBox 12"/>
          <p:cNvSpPr txBox="1"/>
          <p:nvPr/>
        </p:nvSpPr>
        <p:spPr>
          <a:xfrm>
            <a:off x="3909060" y="914400"/>
            <a:ext cx="1874519" cy="548640"/>
          </a:xfrm>
          <a:prstGeom prst="rect">
            <a:avLst/>
          </a:prstGeom>
          <a:noFill/>
        </p:spPr>
        <p:txBody>
          <a:bodyPr wrap="square" lIns="0" tIns="0" rIns="0" bIns="0" anchor="ctr">
            <a:noAutofit/>
          </a:bodyPr>
          <a:lstStyle/>
          <a:p>
            <a:pPr algn="l">
              <a:spcAft>
                <a:spcPts val="0"/>
              </a:spcAft>
            </a:pPr>
            <a:r>
              <a:rPr sz="1350" b="1" i="0">
                <a:solidFill>
                  <a:srgbClr val="1F2A30"/>
                </a:solidFill>
                <a:latin typeface="Swis721 Cn BT"/>
              </a:rPr>
              <a:t>Solo con verificación experta</a:t>
            </a:r>
          </a:p>
        </p:txBody>
      </p:sp>
      <p:sp>
        <p:nvSpPr>
          <p:cNvPr id="14" name="TextBox 13"/>
          <p:cNvSpPr txBox="1"/>
          <p:nvPr/>
        </p:nvSpPr>
        <p:spPr>
          <a:xfrm>
            <a:off x="3451860" y="1673352"/>
            <a:ext cx="2286000" cy="2331720"/>
          </a:xfrm>
          <a:prstGeom prst="rect">
            <a:avLst/>
          </a:prstGeom>
          <a:noFill/>
        </p:spPr>
        <p:txBody>
          <a:bodyPr wrap="square" lIns="0" tIns="0" rIns="0" bIns="0" anchor="t">
            <a:noAutofit/>
          </a:bodyPr>
          <a:lstStyle/>
          <a:p>
            <a:pPr marL="155448" indent="-155448" algn="l">
              <a:spcAft>
                <a:spcPts val="600"/>
              </a:spcAft>
              <a:buClr>
                <a:srgbClr val="1F2A30"/>
              </a:buClr>
              <a:buFont typeface="Arial"/>
              <a:buChar char="•"/>
            </a:pPr>
            <a:r>
              <a:rPr sz="1200" b="0" i="0">
                <a:solidFill>
                  <a:srgbClr val="1F2A30"/>
                </a:solidFill>
                <a:latin typeface="Swis721 Cn BT"/>
              </a:rPr>
              <a:t>Recomendaciones clínicas</a:t>
            </a:r>
          </a:p>
          <a:p>
            <a:pPr marL="155448" indent="-155448" algn="l">
              <a:spcAft>
                <a:spcPts val="600"/>
              </a:spcAft>
              <a:buClr>
                <a:srgbClr val="1F2A30"/>
              </a:buClr>
              <a:buFont typeface="Arial"/>
              <a:buChar char="•"/>
            </a:pPr>
            <a:r>
              <a:rPr sz="1200" b="0" i="0">
                <a:solidFill>
                  <a:srgbClr val="1F2A30"/>
                </a:solidFill>
                <a:latin typeface="Swis721 Cn BT"/>
              </a:rPr>
              <a:t>Dosis, umbrales y plazos</a:t>
            </a:r>
          </a:p>
          <a:p>
            <a:pPr marL="155448" indent="-155448" algn="l">
              <a:spcAft>
                <a:spcPts val="600"/>
              </a:spcAft>
              <a:buClr>
                <a:srgbClr val="1F2A30"/>
              </a:buClr>
              <a:buFont typeface="Arial"/>
              <a:buChar char="•"/>
            </a:pPr>
            <a:r>
              <a:rPr sz="1200" b="0" i="0">
                <a:solidFill>
                  <a:srgbClr val="1F2A30"/>
                </a:solidFill>
                <a:latin typeface="Swis721 Cn BT"/>
              </a:rPr>
              <a:t>Referencias bibliográficas</a:t>
            </a:r>
          </a:p>
          <a:p>
            <a:pPr marL="155448" indent="-155448" algn="l">
              <a:spcAft>
                <a:spcPts val="600"/>
              </a:spcAft>
              <a:buClr>
                <a:srgbClr val="1F2A30"/>
              </a:buClr>
              <a:buFont typeface="Arial"/>
              <a:buChar char="•"/>
            </a:pPr>
            <a:r>
              <a:rPr sz="1200" b="0" i="0">
                <a:solidFill>
                  <a:srgbClr val="1F2A30"/>
                </a:solidFill>
                <a:latin typeface="Swis721 Cn BT"/>
              </a:rPr>
              <a:t>Indicadores y fórmulas</a:t>
            </a:r>
          </a:p>
          <a:p>
            <a:pPr marL="155448" indent="-155448" algn="l">
              <a:spcAft>
                <a:spcPts val="600"/>
              </a:spcAft>
              <a:buClr>
                <a:srgbClr val="1F2A30"/>
              </a:buClr>
              <a:buFont typeface="Arial"/>
              <a:buChar char="•"/>
            </a:pPr>
            <a:r>
              <a:rPr sz="1200" b="0" i="0">
                <a:solidFill>
                  <a:srgbClr val="1F2A30"/>
                </a:solidFill>
                <a:latin typeface="Swis721 Cn BT"/>
              </a:rPr>
              <a:t>Traducciones técnicas</a:t>
            </a:r>
          </a:p>
        </p:txBody>
      </p:sp>
      <p:sp>
        <p:nvSpPr>
          <p:cNvPr id="15" name="Rounded Rectangle 14"/>
          <p:cNvSpPr/>
          <p:nvPr/>
        </p:nvSpPr>
        <p:spPr>
          <a:xfrm>
            <a:off x="6035040" y="868680"/>
            <a:ext cx="2606040" cy="3200400"/>
          </a:xfrm>
          <a:prstGeom prst="roundRect">
            <a:avLst>
              <a:gd name="adj" fmla="val 4210"/>
            </a:avLst>
          </a:prstGeom>
          <a:solidFill>
            <a:srgbClr val="F9E3DF"/>
          </a:solidFill>
          <a:ln>
            <a:noFill/>
          </a:ln>
        </p:spPr>
        <p:txBody>
          <a:bodyPr rtlCol="0" anchor="ctr"/>
          <a:lstStyle/>
          <a:p>
            <a:pPr algn="ctr"/>
            <a:endParaRPr/>
          </a:p>
        </p:txBody>
      </p:sp>
      <p:sp>
        <p:nvSpPr>
          <p:cNvPr id="16" name="Rounded Rectangle 15"/>
          <p:cNvSpPr/>
          <p:nvPr/>
        </p:nvSpPr>
        <p:spPr>
          <a:xfrm>
            <a:off x="6035040" y="868680"/>
            <a:ext cx="2606040" cy="640080"/>
          </a:xfrm>
          <a:prstGeom prst="roundRect">
            <a:avLst>
              <a:gd name="adj" fmla="val 17142"/>
            </a:avLst>
          </a:prstGeom>
          <a:solidFill>
            <a:srgbClr val="BF210C"/>
          </a:solidFill>
          <a:ln>
            <a:noFill/>
          </a:ln>
        </p:spPr>
        <p:txBody>
          <a:bodyPr rtlCol="0" anchor="ctr"/>
          <a:lstStyle/>
          <a:p>
            <a:pPr algn="ctr"/>
            <a:endParaRPr/>
          </a:p>
        </p:txBody>
      </p:sp>
      <p:pic>
        <p:nvPicPr>
          <p:cNvPr id="17" name="Picture 16" descr="MdDoNotDisturbOn_blanco.png"/>
          <p:cNvPicPr>
            <a:picLocks noChangeAspect="1"/>
          </p:cNvPicPr>
          <p:nvPr/>
        </p:nvPicPr>
        <p:blipFill>
          <a:blip r:embed="rId5"/>
          <a:stretch>
            <a:fillRect/>
          </a:stretch>
        </p:blipFill>
        <p:spPr>
          <a:xfrm>
            <a:off x="6190488" y="996695"/>
            <a:ext cx="384048" cy="384048"/>
          </a:xfrm>
          <a:prstGeom prst="rect">
            <a:avLst/>
          </a:prstGeom>
        </p:spPr>
      </p:pic>
      <p:sp>
        <p:nvSpPr>
          <p:cNvPr id="18" name="TextBox 17"/>
          <p:cNvSpPr txBox="1"/>
          <p:nvPr/>
        </p:nvSpPr>
        <p:spPr>
          <a:xfrm>
            <a:off x="6675120" y="914400"/>
            <a:ext cx="1874519" cy="548640"/>
          </a:xfrm>
          <a:prstGeom prst="rect">
            <a:avLst/>
          </a:prstGeom>
          <a:noFill/>
        </p:spPr>
        <p:txBody>
          <a:bodyPr wrap="square" lIns="0" tIns="0" rIns="0" bIns="0" anchor="ctr">
            <a:noAutofit/>
          </a:bodyPr>
          <a:lstStyle/>
          <a:p>
            <a:pPr algn="l">
              <a:spcAft>
                <a:spcPts val="0"/>
              </a:spcAft>
            </a:pPr>
            <a:r>
              <a:rPr sz="1350" b="1" i="0">
                <a:solidFill>
                  <a:srgbClr val="FFFFFF"/>
                </a:solidFill>
                <a:latin typeface="Swis721 Cn BT"/>
              </a:rPr>
              <a:t>No hacer</a:t>
            </a:r>
          </a:p>
        </p:txBody>
      </p:sp>
      <p:sp>
        <p:nvSpPr>
          <p:cNvPr id="19" name="TextBox 18"/>
          <p:cNvSpPr txBox="1"/>
          <p:nvPr/>
        </p:nvSpPr>
        <p:spPr>
          <a:xfrm>
            <a:off x="6217920" y="1673352"/>
            <a:ext cx="2286000" cy="2331720"/>
          </a:xfrm>
          <a:prstGeom prst="rect">
            <a:avLst/>
          </a:prstGeom>
          <a:noFill/>
        </p:spPr>
        <p:txBody>
          <a:bodyPr wrap="square" lIns="0" tIns="0" rIns="0" bIns="0" anchor="t">
            <a:noAutofit/>
          </a:bodyPr>
          <a:lstStyle/>
          <a:p>
            <a:pPr marL="155448" indent="-155448" algn="l">
              <a:spcAft>
                <a:spcPts val="600"/>
              </a:spcAft>
              <a:buClr>
                <a:srgbClr val="BF210C"/>
              </a:buClr>
              <a:buFont typeface="Arial"/>
              <a:buChar char="•"/>
            </a:pPr>
            <a:r>
              <a:rPr sz="1200" b="0" i="0">
                <a:solidFill>
                  <a:srgbClr val="1F2A30"/>
                </a:solidFill>
                <a:latin typeface="Swis721 Cn BT"/>
              </a:rPr>
              <a:t>Ingresar datos identificables de pacientes en plataformas externas</a:t>
            </a:r>
          </a:p>
          <a:p>
            <a:pPr marL="155448" indent="-155448" algn="l">
              <a:spcAft>
                <a:spcPts val="600"/>
              </a:spcAft>
              <a:buClr>
                <a:srgbClr val="BF210C"/>
              </a:buClr>
              <a:buFont typeface="Arial"/>
              <a:buChar char="•"/>
            </a:pPr>
            <a:r>
              <a:rPr sz="1200" b="0" i="0">
                <a:solidFill>
                  <a:srgbClr val="1F2A30"/>
                </a:solidFill>
                <a:latin typeface="Swis721 Cn BT"/>
              </a:rPr>
              <a:t>Usar la salida como indicación clínica</a:t>
            </a:r>
          </a:p>
          <a:p>
            <a:pPr marL="155448" indent="-155448" algn="l">
              <a:spcAft>
                <a:spcPts val="600"/>
              </a:spcAft>
              <a:buClr>
                <a:srgbClr val="BF210C"/>
              </a:buClr>
              <a:buFont typeface="Arial"/>
              <a:buChar char="•"/>
            </a:pPr>
            <a:r>
              <a:rPr sz="1200" b="0" i="0">
                <a:solidFill>
                  <a:srgbClr val="1F2A30"/>
                </a:solidFill>
                <a:latin typeface="Swis721 Cn BT"/>
              </a:rPr>
              <a:t>Presentar el texto como propio sin declarar la IA</a:t>
            </a:r>
          </a:p>
          <a:p>
            <a:pPr marL="155448" indent="-155448" algn="l">
              <a:spcAft>
                <a:spcPts val="600"/>
              </a:spcAft>
              <a:buClr>
                <a:srgbClr val="BF210C"/>
              </a:buClr>
              <a:buFont typeface="Arial"/>
              <a:buChar char="•"/>
            </a:pPr>
            <a:r>
              <a:rPr sz="1200" b="0" i="0">
                <a:solidFill>
                  <a:srgbClr val="1F2A30"/>
                </a:solidFill>
                <a:latin typeface="Swis721 Cn BT"/>
              </a:rPr>
              <a:t>Subir documentos reservados sin autorización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Sección 5 de 5</a:t>
            </a:r>
          </a:p>
        </p:txBody>
      </p:sp>
      <p:sp>
        <p:nvSpPr>
          <p:cNvPr id="3" name="TextBox 2"/>
          <p:cNvSpPr txBox="1"/>
          <p:nvPr/>
        </p:nvSpPr>
        <p:spPr>
          <a:xfrm>
            <a:off x="594360" y="960120"/>
            <a:ext cx="1737360" cy="1188720"/>
          </a:xfrm>
          <a:prstGeom prst="rect">
            <a:avLst/>
          </a:prstGeom>
          <a:noFill/>
        </p:spPr>
        <p:txBody>
          <a:bodyPr wrap="square" lIns="0" tIns="0" rIns="0" bIns="0" anchor="t">
            <a:noAutofit/>
          </a:bodyPr>
          <a:lstStyle/>
          <a:p>
            <a:pPr algn="l">
              <a:spcAft>
                <a:spcPts val="0"/>
              </a:spcAft>
            </a:pPr>
            <a:r>
              <a:rPr sz="8000" b="1" i="0">
                <a:solidFill>
                  <a:srgbClr val="BF210C"/>
                </a:solidFill>
                <a:latin typeface="Swis721 Cn BT"/>
              </a:rPr>
              <a:t>05</a:t>
            </a:r>
          </a:p>
        </p:txBody>
      </p:sp>
      <p:sp>
        <p:nvSpPr>
          <p:cNvPr id="4" name="Oval 3"/>
          <p:cNvSpPr/>
          <p:nvPr/>
        </p:nvSpPr>
        <p:spPr>
          <a:xfrm>
            <a:off x="822959" y="2514600"/>
            <a:ext cx="1005840" cy="1005840"/>
          </a:xfrm>
          <a:prstGeom prst="ellipse">
            <a:avLst/>
          </a:prstGeom>
          <a:solidFill>
            <a:srgbClr val="06717E"/>
          </a:solidFill>
          <a:ln>
            <a:noFill/>
          </a:ln>
        </p:spPr>
        <p:txBody>
          <a:bodyPr rtlCol="0" anchor="ctr"/>
          <a:lstStyle/>
          <a:p>
            <a:pPr algn="ctr"/>
            <a:endParaRPr/>
          </a:p>
        </p:txBody>
      </p:sp>
      <p:pic>
        <p:nvPicPr>
          <p:cNvPr id="5" name="Picture 4" descr="MdAssignment_blanco.png"/>
          <p:cNvPicPr>
            <a:picLocks noChangeAspect="1"/>
          </p:cNvPicPr>
          <p:nvPr/>
        </p:nvPicPr>
        <p:blipFill>
          <a:blip r:embed="rId3"/>
          <a:stretch>
            <a:fillRect/>
          </a:stretch>
        </p:blipFill>
        <p:spPr>
          <a:xfrm>
            <a:off x="1034186" y="2725826"/>
            <a:ext cx="583387" cy="583387"/>
          </a:xfrm>
          <a:prstGeom prst="rect">
            <a:avLst/>
          </a:prstGeom>
        </p:spPr>
      </p:pic>
      <p:sp>
        <p:nvSpPr>
          <p:cNvPr id="6" name="TextBox 5"/>
          <p:cNvSpPr txBox="1"/>
          <p:nvPr/>
        </p:nvSpPr>
        <p:spPr>
          <a:xfrm>
            <a:off x="2606040" y="868680"/>
            <a:ext cx="6035040" cy="822960"/>
          </a:xfrm>
          <a:prstGeom prst="rect">
            <a:avLst/>
          </a:prstGeom>
          <a:noFill/>
        </p:spPr>
        <p:txBody>
          <a:bodyPr wrap="square" lIns="0" tIns="0" rIns="0" bIns="0" anchor="b">
            <a:noAutofit/>
          </a:bodyPr>
          <a:lstStyle/>
          <a:p>
            <a:pPr algn="l">
              <a:spcAft>
                <a:spcPts val="0"/>
              </a:spcAft>
            </a:pPr>
            <a:r>
              <a:rPr sz="2600" b="1" i="0">
                <a:solidFill>
                  <a:srgbClr val="003C58"/>
                </a:solidFill>
                <a:latin typeface="Swis721 Cn BT"/>
              </a:rPr>
              <a:t>Manos a la obra</a:t>
            </a:r>
          </a:p>
        </p:txBody>
      </p:sp>
      <p:sp>
        <p:nvSpPr>
          <p:cNvPr id="7" name="TextBox 6"/>
          <p:cNvSpPr txBox="1"/>
          <p:nvPr/>
        </p:nvSpPr>
        <p:spPr>
          <a:xfrm>
            <a:off x="2606040" y="1755648"/>
            <a:ext cx="6035040" cy="658368"/>
          </a:xfrm>
          <a:prstGeom prst="rect">
            <a:avLst/>
          </a:prstGeom>
          <a:noFill/>
        </p:spPr>
        <p:txBody>
          <a:bodyPr wrap="square" lIns="0" tIns="0" rIns="0" bIns="0" anchor="t">
            <a:noAutofit/>
          </a:bodyPr>
          <a:lstStyle/>
          <a:p>
            <a:pPr algn="l">
              <a:spcAft>
                <a:spcPts val="0"/>
              </a:spcAft>
            </a:pPr>
            <a:r>
              <a:rPr sz="1600" b="0" i="1">
                <a:solidFill>
                  <a:srgbClr val="2F6E8C"/>
                </a:solidFill>
                <a:latin typeface="Swis721 Cn BT"/>
              </a:rPr>
              <a:t>¿Cómo lo aplico en protocolos y materiales educativos?</a:t>
            </a:r>
          </a:p>
        </p:txBody>
      </p:sp>
      <p:sp>
        <p:nvSpPr>
          <p:cNvPr id="8" name="TextBox 7"/>
          <p:cNvSpPr txBox="1"/>
          <p:nvPr/>
        </p:nvSpPr>
        <p:spPr>
          <a:xfrm>
            <a:off x="2606040" y="2487168"/>
            <a:ext cx="6035040" cy="274320"/>
          </a:xfrm>
          <a:prstGeom prst="rect">
            <a:avLst/>
          </a:prstGeom>
          <a:noFill/>
        </p:spPr>
        <p:txBody>
          <a:bodyPr wrap="square" lIns="0" tIns="0" rIns="0" bIns="0" anchor="t">
            <a:noAutofit/>
          </a:bodyPr>
          <a:lstStyle/>
          <a:p>
            <a:pPr algn="l">
              <a:spcAft>
                <a:spcPts val="0"/>
              </a:spcAft>
            </a:pPr>
            <a:r>
              <a:rPr sz="1200" b="1" i="0">
                <a:solidFill>
                  <a:srgbClr val="5B6B73"/>
                </a:solidFill>
                <a:latin typeface="Swis721 Cn BT"/>
              </a:rPr>
              <a:t>En esta sección</a:t>
            </a:r>
          </a:p>
        </p:txBody>
      </p:sp>
      <p:sp>
        <p:nvSpPr>
          <p:cNvPr id="9" name="Oval 8"/>
          <p:cNvSpPr/>
          <p:nvPr/>
        </p:nvSpPr>
        <p:spPr>
          <a:xfrm>
            <a:off x="2633472" y="2871215"/>
            <a:ext cx="118872" cy="118872"/>
          </a:xfrm>
          <a:prstGeom prst="ellipse">
            <a:avLst/>
          </a:prstGeom>
          <a:solidFill>
            <a:srgbClr val="C00000"/>
          </a:solidFill>
          <a:ln>
            <a:noFill/>
          </a:ln>
        </p:spPr>
        <p:txBody>
          <a:bodyPr rtlCol="0" anchor="ctr"/>
          <a:lstStyle/>
          <a:p>
            <a:pPr algn="ctr"/>
            <a:endParaRPr/>
          </a:p>
        </p:txBody>
      </p:sp>
      <p:sp>
        <p:nvSpPr>
          <p:cNvPr id="10" name="TextBox 9"/>
          <p:cNvSpPr txBox="1"/>
          <p:nvPr/>
        </p:nvSpPr>
        <p:spPr>
          <a:xfrm>
            <a:off x="2880360" y="2788920"/>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Flujo de seis pasos para protocolos</a:t>
            </a:r>
          </a:p>
        </p:txBody>
      </p:sp>
      <p:sp>
        <p:nvSpPr>
          <p:cNvPr id="11" name="Oval 10"/>
          <p:cNvSpPr/>
          <p:nvPr/>
        </p:nvSpPr>
        <p:spPr>
          <a:xfrm>
            <a:off x="2633472" y="3182111"/>
            <a:ext cx="118872" cy="118872"/>
          </a:xfrm>
          <a:prstGeom prst="ellipse">
            <a:avLst/>
          </a:prstGeom>
          <a:solidFill>
            <a:srgbClr val="C00000"/>
          </a:solidFill>
          <a:ln>
            <a:noFill/>
          </a:ln>
        </p:spPr>
        <p:txBody>
          <a:bodyPr rtlCol="0" anchor="ctr"/>
          <a:lstStyle/>
          <a:p>
            <a:pPr algn="ctr"/>
            <a:endParaRPr/>
          </a:p>
        </p:txBody>
      </p:sp>
      <p:sp>
        <p:nvSpPr>
          <p:cNvPr id="12" name="TextBox 11"/>
          <p:cNvSpPr txBox="1"/>
          <p:nvPr/>
        </p:nvSpPr>
        <p:spPr>
          <a:xfrm>
            <a:off x="2880360" y="3099815"/>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Caso real: protocolos de endometritis</a:t>
            </a:r>
          </a:p>
        </p:txBody>
      </p:sp>
      <p:sp>
        <p:nvSpPr>
          <p:cNvPr id="13" name="Oval 12"/>
          <p:cNvSpPr/>
          <p:nvPr/>
        </p:nvSpPr>
        <p:spPr>
          <a:xfrm>
            <a:off x="2633472" y="3493008"/>
            <a:ext cx="118872" cy="118872"/>
          </a:xfrm>
          <a:prstGeom prst="ellipse">
            <a:avLst/>
          </a:prstGeom>
          <a:solidFill>
            <a:srgbClr val="C00000"/>
          </a:solidFill>
          <a:ln>
            <a:noFill/>
          </a:ln>
        </p:spPr>
        <p:txBody>
          <a:bodyPr rtlCol="0" anchor="ctr"/>
          <a:lstStyle/>
          <a:p>
            <a:pPr algn="ctr"/>
            <a:endParaRPr/>
          </a:p>
        </p:txBody>
      </p:sp>
      <p:sp>
        <p:nvSpPr>
          <p:cNvPr id="14" name="TextBox 13"/>
          <p:cNvSpPr txBox="1"/>
          <p:nvPr/>
        </p:nvSpPr>
        <p:spPr>
          <a:xfrm>
            <a:off x="2880360" y="3410712"/>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Una segunda IA como revisora</a:t>
            </a:r>
          </a:p>
        </p:txBody>
      </p:sp>
      <p:sp>
        <p:nvSpPr>
          <p:cNvPr id="15" name="Oval 14"/>
          <p:cNvSpPr/>
          <p:nvPr/>
        </p:nvSpPr>
        <p:spPr>
          <a:xfrm>
            <a:off x="2633472" y="3803904"/>
            <a:ext cx="118872" cy="118872"/>
          </a:xfrm>
          <a:prstGeom prst="ellipse">
            <a:avLst/>
          </a:prstGeom>
          <a:solidFill>
            <a:srgbClr val="C00000"/>
          </a:solidFill>
          <a:ln>
            <a:noFill/>
          </a:ln>
        </p:spPr>
        <p:txBody>
          <a:bodyPr rtlCol="0" anchor="ctr"/>
          <a:lstStyle/>
          <a:p>
            <a:pPr algn="ctr"/>
            <a:endParaRPr/>
          </a:p>
        </p:txBody>
      </p:sp>
      <p:sp>
        <p:nvSpPr>
          <p:cNvPr id="16" name="TextBox 15"/>
          <p:cNvSpPr txBox="1"/>
          <p:nvPr/>
        </p:nvSpPr>
        <p:spPr>
          <a:xfrm>
            <a:off x="2880360" y="3721608"/>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Materiales educativos y prompts listos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Seis pasos para elaborar o actualizar un protocolo</a:t>
            </a:r>
          </a:p>
        </p:txBody>
      </p:sp>
      <p:sp>
        <p:nvSpPr>
          <p:cNvPr id="3" name="Rounded Rectangle 2"/>
          <p:cNvSpPr/>
          <p:nvPr/>
        </p:nvSpPr>
        <p:spPr>
          <a:xfrm>
            <a:off x="502920" y="868680"/>
            <a:ext cx="1261872" cy="2331720"/>
          </a:xfrm>
          <a:prstGeom prst="roundRect">
            <a:avLst>
              <a:gd name="adj" fmla="val 7246"/>
            </a:avLst>
          </a:prstGeom>
          <a:solidFill>
            <a:srgbClr val="003C58"/>
          </a:solidFill>
          <a:ln>
            <a:noFill/>
          </a:ln>
        </p:spPr>
        <p:txBody>
          <a:bodyPr rtlCol="0" anchor="ctr"/>
          <a:lstStyle/>
          <a:p>
            <a:pPr algn="ctr"/>
            <a:endParaRPr/>
          </a:p>
        </p:txBody>
      </p:sp>
      <p:sp>
        <p:nvSpPr>
          <p:cNvPr id="4" name="Oval 3"/>
          <p:cNvSpPr/>
          <p:nvPr/>
        </p:nvSpPr>
        <p:spPr>
          <a:xfrm>
            <a:off x="612648" y="978408"/>
            <a:ext cx="329184" cy="329184"/>
          </a:xfrm>
          <a:prstGeom prst="ellipse">
            <a:avLst/>
          </a:prstGeom>
          <a:solidFill>
            <a:srgbClr val="F2B705"/>
          </a:solidFill>
          <a:ln>
            <a:noFill/>
          </a:ln>
        </p:spPr>
        <p:txBody>
          <a:bodyPr lIns="0" tIns="0" rIns="0" bIns="0" rtlCol="0" anchor="ctr"/>
          <a:lstStyle/>
          <a:p>
            <a:pPr algn="ctr">
              <a:spcAft>
                <a:spcPts val="0"/>
              </a:spcAft>
            </a:pPr>
            <a:r>
              <a:rPr sz="1300" b="1" i="0">
                <a:solidFill>
                  <a:srgbClr val="1F2A30"/>
                </a:solidFill>
                <a:latin typeface="Swis721 Cn BT"/>
              </a:rPr>
              <a:t>1</a:t>
            </a:r>
          </a:p>
        </p:txBody>
      </p:sp>
      <p:pic>
        <p:nvPicPr>
          <p:cNvPr id="5" name="Picture 4" descr="MdLibraryBooks_blanco.png"/>
          <p:cNvPicPr>
            <a:picLocks noChangeAspect="1"/>
          </p:cNvPicPr>
          <p:nvPr/>
        </p:nvPicPr>
        <p:blipFill>
          <a:blip r:embed="rId3"/>
          <a:stretch>
            <a:fillRect/>
          </a:stretch>
        </p:blipFill>
        <p:spPr>
          <a:xfrm>
            <a:off x="1261872" y="960120"/>
            <a:ext cx="384048" cy="384048"/>
          </a:xfrm>
          <a:prstGeom prst="rect">
            <a:avLst/>
          </a:prstGeom>
        </p:spPr>
      </p:pic>
      <p:sp>
        <p:nvSpPr>
          <p:cNvPr id="6" name="TextBox 5"/>
          <p:cNvSpPr txBox="1"/>
          <p:nvPr/>
        </p:nvSpPr>
        <p:spPr>
          <a:xfrm>
            <a:off x="612648" y="1435607"/>
            <a:ext cx="1060704" cy="457200"/>
          </a:xfrm>
          <a:prstGeom prst="rect">
            <a:avLst/>
          </a:prstGeom>
          <a:noFill/>
        </p:spPr>
        <p:txBody>
          <a:bodyPr wrap="square" lIns="0" tIns="0" rIns="0" bIns="0" anchor="t">
            <a:noAutofit/>
          </a:bodyPr>
          <a:lstStyle/>
          <a:p>
            <a:pPr algn="l">
              <a:spcAft>
                <a:spcPts val="0"/>
              </a:spcAft>
            </a:pPr>
            <a:r>
              <a:rPr sz="1250" b="1" i="0">
                <a:solidFill>
                  <a:srgbClr val="F2B705"/>
                </a:solidFill>
                <a:latin typeface="Swis721 Cn BT"/>
              </a:rPr>
              <a:t>Reunir fuentes</a:t>
            </a:r>
          </a:p>
        </p:txBody>
      </p:sp>
      <p:sp>
        <p:nvSpPr>
          <p:cNvPr id="7" name="TextBox 6"/>
          <p:cNvSpPr txBox="1"/>
          <p:nvPr/>
        </p:nvSpPr>
        <p:spPr>
          <a:xfrm>
            <a:off x="612648" y="1892808"/>
            <a:ext cx="1060704" cy="1005840"/>
          </a:xfrm>
          <a:prstGeom prst="rect">
            <a:avLst/>
          </a:prstGeom>
          <a:noFill/>
        </p:spPr>
        <p:txBody>
          <a:bodyPr wrap="square" lIns="0" tIns="0" rIns="0" bIns="0" anchor="t">
            <a:noAutofit/>
          </a:bodyPr>
          <a:lstStyle/>
          <a:p>
            <a:pPr algn="l">
              <a:spcAft>
                <a:spcPts val="0"/>
              </a:spcAft>
            </a:pPr>
            <a:r>
              <a:rPr sz="1050" b="0" i="0">
                <a:solidFill>
                  <a:srgbClr val="FFFFFF"/>
                </a:solidFill>
                <a:latin typeface="Swis721 Cn BT"/>
              </a:rPr>
              <a:t>Norma ministerial, guía perinatal y protocolo local</a:t>
            </a:r>
          </a:p>
        </p:txBody>
      </p:sp>
      <p:sp>
        <p:nvSpPr>
          <p:cNvPr id="8" name="Rounded Rectangle 7"/>
          <p:cNvSpPr/>
          <p:nvPr/>
        </p:nvSpPr>
        <p:spPr>
          <a:xfrm>
            <a:off x="612648" y="2834639"/>
            <a:ext cx="1042415" cy="256032"/>
          </a:xfrm>
          <a:prstGeom prst="roundRect">
            <a:avLst>
              <a:gd name="adj" fmla="val 50000"/>
            </a:avLst>
          </a:prstGeom>
          <a:solidFill>
            <a:srgbClr val="F2B705"/>
          </a:solidFill>
          <a:ln>
            <a:noFill/>
          </a:ln>
        </p:spPr>
        <p:txBody>
          <a:bodyPr wrap="square" lIns="18288" tIns="18288" rIns="18288" bIns="18288" rtlCol="0" anchor="ctr">
            <a:noAutofit/>
          </a:bodyPr>
          <a:lstStyle/>
          <a:p>
            <a:pPr algn="ctr">
              <a:spcAft>
                <a:spcPts val="0"/>
              </a:spcAft>
            </a:pPr>
            <a:r>
              <a:rPr sz="1000" b="1" i="0">
                <a:solidFill>
                  <a:srgbClr val="1F2A30"/>
                </a:solidFill>
                <a:latin typeface="Swis721 Cn BT"/>
              </a:rPr>
              <a:t>Equipo</a:t>
            </a:r>
          </a:p>
        </p:txBody>
      </p:sp>
      <p:sp>
        <p:nvSpPr>
          <p:cNvPr id="9" name="Rounded Rectangle 8"/>
          <p:cNvSpPr/>
          <p:nvPr/>
        </p:nvSpPr>
        <p:spPr>
          <a:xfrm>
            <a:off x="1874519" y="868680"/>
            <a:ext cx="1261872" cy="2331720"/>
          </a:xfrm>
          <a:prstGeom prst="roundRect">
            <a:avLst>
              <a:gd name="adj" fmla="val 7246"/>
            </a:avLst>
          </a:prstGeom>
          <a:solidFill>
            <a:srgbClr val="003C58"/>
          </a:solidFill>
          <a:ln>
            <a:noFill/>
          </a:ln>
        </p:spPr>
        <p:txBody>
          <a:bodyPr rtlCol="0" anchor="ctr"/>
          <a:lstStyle/>
          <a:p>
            <a:pPr algn="ctr"/>
            <a:endParaRPr/>
          </a:p>
        </p:txBody>
      </p:sp>
      <p:sp>
        <p:nvSpPr>
          <p:cNvPr id="10" name="Oval 9"/>
          <p:cNvSpPr/>
          <p:nvPr/>
        </p:nvSpPr>
        <p:spPr>
          <a:xfrm>
            <a:off x="1984247" y="978408"/>
            <a:ext cx="329184" cy="329184"/>
          </a:xfrm>
          <a:prstGeom prst="ellipse">
            <a:avLst/>
          </a:prstGeom>
          <a:solidFill>
            <a:srgbClr val="F2B705"/>
          </a:solidFill>
          <a:ln>
            <a:noFill/>
          </a:ln>
        </p:spPr>
        <p:txBody>
          <a:bodyPr lIns="0" tIns="0" rIns="0" bIns="0" rtlCol="0" anchor="ctr"/>
          <a:lstStyle/>
          <a:p>
            <a:pPr algn="ctr">
              <a:spcAft>
                <a:spcPts val="0"/>
              </a:spcAft>
            </a:pPr>
            <a:r>
              <a:rPr sz="1300" b="1" i="0">
                <a:solidFill>
                  <a:srgbClr val="1F2A30"/>
                </a:solidFill>
                <a:latin typeface="Swis721 Cn BT"/>
              </a:rPr>
              <a:t>2</a:t>
            </a:r>
          </a:p>
        </p:txBody>
      </p:sp>
      <p:pic>
        <p:nvPicPr>
          <p:cNvPr id="11" name="Picture 10" descr="MdDocumentScanner_blanco.png"/>
          <p:cNvPicPr>
            <a:picLocks noChangeAspect="1"/>
          </p:cNvPicPr>
          <p:nvPr/>
        </p:nvPicPr>
        <p:blipFill>
          <a:blip r:embed="rId4"/>
          <a:stretch>
            <a:fillRect/>
          </a:stretch>
        </p:blipFill>
        <p:spPr>
          <a:xfrm>
            <a:off x="2633472" y="960120"/>
            <a:ext cx="384048" cy="384048"/>
          </a:xfrm>
          <a:prstGeom prst="rect">
            <a:avLst/>
          </a:prstGeom>
        </p:spPr>
      </p:pic>
      <p:sp>
        <p:nvSpPr>
          <p:cNvPr id="12" name="TextBox 11"/>
          <p:cNvSpPr txBox="1"/>
          <p:nvPr/>
        </p:nvSpPr>
        <p:spPr>
          <a:xfrm>
            <a:off x="1984248" y="1435607"/>
            <a:ext cx="1060704" cy="457200"/>
          </a:xfrm>
          <a:prstGeom prst="rect">
            <a:avLst/>
          </a:prstGeom>
          <a:noFill/>
        </p:spPr>
        <p:txBody>
          <a:bodyPr wrap="square" lIns="0" tIns="0" rIns="0" bIns="0" anchor="t">
            <a:noAutofit/>
          </a:bodyPr>
          <a:lstStyle/>
          <a:p>
            <a:pPr algn="l">
              <a:spcAft>
                <a:spcPts val="0"/>
              </a:spcAft>
            </a:pPr>
            <a:r>
              <a:rPr sz="1250" b="1" i="0">
                <a:solidFill>
                  <a:srgbClr val="F2B705"/>
                </a:solidFill>
                <a:latin typeface="Swis721 Cn BT"/>
              </a:rPr>
              <a:t>Preparar archivos</a:t>
            </a:r>
          </a:p>
        </p:txBody>
      </p:sp>
      <p:sp>
        <p:nvSpPr>
          <p:cNvPr id="13" name="TextBox 12"/>
          <p:cNvSpPr txBox="1"/>
          <p:nvPr/>
        </p:nvSpPr>
        <p:spPr>
          <a:xfrm>
            <a:off x="1984248" y="1892808"/>
            <a:ext cx="1060704" cy="1005840"/>
          </a:xfrm>
          <a:prstGeom prst="rect">
            <a:avLst/>
          </a:prstGeom>
          <a:noFill/>
        </p:spPr>
        <p:txBody>
          <a:bodyPr wrap="square" lIns="0" tIns="0" rIns="0" bIns="0" anchor="t">
            <a:noAutofit/>
          </a:bodyPr>
          <a:lstStyle/>
          <a:p>
            <a:pPr algn="l">
              <a:spcAft>
                <a:spcPts val="0"/>
              </a:spcAft>
            </a:pPr>
            <a:r>
              <a:rPr sz="1050" b="0" i="0">
                <a:solidFill>
                  <a:srgbClr val="FFFFFF"/>
                </a:solidFill>
                <a:latin typeface="Swis721 Cn BT"/>
              </a:rPr>
              <a:t>Texto legible (OCR) y sin datos de pacientes</a:t>
            </a:r>
          </a:p>
        </p:txBody>
      </p:sp>
      <p:sp>
        <p:nvSpPr>
          <p:cNvPr id="14" name="Rounded Rectangle 13"/>
          <p:cNvSpPr/>
          <p:nvPr/>
        </p:nvSpPr>
        <p:spPr>
          <a:xfrm>
            <a:off x="1984248" y="2834639"/>
            <a:ext cx="1042415" cy="256032"/>
          </a:xfrm>
          <a:prstGeom prst="roundRect">
            <a:avLst>
              <a:gd name="adj" fmla="val 50000"/>
            </a:avLst>
          </a:prstGeom>
          <a:solidFill>
            <a:srgbClr val="F2B705"/>
          </a:solidFill>
          <a:ln>
            <a:noFill/>
          </a:ln>
        </p:spPr>
        <p:txBody>
          <a:bodyPr wrap="square" lIns="18288" tIns="18288" rIns="18288" bIns="18288" rtlCol="0" anchor="ctr">
            <a:noAutofit/>
          </a:bodyPr>
          <a:lstStyle/>
          <a:p>
            <a:pPr algn="ctr">
              <a:spcAft>
                <a:spcPts val="0"/>
              </a:spcAft>
            </a:pPr>
            <a:r>
              <a:rPr sz="1000" b="1" i="0">
                <a:solidFill>
                  <a:srgbClr val="1F2A30"/>
                </a:solidFill>
                <a:latin typeface="Swis721 Cn BT"/>
              </a:rPr>
              <a:t>Equipo</a:t>
            </a:r>
          </a:p>
        </p:txBody>
      </p:sp>
      <p:sp>
        <p:nvSpPr>
          <p:cNvPr id="15" name="Rounded Rectangle 14"/>
          <p:cNvSpPr/>
          <p:nvPr/>
        </p:nvSpPr>
        <p:spPr>
          <a:xfrm>
            <a:off x="3246120" y="868680"/>
            <a:ext cx="1261872" cy="2331720"/>
          </a:xfrm>
          <a:prstGeom prst="roundRect">
            <a:avLst>
              <a:gd name="adj" fmla="val 7246"/>
            </a:avLst>
          </a:prstGeom>
          <a:solidFill>
            <a:srgbClr val="E8F0F4"/>
          </a:solidFill>
          <a:ln>
            <a:noFill/>
          </a:ln>
        </p:spPr>
        <p:txBody>
          <a:bodyPr rtlCol="0" anchor="ctr"/>
          <a:lstStyle/>
          <a:p>
            <a:pPr algn="ctr"/>
            <a:endParaRPr/>
          </a:p>
        </p:txBody>
      </p:sp>
      <p:sp>
        <p:nvSpPr>
          <p:cNvPr id="16" name="Oval 15"/>
          <p:cNvSpPr/>
          <p:nvPr/>
        </p:nvSpPr>
        <p:spPr>
          <a:xfrm>
            <a:off x="3355847" y="978408"/>
            <a:ext cx="329184" cy="329184"/>
          </a:xfrm>
          <a:prstGeom prst="ellipse">
            <a:avLst/>
          </a:prstGeom>
          <a:solidFill>
            <a:srgbClr val="F2B705"/>
          </a:solidFill>
          <a:ln>
            <a:noFill/>
          </a:ln>
        </p:spPr>
        <p:txBody>
          <a:bodyPr lIns="0" tIns="0" rIns="0" bIns="0" rtlCol="0" anchor="ctr"/>
          <a:lstStyle/>
          <a:p>
            <a:pPr algn="ctr">
              <a:spcAft>
                <a:spcPts val="0"/>
              </a:spcAft>
            </a:pPr>
            <a:r>
              <a:rPr sz="1300" b="1" i="0">
                <a:solidFill>
                  <a:srgbClr val="1F2A30"/>
                </a:solidFill>
                <a:latin typeface="Swis721 Cn BT"/>
              </a:rPr>
              <a:t>3</a:t>
            </a:r>
          </a:p>
        </p:txBody>
      </p:sp>
      <p:pic>
        <p:nvPicPr>
          <p:cNvPr id="17" name="Picture 16" descr="MdFactCheck_petroleo.png"/>
          <p:cNvPicPr>
            <a:picLocks noChangeAspect="1"/>
          </p:cNvPicPr>
          <p:nvPr/>
        </p:nvPicPr>
        <p:blipFill>
          <a:blip r:embed="rId5"/>
          <a:stretch>
            <a:fillRect/>
          </a:stretch>
        </p:blipFill>
        <p:spPr>
          <a:xfrm>
            <a:off x="4005072" y="960120"/>
            <a:ext cx="384048" cy="384048"/>
          </a:xfrm>
          <a:prstGeom prst="rect">
            <a:avLst/>
          </a:prstGeom>
        </p:spPr>
      </p:pic>
      <p:sp>
        <p:nvSpPr>
          <p:cNvPr id="18" name="TextBox 17"/>
          <p:cNvSpPr txBox="1"/>
          <p:nvPr/>
        </p:nvSpPr>
        <p:spPr>
          <a:xfrm>
            <a:off x="3355848" y="1435607"/>
            <a:ext cx="1060704" cy="457200"/>
          </a:xfrm>
          <a:prstGeom prst="rect">
            <a:avLst/>
          </a:prstGeom>
          <a:noFill/>
        </p:spPr>
        <p:txBody>
          <a:bodyPr wrap="square" lIns="0" tIns="0" rIns="0" bIns="0" anchor="t">
            <a:noAutofit/>
          </a:bodyPr>
          <a:lstStyle/>
          <a:p>
            <a:pPr algn="l">
              <a:spcAft>
                <a:spcPts val="0"/>
              </a:spcAft>
            </a:pPr>
            <a:r>
              <a:rPr sz="1250" b="1" i="0">
                <a:solidFill>
                  <a:srgbClr val="003C58"/>
                </a:solidFill>
                <a:latin typeface="Swis721 Cn BT"/>
              </a:rPr>
              <a:t>Extraer</a:t>
            </a:r>
          </a:p>
        </p:txBody>
      </p:sp>
      <p:sp>
        <p:nvSpPr>
          <p:cNvPr id="19" name="TextBox 18"/>
          <p:cNvSpPr txBox="1"/>
          <p:nvPr/>
        </p:nvSpPr>
        <p:spPr>
          <a:xfrm>
            <a:off x="3355848" y="1892808"/>
            <a:ext cx="1060704" cy="1005840"/>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Tabla de medidas con su página de origen</a:t>
            </a:r>
          </a:p>
        </p:txBody>
      </p:sp>
      <p:sp>
        <p:nvSpPr>
          <p:cNvPr id="20" name="Rounded Rectangle 19"/>
          <p:cNvSpPr/>
          <p:nvPr/>
        </p:nvSpPr>
        <p:spPr>
          <a:xfrm>
            <a:off x="3355848" y="2834639"/>
            <a:ext cx="1042415" cy="256032"/>
          </a:xfrm>
          <a:prstGeom prst="roundRect">
            <a:avLst>
              <a:gd name="adj" fmla="val 50000"/>
            </a:avLst>
          </a:prstGeom>
          <a:solidFill>
            <a:srgbClr val="BF210C"/>
          </a:solidFill>
          <a:ln>
            <a:noFill/>
          </a:ln>
        </p:spPr>
        <p:txBody>
          <a:bodyPr wrap="square" lIns="18288" tIns="18288" rIns="18288" bIns="18288" rtlCol="0" anchor="ctr">
            <a:noAutofit/>
          </a:bodyPr>
          <a:lstStyle/>
          <a:p>
            <a:pPr algn="ctr">
              <a:spcAft>
                <a:spcPts val="0"/>
              </a:spcAft>
            </a:pPr>
            <a:r>
              <a:rPr sz="1000" b="1" i="0">
                <a:solidFill>
                  <a:srgbClr val="FFFFFF"/>
                </a:solidFill>
                <a:latin typeface="Swis721 Cn BT"/>
              </a:rPr>
              <a:t>IA</a:t>
            </a:r>
          </a:p>
        </p:txBody>
      </p:sp>
      <p:sp>
        <p:nvSpPr>
          <p:cNvPr id="21" name="Rounded Rectangle 20"/>
          <p:cNvSpPr/>
          <p:nvPr/>
        </p:nvSpPr>
        <p:spPr>
          <a:xfrm>
            <a:off x="4617720" y="868680"/>
            <a:ext cx="1261872" cy="2331720"/>
          </a:xfrm>
          <a:prstGeom prst="roundRect">
            <a:avLst>
              <a:gd name="adj" fmla="val 7246"/>
            </a:avLst>
          </a:prstGeom>
          <a:solidFill>
            <a:srgbClr val="E8F0F4"/>
          </a:solidFill>
          <a:ln>
            <a:noFill/>
          </a:ln>
        </p:spPr>
        <p:txBody>
          <a:bodyPr rtlCol="0" anchor="ctr"/>
          <a:lstStyle/>
          <a:p>
            <a:pPr algn="ctr"/>
            <a:endParaRPr/>
          </a:p>
        </p:txBody>
      </p:sp>
      <p:sp>
        <p:nvSpPr>
          <p:cNvPr id="22" name="Oval 21"/>
          <p:cNvSpPr/>
          <p:nvPr/>
        </p:nvSpPr>
        <p:spPr>
          <a:xfrm>
            <a:off x="4727448" y="978408"/>
            <a:ext cx="329184" cy="329184"/>
          </a:xfrm>
          <a:prstGeom prst="ellipse">
            <a:avLst/>
          </a:prstGeom>
          <a:solidFill>
            <a:srgbClr val="F2B705"/>
          </a:solidFill>
          <a:ln>
            <a:noFill/>
          </a:ln>
        </p:spPr>
        <p:txBody>
          <a:bodyPr lIns="0" tIns="0" rIns="0" bIns="0" rtlCol="0" anchor="ctr"/>
          <a:lstStyle/>
          <a:p>
            <a:pPr algn="ctr">
              <a:spcAft>
                <a:spcPts val="0"/>
              </a:spcAft>
            </a:pPr>
            <a:r>
              <a:rPr sz="1300" b="1" i="0">
                <a:solidFill>
                  <a:srgbClr val="1F2A30"/>
                </a:solidFill>
                <a:latin typeface="Swis721 Cn BT"/>
              </a:rPr>
              <a:t>4</a:t>
            </a:r>
          </a:p>
        </p:txBody>
      </p:sp>
      <p:pic>
        <p:nvPicPr>
          <p:cNvPr id="23" name="Picture 22" descr="MdEditNote_petroleo.png"/>
          <p:cNvPicPr>
            <a:picLocks noChangeAspect="1"/>
          </p:cNvPicPr>
          <p:nvPr/>
        </p:nvPicPr>
        <p:blipFill>
          <a:blip r:embed="rId6"/>
          <a:stretch>
            <a:fillRect/>
          </a:stretch>
        </p:blipFill>
        <p:spPr>
          <a:xfrm>
            <a:off x="5376672" y="960120"/>
            <a:ext cx="384048" cy="384048"/>
          </a:xfrm>
          <a:prstGeom prst="rect">
            <a:avLst/>
          </a:prstGeom>
        </p:spPr>
      </p:pic>
      <p:sp>
        <p:nvSpPr>
          <p:cNvPr id="24" name="TextBox 23"/>
          <p:cNvSpPr txBox="1"/>
          <p:nvPr/>
        </p:nvSpPr>
        <p:spPr>
          <a:xfrm>
            <a:off x="4727448" y="1435607"/>
            <a:ext cx="1060704" cy="457200"/>
          </a:xfrm>
          <a:prstGeom prst="rect">
            <a:avLst/>
          </a:prstGeom>
          <a:noFill/>
        </p:spPr>
        <p:txBody>
          <a:bodyPr wrap="square" lIns="0" tIns="0" rIns="0" bIns="0" anchor="t">
            <a:noAutofit/>
          </a:bodyPr>
          <a:lstStyle/>
          <a:p>
            <a:pPr algn="l">
              <a:spcAft>
                <a:spcPts val="0"/>
              </a:spcAft>
            </a:pPr>
            <a:r>
              <a:rPr sz="1250" b="1" i="0">
                <a:solidFill>
                  <a:srgbClr val="003C58"/>
                </a:solidFill>
                <a:latin typeface="Swis721 Cn BT"/>
              </a:rPr>
              <a:t>Redactar</a:t>
            </a:r>
          </a:p>
        </p:txBody>
      </p:sp>
      <p:sp>
        <p:nvSpPr>
          <p:cNvPr id="25" name="TextBox 24"/>
          <p:cNvSpPr txBox="1"/>
          <p:nvPr/>
        </p:nvSpPr>
        <p:spPr>
          <a:xfrm>
            <a:off x="4727448" y="1892808"/>
            <a:ext cx="1060704" cy="1005840"/>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Borrador con formato institucional y prompt PARTO</a:t>
            </a:r>
          </a:p>
        </p:txBody>
      </p:sp>
      <p:sp>
        <p:nvSpPr>
          <p:cNvPr id="26" name="Rounded Rectangle 25"/>
          <p:cNvSpPr/>
          <p:nvPr/>
        </p:nvSpPr>
        <p:spPr>
          <a:xfrm>
            <a:off x="4727448" y="2834639"/>
            <a:ext cx="1042415" cy="256032"/>
          </a:xfrm>
          <a:prstGeom prst="roundRect">
            <a:avLst>
              <a:gd name="adj" fmla="val 50000"/>
            </a:avLst>
          </a:prstGeom>
          <a:solidFill>
            <a:srgbClr val="BF210C"/>
          </a:solidFill>
          <a:ln>
            <a:noFill/>
          </a:ln>
        </p:spPr>
        <p:txBody>
          <a:bodyPr wrap="square" lIns="18288" tIns="18288" rIns="18288" bIns="18288" rtlCol="0" anchor="ctr">
            <a:noAutofit/>
          </a:bodyPr>
          <a:lstStyle/>
          <a:p>
            <a:pPr algn="ctr">
              <a:spcAft>
                <a:spcPts val="0"/>
              </a:spcAft>
            </a:pPr>
            <a:r>
              <a:rPr sz="1000" b="1" i="0">
                <a:solidFill>
                  <a:srgbClr val="FFFFFF"/>
                </a:solidFill>
                <a:latin typeface="Swis721 Cn BT"/>
              </a:rPr>
              <a:t>IA</a:t>
            </a:r>
          </a:p>
        </p:txBody>
      </p:sp>
      <p:sp>
        <p:nvSpPr>
          <p:cNvPr id="27" name="Rounded Rectangle 26"/>
          <p:cNvSpPr/>
          <p:nvPr/>
        </p:nvSpPr>
        <p:spPr>
          <a:xfrm>
            <a:off x="5989320" y="868680"/>
            <a:ext cx="1261872" cy="2331720"/>
          </a:xfrm>
          <a:prstGeom prst="roundRect">
            <a:avLst>
              <a:gd name="adj" fmla="val 7246"/>
            </a:avLst>
          </a:prstGeom>
          <a:solidFill>
            <a:srgbClr val="E8F0F4"/>
          </a:solidFill>
          <a:ln>
            <a:noFill/>
          </a:ln>
        </p:spPr>
        <p:txBody>
          <a:bodyPr rtlCol="0" anchor="ctr"/>
          <a:lstStyle/>
          <a:p>
            <a:pPr algn="ctr"/>
            <a:endParaRPr/>
          </a:p>
        </p:txBody>
      </p:sp>
      <p:sp>
        <p:nvSpPr>
          <p:cNvPr id="28" name="Oval 27"/>
          <p:cNvSpPr/>
          <p:nvPr/>
        </p:nvSpPr>
        <p:spPr>
          <a:xfrm>
            <a:off x="6099048" y="978408"/>
            <a:ext cx="329184" cy="329184"/>
          </a:xfrm>
          <a:prstGeom prst="ellipse">
            <a:avLst/>
          </a:prstGeom>
          <a:solidFill>
            <a:srgbClr val="F2B705"/>
          </a:solidFill>
          <a:ln>
            <a:noFill/>
          </a:ln>
        </p:spPr>
        <p:txBody>
          <a:bodyPr lIns="0" tIns="0" rIns="0" bIns="0" rtlCol="0" anchor="ctr"/>
          <a:lstStyle/>
          <a:p>
            <a:pPr algn="ctr">
              <a:spcAft>
                <a:spcPts val="0"/>
              </a:spcAft>
            </a:pPr>
            <a:r>
              <a:rPr sz="1300" b="1" i="0">
                <a:solidFill>
                  <a:srgbClr val="1F2A30"/>
                </a:solidFill>
                <a:latin typeface="Swis721 Cn BT"/>
              </a:rPr>
              <a:t>5</a:t>
            </a:r>
          </a:p>
        </p:txBody>
      </p:sp>
      <p:pic>
        <p:nvPicPr>
          <p:cNvPr id="29" name="Picture 28" descr="MdCompareArrows_petroleo.png"/>
          <p:cNvPicPr>
            <a:picLocks noChangeAspect="1"/>
          </p:cNvPicPr>
          <p:nvPr/>
        </p:nvPicPr>
        <p:blipFill>
          <a:blip r:embed="rId7"/>
          <a:stretch>
            <a:fillRect/>
          </a:stretch>
        </p:blipFill>
        <p:spPr>
          <a:xfrm>
            <a:off x="6748272" y="960120"/>
            <a:ext cx="384048" cy="384048"/>
          </a:xfrm>
          <a:prstGeom prst="rect">
            <a:avLst/>
          </a:prstGeom>
        </p:spPr>
      </p:pic>
      <p:sp>
        <p:nvSpPr>
          <p:cNvPr id="30" name="TextBox 29"/>
          <p:cNvSpPr txBox="1"/>
          <p:nvPr/>
        </p:nvSpPr>
        <p:spPr>
          <a:xfrm>
            <a:off x="6099048" y="1435607"/>
            <a:ext cx="1060704" cy="457200"/>
          </a:xfrm>
          <a:prstGeom prst="rect">
            <a:avLst/>
          </a:prstGeom>
          <a:noFill/>
        </p:spPr>
        <p:txBody>
          <a:bodyPr wrap="square" lIns="0" tIns="0" rIns="0" bIns="0" anchor="t">
            <a:noAutofit/>
          </a:bodyPr>
          <a:lstStyle/>
          <a:p>
            <a:pPr algn="l">
              <a:spcAft>
                <a:spcPts val="0"/>
              </a:spcAft>
            </a:pPr>
            <a:r>
              <a:rPr sz="1250" b="1" i="0">
                <a:solidFill>
                  <a:srgbClr val="003C58"/>
                </a:solidFill>
                <a:latin typeface="Swis721 Cn BT"/>
              </a:rPr>
              <a:t>Contrastar</a:t>
            </a:r>
          </a:p>
        </p:txBody>
      </p:sp>
      <p:sp>
        <p:nvSpPr>
          <p:cNvPr id="31" name="TextBox 30"/>
          <p:cNvSpPr txBox="1"/>
          <p:nvPr/>
        </p:nvSpPr>
        <p:spPr>
          <a:xfrm>
            <a:off x="6099048" y="1892808"/>
            <a:ext cx="1060704" cy="1005840"/>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Un segundo modelo audita el borrador</a:t>
            </a:r>
          </a:p>
        </p:txBody>
      </p:sp>
      <p:sp>
        <p:nvSpPr>
          <p:cNvPr id="32" name="Rounded Rectangle 31"/>
          <p:cNvSpPr/>
          <p:nvPr/>
        </p:nvSpPr>
        <p:spPr>
          <a:xfrm>
            <a:off x="6099048" y="2834639"/>
            <a:ext cx="1042415" cy="256032"/>
          </a:xfrm>
          <a:prstGeom prst="roundRect">
            <a:avLst>
              <a:gd name="adj" fmla="val 50000"/>
            </a:avLst>
          </a:prstGeom>
          <a:solidFill>
            <a:srgbClr val="BF210C"/>
          </a:solidFill>
          <a:ln>
            <a:noFill/>
          </a:ln>
        </p:spPr>
        <p:txBody>
          <a:bodyPr wrap="square" lIns="18288" tIns="18288" rIns="18288" bIns="18288" rtlCol="0" anchor="ctr">
            <a:noAutofit/>
          </a:bodyPr>
          <a:lstStyle/>
          <a:p>
            <a:pPr algn="ctr">
              <a:spcAft>
                <a:spcPts val="0"/>
              </a:spcAft>
            </a:pPr>
            <a:r>
              <a:rPr sz="1000" b="1" i="0">
                <a:solidFill>
                  <a:srgbClr val="FFFFFF"/>
                </a:solidFill>
                <a:latin typeface="Swis721 Cn BT"/>
              </a:rPr>
              <a:t>IA</a:t>
            </a:r>
          </a:p>
        </p:txBody>
      </p:sp>
      <p:sp>
        <p:nvSpPr>
          <p:cNvPr id="33" name="Rounded Rectangle 32"/>
          <p:cNvSpPr/>
          <p:nvPr/>
        </p:nvSpPr>
        <p:spPr>
          <a:xfrm>
            <a:off x="7360920" y="868680"/>
            <a:ext cx="1261872" cy="2331720"/>
          </a:xfrm>
          <a:prstGeom prst="roundRect">
            <a:avLst>
              <a:gd name="adj" fmla="val 7246"/>
            </a:avLst>
          </a:prstGeom>
          <a:solidFill>
            <a:srgbClr val="003C58"/>
          </a:solidFill>
          <a:ln>
            <a:noFill/>
          </a:ln>
        </p:spPr>
        <p:txBody>
          <a:bodyPr rtlCol="0" anchor="ctr"/>
          <a:lstStyle/>
          <a:p>
            <a:pPr algn="ctr"/>
            <a:endParaRPr/>
          </a:p>
        </p:txBody>
      </p:sp>
      <p:sp>
        <p:nvSpPr>
          <p:cNvPr id="34" name="Oval 33"/>
          <p:cNvSpPr/>
          <p:nvPr/>
        </p:nvSpPr>
        <p:spPr>
          <a:xfrm>
            <a:off x="7470648" y="978408"/>
            <a:ext cx="329184" cy="329184"/>
          </a:xfrm>
          <a:prstGeom prst="ellipse">
            <a:avLst/>
          </a:prstGeom>
          <a:solidFill>
            <a:srgbClr val="F2B705"/>
          </a:solidFill>
          <a:ln>
            <a:noFill/>
          </a:ln>
        </p:spPr>
        <p:txBody>
          <a:bodyPr lIns="0" tIns="0" rIns="0" bIns="0" rtlCol="0" anchor="ctr"/>
          <a:lstStyle/>
          <a:p>
            <a:pPr algn="ctr">
              <a:spcAft>
                <a:spcPts val="0"/>
              </a:spcAft>
            </a:pPr>
            <a:r>
              <a:rPr sz="1300" b="1" i="0">
                <a:solidFill>
                  <a:srgbClr val="1F2A30"/>
                </a:solidFill>
                <a:latin typeface="Swis721 Cn BT"/>
              </a:rPr>
              <a:t>6</a:t>
            </a:r>
          </a:p>
        </p:txBody>
      </p:sp>
      <p:pic>
        <p:nvPicPr>
          <p:cNvPr id="35" name="Picture 34" descr="MdVerified_blanco.png"/>
          <p:cNvPicPr>
            <a:picLocks noChangeAspect="1"/>
          </p:cNvPicPr>
          <p:nvPr/>
        </p:nvPicPr>
        <p:blipFill>
          <a:blip r:embed="rId8"/>
          <a:stretch>
            <a:fillRect/>
          </a:stretch>
        </p:blipFill>
        <p:spPr>
          <a:xfrm>
            <a:off x="8119872" y="960120"/>
            <a:ext cx="384048" cy="384048"/>
          </a:xfrm>
          <a:prstGeom prst="rect">
            <a:avLst/>
          </a:prstGeom>
        </p:spPr>
      </p:pic>
      <p:sp>
        <p:nvSpPr>
          <p:cNvPr id="36" name="TextBox 35"/>
          <p:cNvSpPr txBox="1"/>
          <p:nvPr/>
        </p:nvSpPr>
        <p:spPr>
          <a:xfrm>
            <a:off x="7470648" y="1435607"/>
            <a:ext cx="1060704" cy="457200"/>
          </a:xfrm>
          <a:prstGeom prst="rect">
            <a:avLst/>
          </a:prstGeom>
          <a:noFill/>
        </p:spPr>
        <p:txBody>
          <a:bodyPr wrap="square" lIns="0" tIns="0" rIns="0" bIns="0" anchor="t">
            <a:noAutofit/>
          </a:bodyPr>
          <a:lstStyle/>
          <a:p>
            <a:pPr algn="l">
              <a:spcAft>
                <a:spcPts val="0"/>
              </a:spcAft>
            </a:pPr>
            <a:r>
              <a:rPr sz="1250" b="1" i="0">
                <a:solidFill>
                  <a:srgbClr val="F2B705"/>
                </a:solidFill>
                <a:latin typeface="Swis721 Cn BT"/>
              </a:rPr>
              <a:t>Validar y registrar</a:t>
            </a:r>
          </a:p>
        </p:txBody>
      </p:sp>
      <p:sp>
        <p:nvSpPr>
          <p:cNvPr id="37" name="TextBox 36"/>
          <p:cNvSpPr txBox="1"/>
          <p:nvPr/>
        </p:nvSpPr>
        <p:spPr>
          <a:xfrm>
            <a:off x="7470648" y="1892808"/>
            <a:ext cx="1060704" cy="1005840"/>
          </a:xfrm>
          <a:prstGeom prst="rect">
            <a:avLst/>
          </a:prstGeom>
          <a:noFill/>
        </p:spPr>
        <p:txBody>
          <a:bodyPr wrap="square" lIns="0" tIns="0" rIns="0" bIns="0" anchor="t">
            <a:noAutofit/>
          </a:bodyPr>
          <a:lstStyle/>
          <a:p>
            <a:pPr algn="l">
              <a:spcAft>
                <a:spcPts val="0"/>
              </a:spcAft>
            </a:pPr>
            <a:r>
              <a:rPr sz="1050" b="0" i="0">
                <a:solidFill>
                  <a:srgbClr val="FFFFFF"/>
                </a:solidFill>
                <a:latin typeface="Swis721 Cn BT"/>
              </a:rPr>
              <a:t>Comité revisa, aprueba y documenta prompts y versiones</a:t>
            </a:r>
          </a:p>
        </p:txBody>
      </p:sp>
      <p:sp>
        <p:nvSpPr>
          <p:cNvPr id="38" name="Rounded Rectangle 37"/>
          <p:cNvSpPr/>
          <p:nvPr/>
        </p:nvSpPr>
        <p:spPr>
          <a:xfrm>
            <a:off x="7470648" y="2834639"/>
            <a:ext cx="1042415" cy="256032"/>
          </a:xfrm>
          <a:prstGeom prst="roundRect">
            <a:avLst>
              <a:gd name="adj" fmla="val 50000"/>
            </a:avLst>
          </a:prstGeom>
          <a:solidFill>
            <a:srgbClr val="F2B705"/>
          </a:solidFill>
          <a:ln>
            <a:noFill/>
          </a:ln>
        </p:spPr>
        <p:txBody>
          <a:bodyPr wrap="square" lIns="18288" tIns="18288" rIns="18288" bIns="18288" rtlCol="0" anchor="ctr">
            <a:noAutofit/>
          </a:bodyPr>
          <a:lstStyle/>
          <a:p>
            <a:pPr algn="ctr">
              <a:spcAft>
                <a:spcPts val="0"/>
              </a:spcAft>
            </a:pPr>
            <a:r>
              <a:rPr sz="1000" b="1" i="0">
                <a:solidFill>
                  <a:srgbClr val="1F2A30"/>
                </a:solidFill>
                <a:latin typeface="Swis721 Cn BT"/>
              </a:rPr>
              <a:t>Equipo</a:t>
            </a:r>
          </a:p>
        </p:txBody>
      </p:sp>
      <p:sp>
        <p:nvSpPr>
          <p:cNvPr id="39" name="Rounded Rectangle 38"/>
          <p:cNvSpPr/>
          <p:nvPr/>
        </p:nvSpPr>
        <p:spPr>
          <a:xfrm>
            <a:off x="502920" y="3383280"/>
            <a:ext cx="8138159" cy="685800"/>
          </a:xfrm>
          <a:prstGeom prst="roundRect">
            <a:avLst>
              <a:gd name="adj" fmla="val 13333"/>
            </a:avLst>
          </a:prstGeom>
          <a:solidFill>
            <a:srgbClr val="FFF3C4"/>
          </a:solidFill>
          <a:ln>
            <a:noFill/>
          </a:ln>
        </p:spPr>
        <p:txBody>
          <a:bodyPr rtlCol="0" anchor="ctr"/>
          <a:lstStyle/>
          <a:p>
            <a:pPr algn="ctr"/>
            <a:endParaRPr/>
          </a:p>
        </p:txBody>
      </p:sp>
      <p:sp>
        <p:nvSpPr>
          <p:cNvPr id="40" name="TextBox 39"/>
          <p:cNvSpPr txBox="1"/>
          <p:nvPr/>
        </p:nvSpPr>
        <p:spPr>
          <a:xfrm>
            <a:off x="731520" y="3401568"/>
            <a:ext cx="7680960" cy="649224"/>
          </a:xfrm>
          <a:prstGeom prst="rect">
            <a:avLst/>
          </a:prstGeom>
          <a:noFill/>
        </p:spPr>
        <p:txBody>
          <a:bodyPr wrap="square" lIns="0" tIns="0" rIns="0" bIns="0" anchor="ctr">
            <a:noAutofit/>
          </a:bodyPr>
          <a:lstStyle/>
          <a:p>
            <a:pPr algn="l">
              <a:spcAft>
                <a:spcPts val="0"/>
              </a:spcAft>
            </a:pPr>
            <a:r>
              <a:rPr sz="1400" b="0" i="0">
                <a:solidFill>
                  <a:srgbClr val="1F2A30"/>
                </a:solidFill>
                <a:latin typeface="Swis721 Cn BT"/>
              </a:rPr>
              <a:t>La IA acelera los pasos 3 a 5. Los pasos 1, 2 y 6 son </a:t>
            </a:r>
            <a:r>
              <a:rPr sz="1400" b="1" i="0">
                <a:solidFill>
                  <a:srgbClr val="BF210C"/>
                </a:solidFill>
                <a:latin typeface="Swis721 Cn BT"/>
              </a:rPr>
              <a:t>responsabilidad del equipo clínico</a:t>
            </a:r>
            <a:r>
              <a:rPr sz="1400" b="0" i="0">
                <a:solidFill>
                  <a:srgbClr val="1F2A30"/>
                </a:solidFill>
                <a:latin typeface="Swis721 Cn BT"/>
              </a:rPr>
              <a:t> y no se delegan.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Caso: dos protocolos vencidos, dos criterios distintos</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 protocolos hospitalarios de prevención de endometritis puerperal incluidos en el proyecto (instituciones omitidas).</a:t>
            </a:r>
          </a:p>
        </p:txBody>
      </p:sp>
      <p:graphicFrame>
        <p:nvGraphicFramePr>
          <p:cNvPr id="5" name="Table 4"/>
          <p:cNvGraphicFramePr>
            <a:graphicFrameLocks noGrp="1"/>
          </p:cNvGraphicFramePr>
          <p:nvPr/>
        </p:nvGraphicFramePr>
        <p:xfrm>
          <a:off x="502920" y="868680"/>
          <a:ext cx="4160520" cy="2286000"/>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10896">
                <a:tc>
                  <a:txBody>
                    <a:bodyPr/>
                    <a:lstStyle/>
                    <a:p>
                      <a:pPr algn="l">
                        <a:spcAft>
                          <a:spcPts val="0"/>
                        </a:spcAft>
                      </a:pPr>
                      <a:r>
                        <a:rPr sz="1100" b="1" i="0">
                          <a:solidFill>
                            <a:srgbClr val="FFFFFF"/>
                          </a:solidFill>
                          <a:latin typeface="Swis721 Cn BT"/>
                        </a:rPr>
                        <a:t>Ítem</a:t>
                      </a:r>
                    </a:p>
                  </a:txBody>
                  <a:tcPr marL="73152" marR="73152" marT="27432" marB="27432" anchor="ctr">
                    <a:solidFill>
                      <a:srgbClr val="003C58"/>
                    </a:solidFill>
                  </a:tcPr>
                </a:tc>
                <a:tc>
                  <a:txBody>
                    <a:bodyPr/>
                    <a:lstStyle/>
                    <a:p>
                      <a:pPr algn="l">
                        <a:spcAft>
                          <a:spcPts val="0"/>
                        </a:spcAft>
                      </a:pPr>
                      <a:r>
                        <a:rPr sz="1100" b="1" i="0">
                          <a:solidFill>
                            <a:srgbClr val="FFFFFF"/>
                          </a:solidFill>
                          <a:latin typeface="Swis721 Cn BT"/>
                        </a:rPr>
                        <a:t>Protocolo A</a:t>
                      </a:r>
                    </a:p>
                  </a:txBody>
                  <a:tcPr marL="73152" marR="73152" marT="27432" marB="27432" anchor="ctr">
                    <a:solidFill>
                      <a:srgbClr val="003C58"/>
                    </a:solidFill>
                  </a:tcPr>
                </a:tc>
                <a:tc>
                  <a:txBody>
                    <a:bodyPr/>
                    <a:lstStyle/>
                    <a:p>
                      <a:pPr algn="l">
                        <a:spcAft>
                          <a:spcPts val="0"/>
                        </a:spcAft>
                      </a:pPr>
                      <a:r>
                        <a:rPr sz="1100" b="1" i="0">
                          <a:solidFill>
                            <a:srgbClr val="FFFFFF"/>
                          </a:solidFill>
                          <a:latin typeface="Swis721 Cn BT"/>
                        </a:rPr>
                        <a:t>Protocolo B</a:t>
                      </a:r>
                    </a:p>
                  </a:txBody>
                  <a:tcPr marL="73152" marR="73152" marT="27432" marB="27432" anchor="ctr">
                    <a:solidFill>
                      <a:srgbClr val="003C58"/>
                    </a:solidFill>
                  </a:tcPr>
                </a:tc>
                <a:extLst>
                  <a:ext uri="{0D108BD9-81ED-4DB2-BD59-A6C34878D82A}">
                    <a16:rowId xmlns:a16="http://schemas.microsoft.com/office/drawing/2014/main" val="10000"/>
                  </a:ext>
                </a:extLst>
              </a:tr>
              <a:tr h="310896">
                <a:tc>
                  <a:txBody>
                    <a:bodyPr/>
                    <a:lstStyle/>
                    <a:p>
                      <a:pPr algn="l">
                        <a:spcAft>
                          <a:spcPts val="0"/>
                        </a:spcAft>
                      </a:pPr>
                      <a:r>
                        <a:rPr sz="1050" b="1" i="0">
                          <a:solidFill>
                            <a:srgbClr val="003C58"/>
                          </a:solidFill>
                          <a:latin typeface="Swis721 Cn BT"/>
                        </a:rPr>
                        <a:t>Vigencia</a:t>
                      </a:r>
                    </a:p>
                  </a:txBody>
                  <a:tcPr marL="73152" marR="73152" marT="27432" marB="27432" anchor="ctr">
                    <a:solidFill>
                      <a:srgbClr val="E8F0F4"/>
                    </a:solidFill>
                  </a:tcPr>
                </a:tc>
                <a:tc>
                  <a:txBody>
                    <a:bodyPr/>
                    <a:lstStyle/>
                    <a:p>
                      <a:pPr algn="l">
                        <a:spcAft>
                          <a:spcPts val="0"/>
                        </a:spcAft>
                      </a:pPr>
                      <a:r>
                        <a:rPr sz="1050" b="0" i="0">
                          <a:solidFill>
                            <a:srgbClr val="1F2A30"/>
                          </a:solidFill>
                          <a:latin typeface="Swis721 Cn BT"/>
                        </a:rPr>
                        <a:t>2017–2022</a:t>
                      </a:r>
                    </a:p>
                  </a:txBody>
                  <a:tcPr marL="73152" marR="73152" marT="27432" marB="27432" anchor="ctr">
                    <a:solidFill>
                      <a:srgbClr val="E8F0F4"/>
                    </a:solidFill>
                  </a:tcPr>
                </a:tc>
                <a:tc>
                  <a:txBody>
                    <a:bodyPr/>
                    <a:lstStyle/>
                    <a:p>
                      <a:pPr algn="l">
                        <a:spcAft>
                          <a:spcPts val="0"/>
                        </a:spcAft>
                      </a:pPr>
                      <a:r>
                        <a:rPr sz="1050" b="0" i="0">
                          <a:solidFill>
                            <a:srgbClr val="1F2A30"/>
                          </a:solidFill>
                          <a:latin typeface="Swis721 Cn BT"/>
                        </a:rPr>
                        <a:t>2018–2023</a:t>
                      </a:r>
                    </a:p>
                  </a:txBody>
                  <a:tcPr marL="73152" marR="73152" marT="27432" marB="27432" anchor="ctr">
                    <a:solidFill>
                      <a:srgbClr val="E8F0F4"/>
                    </a:solidFill>
                  </a:tcPr>
                </a:tc>
                <a:extLst>
                  <a:ext uri="{0D108BD9-81ED-4DB2-BD59-A6C34878D82A}">
                    <a16:rowId xmlns:a16="http://schemas.microsoft.com/office/drawing/2014/main" val="10001"/>
                  </a:ext>
                </a:extLst>
              </a:tr>
              <a:tr h="310896">
                <a:tc>
                  <a:txBody>
                    <a:bodyPr/>
                    <a:lstStyle/>
                    <a:p>
                      <a:pPr algn="l">
                        <a:spcAft>
                          <a:spcPts val="0"/>
                        </a:spcAft>
                      </a:pPr>
                      <a:r>
                        <a:rPr sz="1050" b="1" i="0">
                          <a:solidFill>
                            <a:srgbClr val="003C58"/>
                          </a:solidFill>
                          <a:latin typeface="Swis721 Cn BT"/>
                        </a:rPr>
                        <a:t>Tactos vaginales (ideal)</a:t>
                      </a:r>
                    </a:p>
                  </a:txBody>
                  <a:tcPr marL="73152" marR="73152" marT="27432" marB="27432" anchor="ctr">
                    <a:solidFill>
                      <a:srgbClr val="FFFFFF"/>
                    </a:solidFill>
                  </a:tcPr>
                </a:tc>
                <a:tc>
                  <a:txBody>
                    <a:bodyPr/>
                    <a:lstStyle/>
                    <a:p>
                      <a:pPr algn="l">
                        <a:spcAft>
                          <a:spcPts val="0"/>
                        </a:spcAft>
                      </a:pPr>
                      <a:r>
                        <a:rPr sz="1050" b="1" i="0">
                          <a:solidFill>
                            <a:srgbClr val="BF210C"/>
                          </a:solidFill>
                          <a:latin typeface="Swis721 Cn BT"/>
                        </a:rPr>
                        <a:t>no más de 5</a:t>
                      </a:r>
                    </a:p>
                  </a:txBody>
                  <a:tcPr marL="73152" marR="73152" marT="27432" marB="27432" anchor="ctr">
                    <a:solidFill>
                      <a:srgbClr val="FFF3C4"/>
                    </a:solidFill>
                  </a:tcPr>
                </a:tc>
                <a:tc>
                  <a:txBody>
                    <a:bodyPr/>
                    <a:lstStyle/>
                    <a:p>
                      <a:pPr algn="l">
                        <a:spcAft>
                          <a:spcPts val="0"/>
                        </a:spcAft>
                      </a:pPr>
                      <a:r>
                        <a:rPr sz="1050" b="1" i="0">
                          <a:solidFill>
                            <a:srgbClr val="BF210C"/>
                          </a:solidFill>
                          <a:latin typeface="Swis721 Cn BT"/>
                        </a:rPr>
                        <a:t>no más de 4</a:t>
                      </a:r>
                    </a:p>
                  </a:txBody>
                  <a:tcPr marL="73152" marR="73152" marT="27432" marB="27432" anchor="ctr">
                    <a:solidFill>
                      <a:srgbClr val="FFF3C4"/>
                    </a:solidFill>
                  </a:tcPr>
                </a:tc>
                <a:extLst>
                  <a:ext uri="{0D108BD9-81ED-4DB2-BD59-A6C34878D82A}">
                    <a16:rowId xmlns:a16="http://schemas.microsoft.com/office/drawing/2014/main" val="10002"/>
                  </a:ext>
                </a:extLst>
              </a:tr>
              <a:tr h="603504">
                <a:tc>
                  <a:txBody>
                    <a:bodyPr/>
                    <a:lstStyle/>
                    <a:p>
                      <a:pPr algn="l">
                        <a:spcAft>
                          <a:spcPts val="0"/>
                        </a:spcAft>
                      </a:pPr>
                      <a:r>
                        <a:rPr sz="1050" b="1" i="0">
                          <a:solidFill>
                            <a:srgbClr val="003C58"/>
                          </a:solidFill>
                          <a:latin typeface="Swis721 Cn BT"/>
                        </a:rPr>
                        <a:t>Indicador</a:t>
                      </a:r>
                    </a:p>
                  </a:txBody>
                  <a:tcPr marL="73152" marR="73152" marT="27432" marB="27432" anchor="ctr">
                    <a:solidFill>
                      <a:srgbClr val="E8F0F4"/>
                    </a:solidFill>
                  </a:tcPr>
                </a:tc>
                <a:tc>
                  <a:txBody>
                    <a:bodyPr/>
                    <a:lstStyle/>
                    <a:p>
                      <a:pPr algn="l">
                        <a:spcAft>
                          <a:spcPts val="0"/>
                        </a:spcAft>
                      </a:pPr>
                      <a:r>
                        <a:rPr sz="1050" b="0" i="0">
                          <a:solidFill>
                            <a:srgbClr val="1F2A30"/>
                          </a:solidFill>
                          <a:latin typeface="Swis721 Cn BT"/>
                        </a:rPr>
                        <a:t>% de pautas de supervisión correctas (umbral ≥ 95 %)</a:t>
                      </a:r>
                    </a:p>
                  </a:txBody>
                  <a:tcPr marL="73152" marR="73152" marT="27432" marB="27432" anchor="ctr">
                    <a:solidFill>
                      <a:srgbClr val="E8F0F4"/>
                    </a:solidFill>
                  </a:tcPr>
                </a:tc>
                <a:tc>
                  <a:txBody>
                    <a:bodyPr/>
                    <a:lstStyle/>
                    <a:p>
                      <a:pPr algn="l">
                        <a:spcAft>
                          <a:spcPts val="0"/>
                        </a:spcAft>
                      </a:pPr>
                      <a:r>
                        <a:rPr sz="1050" b="0" i="0">
                          <a:solidFill>
                            <a:srgbClr val="1F2A30"/>
                          </a:solidFill>
                          <a:latin typeface="Swis721 Cn BT"/>
                        </a:rPr>
                        <a:t>Tasa de endometritis vigilada por IAAS</a:t>
                      </a:r>
                    </a:p>
                  </a:txBody>
                  <a:tcPr marL="73152" marR="73152" marT="27432" marB="27432" anchor="ctr">
                    <a:solidFill>
                      <a:srgbClr val="E8F0F4"/>
                    </a:solidFill>
                  </a:tcPr>
                </a:tc>
                <a:extLst>
                  <a:ext uri="{0D108BD9-81ED-4DB2-BD59-A6C34878D82A}">
                    <a16:rowId xmlns:a16="http://schemas.microsoft.com/office/drawing/2014/main" val="10003"/>
                  </a:ext>
                </a:extLst>
              </a:tr>
              <a:tr h="310896">
                <a:tc>
                  <a:txBody>
                    <a:bodyPr/>
                    <a:lstStyle/>
                    <a:p>
                      <a:pPr algn="l">
                        <a:spcAft>
                          <a:spcPts val="0"/>
                        </a:spcAft>
                      </a:pPr>
                      <a:r>
                        <a:rPr sz="1050" b="1" i="0">
                          <a:solidFill>
                            <a:srgbClr val="003C58"/>
                          </a:solidFill>
                          <a:latin typeface="Swis721 Cn BT"/>
                        </a:rPr>
                        <a:t>Referencia más reciente</a:t>
                      </a:r>
                    </a:p>
                  </a:txBody>
                  <a:tcPr marL="73152" marR="73152" marT="27432" marB="27432" anchor="ctr">
                    <a:solidFill>
                      <a:srgbClr val="FFFFFF"/>
                    </a:solidFill>
                  </a:tcPr>
                </a:tc>
                <a:tc>
                  <a:txBody>
                    <a:bodyPr/>
                    <a:lstStyle/>
                    <a:p>
                      <a:pPr algn="l">
                        <a:spcAft>
                          <a:spcPts val="0"/>
                        </a:spcAft>
                      </a:pPr>
                      <a:r>
                        <a:rPr sz="1050" b="0" i="0">
                          <a:solidFill>
                            <a:srgbClr val="1F2A30"/>
                          </a:solidFill>
                          <a:latin typeface="Swis721 Cn BT"/>
                        </a:rPr>
                        <a:t>2006</a:t>
                      </a:r>
                    </a:p>
                  </a:txBody>
                  <a:tcPr marL="73152" marR="73152" marT="27432" marB="27432" anchor="ctr">
                    <a:solidFill>
                      <a:srgbClr val="FFFFFF"/>
                    </a:solidFill>
                  </a:tcPr>
                </a:tc>
                <a:tc>
                  <a:txBody>
                    <a:bodyPr/>
                    <a:lstStyle/>
                    <a:p>
                      <a:pPr algn="l">
                        <a:spcAft>
                          <a:spcPts val="0"/>
                        </a:spcAft>
                      </a:pPr>
                      <a:r>
                        <a:rPr sz="1050" b="0" i="0">
                          <a:solidFill>
                            <a:srgbClr val="1F2A30"/>
                          </a:solidFill>
                          <a:latin typeface="Swis721 Cn BT"/>
                        </a:rPr>
                        <a:t>2008</a:t>
                      </a:r>
                    </a:p>
                  </a:txBody>
                  <a:tcPr marL="73152" marR="73152" marT="27432" marB="27432" anchor="ctr">
                    <a:solidFill>
                      <a:srgbClr val="FFFFFF"/>
                    </a:solidFill>
                  </a:tcPr>
                </a:tc>
                <a:extLst>
                  <a:ext uri="{0D108BD9-81ED-4DB2-BD59-A6C34878D82A}">
                    <a16:rowId xmlns:a16="http://schemas.microsoft.com/office/drawing/2014/main" val="10004"/>
                  </a:ext>
                </a:extLst>
              </a:tr>
              <a:tr h="310896">
                <a:tc>
                  <a:txBody>
                    <a:bodyPr/>
                    <a:lstStyle/>
                    <a:p>
                      <a:pPr algn="l">
                        <a:spcAft>
                          <a:spcPts val="0"/>
                        </a:spcAft>
                      </a:pPr>
                      <a:r>
                        <a:rPr sz="1050" b="1" i="0">
                          <a:solidFill>
                            <a:srgbClr val="003C58"/>
                          </a:solidFill>
                          <a:latin typeface="Swis721 Cn BT"/>
                        </a:rPr>
                        <a:t>Formato</a:t>
                      </a:r>
                    </a:p>
                  </a:txBody>
                  <a:tcPr marL="73152" marR="73152" marT="27432" marB="27432" anchor="ctr">
                    <a:solidFill>
                      <a:srgbClr val="E8F0F4"/>
                    </a:solidFill>
                  </a:tcPr>
                </a:tc>
                <a:tc>
                  <a:txBody>
                    <a:bodyPr/>
                    <a:lstStyle/>
                    <a:p>
                      <a:pPr algn="l">
                        <a:spcAft>
                          <a:spcPts val="0"/>
                        </a:spcAft>
                      </a:pPr>
                      <a:r>
                        <a:rPr sz="1050" b="0" i="0">
                          <a:solidFill>
                            <a:srgbClr val="1F2A30"/>
                          </a:solidFill>
                          <a:latin typeface="Swis721 Cn BT"/>
                        </a:rPr>
                        <a:t>PDF escaneado</a:t>
                      </a:r>
                    </a:p>
                  </a:txBody>
                  <a:tcPr marL="73152" marR="73152" marT="27432" marB="27432" anchor="ctr">
                    <a:solidFill>
                      <a:srgbClr val="E8F0F4"/>
                    </a:solidFill>
                  </a:tcPr>
                </a:tc>
                <a:tc>
                  <a:txBody>
                    <a:bodyPr/>
                    <a:lstStyle/>
                    <a:p>
                      <a:pPr algn="l">
                        <a:spcAft>
                          <a:spcPts val="0"/>
                        </a:spcAft>
                      </a:pPr>
                      <a:r>
                        <a:rPr sz="1050" b="0" i="0">
                          <a:solidFill>
                            <a:srgbClr val="1F2A30"/>
                          </a:solidFill>
                          <a:latin typeface="Swis721 Cn BT"/>
                        </a:rPr>
                        <a:t>PDF escaneado</a:t>
                      </a:r>
                    </a:p>
                  </a:txBody>
                  <a:tcPr marL="73152" marR="73152" marT="27432" marB="27432" anchor="ctr">
                    <a:solidFill>
                      <a:srgbClr val="E8F0F4"/>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502920" y="3401568"/>
            <a:ext cx="4160520" cy="667512"/>
          </a:xfrm>
          <a:prstGeom prst="roundRect">
            <a:avLst>
              <a:gd name="adj" fmla="val 13698"/>
            </a:avLst>
          </a:prstGeom>
          <a:solidFill>
            <a:srgbClr val="FFF3C4"/>
          </a:solidFill>
          <a:ln>
            <a:noFill/>
          </a:ln>
        </p:spPr>
        <p:txBody>
          <a:bodyPr rtlCol="0" anchor="ctr"/>
          <a:lstStyle/>
          <a:p>
            <a:pPr algn="ctr"/>
            <a:endParaRPr/>
          </a:p>
        </p:txBody>
      </p:sp>
      <p:sp>
        <p:nvSpPr>
          <p:cNvPr id="7" name="TextBox 6"/>
          <p:cNvSpPr txBox="1"/>
          <p:nvPr/>
        </p:nvSpPr>
        <p:spPr>
          <a:xfrm>
            <a:off x="640080" y="3401568"/>
            <a:ext cx="3931920" cy="667512"/>
          </a:xfrm>
          <a:prstGeom prst="rect">
            <a:avLst/>
          </a:prstGeom>
          <a:noFill/>
        </p:spPr>
        <p:txBody>
          <a:bodyPr wrap="square" lIns="0" tIns="0" rIns="0" bIns="0" anchor="ctr">
            <a:noAutofit/>
          </a:bodyPr>
          <a:lstStyle/>
          <a:p>
            <a:pPr algn="l">
              <a:spcAft>
                <a:spcPts val="0"/>
              </a:spcAft>
            </a:pPr>
            <a:r>
              <a:rPr sz="1200" b="0" i="0">
                <a:solidFill>
                  <a:srgbClr val="1F2A30"/>
                </a:solidFill>
                <a:latin typeface="Swis721 Cn BT"/>
              </a:rPr>
              <a:t>La IA detecta estas discrepancias en segundos. </a:t>
            </a:r>
            <a:r>
              <a:rPr sz="1200" b="1" i="0">
                <a:solidFill>
                  <a:srgbClr val="1F2A30"/>
                </a:solidFill>
                <a:latin typeface="Swis721 Cn BT"/>
              </a:rPr>
              <a:t>Decidir qué criterio adoptar</a:t>
            </a:r>
            <a:r>
              <a:rPr sz="1200" b="0" i="0">
                <a:solidFill>
                  <a:srgbClr val="1F2A30"/>
                </a:solidFill>
                <a:latin typeface="Swis721 Cn BT"/>
              </a:rPr>
              <a:t>, según la normativa vigente, es tarea del equipo.</a:t>
            </a:r>
          </a:p>
        </p:txBody>
      </p:sp>
      <p:sp>
        <p:nvSpPr>
          <p:cNvPr id="8" name="Rounded Rectangle 7"/>
          <p:cNvSpPr/>
          <p:nvPr/>
        </p:nvSpPr>
        <p:spPr>
          <a:xfrm>
            <a:off x="4846320" y="868680"/>
            <a:ext cx="3794759" cy="3200400"/>
          </a:xfrm>
          <a:prstGeom prst="roundRect">
            <a:avLst>
              <a:gd name="adj" fmla="val 2857"/>
            </a:avLst>
          </a:prstGeom>
          <a:solidFill>
            <a:srgbClr val="003C58"/>
          </a:solidFill>
          <a:ln>
            <a:noFill/>
          </a:ln>
        </p:spPr>
        <p:txBody>
          <a:bodyPr rtlCol="0" anchor="ctr"/>
          <a:lstStyle/>
          <a:p>
            <a:pPr algn="ctr"/>
            <a:endParaRPr/>
          </a:p>
        </p:txBody>
      </p:sp>
      <p:sp>
        <p:nvSpPr>
          <p:cNvPr id="9" name="Rounded Rectangle 8"/>
          <p:cNvSpPr/>
          <p:nvPr/>
        </p:nvSpPr>
        <p:spPr>
          <a:xfrm>
            <a:off x="4983480" y="1005839"/>
            <a:ext cx="2651760" cy="292608"/>
          </a:xfrm>
          <a:prstGeom prst="roundRect">
            <a:avLst>
              <a:gd name="adj" fmla="val 50000"/>
            </a:avLst>
          </a:prstGeom>
          <a:solidFill>
            <a:srgbClr val="F2B705"/>
          </a:solidFill>
          <a:ln>
            <a:noFill/>
          </a:ln>
        </p:spPr>
        <p:txBody>
          <a:bodyPr wrap="square" lIns="73152" tIns="73152" rIns="73152" bIns="73152" rtlCol="0" anchor="ctr">
            <a:noAutofit/>
          </a:bodyPr>
          <a:lstStyle/>
          <a:p>
            <a:pPr algn="l">
              <a:spcAft>
                <a:spcPts val="0"/>
              </a:spcAft>
            </a:pPr>
            <a:r>
              <a:rPr sz="1100" b="1" i="0">
                <a:solidFill>
                  <a:srgbClr val="1F2A30"/>
                </a:solidFill>
                <a:latin typeface="Swis721 Cn BT"/>
              </a:rPr>
              <a:t>Prompt para copiar y adaptar</a:t>
            </a:r>
          </a:p>
        </p:txBody>
      </p:sp>
      <p:sp>
        <p:nvSpPr>
          <p:cNvPr id="10" name="TextBox 9"/>
          <p:cNvSpPr txBox="1"/>
          <p:nvPr/>
        </p:nvSpPr>
        <p:spPr>
          <a:xfrm>
            <a:off x="5010912" y="1417319"/>
            <a:ext cx="3465575" cy="2542032"/>
          </a:xfrm>
          <a:prstGeom prst="rect">
            <a:avLst/>
          </a:prstGeom>
          <a:noFill/>
        </p:spPr>
        <p:txBody>
          <a:bodyPr wrap="square" lIns="0" tIns="0" rIns="0" bIns="0" anchor="t">
            <a:noAutofit/>
          </a:bodyPr>
          <a:lstStyle/>
          <a:p>
            <a:pPr algn="l">
              <a:spcAft>
                <a:spcPts val="400"/>
              </a:spcAft>
            </a:pPr>
            <a:r>
              <a:rPr sz="1050" b="0" i="0">
                <a:solidFill>
                  <a:srgbClr val="FFFFFF"/>
                </a:solidFill>
                <a:latin typeface="Swis721 Cn BT"/>
              </a:rPr>
              <a:t>Actúa como matrona experta en prevención de IAAS y redacción de protocolos.</a:t>
            </a:r>
          </a:p>
          <a:p>
            <a:pPr algn="l">
              <a:spcAft>
                <a:spcPts val="400"/>
              </a:spcAft>
            </a:pPr>
            <a:r>
              <a:rPr sz="1050" b="0" i="0">
                <a:solidFill>
                  <a:srgbClr val="FFFFFF"/>
                </a:solidFill>
                <a:latin typeface="Swis721 Cn BT"/>
              </a:rPr>
              <a:t>Adjunto dos protocolos hospitalarios de prevención de endometritis puerperal (A y B, vencidos) y la normativa ministerial vigente.</a:t>
            </a:r>
          </a:p>
          <a:p>
            <a:pPr algn="l">
              <a:spcAft>
                <a:spcPts val="400"/>
              </a:spcAft>
            </a:pPr>
            <a:r>
              <a:rPr sz="1050" b="0" i="0">
                <a:solidFill>
                  <a:srgbClr val="FFFFFF"/>
                </a:solidFill>
                <a:latin typeface="Swis721 Cn BT"/>
              </a:rPr>
              <a:t>1) Construye una tabla: medida | protocolo A | protocolo B | normativa vigente | página.</a:t>
            </a:r>
          </a:p>
          <a:p>
            <a:pPr algn="l">
              <a:spcAft>
                <a:spcPts val="400"/>
              </a:spcAft>
            </a:pPr>
            <a:r>
              <a:rPr sz="1050" b="0" i="0">
                <a:solidFill>
                  <a:srgbClr val="FFFFFF"/>
                </a:solidFill>
                <a:latin typeface="Swis721 Cn BT"/>
              </a:rPr>
              <a:t>2) Señala discrepancias y vacíos.</a:t>
            </a:r>
          </a:p>
          <a:p>
            <a:pPr algn="l">
              <a:spcAft>
                <a:spcPts val="400"/>
              </a:spcAft>
            </a:pPr>
            <a:r>
              <a:rPr sz="1050" b="0" i="0">
                <a:solidFill>
                  <a:srgbClr val="FFFFFF"/>
                </a:solidFill>
                <a:latin typeface="Swis721 Cn BT"/>
              </a:rPr>
              <a:t>3) Propón un borrador actualizado con objetivo, alcance, responsables, desarrollo, indicador y pauta de supervisión.</a:t>
            </a:r>
          </a:p>
          <a:p>
            <a:pPr algn="l">
              <a:spcAft>
                <a:spcPts val="400"/>
              </a:spcAft>
            </a:pPr>
            <a:r>
              <a:rPr sz="1050" b="0" i="0">
                <a:solidFill>
                  <a:srgbClr val="FFFFFF"/>
                </a:solidFill>
                <a:latin typeface="Swis721 Cn BT"/>
              </a:rPr>
              <a:t>Usa solo los adjuntos. Marca [VERIFICAR] lo que no puedas respaldar con una página. No agregues referencias externas.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Una segunda IA como revisora crítica</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 [21] Liu et al., 2025</a:t>
            </a:r>
          </a:p>
        </p:txBody>
      </p:sp>
      <p:sp>
        <p:nvSpPr>
          <p:cNvPr id="5" name="Rounded Rectangle 4"/>
          <p:cNvSpPr/>
          <p:nvPr/>
        </p:nvSpPr>
        <p:spPr>
          <a:xfrm>
            <a:off x="502920" y="868680"/>
            <a:ext cx="3886200" cy="603504"/>
          </a:xfrm>
          <a:prstGeom prst="roundRect">
            <a:avLst>
              <a:gd name="adj" fmla="val 15151"/>
            </a:avLst>
          </a:prstGeom>
          <a:solidFill>
            <a:srgbClr val="E8F0F4"/>
          </a:solidFill>
          <a:ln>
            <a:noFill/>
          </a:ln>
        </p:spPr>
        <p:txBody>
          <a:bodyPr rtlCol="0" anchor="ctr"/>
          <a:lstStyle/>
          <a:p>
            <a:pPr algn="ctr"/>
            <a:endParaRPr/>
          </a:p>
        </p:txBody>
      </p:sp>
      <p:sp>
        <p:nvSpPr>
          <p:cNvPr id="6" name="Oval 5"/>
          <p:cNvSpPr/>
          <p:nvPr/>
        </p:nvSpPr>
        <p:spPr>
          <a:xfrm>
            <a:off x="612648" y="950976"/>
            <a:ext cx="438912" cy="438912"/>
          </a:xfrm>
          <a:prstGeom prst="ellipse">
            <a:avLst/>
          </a:prstGeom>
          <a:solidFill>
            <a:srgbClr val="003C58"/>
          </a:solidFill>
          <a:ln>
            <a:noFill/>
          </a:ln>
        </p:spPr>
        <p:txBody>
          <a:bodyPr rtlCol="0" anchor="ctr"/>
          <a:lstStyle/>
          <a:p>
            <a:pPr algn="ctr"/>
            <a:endParaRPr/>
          </a:p>
        </p:txBody>
      </p:sp>
      <p:pic>
        <p:nvPicPr>
          <p:cNvPr id="7" name="Picture 6" descr="MdEditNote_blanco.png"/>
          <p:cNvPicPr>
            <a:picLocks noChangeAspect="1"/>
          </p:cNvPicPr>
          <p:nvPr/>
        </p:nvPicPr>
        <p:blipFill>
          <a:blip r:embed="rId3"/>
          <a:stretch>
            <a:fillRect/>
          </a:stretch>
        </p:blipFill>
        <p:spPr>
          <a:xfrm>
            <a:off x="704819" y="1043147"/>
            <a:ext cx="254568" cy="254568"/>
          </a:xfrm>
          <a:prstGeom prst="rect">
            <a:avLst/>
          </a:prstGeom>
        </p:spPr>
      </p:pic>
      <p:sp>
        <p:nvSpPr>
          <p:cNvPr id="8" name="TextBox 7"/>
          <p:cNvSpPr txBox="1"/>
          <p:nvPr/>
        </p:nvSpPr>
        <p:spPr>
          <a:xfrm>
            <a:off x="1161288" y="868680"/>
            <a:ext cx="3154680" cy="603504"/>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Modelo A redacta el borrador</a:t>
            </a:r>
          </a:p>
        </p:txBody>
      </p:sp>
      <p:cxnSp>
        <p:nvCxnSpPr>
          <p:cNvPr id="9" name="Connector 8"/>
          <p:cNvCxnSpPr/>
          <p:nvPr/>
        </p:nvCxnSpPr>
        <p:spPr>
          <a:xfrm>
            <a:off x="2441448" y="1490472"/>
            <a:ext cx="0" cy="182880"/>
          </a:xfrm>
          <a:prstGeom prst="line">
            <a:avLst/>
          </a:prstGeom>
          <a:ln w="25400">
            <a:solidFill>
              <a:srgbClr val="BF210C"/>
            </a:solidFill>
            <a:tailEnd type="triangle" w="med" len="med"/>
          </a:ln>
        </p:spPr>
      </p:cxnSp>
      <p:sp>
        <p:nvSpPr>
          <p:cNvPr id="10" name="Rounded Rectangle 9"/>
          <p:cNvSpPr/>
          <p:nvPr/>
        </p:nvSpPr>
        <p:spPr>
          <a:xfrm>
            <a:off x="502920" y="1691640"/>
            <a:ext cx="3886200" cy="603504"/>
          </a:xfrm>
          <a:prstGeom prst="roundRect">
            <a:avLst>
              <a:gd name="adj" fmla="val 15151"/>
            </a:avLst>
          </a:prstGeom>
          <a:solidFill>
            <a:srgbClr val="E8F0F4"/>
          </a:solidFill>
          <a:ln>
            <a:noFill/>
          </a:ln>
        </p:spPr>
        <p:txBody>
          <a:bodyPr rtlCol="0" anchor="ctr"/>
          <a:lstStyle/>
          <a:p>
            <a:pPr algn="ctr"/>
            <a:endParaRPr/>
          </a:p>
        </p:txBody>
      </p:sp>
      <p:sp>
        <p:nvSpPr>
          <p:cNvPr id="11" name="Oval 10"/>
          <p:cNvSpPr/>
          <p:nvPr/>
        </p:nvSpPr>
        <p:spPr>
          <a:xfrm>
            <a:off x="612648" y="1773936"/>
            <a:ext cx="438912" cy="438912"/>
          </a:xfrm>
          <a:prstGeom prst="ellipse">
            <a:avLst/>
          </a:prstGeom>
          <a:solidFill>
            <a:srgbClr val="BF210C"/>
          </a:solidFill>
          <a:ln>
            <a:noFill/>
          </a:ln>
        </p:spPr>
        <p:txBody>
          <a:bodyPr rtlCol="0" anchor="ctr"/>
          <a:lstStyle/>
          <a:p>
            <a:pPr algn="ctr"/>
            <a:endParaRPr/>
          </a:p>
        </p:txBody>
      </p:sp>
      <p:pic>
        <p:nvPicPr>
          <p:cNvPr id="12" name="Picture 11" descr="MdFactCheck_blanco.png"/>
          <p:cNvPicPr>
            <a:picLocks noChangeAspect="1"/>
          </p:cNvPicPr>
          <p:nvPr/>
        </p:nvPicPr>
        <p:blipFill>
          <a:blip r:embed="rId4"/>
          <a:stretch>
            <a:fillRect/>
          </a:stretch>
        </p:blipFill>
        <p:spPr>
          <a:xfrm>
            <a:off x="704819" y="1866107"/>
            <a:ext cx="254568" cy="254568"/>
          </a:xfrm>
          <a:prstGeom prst="rect">
            <a:avLst/>
          </a:prstGeom>
        </p:spPr>
      </p:pic>
      <p:sp>
        <p:nvSpPr>
          <p:cNvPr id="13" name="TextBox 12"/>
          <p:cNvSpPr txBox="1"/>
          <p:nvPr/>
        </p:nvSpPr>
        <p:spPr>
          <a:xfrm>
            <a:off x="1161288" y="1691640"/>
            <a:ext cx="3154680" cy="603504"/>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Modelo B, de otra empresa, lo audita</a:t>
            </a:r>
          </a:p>
        </p:txBody>
      </p:sp>
      <p:cxnSp>
        <p:nvCxnSpPr>
          <p:cNvPr id="14" name="Connector 13"/>
          <p:cNvCxnSpPr/>
          <p:nvPr/>
        </p:nvCxnSpPr>
        <p:spPr>
          <a:xfrm>
            <a:off x="2441448" y="2313432"/>
            <a:ext cx="0" cy="182880"/>
          </a:xfrm>
          <a:prstGeom prst="line">
            <a:avLst/>
          </a:prstGeom>
          <a:ln w="25400">
            <a:solidFill>
              <a:srgbClr val="BF210C"/>
            </a:solidFill>
            <a:tailEnd type="triangle" w="med" len="med"/>
          </a:ln>
        </p:spPr>
      </p:cxnSp>
      <p:sp>
        <p:nvSpPr>
          <p:cNvPr id="15" name="Rounded Rectangle 14"/>
          <p:cNvSpPr/>
          <p:nvPr/>
        </p:nvSpPr>
        <p:spPr>
          <a:xfrm>
            <a:off x="502920" y="2514600"/>
            <a:ext cx="3886200" cy="603504"/>
          </a:xfrm>
          <a:prstGeom prst="roundRect">
            <a:avLst>
              <a:gd name="adj" fmla="val 15151"/>
            </a:avLst>
          </a:prstGeom>
          <a:solidFill>
            <a:srgbClr val="E8F0F4"/>
          </a:solidFill>
          <a:ln>
            <a:noFill/>
          </a:ln>
        </p:spPr>
        <p:txBody>
          <a:bodyPr rtlCol="0" anchor="ctr"/>
          <a:lstStyle/>
          <a:p>
            <a:pPr algn="ctr"/>
            <a:endParaRPr/>
          </a:p>
        </p:txBody>
      </p:sp>
      <p:sp>
        <p:nvSpPr>
          <p:cNvPr id="16" name="Oval 15"/>
          <p:cNvSpPr/>
          <p:nvPr/>
        </p:nvSpPr>
        <p:spPr>
          <a:xfrm>
            <a:off x="612648" y="2596896"/>
            <a:ext cx="438912" cy="438912"/>
          </a:xfrm>
          <a:prstGeom prst="ellipse">
            <a:avLst/>
          </a:prstGeom>
          <a:solidFill>
            <a:srgbClr val="06717E"/>
          </a:solidFill>
          <a:ln>
            <a:noFill/>
          </a:ln>
        </p:spPr>
        <p:txBody>
          <a:bodyPr rtlCol="0" anchor="ctr"/>
          <a:lstStyle/>
          <a:p>
            <a:pPr algn="ctr"/>
            <a:endParaRPr/>
          </a:p>
        </p:txBody>
      </p:sp>
      <p:pic>
        <p:nvPicPr>
          <p:cNvPr id="17" name="Picture 16" descr="MdChecklist_blanco.png"/>
          <p:cNvPicPr>
            <a:picLocks noChangeAspect="1"/>
          </p:cNvPicPr>
          <p:nvPr/>
        </p:nvPicPr>
        <p:blipFill>
          <a:blip r:embed="rId5"/>
          <a:stretch>
            <a:fillRect/>
          </a:stretch>
        </p:blipFill>
        <p:spPr>
          <a:xfrm>
            <a:off x="704819" y="2689067"/>
            <a:ext cx="254568" cy="254568"/>
          </a:xfrm>
          <a:prstGeom prst="rect">
            <a:avLst/>
          </a:prstGeom>
        </p:spPr>
      </p:pic>
      <p:sp>
        <p:nvSpPr>
          <p:cNvPr id="18" name="TextBox 17"/>
          <p:cNvSpPr txBox="1"/>
          <p:nvPr/>
        </p:nvSpPr>
        <p:spPr>
          <a:xfrm>
            <a:off x="1161288" y="2514600"/>
            <a:ext cx="3154680" cy="603504"/>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Tabla de hallazgos con su gravedad</a:t>
            </a:r>
          </a:p>
        </p:txBody>
      </p:sp>
      <p:cxnSp>
        <p:nvCxnSpPr>
          <p:cNvPr id="19" name="Connector 18"/>
          <p:cNvCxnSpPr/>
          <p:nvPr/>
        </p:nvCxnSpPr>
        <p:spPr>
          <a:xfrm>
            <a:off x="2441448" y="3136392"/>
            <a:ext cx="0" cy="182880"/>
          </a:xfrm>
          <a:prstGeom prst="line">
            <a:avLst/>
          </a:prstGeom>
          <a:ln w="25400">
            <a:solidFill>
              <a:srgbClr val="BF210C"/>
            </a:solidFill>
            <a:tailEnd type="triangle" w="med" len="med"/>
          </a:ln>
        </p:spPr>
      </p:cxnSp>
      <p:sp>
        <p:nvSpPr>
          <p:cNvPr id="20" name="Rounded Rectangle 19"/>
          <p:cNvSpPr/>
          <p:nvPr/>
        </p:nvSpPr>
        <p:spPr>
          <a:xfrm>
            <a:off x="502920" y="3337560"/>
            <a:ext cx="3886200" cy="603504"/>
          </a:xfrm>
          <a:prstGeom prst="roundRect">
            <a:avLst>
              <a:gd name="adj" fmla="val 15151"/>
            </a:avLst>
          </a:prstGeom>
          <a:solidFill>
            <a:srgbClr val="E8F0F4"/>
          </a:solidFill>
          <a:ln>
            <a:noFill/>
          </a:ln>
        </p:spPr>
        <p:txBody>
          <a:bodyPr rtlCol="0" anchor="ctr"/>
          <a:lstStyle/>
          <a:p>
            <a:pPr algn="ctr"/>
            <a:endParaRPr/>
          </a:p>
        </p:txBody>
      </p:sp>
      <p:sp>
        <p:nvSpPr>
          <p:cNvPr id="21" name="Oval 20"/>
          <p:cNvSpPr/>
          <p:nvPr/>
        </p:nvSpPr>
        <p:spPr>
          <a:xfrm>
            <a:off x="612648" y="3419856"/>
            <a:ext cx="438912" cy="438912"/>
          </a:xfrm>
          <a:prstGeom prst="ellipse">
            <a:avLst/>
          </a:prstGeom>
          <a:solidFill>
            <a:srgbClr val="003C58"/>
          </a:solidFill>
          <a:ln>
            <a:noFill/>
          </a:ln>
        </p:spPr>
        <p:txBody>
          <a:bodyPr rtlCol="0" anchor="ctr"/>
          <a:lstStyle/>
          <a:p>
            <a:pPr algn="ctr"/>
            <a:endParaRPr/>
          </a:p>
        </p:txBody>
      </p:sp>
      <p:pic>
        <p:nvPicPr>
          <p:cNvPr id="22" name="Picture 21" descr="MdGroups_blanco.png"/>
          <p:cNvPicPr>
            <a:picLocks noChangeAspect="1"/>
          </p:cNvPicPr>
          <p:nvPr/>
        </p:nvPicPr>
        <p:blipFill>
          <a:blip r:embed="rId6"/>
          <a:stretch>
            <a:fillRect/>
          </a:stretch>
        </p:blipFill>
        <p:spPr>
          <a:xfrm>
            <a:off x="704819" y="3512027"/>
            <a:ext cx="254568" cy="254568"/>
          </a:xfrm>
          <a:prstGeom prst="rect">
            <a:avLst/>
          </a:prstGeom>
        </p:spPr>
      </p:pic>
      <p:sp>
        <p:nvSpPr>
          <p:cNvPr id="23" name="TextBox 22"/>
          <p:cNvSpPr txBox="1"/>
          <p:nvPr/>
        </p:nvSpPr>
        <p:spPr>
          <a:xfrm>
            <a:off x="1161288" y="3337560"/>
            <a:ext cx="3154680" cy="603504"/>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El equipo clínico decide</a:t>
            </a:r>
          </a:p>
        </p:txBody>
      </p:sp>
      <p:sp>
        <p:nvSpPr>
          <p:cNvPr id="24" name="Rounded Rectangle 23"/>
          <p:cNvSpPr/>
          <p:nvPr/>
        </p:nvSpPr>
        <p:spPr>
          <a:xfrm>
            <a:off x="4709160" y="868680"/>
            <a:ext cx="3931919" cy="3200400"/>
          </a:xfrm>
          <a:prstGeom prst="roundRect">
            <a:avLst>
              <a:gd name="adj" fmla="val 2857"/>
            </a:avLst>
          </a:prstGeom>
          <a:solidFill>
            <a:srgbClr val="003C58"/>
          </a:solidFill>
          <a:ln>
            <a:noFill/>
          </a:ln>
        </p:spPr>
        <p:txBody>
          <a:bodyPr rtlCol="0" anchor="ctr"/>
          <a:lstStyle/>
          <a:p>
            <a:pPr algn="ctr"/>
            <a:endParaRPr/>
          </a:p>
        </p:txBody>
      </p:sp>
      <p:sp>
        <p:nvSpPr>
          <p:cNvPr id="25" name="Rounded Rectangle 24"/>
          <p:cNvSpPr/>
          <p:nvPr/>
        </p:nvSpPr>
        <p:spPr>
          <a:xfrm>
            <a:off x="4846320" y="1005839"/>
            <a:ext cx="2651760" cy="292608"/>
          </a:xfrm>
          <a:prstGeom prst="roundRect">
            <a:avLst>
              <a:gd name="adj" fmla="val 50000"/>
            </a:avLst>
          </a:prstGeom>
          <a:solidFill>
            <a:srgbClr val="F2B705"/>
          </a:solidFill>
          <a:ln>
            <a:noFill/>
          </a:ln>
        </p:spPr>
        <p:txBody>
          <a:bodyPr wrap="square" lIns="73152" tIns="73152" rIns="73152" bIns="73152" rtlCol="0" anchor="ctr">
            <a:noAutofit/>
          </a:bodyPr>
          <a:lstStyle/>
          <a:p>
            <a:pPr algn="l">
              <a:spcAft>
                <a:spcPts val="0"/>
              </a:spcAft>
            </a:pPr>
            <a:r>
              <a:rPr sz="1100" b="1" i="0">
                <a:solidFill>
                  <a:srgbClr val="1F2A30"/>
                </a:solidFill>
                <a:latin typeface="Swis721 Cn BT"/>
              </a:rPr>
              <a:t>Prompt de auditoría</a:t>
            </a:r>
          </a:p>
        </p:txBody>
      </p:sp>
      <p:sp>
        <p:nvSpPr>
          <p:cNvPr id="26" name="TextBox 25"/>
          <p:cNvSpPr txBox="1"/>
          <p:nvPr/>
        </p:nvSpPr>
        <p:spPr>
          <a:xfrm>
            <a:off x="4873752" y="1417319"/>
            <a:ext cx="3602735" cy="2542032"/>
          </a:xfrm>
          <a:prstGeom prst="rect">
            <a:avLst/>
          </a:prstGeom>
          <a:noFill/>
        </p:spPr>
        <p:txBody>
          <a:bodyPr wrap="square" lIns="0" tIns="0" rIns="0" bIns="0" anchor="t">
            <a:noAutofit/>
          </a:bodyPr>
          <a:lstStyle/>
          <a:p>
            <a:pPr algn="l">
              <a:spcAft>
                <a:spcPts val="400"/>
              </a:spcAft>
            </a:pPr>
            <a:r>
              <a:rPr sz="1100" b="0" i="0">
                <a:solidFill>
                  <a:srgbClr val="FFFFFF"/>
                </a:solidFill>
                <a:latin typeface="Swis721 Cn BT"/>
              </a:rPr>
              <a:t>Actúa como auditora de calidad de protocolos clínicos.</a:t>
            </a:r>
          </a:p>
          <a:p>
            <a:pPr algn="l">
              <a:spcAft>
                <a:spcPts val="400"/>
              </a:spcAft>
            </a:pPr>
            <a:r>
              <a:rPr sz="1100" b="0" i="0">
                <a:solidFill>
                  <a:srgbClr val="FFFFFF"/>
                </a:solidFill>
                <a:latin typeface="Swis721 Cn BT"/>
              </a:rPr>
              <a:t>Revisa el borrador adjunto contra la normativa adjunta. No lo reescribas: solo audítalo.</a:t>
            </a:r>
          </a:p>
          <a:p>
            <a:pPr algn="l">
              <a:spcAft>
                <a:spcPts val="400"/>
              </a:spcAft>
            </a:pPr>
            <a:r>
              <a:rPr sz="1100" b="0" i="0">
                <a:solidFill>
                  <a:srgbClr val="FFFFFF"/>
                </a:solidFill>
                <a:latin typeface="Swis721 Cn BT"/>
              </a:rPr>
              <a:t>Entrega una tabla: hallazgo | tipo (omisión, contradicción, ambigüedad, dato sin respaldo) | sección | sugerencia | gravedad (alta, media, baja).</a:t>
            </a:r>
          </a:p>
          <a:p>
            <a:pPr algn="l">
              <a:spcAft>
                <a:spcPts val="400"/>
              </a:spcAft>
            </a:pPr>
            <a:r>
              <a:rPr sz="1100" b="0" i="0">
                <a:solidFill>
                  <a:srgbClr val="FFFFFF"/>
                </a:solidFill>
                <a:latin typeface="Swis721 Cn BT"/>
              </a:rPr>
              <a:t>Al final, indica las tres correcciones más urgentes.</a:t>
            </a:r>
          </a:p>
        </p:txBody>
      </p:sp>
      <p:sp>
        <p:nvSpPr>
          <p:cNvPr id="27" name="TextBox 26"/>
          <p:cNvSpPr txBox="1"/>
          <p:nvPr/>
        </p:nvSpPr>
        <p:spPr>
          <a:xfrm>
            <a:off x="4873752" y="3502152"/>
            <a:ext cx="3602735" cy="457200"/>
          </a:xfrm>
          <a:prstGeom prst="rect">
            <a:avLst/>
          </a:prstGeom>
          <a:noFill/>
        </p:spPr>
        <p:txBody>
          <a:bodyPr wrap="square" lIns="0" tIns="0" rIns="0" bIns="0" anchor="b">
            <a:noAutofit/>
          </a:bodyPr>
          <a:lstStyle/>
          <a:p>
            <a:pPr algn="l">
              <a:spcAft>
                <a:spcPts val="0"/>
              </a:spcAft>
            </a:pPr>
            <a:r>
              <a:rPr sz="1050" b="1" i="0">
                <a:solidFill>
                  <a:srgbClr val="F2B705"/>
                </a:solidFill>
                <a:latin typeface="Swis721 Cn BT"/>
              </a:rPr>
              <a:t>Consejo: usa un modelo distinto al que redactó; funciona como una segunda opinión.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Tres ideas para llevar</a:t>
            </a:r>
          </a:p>
        </p:txBody>
      </p:sp>
      <p:sp>
        <p:nvSpPr>
          <p:cNvPr id="3" name="Rounded Rectangle 2"/>
          <p:cNvSpPr/>
          <p:nvPr/>
        </p:nvSpPr>
        <p:spPr>
          <a:xfrm>
            <a:off x="502920" y="868680"/>
            <a:ext cx="8138159" cy="960120"/>
          </a:xfrm>
          <a:prstGeom prst="roundRect">
            <a:avLst>
              <a:gd name="adj" fmla="val 11428"/>
            </a:avLst>
          </a:prstGeom>
          <a:solidFill>
            <a:srgbClr val="E8F0F4"/>
          </a:solidFill>
          <a:ln>
            <a:noFill/>
          </a:ln>
        </p:spPr>
        <p:txBody>
          <a:bodyPr rtlCol="0" anchor="ctr"/>
          <a:lstStyle/>
          <a:p>
            <a:pPr algn="ctr"/>
            <a:endParaRPr/>
          </a:p>
        </p:txBody>
      </p:sp>
      <p:sp>
        <p:nvSpPr>
          <p:cNvPr id="4" name="TextBox 3"/>
          <p:cNvSpPr txBox="1"/>
          <p:nvPr/>
        </p:nvSpPr>
        <p:spPr>
          <a:xfrm>
            <a:off x="731520" y="868680"/>
            <a:ext cx="914400" cy="960120"/>
          </a:xfrm>
          <a:prstGeom prst="rect">
            <a:avLst/>
          </a:prstGeom>
          <a:noFill/>
        </p:spPr>
        <p:txBody>
          <a:bodyPr wrap="square" lIns="0" tIns="0" rIns="0" bIns="0" anchor="ctr">
            <a:noAutofit/>
          </a:bodyPr>
          <a:lstStyle/>
          <a:p>
            <a:pPr algn="l">
              <a:spcAft>
                <a:spcPts val="0"/>
              </a:spcAft>
            </a:pPr>
            <a:r>
              <a:rPr sz="4400" b="1" i="0">
                <a:solidFill>
                  <a:srgbClr val="BF210C"/>
                </a:solidFill>
                <a:latin typeface="Swis721 Cn BT"/>
              </a:rPr>
              <a:t>1</a:t>
            </a:r>
          </a:p>
        </p:txBody>
      </p:sp>
      <p:sp>
        <p:nvSpPr>
          <p:cNvPr id="5" name="TextBox 4"/>
          <p:cNvSpPr txBox="1"/>
          <p:nvPr/>
        </p:nvSpPr>
        <p:spPr>
          <a:xfrm>
            <a:off x="1600200" y="868680"/>
            <a:ext cx="6858000" cy="960120"/>
          </a:xfrm>
          <a:prstGeom prst="rect">
            <a:avLst/>
          </a:prstGeom>
          <a:noFill/>
        </p:spPr>
        <p:txBody>
          <a:bodyPr wrap="square" lIns="0" tIns="0" rIns="0" bIns="0" anchor="ctr">
            <a:noAutofit/>
          </a:bodyPr>
          <a:lstStyle/>
          <a:p>
            <a:pPr algn="l">
              <a:spcAft>
                <a:spcPts val="0"/>
              </a:spcAft>
            </a:pPr>
            <a:r>
              <a:rPr sz="1900" b="0" i="0">
                <a:solidFill>
                  <a:srgbClr val="003C58"/>
                </a:solidFill>
                <a:latin typeface="Swis721 Cn BT"/>
              </a:rPr>
              <a:t>La IA predice texto plausible; </a:t>
            </a:r>
            <a:r>
              <a:rPr sz="1900" b="1" i="0">
                <a:solidFill>
                  <a:srgbClr val="BF210C"/>
                </a:solidFill>
                <a:latin typeface="Swis721 Cn BT"/>
              </a:rPr>
              <a:t>la verdad clínica la pones tú</a:t>
            </a:r>
            <a:r>
              <a:rPr sz="1900" b="0" i="0">
                <a:solidFill>
                  <a:srgbClr val="003C58"/>
                </a:solidFill>
                <a:latin typeface="Swis721 Cn BT"/>
              </a:rPr>
              <a:t>.</a:t>
            </a:r>
          </a:p>
        </p:txBody>
      </p:sp>
      <p:sp>
        <p:nvSpPr>
          <p:cNvPr id="6" name="Rounded Rectangle 5"/>
          <p:cNvSpPr/>
          <p:nvPr/>
        </p:nvSpPr>
        <p:spPr>
          <a:xfrm>
            <a:off x="502920" y="1947672"/>
            <a:ext cx="8138159" cy="960120"/>
          </a:xfrm>
          <a:prstGeom prst="roundRect">
            <a:avLst>
              <a:gd name="adj" fmla="val 11428"/>
            </a:avLst>
          </a:prstGeom>
          <a:solidFill>
            <a:srgbClr val="003C58"/>
          </a:solidFill>
          <a:ln>
            <a:noFill/>
          </a:ln>
        </p:spPr>
        <p:txBody>
          <a:bodyPr rtlCol="0" anchor="ctr"/>
          <a:lstStyle/>
          <a:p>
            <a:pPr algn="ctr"/>
            <a:endParaRPr/>
          </a:p>
        </p:txBody>
      </p:sp>
      <p:sp>
        <p:nvSpPr>
          <p:cNvPr id="7" name="TextBox 6"/>
          <p:cNvSpPr txBox="1"/>
          <p:nvPr/>
        </p:nvSpPr>
        <p:spPr>
          <a:xfrm>
            <a:off x="731520" y="1947672"/>
            <a:ext cx="914400" cy="960120"/>
          </a:xfrm>
          <a:prstGeom prst="rect">
            <a:avLst/>
          </a:prstGeom>
          <a:noFill/>
        </p:spPr>
        <p:txBody>
          <a:bodyPr wrap="square" lIns="0" tIns="0" rIns="0" bIns="0" anchor="ctr">
            <a:noAutofit/>
          </a:bodyPr>
          <a:lstStyle/>
          <a:p>
            <a:pPr algn="l">
              <a:spcAft>
                <a:spcPts val="0"/>
              </a:spcAft>
            </a:pPr>
            <a:r>
              <a:rPr sz="4400" b="1" i="0" dirty="0">
                <a:solidFill>
                  <a:schemeClr val="bg1"/>
                </a:solidFill>
                <a:latin typeface="Swis721 Cn BT"/>
              </a:rPr>
              <a:t>2</a:t>
            </a:r>
          </a:p>
        </p:txBody>
      </p:sp>
      <p:sp>
        <p:nvSpPr>
          <p:cNvPr id="8" name="TextBox 7"/>
          <p:cNvSpPr txBox="1"/>
          <p:nvPr/>
        </p:nvSpPr>
        <p:spPr>
          <a:xfrm>
            <a:off x="1600200" y="1947672"/>
            <a:ext cx="6858000" cy="960120"/>
          </a:xfrm>
          <a:prstGeom prst="rect">
            <a:avLst/>
          </a:prstGeom>
          <a:noFill/>
        </p:spPr>
        <p:txBody>
          <a:bodyPr wrap="square" lIns="0" tIns="0" rIns="0" bIns="0" anchor="ctr">
            <a:noAutofit/>
          </a:bodyPr>
          <a:lstStyle/>
          <a:p>
            <a:pPr algn="l">
              <a:spcAft>
                <a:spcPts val="0"/>
              </a:spcAft>
            </a:pPr>
            <a:r>
              <a:rPr sz="1900" b="1" i="0" dirty="0" err="1">
                <a:solidFill>
                  <a:srgbClr val="FFFFFF"/>
                </a:solidFill>
                <a:latin typeface="Swis721 Cn BT"/>
              </a:rPr>
              <a:t>Método</a:t>
            </a:r>
            <a:r>
              <a:rPr sz="1900" b="1" i="0" dirty="0">
                <a:solidFill>
                  <a:srgbClr val="FFFFFF"/>
                </a:solidFill>
                <a:latin typeface="Swis721 Cn BT"/>
              </a:rPr>
              <a:t> antes </a:t>
            </a:r>
            <a:r>
              <a:rPr sz="1900" b="1" i="0" dirty="0" err="1">
                <a:solidFill>
                  <a:srgbClr val="FFFFFF"/>
                </a:solidFill>
                <a:latin typeface="Swis721 Cn BT"/>
              </a:rPr>
              <a:t>que</a:t>
            </a:r>
            <a:r>
              <a:rPr sz="1900" b="1" i="0" dirty="0">
                <a:solidFill>
                  <a:srgbClr val="FFFFFF"/>
                </a:solidFill>
                <a:latin typeface="Swis721 Cn BT"/>
              </a:rPr>
              <a:t> </a:t>
            </a:r>
            <a:r>
              <a:rPr sz="1900" b="1" i="0" dirty="0" err="1">
                <a:solidFill>
                  <a:srgbClr val="FFFFFF"/>
                </a:solidFill>
                <a:latin typeface="Swis721 Cn BT"/>
              </a:rPr>
              <a:t>marca</a:t>
            </a:r>
            <a:r>
              <a:rPr sz="1900" b="1" i="0" dirty="0">
                <a:solidFill>
                  <a:srgbClr val="FFFFFF"/>
                </a:solidFill>
                <a:latin typeface="Swis721 Cn BT"/>
              </a:rPr>
              <a:t>: </a:t>
            </a:r>
            <a:r>
              <a:rPr sz="1900" b="1" i="0" dirty="0" err="1">
                <a:solidFill>
                  <a:srgbClr val="FFFFFF"/>
                </a:solidFill>
                <a:latin typeface="Swis721 Cn BT"/>
              </a:rPr>
              <a:t>fuentes</a:t>
            </a:r>
            <a:r>
              <a:rPr sz="1900" b="1" i="0" dirty="0">
                <a:solidFill>
                  <a:srgbClr val="FFFFFF"/>
                </a:solidFill>
                <a:latin typeface="Swis721 Cn BT"/>
              </a:rPr>
              <a:t> + </a:t>
            </a:r>
            <a:r>
              <a:rPr sz="1900" b="1" i="0" dirty="0">
                <a:solidFill>
                  <a:srgbClr val="FFC000"/>
                </a:solidFill>
                <a:latin typeface="Swis721 Cn BT"/>
              </a:rPr>
              <a:t>PARTO</a:t>
            </a:r>
            <a:r>
              <a:rPr sz="1900" b="1" i="0" dirty="0">
                <a:solidFill>
                  <a:srgbClr val="FFFFFF"/>
                </a:solidFill>
                <a:latin typeface="Swis721 Cn BT"/>
              </a:rPr>
              <a:t> + </a:t>
            </a:r>
            <a:r>
              <a:rPr sz="1900" b="1" i="0" dirty="0" err="1">
                <a:solidFill>
                  <a:srgbClr val="FFFFFF"/>
                </a:solidFill>
                <a:latin typeface="Swis721 Cn BT"/>
              </a:rPr>
              <a:t>verificación</a:t>
            </a:r>
            <a:r>
              <a:rPr sz="1900" b="1" i="0" dirty="0">
                <a:solidFill>
                  <a:srgbClr val="FFFFFF"/>
                </a:solidFill>
                <a:latin typeface="Swis721 Cn BT"/>
              </a:rPr>
              <a:t> </a:t>
            </a:r>
            <a:r>
              <a:rPr sz="1900" b="1" i="0" dirty="0" err="1">
                <a:solidFill>
                  <a:srgbClr val="FFFFFF"/>
                </a:solidFill>
                <a:latin typeface="Swis721 Cn BT"/>
              </a:rPr>
              <a:t>funcionan</a:t>
            </a:r>
            <a:r>
              <a:rPr sz="1900" b="1" i="0" dirty="0">
                <a:solidFill>
                  <a:srgbClr val="FFFFFF"/>
                </a:solidFill>
                <a:latin typeface="Swis721 Cn BT"/>
              </a:rPr>
              <a:t> </a:t>
            </a:r>
            <a:r>
              <a:rPr sz="1900" b="1" i="0" dirty="0" err="1">
                <a:solidFill>
                  <a:srgbClr val="FFFFFF"/>
                </a:solidFill>
                <a:latin typeface="Swis721 Cn BT"/>
              </a:rPr>
              <a:t>en</a:t>
            </a:r>
            <a:r>
              <a:rPr sz="1900" b="1" i="0" dirty="0">
                <a:solidFill>
                  <a:srgbClr val="FFFFFF"/>
                </a:solidFill>
                <a:latin typeface="Swis721 Cn BT"/>
              </a:rPr>
              <a:t> </a:t>
            </a:r>
            <a:r>
              <a:rPr sz="1900" b="1" i="0" dirty="0" err="1">
                <a:solidFill>
                  <a:srgbClr val="FFFFFF"/>
                </a:solidFill>
                <a:latin typeface="Swis721 Cn BT"/>
              </a:rPr>
              <a:t>cualquier</a:t>
            </a:r>
            <a:r>
              <a:rPr sz="1900" b="1" i="0" dirty="0">
                <a:solidFill>
                  <a:srgbClr val="FFFFFF"/>
                </a:solidFill>
                <a:latin typeface="Swis721 Cn BT"/>
              </a:rPr>
              <a:t> </a:t>
            </a:r>
            <a:r>
              <a:rPr sz="1900" b="1" i="0" dirty="0" err="1">
                <a:solidFill>
                  <a:srgbClr val="FFFFFF"/>
                </a:solidFill>
                <a:latin typeface="Swis721 Cn BT"/>
              </a:rPr>
              <a:t>modelo</a:t>
            </a:r>
            <a:r>
              <a:rPr sz="1900" b="1" i="0" dirty="0">
                <a:solidFill>
                  <a:srgbClr val="FFFFFF"/>
                </a:solidFill>
                <a:latin typeface="Swis721 Cn BT"/>
              </a:rPr>
              <a:t>.</a:t>
            </a:r>
          </a:p>
        </p:txBody>
      </p:sp>
      <p:sp>
        <p:nvSpPr>
          <p:cNvPr id="9" name="Rounded Rectangle 8"/>
          <p:cNvSpPr/>
          <p:nvPr/>
        </p:nvSpPr>
        <p:spPr>
          <a:xfrm>
            <a:off x="502920" y="3026663"/>
            <a:ext cx="8138159" cy="960120"/>
          </a:xfrm>
          <a:prstGeom prst="roundRect">
            <a:avLst>
              <a:gd name="adj" fmla="val 11428"/>
            </a:avLst>
          </a:prstGeom>
          <a:solidFill>
            <a:srgbClr val="E8F0F4"/>
          </a:solidFill>
          <a:ln>
            <a:noFill/>
          </a:ln>
        </p:spPr>
        <p:txBody>
          <a:bodyPr rtlCol="0" anchor="ctr"/>
          <a:lstStyle/>
          <a:p>
            <a:pPr algn="ctr"/>
            <a:endParaRPr/>
          </a:p>
        </p:txBody>
      </p:sp>
      <p:sp>
        <p:nvSpPr>
          <p:cNvPr id="10" name="TextBox 9"/>
          <p:cNvSpPr txBox="1"/>
          <p:nvPr/>
        </p:nvSpPr>
        <p:spPr>
          <a:xfrm>
            <a:off x="731520" y="3026663"/>
            <a:ext cx="914400" cy="960120"/>
          </a:xfrm>
          <a:prstGeom prst="rect">
            <a:avLst/>
          </a:prstGeom>
          <a:noFill/>
        </p:spPr>
        <p:txBody>
          <a:bodyPr wrap="square" lIns="0" tIns="0" rIns="0" bIns="0" anchor="ctr">
            <a:noAutofit/>
          </a:bodyPr>
          <a:lstStyle/>
          <a:p>
            <a:pPr algn="l">
              <a:spcAft>
                <a:spcPts val="0"/>
              </a:spcAft>
            </a:pPr>
            <a:r>
              <a:rPr sz="4400" b="1" i="0">
                <a:solidFill>
                  <a:srgbClr val="BF210C"/>
                </a:solidFill>
                <a:latin typeface="Swis721 Cn BT"/>
              </a:rPr>
              <a:t>3</a:t>
            </a:r>
          </a:p>
        </p:txBody>
      </p:sp>
      <p:sp>
        <p:nvSpPr>
          <p:cNvPr id="11" name="TextBox 10"/>
          <p:cNvSpPr txBox="1"/>
          <p:nvPr/>
        </p:nvSpPr>
        <p:spPr>
          <a:xfrm>
            <a:off x="1600200" y="3026663"/>
            <a:ext cx="6858000" cy="960120"/>
          </a:xfrm>
          <a:prstGeom prst="rect">
            <a:avLst/>
          </a:prstGeom>
          <a:noFill/>
        </p:spPr>
        <p:txBody>
          <a:bodyPr wrap="square" lIns="0" tIns="0" rIns="0" bIns="0" anchor="ctr">
            <a:noAutofit/>
          </a:bodyPr>
          <a:lstStyle/>
          <a:p>
            <a:pPr algn="l">
              <a:spcAft>
                <a:spcPts val="0"/>
              </a:spcAft>
            </a:pPr>
            <a:r>
              <a:rPr sz="1900" b="0" i="0">
                <a:solidFill>
                  <a:srgbClr val="003C58"/>
                </a:solidFill>
                <a:latin typeface="Swis721 Cn BT"/>
              </a:rPr>
              <a:t>Todo lo que produce la IA es un borrador hasta que una matrona lo valida.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Ética, autoría y transparencia</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[24] Zaghir et al., 2024 · [7] Omiye et al., 2024 · [22] Gallifant et al., 2025</a:t>
            </a:r>
          </a:p>
        </p:txBody>
      </p:sp>
      <p:sp>
        <p:nvSpPr>
          <p:cNvPr id="5" name="Rounded Rectangle 4"/>
          <p:cNvSpPr/>
          <p:nvPr/>
        </p:nvSpPr>
        <p:spPr>
          <a:xfrm>
            <a:off x="502920" y="868680"/>
            <a:ext cx="1920240" cy="3200400"/>
          </a:xfrm>
          <a:prstGeom prst="roundRect">
            <a:avLst>
              <a:gd name="adj" fmla="val 5714"/>
            </a:avLst>
          </a:prstGeom>
          <a:solidFill>
            <a:srgbClr val="E8F0F4"/>
          </a:solidFill>
          <a:ln>
            <a:noFill/>
          </a:ln>
        </p:spPr>
        <p:txBody>
          <a:bodyPr rtlCol="0" anchor="ctr"/>
          <a:lstStyle/>
          <a:p>
            <a:pPr algn="ctr"/>
            <a:endParaRPr/>
          </a:p>
        </p:txBody>
      </p:sp>
      <p:sp>
        <p:nvSpPr>
          <p:cNvPr id="6" name="Oval 5"/>
          <p:cNvSpPr/>
          <p:nvPr/>
        </p:nvSpPr>
        <p:spPr>
          <a:xfrm>
            <a:off x="1097280" y="1097280"/>
            <a:ext cx="731520" cy="731520"/>
          </a:xfrm>
          <a:prstGeom prst="ellipse">
            <a:avLst/>
          </a:prstGeom>
          <a:solidFill>
            <a:srgbClr val="BF210C"/>
          </a:solidFill>
          <a:ln>
            <a:noFill/>
          </a:ln>
        </p:spPr>
        <p:txBody>
          <a:bodyPr rtlCol="0" anchor="ctr"/>
          <a:lstStyle/>
          <a:p>
            <a:pPr algn="ctr"/>
            <a:endParaRPr/>
          </a:p>
        </p:txBody>
      </p:sp>
      <p:pic>
        <p:nvPicPr>
          <p:cNvPr id="7" name="Picture 6" descr="MdPrivacyTip_blanco.png"/>
          <p:cNvPicPr>
            <a:picLocks noChangeAspect="1"/>
          </p:cNvPicPr>
          <p:nvPr/>
        </p:nvPicPr>
        <p:blipFill>
          <a:blip r:embed="rId3"/>
          <a:stretch>
            <a:fillRect/>
          </a:stretch>
        </p:blipFill>
        <p:spPr>
          <a:xfrm>
            <a:off x="1250899" y="1250899"/>
            <a:ext cx="424281" cy="424281"/>
          </a:xfrm>
          <a:prstGeom prst="rect">
            <a:avLst/>
          </a:prstGeom>
        </p:spPr>
      </p:pic>
      <p:sp>
        <p:nvSpPr>
          <p:cNvPr id="8" name="TextBox 7"/>
          <p:cNvSpPr txBox="1"/>
          <p:nvPr/>
        </p:nvSpPr>
        <p:spPr>
          <a:xfrm>
            <a:off x="612648" y="2011680"/>
            <a:ext cx="1700784" cy="365760"/>
          </a:xfrm>
          <a:prstGeom prst="rect">
            <a:avLst/>
          </a:prstGeom>
          <a:noFill/>
        </p:spPr>
        <p:txBody>
          <a:bodyPr wrap="square" lIns="0" tIns="0" rIns="0" bIns="0" anchor="t">
            <a:noAutofit/>
          </a:bodyPr>
          <a:lstStyle/>
          <a:p>
            <a:pPr algn="ctr">
              <a:spcAft>
                <a:spcPts val="0"/>
              </a:spcAft>
            </a:pPr>
            <a:r>
              <a:rPr sz="1500" b="1" i="0">
                <a:solidFill>
                  <a:srgbClr val="003C58"/>
                </a:solidFill>
                <a:latin typeface="Swis721 Cn BT"/>
              </a:rPr>
              <a:t>Privacidad</a:t>
            </a:r>
          </a:p>
        </p:txBody>
      </p:sp>
      <p:sp>
        <p:nvSpPr>
          <p:cNvPr id="9" name="TextBox 8"/>
          <p:cNvSpPr txBox="1"/>
          <p:nvPr/>
        </p:nvSpPr>
        <p:spPr>
          <a:xfrm>
            <a:off x="667512" y="2441448"/>
            <a:ext cx="1591056" cy="1554480"/>
          </a:xfrm>
          <a:prstGeom prst="rect">
            <a:avLst/>
          </a:prstGeom>
          <a:noFill/>
        </p:spPr>
        <p:txBody>
          <a:bodyPr wrap="square" lIns="0" tIns="0" rIns="0" bIns="0" anchor="t">
            <a:noAutofit/>
          </a:bodyPr>
          <a:lstStyle/>
          <a:p>
            <a:pPr algn="ctr">
              <a:spcAft>
                <a:spcPts val="0"/>
              </a:spcAft>
            </a:pPr>
            <a:r>
              <a:rPr sz="1200" b="0" i="0">
                <a:solidFill>
                  <a:srgbClr val="1F2A30"/>
                </a:solidFill>
                <a:latin typeface="Swis721 Cn BT"/>
              </a:rPr>
              <a:t>Nunca datos identificables. Para información sensible, modelos locales o institucionales.</a:t>
            </a:r>
          </a:p>
        </p:txBody>
      </p:sp>
      <p:sp>
        <p:nvSpPr>
          <p:cNvPr id="10" name="Rounded Rectangle 9"/>
          <p:cNvSpPr/>
          <p:nvPr/>
        </p:nvSpPr>
        <p:spPr>
          <a:xfrm>
            <a:off x="2564891" y="868680"/>
            <a:ext cx="1920240" cy="3200400"/>
          </a:xfrm>
          <a:prstGeom prst="roundRect">
            <a:avLst>
              <a:gd name="adj" fmla="val 5714"/>
            </a:avLst>
          </a:prstGeom>
          <a:solidFill>
            <a:srgbClr val="E8F0F4"/>
          </a:solidFill>
          <a:ln>
            <a:noFill/>
          </a:ln>
        </p:spPr>
        <p:txBody>
          <a:bodyPr rtlCol="0" anchor="ctr"/>
          <a:lstStyle/>
          <a:p>
            <a:pPr algn="ctr"/>
            <a:endParaRPr/>
          </a:p>
        </p:txBody>
      </p:sp>
      <p:sp>
        <p:nvSpPr>
          <p:cNvPr id="11" name="Oval 10"/>
          <p:cNvSpPr/>
          <p:nvPr/>
        </p:nvSpPr>
        <p:spPr>
          <a:xfrm>
            <a:off x="3159251" y="1097280"/>
            <a:ext cx="731520" cy="731520"/>
          </a:xfrm>
          <a:prstGeom prst="ellipse">
            <a:avLst/>
          </a:prstGeom>
          <a:solidFill>
            <a:srgbClr val="003C58"/>
          </a:solidFill>
          <a:ln>
            <a:noFill/>
          </a:ln>
        </p:spPr>
        <p:txBody>
          <a:bodyPr rtlCol="0" anchor="ctr"/>
          <a:lstStyle/>
          <a:p>
            <a:pPr algn="ctr"/>
            <a:endParaRPr/>
          </a:p>
        </p:txBody>
      </p:sp>
      <p:pic>
        <p:nvPicPr>
          <p:cNvPr id="12" name="Picture 11" descr="MdGavel_blanco.png"/>
          <p:cNvPicPr>
            <a:picLocks noChangeAspect="1"/>
          </p:cNvPicPr>
          <p:nvPr/>
        </p:nvPicPr>
        <p:blipFill>
          <a:blip r:embed="rId4"/>
          <a:stretch>
            <a:fillRect/>
          </a:stretch>
        </p:blipFill>
        <p:spPr>
          <a:xfrm>
            <a:off x="3312871" y="1250899"/>
            <a:ext cx="424281" cy="424281"/>
          </a:xfrm>
          <a:prstGeom prst="rect">
            <a:avLst/>
          </a:prstGeom>
        </p:spPr>
      </p:pic>
      <p:sp>
        <p:nvSpPr>
          <p:cNvPr id="13" name="TextBox 12"/>
          <p:cNvSpPr txBox="1"/>
          <p:nvPr/>
        </p:nvSpPr>
        <p:spPr>
          <a:xfrm>
            <a:off x="2674620" y="2011680"/>
            <a:ext cx="1700784" cy="365760"/>
          </a:xfrm>
          <a:prstGeom prst="rect">
            <a:avLst/>
          </a:prstGeom>
          <a:noFill/>
        </p:spPr>
        <p:txBody>
          <a:bodyPr wrap="square" lIns="0" tIns="0" rIns="0" bIns="0" anchor="t">
            <a:noAutofit/>
          </a:bodyPr>
          <a:lstStyle/>
          <a:p>
            <a:pPr algn="ctr">
              <a:spcAft>
                <a:spcPts val="0"/>
              </a:spcAft>
            </a:pPr>
            <a:r>
              <a:rPr sz="1500" b="1" i="0">
                <a:solidFill>
                  <a:srgbClr val="003C58"/>
                </a:solidFill>
                <a:latin typeface="Swis721 Cn BT"/>
              </a:rPr>
              <a:t>Responsabilidad</a:t>
            </a:r>
          </a:p>
        </p:txBody>
      </p:sp>
      <p:sp>
        <p:nvSpPr>
          <p:cNvPr id="14" name="TextBox 13"/>
          <p:cNvSpPr txBox="1"/>
          <p:nvPr/>
        </p:nvSpPr>
        <p:spPr>
          <a:xfrm>
            <a:off x="2729484" y="2441448"/>
            <a:ext cx="1591056" cy="1554480"/>
          </a:xfrm>
          <a:prstGeom prst="rect">
            <a:avLst/>
          </a:prstGeom>
          <a:noFill/>
        </p:spPr>
        <p:txBody>
          <a:bodyPr wrap="square" lIns="0" tIns="0" rIns="0" bIns="0" anchor="t">
            <a:noAutofit/>
          </a:bodyPr>
          <a:lstStyle/>
          <a:p>
            <a:pPr algn="ctr">
              <a:spcAft>
                <a:spcPts val="0"/>
              </a:spcAft>
            </a:pPr>
            <a:r>
              <a:rPr sz="1200" b="0" i="0">
                <a:solidFill>
                  <a:srgbClr val="1F2A30"/>
                </a:solidFill>
                <a:latin typeface="Swis721 Cn BT"/>
              </a:rPr>
              <a:t>La IA no es autora ni responsable: la firma y el juicio clínico son humanos.</a:t>
            </a:r>
          </a:p>
        </p:txBody>
      </p:sp>
      <p:sp>
        <p:nvSpPr>
          <p:cNvPr id="15" name="Rounded Rectangle 14"/>
          <p:cNvSpPr/>
          <p:nvPr/>
        </p:nvSpPr>
        <p:spPr>
          <a:xfrm>
            <a:off x="4626864" y="868680"/>
            <a:ext cx="1920240" cy="3200400"/>
          </a:xfrm>
          <a:prstGeom prst="roundRect">
            <a:avLst>
              <a:gd name="adj" fmla="val 5714"/>
            </a:avLst>
          </a:prstGeom>
          <a:solidFill>
            <a:srgbClr val="E8F0F4"/>
          </a:solidFill>
          <a:ln>
            <a:noFill/>
          </a:ln>
        </p:spPr>
        <p:txBody>
          <a:bodyPr rtlCol="0" anchor="ctr"/>
          <a:lstStyle/>
          <a:p>
            <a:pPr algn="ctr"/>
            <a:endParaRPr/>
          </a:p>
        </p:txBody>
      </p:sp>
      <p:sp>
        <p:nvSpPr>
          <p:cNvPr id="16" name="Oval 15"/>
          <p:cNvSpPr/>
          <p:nvPr/>
        </p:nvSpPr>
        <p:spPr>
          <a:xfrm>
            <a:off x="5221223" y="1097280"/>
            <a:ext cx="731520" cy="731520"/>
          </a:xfrm>
          <a:prstGeom prst="ellipse">
            <a:avLst/>
          </a:prstGeom>
          <a:solidFill>
            <a:srgbClr val="06717E"/>
          </a:solidFill>
          <a:ln>
            <a:noFill/>
          </a:ln>
        </p:spPr>
        <p:txBody>
          <a:bodyPr rtlCol="0" anchor="ctr"/>
          <a:lstStyle/>
          <a:p>
            <a:pPr algn="ctr"/>
            <a:endParaRPr/>
          </a:p>
        </p:txBody>
      </p:sp>
      <p:pic>
        <p:nvPicPr>
          <p:cNvPr id="17" name="Picture 16" descr="MdVisibility_blanco.png"/>
          <p:cNvPicPr>
            <a:picLocks noChangeAspect="1"/>
          </p:cNvPicPr>
          <p:nvPr/>
        </p:nvPicPr>
        <p:blipFill>
          <a:blip r:embed="rId5"/>
          <a:stretch>
            <a:fillRect/>
          </a:stretch>
        </p:blipFill>
        <p:spPr>
          <a:xfrm>
            <a:off x="5374843" y="1250899"/>
            <a:ext cx="424281" cy="424281"/>
          </a:xfrm>
          <a:prstGeom prst="rect">
            <a:avLst/>
          </a:prstGeom>
        </p:spPr>
      </p:pic>
      <p:sp>
        <p:nvSpPr>
          <p:cNvPr id="18" name="TextBox 17"/>
          <p:cNvSpPr txBox="1"/>
          <p:nvPr/>
        </p:nvSpPr>
        <p:spPr>
          <a:xfrm>
            <a:off x="4736592" y="2011680"/>
            <a:ext cx="1700784" cy="365760"/>
          </a:xfrm>
          <a:prstGeom prst="rect">
            <a:avLst/>
          </a:prstGeom>
          <a:noFill/>
        </p:spPr>
        <p:txBody>
          <a:bodyPr wrap="square" lIns="0" tIns="0" rIns="0" bIns="0" anchor="t">
            <a:noAutofit/>
          </a:bodyPr>
          <a:lstStyle/>
          <a:p>
            <a:pPr algn="ctr">
              <a:spcAft>
                <a:spcPts val="0"/>
              </a:spcAft>
            </a:pPr>
            <a:r>
              <a:rPr sz="1500" b="1" i="0">
                <a:solidFill>
                  <a:srgbClr val="003C58"/>
                </a:solidFill>
                <a:latin typeface="Swis721 Cn BT"/>
              </a:rPr>
              <a:t>Transparencia</a:t>
            </a:r>
          </a:p>
        </p:txBody>
      </p:sp>
      <p:sp>
        <p:nvSpPr>
          <p:cNvPr id="19" name="TextBox 18"/>
          <p:cNvSpPr txBox="1"/>
          <p:nvPr/>
        </p:nvSpPr>
        <p:spPr>
          <a:xfrm>
            <a:off x="4791455" y="2441448"/>
            <a:ext cx="1591056" cy="1554480"/>
          </a:xfrm>
          <a:prstGeom prst="rect">
            <a:avLst/>
          </a:prstGeom>
          <a:noFill/>
        </p:spPr>
        <p:txBody>
          <a:bodyPr wrap="square" lIns="0" tIns="0" rIns="0" bIns="0" anchor="t">
            <a:noAutofit/>
          </a:bodyPr>
          <a:lstStyle/>
          <a:p>
            <a:pPr algn="ctr">
              <a:spcAft>
                <a:spcPts val="0"/>
              </a:spcAft>
            </a:pPr>
            <a:r>
              <a:rPr sz="1200" b="0" i="0">
                <a:solidFill>
                  <a:srgbClr val="1F2A30"/>
                </a:solidFill>
                <a:latin typeface="Swis721 Cn BT"/>
              </a:rPr>
              <a:t>Declara plataforma, versión, fecha y uso. En investigación, sigue TRIPOD-LLM.</a:t>
            </a:r>
          </a:p>
        </p:txBody>
      </p:sp>
      <p:sp>
        <p:nvSpPr>
          <p:cNvPr id="20" name="Rounded Rectangle 19"/>
          <p:cNvSpPr/>
          <p:nvPr/>
        </p:nvSpPr>
        <p:spPr>
          <a:xfrm>
            <a:off x="6688836" y="868680"/>
            <a:ext cx="1920240" cy="3200400"/>
          </a:xfrm>
          <a:prstGeom prst="roundRect">
            <a:avLst>
              <a:gd name="adj" fmla="val 5714"/>
            </a:avLst>
          </a:prstGeom>
          <a:solidFill>
            <a:srgbClr val="E8F0F4"/>
          </a:solidFill>
          <a:ln>
            <a:noFill/>
          </a:ln>
        </p:spPr>
        <p:txBody>
          <a:bodyPr rtlCol="0" anchor="ctr"/>
          <a:lstStyle/>
          <a:p>
            <a:pPr algn="ctr"/>
            <a:endParaRPr/>
          </a:p>
        </p:txBody>
      </p:sp>
      <p:sp>
        <p:nvSpPr>
          <p:cNvPr id="21" name="Oval 20"/>
          <p:cNvSpPr/>
          <p:nvPr/>
        </p:nvSpPr>
        <p:spPr>
          <a:xfrm>
            <a:off x="7283196" y="1097280"/>
            <a:ext cx="731520" cy="731520"/>
          </a:xfrm>
          <a:prstGeom prst="ellipse">
            <a:avLst/>
          </a:prstGeom>
          <a:solidFill>
            <a:srgbClr val="003C58"/>
          </a:solidFill>
          <a:ln>
            <a:noFill/>
          </a:ln>
        </p:spPr>
        <p:txBody>
          <a:bodyPr rtlCol="0" anchor="ctr"/>
          <a:lstStyle/>
          <a:p>
            <a:pPr algn="ctr"/>
            <a:endParaRPr/>
          </a:p>
        </p:txBody>
      </p:sp>
      <p:pic>
        <p:nvPicPr>
          <p:cNvPr id="22" name="Picture 21" descr="MdBalance_blanco.png"/>
          <p:cNvPicPr>
            <a:picLocks noChangeAspect="1"/>
          </p:cNvPicPr>
          <p:nvPr/>
        </p:nvPicPr>
        <p:blipFill>
          <a:blip r:embed="rId6"/>
          <a:stretch>
            <a:fillRect/>
          </a:stretch>
        </p:blipFill>
        <p:spPr>
          <a:xfrm>
            <a:off x="7436815" y="1250899"/>
            <a:ext cx="424281" cy="424281"/>
          </a:xfrm>
          <a:prstGeom prst="rect">
            <a:avLst/>
          </a:prstGeom>
        </p:spPr>
      </p:pic>
      <p:sp>
        <p:nvSpPr>
          <p:cNvPr id="23" name="TextBox 22"/>
          <p:cNvSpPr txBox="1"/>
          <p:nvPr/>
        </p:nvSpPr>
        <p:spPr>
          <a:xfrm>
            <a:off x="6798564" y="2011680"/>
            <a:ext cx="1700784" cy="365760"/>
          </a:xfrm>
          <a:prstGeom prst="rect">
            <a:avLst/>
          </a:prstGeom>
          <a:noFill/>
        </p:spPr>
        <p:txBody>
          <a:bodyPr wrap="square" lIns="0" tIns="0" rIns="0" bIns="0" anchor="t">
            <a:noAutofit/>
          </a:bodyPr>
          <a:lstStyle/>
          <a:p>
            <a:pPr algn="ctr">
              <a:spcAft>
                <a:spcPts val="0"/>
              </a:spcAft>
            </a:pPr>
            <a:r>
              <a:rPr sz="1500" b="1" i="0">
                <a:solidFill>
                  <a:srgbClr val="003C58"/>
                </a:solidFill>
                <a:latin typeface="Swis721 Cn BT"/>
              </a:rPr>
              <a:t>Equidad</a:t>
            </a:r>
          </a:p>
        </p:txBody>
      </p:sp>
      <p:sp>
        <p:nvSpPr>
          <p:cNvPr id="24" name="TextBox 23"/>
          <p:cNvSpPr txBox="1"/>
          <p:nvPr/>
        </p:nvSpPr>
        <p:spPr>
          <a:xfrm>
            <a:off x="6853427" y="2441448"/>
            <a:ext cx="1591056" cy="1554480"/>
          </a:xfrm>
          <a:prstGeom prst="rect">
            <a:avLst/>
          </a:prstGeom>
          <a:noFill/>
        </p:spPr>
        <p:txBody>
          <a:bodyPr wrap="square" lIns="0" tIns="0" rIns="0" bIns="0" anchor="t">
            <a:noAutofit/>
          </a:bodyPr>
          <a:lstStyle/>
          <a:p>
            <a:pPr algn="ctr">
              <a:spcAft>
                <a:spcPts val="0"/>
              </a:spcAft>
            </a:pPr>
            <a:r>
              <a:rPr sz="1200" b="0" i="0">
                <a:solidFill>
                  <a:srgbClr val="1F2A30"/>
                </a:solidFill>
                <a:latin typeface="Swis721 Cn BT"/>
              </a:rPr>
              <a:t>La IA reproduce sesgos de sus datos: revisa lenguaje, supuestos e interculturalidad.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Lista de cotejo antes de usar un producto generado con IA</a:t>
            </a:r>
          </a:p>
        </p:txBody>
      </p:sp>
      <p:sp>
        <p:nvSpPr>
          <p:cNvPr id="3" name="Rounded Rectangle 2"/>
          <p:cNvSpPr/>
          <p:nvPr/>
        </p:nvSpPr>
        <p:spPr>
          <a:xfrm>
            <a:off x="502920" y="941832"/>
            <a:ext cx="329184" cy="329184"/>
          </a:xfrm>
          <a:prstGeom prst="roundRect">
            <a:avLst>
              <a:gd name="adj" fmla="val 16666"/>
            </a:avLst>
          </a:prstGeom>
          <a:solidFill>
            <a:srgbClr val="FFFFFF"/>
          </a:solidFill>
          <a:ln w="25400">
            <a:solidFill>
              <a:srgbClr val="003C58"/>
            </a:solidFill>
          </a:ln>
        </p:spPr>
        <p:txBody>
          <a:bodyPr rtlCol="0" anchor="ctr"/>
          <a:lstStyle/>
          <a:p>
            <a:pPr algn="ctr"/>
            <a:endParaRPr/>
          </a:p>
        </p:txBody>
      </p:sp>
      <p:sp>
        <p:nvSpPr>
          <p:cNvPr id="4" name="TextBox 3"/>
          <p:cNvSpPr txBox="1"/>
          <p:nvPr/>
        </p:nvSpPr>
        <p:spPr>
          <a:xfrm>
            <a:off x="978408" y="868680"/>
            <a:ext cx="3520440" cy="566928"/>
          </a:xfrm>
          <a:prstGeom prst="rect">
            <a:avLst/>
          </a:prstGeom>
          <a:noFill/>
        </p:spPr>
        <p:txBody>
          <a:bodyPr wrap="square" lIns="0" tIns="0" rIns="0" bIns="0" anchor="ctr">
            <a:noAutofit/>
          </a:bodyPr>
          <a:lstStyle/>
          <a:p>
            <a:pPr algn="l">
              <a:spcAft>
                <a:spcPts val="0"/>
              </a:spcAft>
            </a:pPr>
            <a:r>
              <a:rPr sz="1300" b="0" i="0">
                <a:solidFill>
                  <a:srgbClr val="1F2A30"/>
                </a:solidFill>
                <a:latin typeface="Swis721 Cn BT"/>
              </a:rPr>
              <a:t>Cada afirmación clínica tiene respaldo en una fuente oficial vigente (página).</a:t>
            </a:r>
          </a:p>
        </p:txBody>
      </p:sp>
      <p:sp>
        <p:nvSpPr>
          <p:cNvPr id="5" name="Rounded Rectangle 4"/>
          <p:cNvSpPr/>
          <p:nvPr/>
        </p:nvSpPr>
        <p:spPr>
          <a:xfrm>
            <a:off x="502920" y="1600200"/>
            <a:ext cx="329184" cy="329184"/>
          </a:xfrm>
          <a:prstGeom prst="roundRect">
            <a:avLst>
              <a:gd name="adj" fmla="val 16666"/>
            </a:avLst>
          </a:prstGeom>
          <a:solidFill>
            <a:srgbClr val="FFFFFF"/>
          </a:solidFill>
          <a:ln w="25400">
            <a:solidFill>
              <a:srgbClr val="003C58"/>
            </a:solidFill>
          </a:ln>
        </p:spPr>
        <p:txBody>
          <a:bodyPr rtlCol="0" anchor="ctr"/>
          <a:lstStyle/>
          <a:p>
            <a:pPr algn="ctr"/>
            <a:endParaRPr/>
          </a:p>
        </p:txBody>
      </p:sp>
      <p:sp>
        <p:nvSpPr>
          <p:cNvPr id="6" name="TextBox 5"/>
          <p:cNvSpPr txBox="1"/>
          <p:nvPr/>
        </p:nvSpPr>
        <p:spPr>
          <a:xfrm>
            <a:off x="978408" y="1527048"/>
            <a:ext cx="3520440" cy="566928"/>
          </a:xfrm>
          <a:prstGeom prst="rect">
            <a:avLst/>
          </a:prstGeom>
          <a:noFill/>
        </p:spPr>
        <p:txBody>
          <a:bodyPr wrap="square" lIns="0" tIns="0" rIns="0" bIns="0" anchor="ctr">
            <a:noAutofit/>
          </a:bodyPr>
          <a:lstStyle/>
          <a:p>
            <a:pPr algn="l">
              <a:spcAft>
                <a:spcPts val="0"/>
              </a:spcAft>
            </a:pPr>
            <a:r>
              <a:rPr sz="1300" b="0" i="0">
                <a:solidFill>
                  <a:srgbClr val="1F2A30"/>
                </a:solidFill>
                <a:latin typeface="Swis721 Cn BT"/>
              </a:rPr>
              <a:t>Cada referencia existe y su DOI resuelve.</a:t>
            </a:r>
          </a:p>
        </p:txBody>
      </p:sp>
      <p:sp>
        <p:nvSpPr>
          <p:cNvPr id="7" name="Rounded Rectangle 6"/>
          <p:cNvSpPr/>
          <p:nvPr/>
        </p:nvSpPr>
        <p:spPr>
          <a:xfrm>
            <a:off x="502920" y="2258568"/>
            <a:ext cx="329184" cy="329184"/>
          </a:xfrm>
          <a:prstGeom prst="roundRect">
            <a:avLst>
              <a:gd name="adj" fmla="val 16666"/>
            </a:avLst>
          </a:prstGeom>
          <a:solidFill>
            <a:srgbClr val="FFFFFF"/>
          </a:solidFill>
          <a:ln w="25400">
            <a:solidFill>
              <a:srgbClr val="003C58"/>
            </a:solidFill>
          </a:ln>
        </p:spPr>
        <p:txBody>
          <a:bodyPr rtlCol="0" anchor="ctr"/>
          <a:lstStyle/>
          <a:p>
            <a:pPr algn="ctr"/>
            <a:endParaRPr/>
          </a:p>
        </p:txBody>
      </p:sp>
      <p:sp>
        <p:nvSpPr>
          <p:cNvPr id="8" name="TextBox 7"/>
          <p:cNvSpPr txBox="1"/>
          <p:nvPr/>
        </p:nvSpPr>
        <p:spPr>
          <a:xfrm>
            <a:off x="978408" y="2185415"/>
            <a:ext cx="3520440" cy="566928"/>
          </a:xfrm>
          <a:prstGeom prst="rect">
            <a:avLst/>
          </a:prstGeom>
          <a:noFill/>
        </p:spPr>
        <p:txBody>
          <a:bodyPr wrap="square" lIns="0" tIns="0" rIns="0" bIns="0" anchor="ctr">
            <a:noAutofit/>
          </a:bodyPr>
          <a:lstStyle/>
          <a:p>
            <a:pPr algn="l">
              <a:spcAft>
                <a:spcPts val="0"/>
              </a:spcAft>
            </a:pPr>
            <a:r>
              <a:rPr sz="1300" b="0" i="0">
                <a:solidFill>
                  <a:srgbClr val="1F2A30"/>
                </a:solidFill>
                <a:latin typeface="Swis721 Cn BT"/>
              </a:rPr>
              <a:t>No se ingresaron datos identificables de pacientes.</a:t>
            </a:r>
          </a:p>
        </p:txBody>
      </p:sp>
      <p:sp>
        <p:nvSpPr>
          <p:cNvPr id="9" name="Rounded Rectangle 8"/>
          <p:cNvSpPr/>
          <p:nvPr/>
        </p:nvSpPr>
        <p:spPr>
          <a:xfrm>
            <a:off x="502920" y="2916936"/>
            <a:ext cx="329184" cy="329184"/>
          </a:xfrm>
          <a:prstGeom prst="roundRect">
            <a:avLst>
              <a:gd name="adj" fmla="val 16666"/>
            </a:avLst>
          </a:prstGeom>
          <a:solidFill>
            <a:srgbClr val="FFFFFF"/>
          </a:solidFill>
          <a:ln w="25400">
            <a:solidFill>
              <a:srgbClr val="003C58"/>
            </a:solidFill>
          </a:ln>
        </p:spPr>
        <p:txBody>
          <a:bodyPr rtlCol="0" anchor="ctr"/>
          <a:lstStyle/>
          <a:p>
            <a:pPr algn="ctr"/>
            <a:endParaRPr/>
          </a:p>
        </p:txBody>
      </p:sp>
      <p:sp>
        <p:nvSpPr>
          <p:cNvPr id="10" name="TextBox 9"/>
          <p:cNvSpPr txBox="1"/>
          <p:nvPr/>
        </p:nvSpPr>
        <p:spPr>
          <a:xfrm>
            <a:off x="978408" y="2843784"/>
            <a:ext cx="3520440" cy="566928"/>
          </a:xfrm>
          <a:prstGeom prst="rect">
            <a:avLst/>
          </a:prstGeom>
          <a:noFill/>
        </p:spPr>
        <p:txBody>
          <a:bodyPr wrap="square" lIns="0" tIns="0" rIns="0" bIns="0" anchor="ctr">
            <a:noAutofit/>
          </a:bodyPr>
          <a:lstStyle/>
          <a:p>
            <a:pPr algn="l">
              <a:spcAft>
                <a:spcPts val="0"/>
              </a:spcAft>
            </a:pPr>
            <a:r>
              <a:rPr sz="1300" b="0" i="0">
                <a:solidFill>
                  <a:srgbClr val="1F2A30"/>
                </a:solidFill>
                <a:latin typeface="Swis721 Cn BT"/>
              </a:rPr>
              <a:t>El prompt se probó en al menos dos modelos o repeticiones.</a:t>
            </a:r>
          </a:p>
        </p:txBody>
      </p:sp>
      <p:sp>
        <p:nvSpPr>
          <p:cNvPr id="11" name="Rounded Rectangle 10"/>
          <p:cNvSpPr/>
          <p:nvPr/>
        </p:nvSpPr>
        <p:spPr>
          <a:xfrm>
            <a:off x="4617720" y="941832"/>
            <a:ext cx="329184" cy="329184"/>
          </a:xfrm>
          <a:prstGeom prst="roundRect">
            <a:avLst>
              <a:gd name="adj" fmla="val 16666"/>
            </a:avLst>
          </a:prstGeom>
          <a:solidFill>
            <a:srgbClr val="FFFFFF"/>
          </a:solidFill>
          <a:ln w="25400">
            <a:solidFill>
              <a:srgbClr val="003C58"/>
            </a:solidFill>
          </a:ln>
        </p:spPr>
        <p:txBody>
          <a:bodyPr rtlCol="0" anchor="ctr"/>
          <a:lstStyle/>
          <a:p>
            <a:pPr algn="ctr"/>
            <a:endParaRPr/>
          </a:p>
        </p:txBody>
      </p:sp>
      <p:sp>
        <p:nvSpPr>
          <p:cNvPr id="12" name="TextBox 11"/>
          <p:cNvSpPr txBox="1"/>
          <p:nvPr/>
        </p:nvSpPr>
        <p:spPr>
          <a:xfrm>
            <a:off x="5093208" y="868680"/>
            <a:ext cx="3520440" cy="566928"/>
          </a:xfrm>
          <a:prstGeom prst="rect">
            <a:avLst/>
          </a:prstGeom>
          <a:noFill/>
        </p:spPr>
        <p:txBody>
          <a:bodyPr wrap="square" lIns="0" tIns="0" rIns="0" bIns="0" anchor="ctr">
            <a:noAutofit/>
          </a:bodyPr>
          <a:lstStyle/>
          <a:p>
            <a:pPr algn="l">
              <a:spcAft>
                <a:spcPts val="0"/>
              </a:spcAft>
            </a:pPr>
            <a:r>
              <a:rPr sz="1300" b="0" i="0">
                <a:solidFill>
                  <a:srgbClr val="1F2A30"/>
                </a:solidFill>
                <a:latin typeface="Swis721 Cn BT"/>
              </a:rPr>
              <a:t>Lo revisó una matrona o un equipo con experiencia en el tema.</a:t>
            </a:r>
          </a:p>
        </p:txBody>
      </p:sp>
      <p:sp>
        <p:nvSpPr>
          <p:cNvPr id="13" name="Rounded Rectangle 12"/>
          <p:cNvSpPr/>
          <p:nvPr/>
        </p:nvSpPr>
        <p:spPr>
          <a:xfrm>
            <a:off x="4617720" y="1600200"/>
            <a:ext cx="329184" cy="329184"/>
          </a:xfrm>
          <a:prstGeom prst="roundRect">
            <a:avLst>
              <a:gd name="adj" fmla="val 16666"/>
            </a:avLst>
          </a:prstGeom>
          <a:solidFill>
            <a:srgbClr val="FFFFFF"/>
          </a:solidFill>
          <a:ln w="25400">
            <a:solidFill>
              <a:srgbClr val="003C58"/>
            </a:solidFill>
          </a:ln>
        </p:spPr>
        <p:txBody>
          <a:bodyPr rtlCol="0" anchor="ctr"/>
          <a:lstStyle/>
          <a:p>
            <a:pPr algn="ctr"/>
            <a:endParaRPr/>
          </a:p>
        </p:txBody>
      </p:sp>
      <p:sp>
        <p:nvSpPr>
          <p:cNvPr id="14" name="TextBox 13"/>
          <p:cNvSpPr txBox="1"/>
          <p:nvPr/>
        </p:nvSpPr>
        <p:spPr>
          <a:xfrm>
            <a:off x="5093208" y="1527048"/>
            <a:ext cx="3520440" cy="566928"/>
          </a:xfrm>
          <a:prstGeom prst="rect">
            <a:avLst/>
          </a:prstGeom>
          <a:noFill/>
        </p:spPr>
        <p:txBody>
          <a:bodyPr wrap="square" lIns="0" tIns="0" rIns="0" bIns="0" anchor="ctr">
            <a:noAutofit/>
          </a:bodyPr>
          <a:lstStyle/>
          <a:p>
            <a:pPr algn="l">
              <a:spcAft>
                <a:spcPts val="0"/>
              </a:spcAft>
            </a:pPr>
            <a:r>
              <a:rPr sz="1300" b="0" i="0">
                <a:solidFill>
                  <a:srgbClr val="1F2A30"/>
                </a:solidFill>
                <a:latin typeface="Swis721 Cn BT"/>
              </a:rPr>
              <a:t>Cumple la estructura institucional del documento.</a:t>
            </a:r>
          </a:p>
        </p:txBody>
      </p:sp>
      <p:sp>
        <p:nvSpPr>
          <p:cNvPr id="15" name="Rounded Rectangle 14"/>
          <p:cNvSpPr/>
          <p:nvPr/>
        </p:nvSpPr>
        <p:spPr>
          <a:xfrm>
            <a:off x="4617720" y="2258568"/>
            <a:ext cx="329184" cy="329184"/>
          </a:xfrm>
          <a:prstGeom prst="roundRect">
            <a:avLst>
              <a:gd name="adj" fmla="val 16666"/>
            </a:avLst>
          </a:prstGeom>
          <a:solidFill>
            <a:srgbClr val="FFFFFF"/>
          </a:solidFill>
          <a:ln w="25400">
            <a:solidFill>
              <a:srgbClr val="003C58"/>
            </a:solidFill>
          </a:ln>
        </p:spPr>
        <p:txBody>
          <a:bodyPr rtlCol="0" anchor="ctr"/>
          <a:lstStyle/>
          <a:p>
            <a:pPr algn="ctr"/>
            <a:endParaRPr/>
          </a:p>
        </p:txBody>
      </p:sp>
      <p:sp>
        <p:nvSpPr>
          <p:cNvPr id="16" name="TextBox 15"/>
          <p:cNvSpPr txBox="1"/>
          <p:nvPr/>
        </p:nvSpPr>
        <p:spPr>
          <a:xfrm>
            <a:off x="5093208" y="2185415"/>
            <a:ext cx="3520440" cy="566928"/>
          </a:xfrm>
          <a:prstGeom prst="rect">
            <a:avLst/>
          </a:prstGeom>
          <a:noFill/>
        </p:spPr>
        <p:txBody>
          <a:bodyPr wrap="square" lIns="0" tIns="0" rIns="0" bIns="0" anchor="ctr">
            <a:noAutofit/>
          </a:bodyPr>
          <a:lstStyle/>
          <a:p>
            <a:pPr algn="l">
              <a:spcAft>
                <a:spcPts val="0"/>
              </a:spcAft>
            </a:pPr>
            <a:r>
              <a:rPr sz="1300" b="0" i="0">
                <a:solidFill>
                  <a:srgbClr val="1F2A30"/>
                </a:solidFill>
                <a:latin typeface="Swis721 Cn BT"/>
              </a:rPr>
              <a:t>El lenguaje es adecuado a su público (usuarias, estudiantes, equipo).</a:t>
            </a:r>
          </a:p>
        </p:txBody>
      </p:sp>
      <p:sp>
        <p:nvSpPr>
          <p:cNvPr id="17" name="Rounded Rectangle 16"/>
          <p:cNvSpPr/>
          <p:nvPr/>
        </p:nvSpPr>
        <p:spPr>
          <a:xfrm>
            <a:off x="4617720" y="2916936"/>
            <a:ext cx="329184" cy="329184"/>
          </a:xfrm>
          <a:prstGeom prst="roundRect">
            <a:avLst>
              <a:gd name="adj" fmla="val 16666"/>
            </a:avLst>
          </a:prstGeom>
          <a:solidFill>
            <a:srgbClr val="FFFFFF"/>
          </a:solidFill>
          <a:ln w="25400">
            <a:solidFill>
              <a:srgbClr val="003C58"/>
            </a:solidFill>
          </a:ln>
        </p:spPr>
        <p:txBody>
          <a:bodyPr rtlCol="0" anchor="ctr"/>
          <a:lstStyle/>
          <a:p>
            <a:pPr algn="ctr"/>
            <a:endParaRPr/>
          </a:p>
        </p:txBody>
      </p:sp>
      <p:sp>
        <p:nvSpPr>
          <p:cNvPr id="18" name="TextBox 17"/>
          <p:cNvSpPr txBox="1"/>
          <p:nvPr/>
        </p:nvSpPr>
        <p:spPr>
          <a:xfrm>
            <a:off x="5093208" y="2843784"/>
            <a:ext cx="3520440" cy="566928"/>
          </a:xfrm>
          <a:prstGeom prst="rect">
            <a:avLst/>
          </a:prstGeom>
          <a:noFill/>
        </p:spPr>
        <p:txBody>
          <a:bodyPr wrap="square" lIns="0" tIns="0" rIns="0" bIns="0" anchor="ctr">
            <a:noAutofit/>
          </a:bodyPr>
          <a:lstStyle/>
          <a:p>
            <a:pPr algn="l">
              <a:spcAft>
                <a:spcPts val="0"/>
              </a:spcAft>
            </a:pPr>
            <a:r>
              <a:rPr sz="1300" b="0" i="0">
                <a:solidFill>
                  <a:srgbClr val="1F2A30"/>
                </a:solidFill>
                <a:latin typeface="Swis721 Cn BT"/>
              </a:rPr>
              <a:t>Se registró plataforma, versión, fecha y prompt usado.</a:t>
            </a:r>
          </a:p>
        </p:txBody>
      </p:sp>
      <p:sp>
        <p:nvSpPr>
          <p:cNvPr id="19" name="Rounded Rectangle 18"/>
          <p:cNvSpPr/>
          <p:nvPr/>
        </p:nvSpPr>
        <p:spPr>
          <a:xfrm>
            <a:off x="502920" y="3584448"/>
            <a:ext cx="8138159" cy="484632"/>
          </a:xfrm>
          <a:prstGeom prst="roundRect">
            <a:avLst>
              <a:gd name="adj" fmla="val 18867"/>
            </a:avLst>
          </a:prstGeom>
          <a:solidFill>
            <a:srgbClr val="FFF3C4"/>
          </a:solidFill>
          <a:ln>
            <a:noFill/>
          </a:ln>
        </p:spPr>
        <p:txBody>
          <a:bodyPr rtlCol="0" anchor="ctr"/>
          <a:lstStyle/>
          <a:p>
            <a:pPr algn="ctr"/>
            <a:endParaRPr/>
          </a:p>
        </p:txBody>
      </p:sp>
      <p:sp>
        <p:nvSpPr>
          <p:cNvPr id="20" name="TextBox 19"/>
          <p:cNvSpPr txBox="1"/>
          <p:nvPr/>
        </p:nvSpPr>
        <p:spPr>
          <a:xfrm>
            <a:off x="731520" y="3584448"/>
            <a:ext cx="7680960" cy="484632"/>
          </a:xfrm>
          <a:prstGeom prst="rect">
            <a:avLst/>
          </a:prstGeom>
          <a:noFill/>
        </p:spPr>
        <p:txBody>
          <a:bodyPr wrap="square" lIns="0" tIns="0" rIns="0" bIns="0" anchor="ctr">
            <a:noAutofit/>
          </a:bodyPr>
          <a:lstStyle/>
          <a:p>
            <a:pPr algn="ctr">
              <a:spcAft>
                <a:spcPts val="0"/>
              </a:spcAft>
            </a:pPr>
            <a:r>
              <a:rPr sz="1400" b="0" i="0">
                <a:solidFill>
                  <a:srgbClr val="1F2A30"/>
                </a:solidFill>
                <a:latin typeface="Swis721 Cn BT"/>
              </a:rPr>
              <a:t>Si una casilla queda vacía, el producto </a:t>
            </a:r>
            <a:r>
              <a:rPr sz="1400" b="1" i="0">
                <a:solidFill>
                  <a:srgbClr val="BF210C"/>
                </a:solidFill>
                <a:latin typeface="Swis721 Cn BT"/>
              </a:rPr>
              <a:t>sigue siendo un borrador</a:t>
            </a:r>
            <a:r>
              <a:rPr sz="1400" b="0" i="0">
                <a:solidFill>
                  <a:srgbClr val="1F2A30"/>
                </a:solidFill>
                <a:latin typeface="Swis721 Cn BT"/>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Materiales educativos: la IA hace el borrador, la docente el nivel</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[18] Yapıcı Coşkun et al., 2025 · [4] Kranz y Abele, 2024</a:t>
            </a:r>
          </a:p>
        </p:txBody>
      </p:sp>
      <p:sp>
        <p:nvSpPr>
          <p:cNvPr id="5" name="Rounded Rectangle 4"/>
          <p:cNvSpPr/>
          <p:nvPr/>
        </p:nvSpPr>
        <p:spPr>
          <a:xfrm>
            <a:off x="502920" y="868680"/>
            <a:ext cx="1645920" cy="1508760"/>
          </a:xfrm>
          <a:prstGeom prst="roundRect">
            <a:avLst>
              <a:gd name="adj" fmla="val 7272"/>
            </a:avLst>
          </a:prstGeom>
          <a:solidFill>
            <a:srgbClr val="E8F0F4"/>
          </a:solidFill>
          <a:ln>
            <a:noFill/>
          </a:ln>
        </p:spPr>
        <p:txBody>
          <a:bodyPr rtlCol="0" anchor="ctr"/>
          <a:lstStyle/>
          <a:p>
            <a:pPr algn="ctr"/>
            <a:endParaRPr/>
          </a:p>
        </p:txBody>
      </p:sp>
      <p:sp>
        <p:nvSpPr>
          <p:cNvPr id="6" name="Oval 5"/>
          <p:cNvSpPr/>
          <p:nvPr/>
        </p:nvSpPr>
        <p:spPr>
          <a:xfrm>
            <a:off x="1069848" y="1005839"/>
            <a:ext cx="512064" cy="512064"/>
          </a:xfrm>
          <a:prstGeom prst="ellipse">
            <a:avLst/>
          </a:prstGeom>
          <a:solidFill>
            <a:srgbClr val="003C58"/>
          </a:solidFill>
          <a:ln>
            <a:noFill/>
          </a:ln>
        </p:spPr>
        <p:txBody>
          <a:bodyPr rtlCol="0" anchor="ctr"/>
          <a:lstStyle/>
          <a:p>
            <a:pPr algn="ctr"/>
            <a:endParaRPr/>
          </a:p>
        </p:txBody>
      </p:sp>
      <p:pic>
        <p:nvPicPr>
          <p:cNvPr id="7" name="Picture 6" descr="MdTheaters_blanco.png"/>
          <p:cNvPicPr>
            <a:picLocks noChangeAspect="1"/>
          </p:cNvPicPr>
          <p:nvPr/>
        </p:nvPicPr>
        <p:blipFill>
          <a:blip r:embed="rId3"/>
          <a:stretch>
            <a:fillRect/>
          </a:stretch>
        </p:blipFill>
        <p:spPr>
          <a:xfrm>
            <a:off x="1177381" y="1113373"/>
            <a:ext cx="296997" cy="296997"/>
          </a:xfrm>
          <a:prstGeom prst="rect">
            <a:avLst/>
          </a:prstGeom>
        </p:spPr>
      </p:pic>
      <p:sp>
        <p:nvSpPr>
          <p:cNvPr id="8" name="TextBox 7"/>
          <p:cNvSpPr txBox="1"/>
          <p:nvPr/>
        </p:nvSpPr>
        <p:spPr>
          <a:xfrm>
            <a:off x="594360" y="1581912"/>
            <a:ext cx="1463040" cy="292608"/>
          </a:xfrm>
          <a:prstGeom prst="rect">
            <a:avLst/>
          </a:prstGeom>
          <a:noFill/>
        </p:spPr>
        <p:txBody>
          <a:bodyPr wrap="square" lIns="0" tIns="0" rIns="0" bIns="0" anchor="t">
            <a:noAutofit/>
          </a:bodyPr>
          <a:lstStyle/>
          <a:p>
            <a:pPr algn="ctr">
              <a:spcAft>
                <a:spcPts val="0"/>
              </a:spcAft>
            </a:pPr>
            <a:r>
              <a:rPr sz="1200" b="1" i="0">
                <a:solidFill>
                  <a:srgbClr val="003C58"/>
                </a:solidFill>
                <a:latin typeface="Swis721 Cn BT"/>
              </a:rPr>
              <a:t>Casos simulados</a:t>
            </a:r>
          </a:p>
        </p:txBody>
      </p:sp>
      <p:sp>
        <p:nvSpPr>
          <p:cNvPr id="9" name="TextBox 8"/>
          <p:cNvSpPr txBox="1"/>
          <p:nvPr/>
        </p:nvSpPr>
        <p:spPr>
          <a:xfrm>
            <a:off x="594360" y="1856232"/>
            <a:ext cx="1463040" cy="502920"/>
          </a:xfrm>
          <a:prstGeom prst="rect">
            <a:avLst/>
          </a:prstGeom>
          <a:noFill/>
        </p:spPr>
        <p:txBody>
          <a:bodyPr wrap="square" lIns="0" tIns="0" rIns="0" bIns="0" anchor="t">
            <a:noAutofit/>
          </a:bodyPr>
          <a:lstStyle/>
          <a:p>
            <a:pPr algn="ctr">
              <a:spcAft>
                <a:spcPts val="0"/>
              </a:spcAft>
            </a:pPr>
            <a:r>
              <a:rPr sz="1050" b="0" i="0">
                <a:solidFill>
                  <a:srgbClr val="1F2A30"/>
                </a:solidFill>
                <a:latin typeface="Swis721 Cn BT"/>
              </a:rPr>
              <a:t>con evolución y decisiones</a:t>
            </a:r>
          </a:p>
        </p:txBody>
      </p:sp>
      <p:sp>
        <p:nvSpPr>
          <p:cNvPr id="10" name="Rounded Rectangle 9"/>
          <p:cNvSpPr/>
          <p:nvPr/>
        </p:nvSpPr>
        <p:spPr>
          <a:xfrm>
            <a:off x="2286000" y="868680"/>
            <a:ext cx="1645920" cy="1508760"/>
          </a:xfrm>
          <a:prstGeom prst="roundRect">
            <a:avLst>
              <a:gd name="adj" fmla="val 7272"/>
            </a:avLst>
          </a:prstGeom>
          <a:solidFill>
            <a:srgbClr val="E8F0F4"/>
          </a:solidFill>
          <a:ln>
            <a:noFill/>
          </a:ln>
        </p:spPr>
        <p:txBody>
          <a:bodyPr rtlCol="0" anchor="ctr"/>
          <a:lstStyle/>
          <a:p>
            <a:pPr algn="ctr"/>
            <a:endParaRPr/>
          </a:p>
        </p:txBody>
      </p:sp>
      <p:sp>
        <p:nvSpPr>
          <p:cNvPr id="11" name="Oval 10"/>
          <p:cNvSpPr/>
          <p:nvPr/>
        </p:nvSpPr>
        <p:spPr>
          <a:xfrm>
            <a:off x="2852928" y="1005839"/>
            <a:ext cx="512064" cy="512064"/>
          </a:xfrm>
          <a:prstGeom prst="ellipse">
            <a:avLst/>
          </a:prstGeom>
          <a:solidFill>
            <a:srgbClr val="003C58"/>
          </a:solidFill>
          <a:ln>
            <a:noFill/>
          </a:ln>
        </p:spPr>
        <p:txBody>
          <a:bodyPr rtlCol="0" anchor="ctr"/>
          <a:lstStyle/>
          <a:p>
            <a:pPr algn="ctr"/>
            <a:endParaRPr/>
          </a:p>
        </p:txBody>
      </p:sp>
      <p:pic>
        <p:nvPicPr>
          <p:cNvPr id="12" name="Picture 11" descr="MdQuiz_blanco.png"/>
          <p:cNvPicPr>
            <a:picLocks noChangeAspect="1"/>
          </p:cNvPicPr>
          <p:nvPr/>
        </p:nvPicPr>
        <p:blipFill>
          <a:blip r:embed="rId4"/>
          <a:stretch>
            <a:fillRect/>
          </a:stretch>
        </p:blipFill>
        <p:spPr>
          <a:xfrm>
            <a:off x="2960461" y="1113373"/>
            <a:ext cx="296997" cy="296997"/>
          </a:xfrm>
          <a:prstGeom prst="rect">
            <a:avLst/>
          </a:prstGeom>
        </p:spPr>
      </p:pic>
      <p:sp>
        <p:nvSpPr>
          <p:cNvPr id="13" name="TextBox 12"/>
          <p:cNvSpPr txBox="1"/>
          <p:nvPr/>
        </p:nvSpPr>
        <p:spPr>
          <a:xfrm>
            <a:off x="2377440" y="1581912"/>
            <a:ext cx="1463040" cy="292608"/>
          </a:xfrm>
          <a:prstGeom prst="rect">
            <a:avLst/>
          </a:prstGeom>
          <a:noFill/>
        </p:spPr>
        <p:txBody>
          <a:bodyPr wrap="square" lIns="0" tIns="0" rIns="0" bIns="0" anchor="t">
            <a:noAutofit/>
          </a:bodyPr>
          <a:lstStyle/>
          <a:p>
            <a:pPr algn="ctr">
              <a:spcAft>
                <a:spcPts val="0"/>
              </a:spcAft>
            </a:pPr>
            <a:r>
              <a:rPr sz="1200" b="1" i="0">
                <a:solidFill>
                  <a:srgbClr val="003C58"/>
                </a:solidFill>
                <a:latin typeface="Swis721 Cn BT"/>
              </a:rPr>
              <a:t>Evaluaciones</a:t>
            </a:r>
          </a:p>
        </p:txBody>
      </p:sp>
      <p:sp>
        <p:nvSpPr>
          <p:cNvPr id="14" name="TextBox 13"/>
          <p:cNvSpPr txBox="1"/>
          <p:nvPr/>
        </p:nvSpPr>
        <p:spPr>
          <a:xfrm>
            <a:off x="2377440" y="1856232"/>
            <a:ext cx="1463040" cy="502920"/>
          </a:xfrm>
          <a:prstGeom prst="rect">
            <a:avLst/>
          </a:prstGeom>
          <a:noFill/>
        </p:spPr>
        <p:txBody>
          <a:bodyPr wrap="square" lIns="0" tIns="0" rIns="0" bIns="0" anchor="t">
            <a:noAutofit/>
          </a:bodyPr>
          <a:lstStyle/>
          <a:p>
            <a:pPr algn="ctr">
              <a:spcAft>
                <a:spcPts val="0"/>
              </a:spcAft>
            </a:pPr>
            <a:r>
              <a:rPr sz="1050" b="0" i="0">
                <a:solidFill>
                  <a:srgbClr val="1F2A30"/>
                </a:solidFill>
                <a:latin typeface="Swis721 Cn BT"/>
              </a:rPr>
              <a:t>selección múltiple y concordancia de scripts</a:t>
            </a:r>
          </a:p>
        </p:txBody>
      </p:sp>
      <p:sp>
        <p:nvSpPr>
          <p:cNvPr id="15" name="Rounded Rectangle 14"/>
          <p:cNvSpPr/>
          <p:nvPr/>
        </p:nvSpPr>
        <p:spPr>
          <a:xfrm>
            <a:off x="4069080" y="868680"/>
            <a:ext cx="1645920" cy="1508760"/>
          </a:xfrm>
          <a:prstGeom prst="roundRect">
            <a:avLst>
              <a:gd name="adj" fmla="val 7272"/>
            </a:avLst>
          </a:prstGeom>
          <a:solidFill>
            <a:srgbClr val="E8F0F4"/>
          </a:solidFill>
          <a:ln>
            <a:noFill/>
          </a:ln>
        </p:spPr>
        <p:txBody>
          <a:bodyPr rtlCol="0" anchor="ctr"/>
          <a:lstStyle/>
          <a:p>
            <a:pPr algn="ctr"/>
            <a:endParaRPr/>
          </a:p>
        </p:txBody>
      </p:sp>
      <p:sp>
        <p:nvSpPr>
          <p:cNvPr id="16" name="Oval 15"/>
          <p:cNvSpPr/>
          <p:nvPr/>
        </p:nvSpPr>
        <p:spPr>
          <a:xfrm>
            <a:off x="4636008" y="1005839"/>
            <a:ext cx="512064" cy="512064"/>
          </a:xfrm>
          <a:prstGeom prst="ellipse">
            <a:avLst/>
          </a:prstGeom>
          <a:solidFill>
            <a:srgbClr val="003C58"/>
          </a:solidFill>
          <a:ln>
            <a:noFill/>
          </a:ln>
        </p:spPr>
        <p:txBody>
          <a:bodyPr rtlCol="0" anchor="ctr"/>
          <a:lstStyle/>
          <a:p>
            <a:pPr algn="ctr"/>
            <a:endParaRPr/>
          </a:p>
        </p:txBody>
      </p:sp>
      <p:pic>
        <p:nvPicPr>
          <p:cNvPr id="17" name="Picture 16" descr="MdChecklist_blanco.png"/>
          <p:cNvPicPr>
            <a:picLocks noChangeAspect="1"/>
          </p:cNvPicPr>
          <p:nvPr/>
        </p:nvPicPr>
        <p:blipFill>
          <a:blip r:embed="rId5"/>
          <a:stretch>
            <a:fillRect/>
          </a:stretch>
        </p:blipFill>
        <p:spPr>
          <a:xfrm>
            <a:off x="4743541" y="1113373"/>
            <a:ext cx="296997" cy="296997"/>
          </a:xfrm>
          <a:prstGeom prst="rect">
            <a:avLst/>
          </a:prstGeom>
        </p:spPr>
      </p:pic>
      <p:sp>
        <p:nvSpPr>
          <p:cNvPr id="18" name="TextBox 17"/>
          <p:cNvSpPr txBox="1"/>
          <p:nvPr/>
        </p:nvSpPr>
        <p:spPr>
          <a:xfrm>
            <a:off x="4160520" y="1581912"/>
            <a:ext cx="1463040" cy="292608"/>
          </a:xfrm>
          <a:prstGeom prst="rect">
            <a:avLst/>
          </a:prstGeom>
          <a:noFill/>
        </p:spPr>
        <p:txBody>
          <a:bodyPr wrap="square" lIns="0" tIns="0" rIns="0" bIns="0" anchor="t">
            <a:noAutofit/>
          </a:bodyPr>
          <a:lstStyle/>
          <a:p>
            <a:pPr algn="ctr">
              <a:spcAft>
                <a:spcPts val="0"/>
              </a:spcAft>
            </a:pPr>
            <a:r>
              <a:rPr sz="1200" b="1" i="0">
                <a:solidFill>
                  <a:srgbClr val="003C58"/>
                </a:solidFill>
                <a:latin typeface="Swis721 Cn BT"/>
              </a:rPr>
              <a:t>Rúbricas y pautas</a:t>
            </a:r>
          </a:p>
        </p:txBody>
      </p:sp>
      <p:sp>
        <p:nvSpPr>
          <p:cNvPr id="19" name="TextBox 18"/>
          <p:cNvSpPr txBox="1"/>
          <p:nvPr/>
        </p:nvSpPr>
        <p:spPr>
          <a:xfrm>
            <a:off x="4160520" y="1856232"/>
            <a:ext cx="1463040" cy="502920"/>
          </a:xfrm>
          <a:prstGeom prst="rect">
            <a:avLst/>
          </a:prstGeom>
          <a:noFill/>
        </p:spPr>
        <p:txBody>
          <a:bodyPr wrap="square" lIns="0" tIns="0" rIns="0" bIns="0" anchor="t">
            <a:noAutofit/>
          </a:bodyPr>
          <a:lstStyle/>
          <a:p>
            <a:pPr algn="ctr">
              <a:spcAft>
                <a:spcPts val="0"/>
              </a:spcAft>
            </a:pPr>
            <a:r>
              <a:rPr sz="1050" b="0" i="0">
                <a:solidFill>
                  <a:srgbClr val="1F2A30"/>
                </a:solidFill>
                <a:latin typeface="Swis721 Cn BT"/>
              </a:rPr>
              <a:t>con niveles de desempeño</a:t>
            </a:r>
          </a:p>
        </p:txBody>
      </p:sp>
      <p:sp>
        <p:nvSpPr>
          <p:cNvPr id="20" name="Rounded Rectangle 19"/>
          <p:cNvSpPr/>
          <p:nvPr/>
        </p:nvSpPr>
        <p:spPr>
          <a:xfrm>
            <a:off x="502920" y="2514600"/>
            <a:ext cx="1645920" cy="1508760"/>
          </a:xfrm>
          <a:prstGeom prst="roundRect">
            <a:avLst>
              <a:gd name="adj" fmla="val 7272"/>
            </a:avLst>
          </a:prstGeom>
          <a:solidFill>
            <a:srgbClr val="E8F0F4"/>
          </a:solidFill>
          <a:ln>
            <a:noFill/>
          </a:ln>
        </p:spPr>
        <p:txBody>
          <a:bodyPr rtlCol="0" anchor="ctr"/>
          <a:lstStyle/>
          <a:p>
            <a:pPr algn="ctr"/>
            <a:endParaRPr/>
          </a:p>
        </p:txBody>
      </p:sp>
      <p:sp>
        <p:nvSpPr>
          <p:cNvPr id="21" name="Oval 20"/>
          <p:cNvSpPr/>
          <p:nvPr/>
        </p:nvSpPr>
        <p:spPr>
          <a:xfrm>
            <a:off x="1069848" y="2651760"/>
            <a:ext cx="512064" cy="512064"/>
          </a:xfrm>
          <a:prstGeom prst="ellipse">
            <a:avLst/>
          </a:prstGeom>
          <a:solidFill>
            <a:srgbClr val="003C58"/>
          </a:solidFill>
          <a:ln>
            <a:noFill/>
          </a:ln>
        </p:spPr>
        <p:txBody>
          <a:bodyPr rtlCol="0" anchor="ctr"/>
          <a:lstStyle/>
          <a:p>
            <a:pPr algn="ctr"/>
            <a:endParaRPr/>
          </a:p>
        </p:txBody>
      </p:sp>
      <p:pic>
        <p:nvPicPr>
          <p:cNvPr id="22" name="Picture 21" descr="MdRecordVoiceOver_blanco.png"/>
          <p:cNvPicPr>
            <a:picLocks noChangeAspect="1"/>
          </p:cNvPicPr>
          <p:nvPr/>
        </p:nvPicPr>
        <p:blipFill>
          <a:blip r:embed="rId6"/>
          <a:stretch>
            <a:fillRect/>
          </a:stretch>
        </p:blipFill>
        <p:spPr>
          <a:xfrm>
            <a:off x="1177381" y="2759293"/>
            <a:ext cx="296997" cy="296997"/>
          </a:xfrm>
          <a:prstGeom prst="rect">
            <a:avLst/>
          </a:prstGeom>
        </p:spPr>
      </p:pic>
      <p:sp>
        <p:nvSpPr>
          <p:cNvPr id="23" name="TextBox 22"/>
          <p:cNvSpPr txBox="1"/>
          <p:nvPr/>
        </p:nvSpPr>
        <p:spPr>
          <a:xfrm>
            <a:off x="594360" y="3227832"/>
            <a:ext cx="1463040" cy="292608"/>
          </a:xfrm>
          <a:prstGeom prst="rect">
            <a:avLst/>
          </a:prstGeom>
          <a:noFill/>
        </p:spPr>
        <p:txBody>
          <a:bodyPr wrap="square" lIns="0" tIns="0" rIns="0" bIns="0" anchor="t">
            <a:noAutofit/>
          </a:bodyPr>
          <a:lstStyle/>
          <a:p>
            <a:pPr algn="ctr">
              <a:spcAft>
                <a:spcPts val="0"/>
              </a:spcAft>
            </a:pPr>
            <a:r>
              <a:rPr sz="1200" b="1" i="0">
                <a:solidFill>
                  <a:srgbClr val="003C58"/>
                </a:solidFill>
                <a:latin typeface="Swis721 Cn BT"/>
              </a:rPr>
              <a:t>Guiones</a:t>
            </a:r>
          </a:p>
        </p:txBody>
      </p:sp>
      <p:sp>
        <p:nvSpPr>
          <p:cNvPr id="24" name="TextBox 23"/>
          <p:cNvSpPr txBox="1"/>
          <p:nvPr/>
        </p:nvSpPr>
        <p:spPr>
          <a:xfrm>
            <a:off x="594360" y="3502152"/>
            <a:ext cx="1463040" cy="502920"/>
          </a:xfrm>
          <a:prstGeom prst="rect">
            <a:avLst/>
          </a:prstGeom>
          <a:noFill/>
        </p:spPr>
        <p:txBody>
          <a:bodyPr wrap="square" lIns="0" tIns="0" rIns="0" bIns="0" anchor="t">
            <a:noAutofit/>
          </a:bodyPr>
          <a:lstStyle/>
          <a:p>
            <a:pPr algn="ctr">
              <a:spcAft>
                <a:spcPts val="0"/>
              </a:spcAft>
            </a:pPr>
            <a:r>
              <a:rPr sz="1050" b="0" i="0">
                <a:solidFill>
                  <a:srgbClr val="1F2A30"/>
                </a:solidFill>
                <a:latin typeface="Swis721 Cn BT"/>
              </a:rPr>
              <a:t>de simulación: roles, diálogos y debriefing</a:t>
            </a:r>
          </a:p>
        </p:txBody>
      </p:sp>
      <p:sp>
        <p:nvSpPr>
          <p:cNvPr id="25" name="Rounded Rectangle 24"/>
          <p:cNvSpPr/>
          <p:nvPr/>
        </p:nvSpPr>
        <p:spPr>
          <a:xfrm>
            <a:off x="2286000" y="2514600"/>
            <a:ext cx="1645920" cy="1508760"/>
          </a:xfrm>
          <a:prstGeom prst="roundRect">
            <a:avLst>
              <a:gd name="adj" fmla="val 7272"/>
            </a:avLst>
          </a:prstGeom>
          <a:solidFill>
            <a:srgbClr val="E8F0F4"/>
          </a:solidFill>
          <a:ln>
            <a:noFill/>
          </a:ln>
        </p:spPr>
        <p:txBody>
          <a:bodyPr rtlCol="0" anchor="ctr"/>
          <a:lstStyle/>
          <a:p>
            <a:pPr algn="ctr"/>
            <a:endParaRPr/>
          </a:p>
        </p:txBody>
      </p:sp>
      <p:sp>
        <p:nvSpPr>
          <p:cNvPr id="26" name="Oval 25"/>
          <p:cNvSpPr/>
          <p:nvPr/>
        </p:nvSpPr>
        <p:spPr>
          <a:xfrm>
            <a:off x="2852928" y="2651760"/>
            <a:ext cx="512064" cy="512064"/>
          </a:xfrm>
          <a:prstGeom prst="ellipse">
            <a:avLst/>
          </a:prstGeom>
          <a:solidFill>
            <a:srgbClr val="BF210C"/>
          </a:solidFill>
          <a:ln>
            <a:noFill/>
          </a:ln>
        </p:spPr>
        <p:txBody>
          <a:bodyPr rtlCol="0" anchor="ctr"/>
          <a:lstStyle/>
          <a:p>
            <a:pPr algn="ctr"/>
            <a:endParaRPr/>
          </a:p>
        </p:txBody>
      </p:sp>
      <p:pic>
        <p:nvPicPr>
          <p:cNvPr id="27" name="Picture 26" descr="MdCampaign_blanco.png"/>
          <p:cNvPicPr>
            <a:picLocks noChangeAspect="1"/>
          </p:cNvPicPr>
          <p:nvPr/>
        </p:nvPicPr>
        <p:blipFill>
          <a:blip r:embed="rId7"/>
          <a:stretch>
            <a:fillRect/>
          </a:stretch>
        </p:blipFill>
        <p:spPr>
          <a:xfrm>
            <a:off x="2960461" y="2759293"/>
            <a:ext cx="296997" cy="296997"/>
          </a:xfrm>
          <a:prstGeom prst="rect">
            <a:avLst/>
          </a:prstGeom>
        </p:spPr>
      </p:pic>
      <p:sp>
        <p:nvSpPr>
          <p:cNvPr id="28" name="TextBox 27"/>
          <p:cNvSpPr txBox="1"/>
          <p:nvPr/>
        </p:nvSpPr>
        <p:spPr>
          <a:xfrm>
            <a:off x="2377440" y="3227832"/>
            <a:ext cx="1463040" cy="292608"/>
          </a:xfrm>
          <a:prstGeom prst="rect">
            <a:avLst/>
          </a:prstGeom>
          <a:noFill/>
        </p:spPr>
        <p:txBody>
          <a:bodyPr wrap="square" lIns="0" tIns="0" rIns="0" bIns="0" anchor="t">
            <a:noAutofit/>
          </a:bodyPr>
          <a:lstStyle/>
          <a:p>
            <a:pPr algn="ctr">
              <a:spcAft>
                <a:spcPts val="0"/>
              </a:spcAft>
            </a:pPr>
            <a:r>
              <a:rPr sz="1200" b="1" i="0">
                <a:solidFill>
                  <a:srgbClr val="003C58"/>
                </a:solidFill>
                <a:latin typeface="Swis721 Cn BT"/>
              </a:rPr>
              <a:t>Folletos</a:t>
            </a:r>
          </a:p>
        </p:txBody>
      </p:sp>
      <p:sp>
        <p:nvSpPr>
          <p:cNvPr id="29" name="TextBox 28"/>
          <p:cNvSpPr txBox="1"/>
          <p:nvPr/>
        </p:nvSpPr>
        <p:spPr>
          <a:xfrm>
            <a:off x="2377440" y="3502152"/>
            <a:ext cx="1463040" cy="502920"/>
          </a:xfrm>
          <a:prstGeom prst="rect">
            <a:avLst/>
          </a:prstGeom>
          <a:noFill/>
        </p:spPr>
        <p:txBody>
          <a:bodyPr wrap="square" lIns="0" tIns="0" rIns="0" bIns="0" anchor="t">
            <a:noAutofit/>
          </a:bodyPr>
          <a:lstStyle/>
          <a:p>
            <a:pPr algn="ctr">
              <a:spcAft>
                <a:spcPts val="0"/>
              </a:spcAft>
            </a:pPr>
            <a:r>
              <a:rPr sz="1050" b="0" i="0">
                <a:solidFill>
                  <a:srgbClr val="1F2A30"/>
                </a:solidFill>
                <a:latin typeface="Swis721 Cn BT"/>
              </a:rPr>
              <a:t>para usuarias, en lenguaje claro y pertinente</a:t>
            </a:r>
          </a:p>
        </p:txBody>
      </p:sp>
      <p:sp>
        <p:nvSpPr>
          <p:cNvPr id="30" name="Rounded Rectangle 29"/>
          <p:cNvSpPr/>
          <p:nvPr/>
        </p:nvSpPr>
        <p:spPr>
          <a:xfrm>
            <a:off x="4069080" y="2514600"/>
            <a:ext cx="1645920" cy="1508760"/>
          </a:xfrm>
          <a:prstGeom prst="roundRect">
            <a:avLst>
              <a:gd name="adj" fmla="val 7272"/>
            </a:avLst>
          </a:prstGeom>
          <a:solidFill>
            <a:srgbClr val="E8F0F4"/>
          </a:solidFill>
          <a:ln>
            <a:noFill/>
          </a:ln>
        </p:spPr>
        <p:txBody>
          <a:bodyPr rtlCol="0" anchor="ctr"/>
          <a:lstStyle/>
          <a:p>
            <a:pPr algn="ctr"/>
            <a:endParaRPr/>
          </a:p>
        </p:txBody>
      </p:sp>
      <p:sp>
        <p:nvSpPr>
          <p:cNvPr id="31" name="Oval 30"/>
          <p:cNvSpPr/>
          <p:nvPr/>
        </p:nvSpPr>
        <p:spPr>
          <a:xfrm>
            <a:off x="4636008" y="2651760"/>
            <a:ext cx="512064" cy="512064"/>
          </a:xfrm>
          <a:prstGeom prst="ellipse">
            <a:avLst/>
          </a:prstGeom>
          <a:solidFill>
            <a:srgbClr val="003C58"/>
          </a:solidFill>
          <a:ln>
            <a:noFill/>
          </a:ln>
        </p:spPr>
        <p:txBody>
          <a:bodyPr rtlCol="0" anchor="ctr"/>
          <a:lstStyle/>
          <a:p>
            <a:pPr algn="ctr"/>
            <a:endParaRPr/>
          </a:p>
        </p:txBody>
      </p:sp>
      <p:pic>
        <p:nvPicPr>
          <p:cNvPr id="32" name="Picture 31" descr="MdMenuBook_blanco.png"/>
          <p:cNvPicPr>
            <a:picLocks noChangeAspect="1"/>
          </p:cNvPicPr>
          <p:nvPr/>
        </p:nvPicPr>
        <p:blipFill>
          <a:blip r:embed="rId8"/>
          <a:stretch>
            <a:fillRect/>
          </a:stretch>
        </p:blipFill>
        <p:spPr>
          <a:xfrm>
            <a:off x="4743541" y="2759293"/>
            <a:ext cx="296997" cy="296997"/>
          </a:xfrm>
          <a:prstGeom prst="rect">
            <a:avLst/>
          </a:prstGeom>
        </p:spPr>
      </p:pic>
      <p:sp>
        <p:nvSpPr>
          <p:cNvPr id="33" name="TextBox 32"/>
          <p:cNvSpPr txBox="1"/>
          <p:nvPr/>
        </p:nvSpPr>
        <p:spPr>
          <a:xfrm>
            <a:off x="4160520" y="3227832"/>
            <a:ext cx="1463040" cy="292608"/>
          </a:xfrm>
          <a:prstGeom prst="rect">
            <a:avLst/>
          </a:prstGeom>
          <a:noFill/>
        </p:spPr>
        <p:txBody>
          <a:bodyPr wrap="square" lIns="0" tIns="0" rIns="0" bIns="0" anchor="t">
            <a:noAutofit/>
          </a:bodyPr>
          <a:lstStyle/>
          <a:p>
            <a:pPr algn="ctr">
              <a:spcAft>
                <a:spcPts val="0"/>
              </a:spcAft>
            </a:pPr>
            <a:r>
              <a:rPr sz="1200" b="1" i="0">
                <a:solidFill>
                  <a:srgbClr val="003C58"/>
                </a:solidFill>
                <a:latin typeface="Swis721 Cn BT"/>
              </a:rPr>
              <a:t>Resúmenes</a:t>
            </a:r>
          </a:p>
        </p:txBody>
      </p:sp>
      <p:sp>
        <p:nvSpPr>
          <p:cNvPr id="34" name="TextBox 33"/>
          <p:cNvSpPr txBox="1"/>
          <p:nvPr/>
        </p:nvSpPr>
        <p:spPr>
          <a:xfrm>
            <a:off x="4160520" y="3502152"/>
            <a:ext cx="1463040" cy="502920"/>
          </a:xfrm>
          <a:prstGeom prst="rect">
            <a:avLst/>
          </a:prstGeom>
          <a:noFill/>
        </p:spPr>
        <p:txBody>
          <a:bodyPr wrap="square" lIns="0" tIns="0" rIns="0" bIns="0" anchor="t">
            <a:noAutofit/>
          </a:bodyPr>
          <a:lstStyle/>
          <a:p>
            <a:pPr algn="ctr">
              <a:spcAft>
                <a:spcPts val="0"/>
              </a:spcAft>
            </a:pPr>
            <a:r>
              <a:rPr sz="1050" b="0" i="0">
                <a:solidFill>
                  <a:srgbClr val="1F2A30"/>
                </a:solidFill>
                <a:latin typeface="Swis721 Cn BT"/>
              </a:rPr>
              <a:t>mapas, glosarios y fichas de estudio</a:t>
            </a:r>
          </a:p>
        </p:txBody>
      </p:sp>
      <p:sp>
        <p:nvSpPr>
          <p:cNvPr id="35" name="Rounded Rectangle 34"/>
          <p:cNvSpPr/>
          <p:nvPr/>
        </p:nvSpPr>
        <p:spPr>
          <a:xfrm>
            <a:off x="5943600" y="868680"/>
            <a:ext cx="2697479" cy="3200400"/>
          </a:xfrm>
          <a:prstGeom prst="roundRect">
            <a:avLst>
              <a:gd name="adj" fmla="val 4067"/>
            </a:avLst>
          </a:prstGeom>
          <a:solidFill>
            <a:srgbClr val="003C58"/>
          </a:solidFill>
          <a:ln>
            <a:noFill/>
          </a:ln>
        </p:spPr>
        <p:txBody>
          <a:bodyPr rtlCol="0" anchor="ctr"/>
          <a:lstStyle/>
          <a:p>
            <a:pPr algn="ctr"/>
            <a:endParaRPr/>
          </a:p>
        </p:txBody>
      </p:sp>
      <p:sp>
        <p:nvSpPr>
          <p:cNvPr id="36" name="TextBox 35"/>
          <p:cNvSpPr txBox="1"/>
          <p:nvPr/>
        </p:nvSpPr>
        <p:spPr>
          <a:xfrm>
            <a:off x="6144768" y="1005839"/>
            <a:ext cx="2331720" cy="2971800"/>
          </a:xfrm>
          <a:prstGeom prst="rect">
            <a:avLst/>
          </a:prstGeom>
          <a:noFill/>
        </p:spPr>
        <p:txBody>
          <a:bodyPr wrap="square" lIns="0" tIns="0" rIns="0" bIns="0" anchor="t">
            <a:noAutofit/>
          </a:bodyPr>
          <a:lstStyle/>
          <a:p>
            <a:pPr algn="l">
              <a:spcAft>
                <a:spcPts val="600"/>
              </a:spcAft>
            </a:pPr>
            <a:r>
              <a:rPr sz="1300" b="1" i="0">
                <a:solidFill>
                  <a:srgbClr val="F2B705"/>
                </a:solidFill>
                <a:latin typeface="Swis721 Cn BT"/>
              </a:rPr>
              <a:t>Lo que muestra la evidencia</a:t>
            </a:r>
          </a:p>
          <a:p>
            <a:pPr algn="l">
              <a:spcAft>
                <a:spcPts val="0"/>
              </a:spcAft>
            </a:pPr>
            <a:r>
              <a:rPr sz="2600" b="1" i="0">
                <a:solidFill>
                  <a:srgbClr val="FFFFFF"/>
                </a:solidFill>
                <a:latin typeface="Swis721 Cn BT"/>
              </a:rPr>
              <a:t>≈ 91 %</a:t>
            </a:r>
          </a:p>
          <a:p>
            <a:pPr algn="l">
              <a:spcAft>
                <a:spcPts val="800"/>
              </a:spcAft>
            </a:pPr>
            <a:r>
              <a:rPr sz="1100" b="0" i="0">
                <a:solidFill>
                  <a:srgbClr val="FFFFFF"/>
                </a:solidFill>
                <a:latin typeface="Swis721 Cn BT"/>
              </a:rPr>
              <a:t>de los ítems de ginecoobstetricia creados con ChatGPT-4o o Claude 3.5 Sonnet cumplió los criterios de calidad.</a:t>
            </a:r>
          </a:p>
          <a:p>
            <a:pPr algn="l">
              <a:spcAft>
                <a:spcPts val="0"/>
              </a:spcAft>
            </a:pPr>
            <a:r>
              <a:rPr sz="2600" b="1" i="0">
                <a:solidFill>
                  <a:srgbClr val="F2B705"/>
                </a:solidFill>
                <a:latin typeface="Swis721 Cn BT"/>
              </a:rPr>
              <a:t>71–76 %</a:t>
            </a:r>
          </a:p>
          <a:p>
            <a:pPr algn="l">
              <a:spcAft>
                <a:spcPts val="0"/>
              </a:spcAft>
            </a:pPr>
            <a:r>
              <a:rPr sz="1100" b="0" i="0">
                <a:solidFill>
                  <a:srgbClr val="FFFFFF"/>
                </a:solidFill>
                <a:latin typeface="Swis721 Cn BT"/>
              </a:rPr>
              <a:t>en el criterio más débil: dificultad adecuada para estudiantes. La docente ajusta el nivel.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Dos prompts listos para adaptar a tu asignatura o servicio</a:t>
            </a:r>
          </a:p>
        </p:txBody>
      </p:sp>
      <p:sp>
        <p:nvSpPr>
          <p:cNvPr id="3" name="Rounded Rectangle 2"/>
          <p:cNvSpPr/>
          <p:nvPr/>
        </p:nvSpPr>
        <p:spPr>
          <a:xfrm>
            <a:off x="502920" y="868680"/>
            <a:ext cx="3977639" cy="3200400"/>
          </a:xfrm>
          <a:prstGeom prst="roundRect">
            <a:avLst>
              <a:gd name="adj" fmla="val 2857"/>
            </a:avLst>
          </a:prstGeom>
          <a:solidFill>
            <a:srgbClr val="003C58"/>
          </a:solidFill>
          <a:ln>
            <a:noFill/>
          </a:ln>
        </p:spPr>
        <p:txBody>
          <a:bodyPr rtlCol="0" anchor="ctr"/>
          <a:lstStyle/>
          <a:p>
            <a:pPr algn="ctr"/>
            <a:endParaRPr/>
          </a:p>
        </p:txBody>
      </p:sp>
      <p:sp>
        <p:nvSpPr>
          <p:cNvPr id="4" name="Rounded Rectangle 3"/>
          <p:cNvSpPr/>
          <p:nvPr/>
        </p:nvSpPr>
        <p:spPr>
          <a:xfrm>
            <a:off x="640080" y="1005839"/>
            <a:ext cx="2651760" cy="292608"/>
          </a:xfrm>
          <a:prstGeom prst="roundRect">
            <a:avLst>
              <a:gd name="adj" fmla="val 50000"/>
            </a:avLst>
          </a:prstGeom>
          <a:solidFill>
            <a:srgbClr val="F2B705"/>
          </a:solidFill>
          <a:ln>
            <a:noFill/>
          </a:ln>
        </p:spPr>
        <p:txBody>
          <a:bodyPr wrap="square" lIns="73152" tIns="73152" rIns="73152" bIns="73152" rtlCol="0" anchor="ctr">
            <a:noAutofit/>
          </a:bodyPr>
          <a:lstStyle/>
          <a:p>
            <a:pPr algn="l">
              <a:spcAft>
                <a:spcPts val="0"/>
              </a:spcAft>
            </a:pPr>
            <a:r>
              <a:rPr sz="1100" b="1" i="0">
                <a:solidFill>
                  <a:srgbClr val="1F2A30"/>
                </a:solidFill>
                <a:latin typeface="Swis721 Cn BT"/>
              </a:rPr>
              <a:t>A · Caso simulado con evaluación</a:t>
            </a:r>
          </a:p>
        </p:txBody>
      </p:sp>
      <p:sp>
        <p:nvSpPr>
          <p:cNvPr id="5" name="TextBox 4"/>
          <p:cNvSpPr txBox="1"/>
          <p:nvPr/>
        </p:nvSpPr>
        <p:spPr>
          <a:xfrm>
            <a:off x="667512" y="1417319"/>
            <a:ext cx="3648456" cy="2542032"/>
          </a:xfrm>
          <a:prstGeom prst="rect">
            <a:avLst/>
          </a:prstGeom>
          <a:noFill/>
        </p:spPr>
        <p:txBody>
          <a:bodyPr wrap="square" lIns="0" tIns="0" rIns="0" bIns="0" anchor="t">
            <a:noAutofit/>
          </a:bodyPr>
          <a:lstStyle/>
          <a:p>
            <a:pPr algn="l">
              <a:spcAft>
                <a:spcPts val="400"/>
              </a:spcAft>
            </a:pPr>
            <a:r>
              <a:rPr sz="1050" b="0" i="0">
                <a:solidFill>
                  <a:srgbClr val="FFFFFF"/>
                </a:solidFill>
                <a:latin typeface="Swis721 Cn BT"/>
              </a:rPr>
              <a:t>Actúa como docente de matronería con experiencia en simulación clínica.</a:t>
            </a:r>
          </a:p>
          <a:p>
            <a:pPr algn="l">
              <a:spcAft>
                <a:spcPts val="400"/>
              </a:spcAft>
            </a:pPr>
            <a:r>
              <a:rPr sz="1050" b="0" i="0">
                <a:solidFill>
                  <a:srgbClr val="FFFFFF"/>
                </a:solidFill>
                <a:latin typeface="Swis721 Cn BT"/>
              </a:rPr>
              <a:t>Mis estudiantes cursan [nivel] y el resultado de aprendizaje es [RA].</a:t>
            </a:r>
          </a:p>
          <a:p>
            <a:pPr algn="l">
              <a:spcAft>
                <a:spcPts val="400"/>
              </a:spcAft>
            </a:pPr>
            <a:r>
              <a:rPr sz="1050" b="0" i="0">
                <a:solidFill>
                  <a:srgbClr val="FFFFFF"/>
                </a:solidFill>
                <a:latin typeface="Swis721 Cn BT"/>
              </a:rPr>
              <a:t>Crea un caso clínico ficticio de puerperio con factores de riesgo de endometritis, en tres momentos de evolución. Incluye 5 preguntas de selección múltiple (una correcta, distractores plausibles y justificación), una rúbrica de 4 niveles y la clave.</a:t>
            </a:r>
          </a:p>
          <a:p>
            <a:pPr algn="l">
              <a:spcAft>
                <a:spcPts val="400"/>
              </a:spcAft>
            </a:pPr>
            <a:r>
              <a:rPr sz="1050" b="0" i="0">
                <a:solidFill>
                  <a:srgbClr val="FFFFFF"/>
                </a:solidFill>
                <a:latin typeface="Swis721 Cn BT"/>
              </a:rPr>
              <a:t>Basa todo en la guía adjunta y cita la página de cada respuesta.</a:t>
            </a:r>
          </a:p>
        </p:txBody>
      </p:sp>
      <p:sp>
        <p:nvSpPr>
          <p:cNvPr id="6" name="TextBox 5"/>
          <p:cNvSpPr txBox="1"/>
          <p:nvPr/>
        </p:nvSpPr>
        <p:spPr>
          <a:xfrm>
            <a:off x="667512" y="3502152"/>
            <a:ext cx="3648456" cy="457200"/>
          </a:xfrm>
          <a:prstGeom prst="rect">
            <a:avLst/>
          </a:prstGeom>
          <a:noFill/>
        </p:spPr>
        <p:txBody>
          <a:bodyPr wrap="square" lIns="0" tIns="0" rIns="0" bIns="0" anchor="b">
            <a:noAutofit/>
          </a:bodyPr>
          <a:lstStyle/>
          <a:p>
            <a:pPr algn="l">
              <a:spcAft>
                <a:spcPts val="0"/>
              </a:spcAft>
            </a:pPr>
            <a:r>
              <a:rPr sz="1050" b="1" i="0">
                <a:solidFill>
                  <a:srgbClr val="F2B705"/>
                </a:solidFill>
                <a:latin typeface="Swis721 Cn BT"/>
              </a:rPr>
              <a:t>Verifica: dificultad, coherencia con el RA y páginas citadas.</a:t>
            </a:r>
          </a:p>
        </p:txBody>
      </p:sp>
      <p:sp>
        <p:nvSpPr>
          <p:cNvPr id="7" name="Rounded Rectangle 6"/>
          <p:cNvSpPr/>
          <p:nvPr/>
        </p:nvSpPr>
        <p:spPr>
          <a:xfrm>
            <a:off x="4663440" y="868680"/>
            <a:ext cx="3977639" cy="3200400"/>
          </a:xfrm>
          <a:prstGeom prst="roundRect">
            <a:avLst>
              <a:gd name="adj" fmla="val 2857"/>
            </a:avLst>
          </a:prstGeom>
          <a:solidFill>
            <a:srgbClr val="003C58"/>
          </a:solidFill>
          <a:ln>
            <a:noFill/>
          </a:ln>
        </p:spPr>
        <p:txBody>
          <a:bodyPr rtlCol="0" anchor="ctr"/>
          <a:lstStyle/>
          <a:p>
            <a:pPr algn="ctr"/>
            <a:endParaRPr/>
          </a:p>
        </p:txBody>
      </p:sp>
      <p:sp>
        <p:nvSpPr>
          <p:cNvPr id="8" name="Rounded Rectangle 7"/>
          <p:cNvSpPr/>
          <p:nvPr/>
        </p:nvSpPr>
        <p:spPr>
          <a:xfrm>
            <a:off x="4800600" y="1005839"/>
            <a:ext cx="2651760" cy="292608"/>
          </a:xfrm>
          <a:prstGeom prst="roundRect">
            <a:avLst>
              <a:gd name="adj" fmla="val 50000"/>
            </a:avLst>
          </a:prstGeom>
          <a:solidFill>
            <a:srgbClr val="F2B705"/>
          </a:solidFill>
          <a:ln>
            <a:noFill/>
          </a:ln>
        </p:spPr>
        <p:txBody>
          <a:bodyPr wrap="square" lIns="73152" tIns="73152" rIns="73152" bIns="73152" rtlCol="0" anchor="ctr">
            <a:noAutofit/>
          </a:bodyPr>
          <a:lstStyle/>
          <a:p>
            <a:pPr algn="l">
              <a:spcAft>
                <a:spcPts val="0"/>
              </a:spcAft>
            </a:pPr>
            <a:r>
              <a:rPr sz="1100" b="1" i="0">
                <a:solidFill>
                  <a:srgbClr val="1F2A30"/>
                </a:solidFill>
                <a:latin typeface="Swis721 Cn BT"/>
              </a:rPr>
              <a:t>B · Material para usuarias</a:t>
            </a:r>
          </a:p>
        </p:txBody>
      </p:sp>
      <p:sp>
        <p:nvSpPr>
          <p:cNvPr id="9" name="TextBox 8"/>
          <p:cNvSpPr txBox="1"/>
          <p:nvPr/>
        </p:nvSpPr>
        <p:spPr>
          <a:xfrm>
            <a:off x="4828031" y="1417319"/>
            <a:ext cx="3648456" cy="2542032"/>
          </a:xfrm>
          <a:prstGeom prst="rect">
            <a:avLst/>
          </a:prstGeom>
          <a:noFill/>
        </p:spPr>
        <p:txBody>
          <a:bodyPr wrap="square" lIns="0" tIns="0" rIns="0" bIns="0" anchor="t">
            <a:noAutofit/>
          </a:bodyPr>
          <a:lstStyle/>
          <a:p>
            <a:pPr algn="l">
              <a:spcAft>
                <a:spcPts val="400"/>
              </a:spcAft>
            </a:pPr>
            <a:r>
              <a:rPr sz="1050" b="0" i="0">
                <a:solidFill>
                  <a:srgbClr val="FFFFFF"/>
                </a:solidFill>
                <a:latin typeface="Swis721 Cn BT"/>
              </a:rPr>
              <a:t>Actúa como matrona educadora de atención primaria.</a:t>
            </a:r>
          </a:p>
          <a:p>
            <a:pPr algn="l">
              <a:spcAft>
                <a:spcPts val="400"/>
              </a:spcAft>
            </a:pPr>
            <a:r>
              <a:rPr sz="1050" b="0" i="0">
                <a:solidFill>
                  <a:srgbClr val="FFFFFF"/>
                </a:solidFill>
                <a:latin typeface="Swis721 Cn BT"/>
              </a:rPr>
              <a:t>Redacta un folleto sobre signos de alarma en el puerperio para mujeres que acaban de tener a su bebé.</a:t>
            </a:r>
          </a:p>
          <a:p>
            <a:pPr algn="l">
              <a:spcAft>
                <a:spcPts val="400"/>
              </a:spcAft>
            </a:pPr>
            <a:r>
              <a:rPr sz="1050" b="0" i="0">
                <a:solidFill>
                  <a:srgbClr val="FFFFFF"/>
                </a:solidFill>
                <a:latin typeface="Swis721 Cn BT"/>
              </a:rPr>
              <a:t>Lenguaje claro, español de Chile, frases cortas, sin tecnicismos (o explicados), nivel de lectura de 6.º básico.</a:t>
            </a:r>
          </a:p>
          <a:p>
            <a:pPr algn="l">
              <a:spcAft>
                <a:spcPts val="400"/>
              </a:spcAft>
            </a:pPr>
            <a:r>
              <a:rPr sz="1050" b="0" i="0">
                <a:solidFill>
                  <a:srgbClr val="FFFFFF"/>
                </a:solidFill>
                <a:latin typeface="Swis721 Cn BT"/>
              </a:rPr>
              <a:t>Formato: título, 5 signos de alarma con qué hacer y un espacio para el teléfono local.</a:t>
            </a:r>
          </a:p>
          <a:p>
            <a:pPr algn="l">
              <a:spcAft>
                <a:spcPts val="400"/>
              </a:spcAft>
            </a:pPr>
            <a:r>
              <a:rPr sz="1050" b="0" i="0">
                <a:solidFill>
                  <a:srgbClr val="FFFFFF"/>
                </a:solidFill>
                <a:latin typeface="Swis721 Cn BT"/>
              </a:rPr>
              <a:t>Usa solo la guía adjunta y no incluyas indicaciones de medicamentos.</a:t>
            </a:r>
          </a:p>
        </p:txBody>
      </p:sp>
      <p:sp>
        <p:nvSpPr>
          <p:cNvPr id="10" name="TextBox 9"/>
          <p:cNvSpPr txBox="1"/>
          <p:nvPr/>
        </p:nvSpPr>
        <p:spPr>
          <a:xfrm>
            <a:off x="4828031" y="3502152"/>
            <a:ext cx="3648456" cy="457200"/>
          </a:xfrm>
          <a:prstGeom prst="rect">
            <a:avLst/>
          </a:prstGeom>
          <a:noFill/>
        </p:spPr>
        <p:txBody>
          <a:bodyPr wrap="square" lIns="0" tIns="0" rIns="0" bIns="0" anchor="b">
            <a:noAutofit/>
          </a:bodyPr>
          <a:lstStyle/>
          <a:p>
            <a:pPr algn="l">
              <a:spcAft>
                <a:spcPts val="0"/>
              </a:spcAft>
            </a:pPr>
            <a:r>
              <a:rPr sz="1050" b="1" i="0">
                <a:solidFill>
                  <a:srgbClr val="F2B705"/>
                </a:solidFill>
                <a:latin typeface="Swis721 Cn BT"/>
              </a:rPr>
              <a:t>Verifica: signos de alarma según la guía y lectura con una usuaria real.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Referencias (1 de 3)</a:t>
            </a:r>
          </a:p>
        </p:txBody>
      </p:sp>
      <p:sp>
        <p:nvSpPr>
          <p:cNvPr id="3" name="TextBox 2"/>
          <p:cNvSpPr txBox="1"/>
          <p:nvPr/>
        </p:nvSpPr>
        <p:spPr>
          <a:xfrm>
            <a:off x="502920" y="777240"/>
            <a:ext cx="8138159" cy="3383280"/>
          </a:xfrm>
          <a:prstGeom prst="rect">
            <a:avLst/>
          </a:prstGeom>
          <a:noFill/>
        </p:spPr>
        <p:txBody>
          <a:bodyPr wrap="square" lIns="0" tIns="0" rIns="0" bIns="0" anchor="t">
            <a:noAutofit/>
          </a:bodyPr>
          <a:lstStyle/>
          <a:p>
            <a:pPr algn="l">
              <a:spcAft>
                <a:spcPts val="400"/>
              </a:spcAft>
            </a:pPr>
            <a:r>
              <a:rPr sz="1000" b="0" i="0">
                <a:solidFill>
                  <a:srgbClr val="1F2A30"/>
                </a:solidFill>
                <a:latin typeface="Swis721 Cn BT"/>
              </a:rPr>
              <a:t>1. Giaxi P, Vivilaki V, Sarella A, Harizopoulou V, Gourounti K. Artificial intelligence and machine learning: an updated systematic review of their role in obstetrics and midwifery. Cureus. 2025;17(3):e80394. doi:10.7759/cureus.80394</a:t>
            </a:r>
          </a:p>
          <a:p>
            <a:pPr algn="l">
              <a:spcAft>
                <a:spcPts val="400"/>
              </a:spcAft>
            </a:pPr>
            <a:r>
              <a:rPr sz="1000" b="0" i="0">
                <a:solidFill>
                  <a:srgbClr val="1F2A30"/>
                </a:solidFill>
                <a:latin typeface="Swis721 Cn BT"/>
              </a:rPr>
              <a:t>2. Giaxi P, Vivilaki V, Sarella A, Gourounti K. Artificial intelligence in midwifery: a scoping review of current applications, future prospects, and midwives' perspectives. Healthcare (Basel). 2025;13(8):942. doi:10.3390/healthcare13080942</a:t>
            </a:r>
          </a:p>
          <a:p>
            <a:pPr algn="l">
              <a:spcAft>
                <a:spcPts val="400"/>
              </a:spcAft>
            </a:pPr>
            <a:r>
              <a:rPr sz="1000" b="0" i="0">
                <a:solidFill>
                  <a:srgbClr val="1F2A30"/>
                </a:solidFill>
                <a:latin typeface="Swis721 Cn BT"/>
              </a:rPr>
              <a:t>3. Unlu Bidik N. Theoretical and clinical learning experiences and expectations of midwifery students using the artificial intelligence tool ChatGPT: a qualitative study. Eur J Educ. 2025;60(1):e12848. doi:10.1111/ejed.12848</a:t>
            </a:r>
          </a:p>
          <a:p>
            <a:pPr algn="l">
              <a:spcAft>
                <a:spcPts val="400"/>
              </a:spcAft>
            </a:pPr>
            <a:r>
              <a:rPr sz="1000" b="0" i="0">
                <a:solidFill>
                  <a:srgbClr val="1F2A30"/>
                </a:solidFill>
                <a:latin typeface="Swis721 Cn BT"/>
              </a:rPr>
              <a:t>4. Kranz A, Abele H. The impact of artificial intelligence (AI) on midwifery education: a scoping review. Healthcare (Basel). 2024;12(11):1082. doi:10.3390/healthcare12111082</a:t>
            </a:r>
          </a:p>
          <a:p>
            <a:pPr algn="l">
              <a:spcAft>
                <a:spcPts val="400"/>
              </a:spcAft>
            </a:pPr>
            <a:r>
              <a:rPr sz="1000" b="0" i="0">
                <a:solidFill>
                  <a:srgbClr val="1F2A30"/>
                </a:solidFill>
                <a:latin typeface="Swis721 Cn BT"/>
              </a:rPr>
              <a:t>5. McCulloch WS, Pitts W. A logical calculus of the ideas immanent in nervous activity. Bull Math Biophys. 1943;5(4):115-33. doi:10.1007/BF02478259</a:t>
            </a:r>
          </a:p>
          <a:p>
            <a:pPr algn="l">
              <a:spcAft>
                <a:spcPts val="400"/>
              </a:spcAft>
            </a:pPr>
            <a:r>
              <a:rPr sz="1000" b="0" i="0">
                <a:solidFill>
                  <a:srgbClr val="1F2A30"/>
                </a:solidFill>
                <a:latin typeface="Swis721 Cn BT"/>
              </a:rPr>
              <a:t>6. LeCun Y, Bengio Y, Hinton G. Deep learning. Nature. 2015;521(7553):436-44. doi:10.1038/nature14539</a:t>
            </a:r>
          </a:p>
          <a:p>
            <a:pPr algn="l">
              <a:spcAft>
                <a:spcPts val="400"/>
              </a:spcAft>
            </a:pPr>
            <a:r>
              <a:rPr sz="1000" b="0" i="0">
                <a:solidFill>
                  <a:srgbClr val="1F2A30"/>
                </a:solidFill>
                <a:latin typeface="Swis721 Cn BT"/>
              </a:rPr>
              <a:t>7. Omiye JA, Gui H, Rezaei SJ, Zou J, Daneshjou R. Large language models in medicine: the potentials and pitfalls: a narrative review. Ann Intern Med. 2024;177(2):210-20. doi:10.7326/M23-2772</a:t>
            </a:r>
          </a:p>
          <a:p>
            <a:pPr algn="l">
              <a:spcAft>
                <a:spcPts val="400"/>
              </a:spcAft>
            </a:pPr>
            <a:r>
              <a:rPr sz="1000" b="0" i="0">
                <a:solidFill>
                  <a:srgbClr val="1F2A30"/>
                </a:solidFill>
                <a:latin typeface="Swis721 Cn BT"/>
              </a:rPr>
              <a:t>8. Vaswani A, Shazeer N, Parmar N, Uszkoreit J, Jones L, Gomez AN, et al. Attention is all you need [preprint]. arXiv. 2017. doi:10.48550/arXiv.1706.03762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Referencias (2 de 3)</a:t>
            </a:r>
          </a:p>
        </p:txBody>
      </p:sp>
      <p:sp>
        <p:nvSpPr>
          <p:cNvPr id="3" name="TextBox 2"/>
          <p:cNvSpPr txBox="1"/>
          <p:nvPr/>
        </p:nvSpPr>
        <p:spPr>
          <a:xfrm>
            <a:off x="502920" y="777240"/>
            <a:ext cx="8138159" cy="3383280"/>
          </a:xfrm>
          <a:prstGeom prst="rect">
            <a:avLst/>
          </a:prstGeom>
          <a:noFill/>
        </p:spPr>
        <p:txBody>
          <a:bodyPr wrap="square" lIns="0" tIns="0" rIns="0" bIns="0" anchor="t">
            <a:noAutofit/>
          </a:bodyPr>
          <a:lstStyle/>
          <a:p>
            <a:pPr algn="l">
              <a:spcAft>
                <a:spcPts val="400"/>
              </a:spcAft>
            </a:pPr>
            <a:r>
              <a:rPr sz="1000" b="0" i="0">
                <a:solidFill>
                  <a:srgbClr val="1F2A30"/>
                </a:solidFill>
                <a:latin typeface="Swis721 Cn BT"/>
              </a:rPr>
              <a:t>9. Chelli M, Descamps J, Lavoué V, Trojani C, Azar M, Deckert M, et al. Hallucination rates and reference accuracy of ChatGPT and Bard for systematic reviews: comparative analysis. J Med Internet Res. 2024;26:e53164. doi:10.2196/53164</a:t>
            </a:r>
          </a:p>
          <a:p>
            <a:pPr algn="l">
              <a:spcAft>
                <a:spcPts val="400"/>
              </a:spcAft>
            </a:pPr>
            <a:r>
              <a:rPr sz="1000" b="0" i="0">
                <a:solidFill>
                  <a:srgbClr val="1F2A30"/>
                </a:solidFill>
                <a:latin typeface="Swis721 Cn BT"/>
              </a:rPr>
              <a:t>10. Ayala-Yáñez R, Grünebaum A, Chervenak FA. Integrating generative AI in perinatology: applications for literature review. J Perinat Med. 2026;54(1):17-22. doi:10.1515/jpm-2025-0392. Epub 2025 Sep 23</a:t>
            </a:r>
          </a:p>
          <a:p>
            <a:pPr algn="l">
              <a:spcAft>
                <a:spcPts val="400"/>
              </a:spcAft>
            </a:pPr>
            <a:r>
              <a:rPr sz="1000" b="0" i="0">
                <a:solidFill>
                  <a:srgbClr val="1F2A30"/>
                </a:solidFill>
                <a:latin typeface="Swis721 Cn BT"/>
              </a:rPr>
              <a:t>11. Ouyang L, Wu J, Jiang X, Almeida D, Wainwright CL, Mishkin P, et al. Training language models to follow instructions with human feedback [preprint]. arXiv. 2022. doi:10.48550/arXiv.2203.02155</a:t>
            </a:r>
          </a:p>
          <a:p>
            <a:pPr algn="l">
              <a:spcAft>
                <a:spcPts val="400"/>
              </a:spcAft>
            </a:pPr>
            <a:r>
              <a:rPr sz="1000" b="0" i="0">
                <a:solidFill>
                  <a:srgbClr val="1F2A30"/>
                </a:solidFill>
                <a:latin typeface="Swis721 Cn BT"/>
              </a:rPr>
              <a:t>12. Singhal K, Tu T, Gottweis J, Sayres R, Wulczyn E, Amin M, et al. Toward expert-level medical question answering with large language models. Nat Med. 2025;31(3):943-50. doi:10.1038/s41591-024-03423-7</a:t>
            </a:r>
          </a:p>
          <a:p>
            <a:pPr algn="l">
              <a:spcAft>
                <a:spcPts val="400"/>
              </a:spcAft>
            </a:pPr>
            <a:r>
              <a:rPr sz="1000" b="0" i="0">
                <a:solidFill>
                  <a:srgbClr val="1F2A30"/>
                </a:solidFill>
                <a:latin typeface="Swis721 Cn BT"/>
              </a:rPr>
              <a:t>13. Guo D, Yang D, Zhang H, Song J, Wang P, Zhu Q, et al. DeepSeek-R1 incentivizes reasoning in LLMs through reinforcement learning. Nature. 2025;645(8081):633-8. doi:10.1038/s41586-025-09422-z</a:t>
            </a:r>
          </a:p>
          <a:p>
            <a:pPr algn="l">
              <a:spcAft>
                <a:spcPts val="400"/>
              </a:spcAft>
            </a:pPr>
            <a:r>
              <a:rPr sz="1000" b="0" i="0">
                <a:solidFill>
                  <a:srgbClr val="1F2A30"/>
                </a:solidFill>
                <a:latin typeface="Swis721 Cn BT"/>
              </a:rPr>
              <a:t>14. Gemini Team, Google. Gemini: a family of highly capable multimodal models [preprint]. arXiv. 2023. doi:10.48550/arXiv.2312.11805</a:t>
            </a:r>
          </a:p>
          <a:p>
            <a:pPr algn="l">
              <a:spcAft>
                <a:spcPts val="400"/>
              </a:spcAft>
            </a:pPr>
            <a:r>
              <a:rPr sz="1000" b="0" i="0">
                <a:solidFill>
                  <a:srgbClr val="1F2A30"/>
                </a:solidFill>
                <a:latin typeface="Swis721 Cn BT"/>
              </a:rPr>
              <a:t>15. Bai Y, Kadavath S, Kundu S, Askell A, Kernion J, Jones A, et al. Constitutional AI: harmlessness from AI feedback [preprint]. arXiv. 2022. doi:10.48550/arXiv.2212.08073</a:t>
            </a:r>
          </a:p>
          <a:p>
            <a:pPr algn="l">
              <a:spcAft>
                <a:spcPts val="400"/>
              </a:spcAft>
            </a:pPr>
            <a:r>
              <a:rPr sz="1000" b="0" i="0">
                <a:solidFill>
                  <a:srgbClr val="1F2A30"/>
                </a:solidFill>
                <a:latin typeface="Swis721 Cn BT"/>
              </a:rPr>
              <a:t>16. Riedemann L, Labonne M, Gilbert S. The path forward for large language models in medicine is open. NPJ Digit Med. 2024;7(1):339. doi:10.1038/s41746-024-01344-w</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Referencias (3 de 3)</a:t>
            </a:r>
          </a:p>
        </p:txBody>
      </p:sp>
      <p:sp>
        <p:nvSpPr>
          <p:cNvPr id="3" name="TextBox 2"/>
          <p:cNvSpPr txBox="1"/>
          <p:nvPr/>
        </p:nvSpPr>
        <p:spPr>
          <a:xfrm>
            <a:off x="502920" y="777240"/>
            <a:ext cx="8138159" cy="3383280"/>
          </a:xfrm>
          <a:prstGeom prst="rect">
            <a:avLst/>
          </a:prstGeom>
          <a:noFill/>
        </p:spPr>
        <p:txBody>
          <a:bodyPr wrap="square" lIns="0" tIns="0" rIns="0" bIns="0" anchor="t">
            <a:noAutofit/>
          </a:bodyPr>
          <a:lstStyle/>
          <a:p>
            <a:pPr algn="l">
              <a:spcAft>
                <a:spcPts val="400"/>
              </a:spcAft>
            </a:pPr>
            <a:r>
              <a:rPr sz="1000" b="0" i="0">
                <a:solidFill>
                  <a:srgbClr val="1F2A30"/>
                </a:solidFill>
                <a:latin typeface="Swis721 Cn BT"/>
              </a:rPr>
              <a:t>17. Wang W, Zhou Y, Fu J, Hu K. Evaluating the performance of DeepSeek-R1 and DeepSeek-V3 versus OpenAI models in the Chinese National Medical Licensing Examination: cross-sectional comparative study. JMIR Med Educ. 2025;11:e73469. doi:10.2196/73469</a:t>
            </a:r>
          </a:p>
          <a:p>
            <a:pPr algn="l">
              <a:spcAft>
                <a:spcPts val="400"/>
              </a:spcAft>
            </a:pPr>
            <a:r>
              <a:rPr sz="1000" b="0" i="0">
                <a:solidFill>
                  <a:srgbClr val="1F2A30"/>
                </a:solidFill>
                <a:latin typeface="Swis721 Cn BT"/>
              </a:rPr>
              <a:t>18. Yapıcı Coşkun Z, Kıyak YS, Coşkun Ö, Budakoğlu Iİ, Özdemir Ö. Large language models for generating script concordance test in obstetrics and gynecology: ChatGPT and Claude. Med Teach. 2025;47(11):1767-71. doi:10.1080/0142159X.2025.2497888</a:t>
            </a:r>
          </a:p>
          <a:p>
            <a:pPr algn="l">
              <a:spcAft>
                <a:spcPts val="400"/>
              </a:spcAft>
            </a:pPr>
            <a:r>
              <a:rPr sz="1000" b="0" i="0">
                <a:solidFill>
                  <a:srgbClr val="1F2A30"/>
                </a:solidFill>
                <a:latin typeface="Swis721 Cn BT"/>
              </a:rPr>
              <a:t>19. Chen L, Zaharia M, Zou J. How is ChatGPT's behavior changing over time? Harv Data Sci Rev. 2024;6(2). doi:10.1162/99608f92.5317da47</a:t>
            </a:r>
          </a:p>
          <a:p>
            <a:pPr algn="l">
              <a:spcAft>
                <a:spcPts val="400"/>
              </a:spcAft>
            </a:pPr>
            <a:r>
              <a:rPr sz="1000" b="0" i="0">
                <a:solidFill>
                  <a:srgbClr val="1F2A30"/>
                </a:solidFill>
                <a:latin typeface="Swis721 Cn BT"/>
              </a:rPr>
              <a:t>20. Amugongo LM, Mascheroni P, Brooks S, Doering S, Seidel J. Retrieval augmented generation for large language models in healthcare: a systematic review. PLOS Digit Health. 2025;4(6):e0000877. doi:10.1371/journal.pdig.0000877</a:t>
            </a:r>
          </a:p>
          <a:p>
            <a:pPr algn="l">
              <a:spcAft>
                <a:spcPts val="400"/>
              </a:spcAft>
            </a:pPr>
            <a:r>
              <a:rPr sz="1000" b="0" i="0">
                <a:solidFill>
                  <a:srgbClr val="1F2A30"/>
                </a:solidFill>
                <a:latin typeface="Swis721 Cn BT"/>
              </a:rPr>
              <a:t>21. Liu J, Liu F, Wang C, Liu S. Prompt engineering in clinical practice: tutorial for clinicians. J Med Internet Res. 2025;27:e72644. doi:10.2196/72644</a:t>
            </a:r>
          </a:p>
          <a:p>
            <a:pPr algn="l">
              <a:spcAft>
                <a:spcPts val="400"/>
              </a:spcAft>
            </a:pPr>
            <a:r>
              <a:rPr sz="1000" b="0" i="0">
                <a:solidFill>
                  <a:srgbClr val="1F2A30"/>
                </a:solidFill>
                <a:latin typeface="Swis721 Cn BT"/>
              </a:rPr>
              <a:t>22. Gallifant J, Afshar M, Ameen S, Aphinyanaphongs Y, Chen S, Cacciamani G, et al. The TRIPOD-LLM reporting guideline for studies using large language models. Nat Med. 2025;31(1):60-9. doi:10.1038/s41591-024-03425-5</a:t>
            </a:r>
          </a:p>
          <a:p>
            <a:pPr algn="l">
              <a:spcAft>
                <a:spcPts val="400"/>
              </a:spcAft>
            </a:pPr>
            <a:r>
              <a:rPr sz="1000" b="0" i="0">
                <a:solidFill>
                  <a:srgbClr val="1F2A30"/>
                </a:solidFill>
                <a:latin typeface="Swis721 Cn BT"/>
              </a:rPr>
              <a:t>23. Meskó B. Prompt engineering as an important emerging skill for medical professionals: tutorial. J Med Internet Res. 2023;25:e50638. doi:10.2196/50638</a:t>
            </a:r>
          </a:p>
          <a:p>
            <a:pPr algn="l">
              <a:spcAft>
                <a:spcPts val="400"/>
              </a:spcAft>
            </a:pPr>
            <a:r>
              <a:rPr sz="1000" b="0" i="0">
                <a:solidFill>
                  <a:srgbClr val="1F2A30"/>
                </a:solidFill>
                <a:latin typeface="Swis721 Cn BT"/>
              </a:rPr>
              <a:t>24. Zaghir J, Naguib M, Bjelogrlic M, Névéol A, Tannier X, Lovis C. Prompt engineering paradigms for medical applications: scoping review. J Med Internet Res. 2024;26:e60501. doi:10.2196/60501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B7663-95D4-6A20-936D-A3B442210253}"/>
            </a:ext>
          </a:extLst>
        </p:cNvPr>
        <p:cNvGrpSpPr/>
        <p:nvPr/>
      </p:nvGrpSpPr>
      <p:grpSpPr>
        <a:xfrm>
          <a:off x="0" y="0"/>
          <a:ext cx="0" cy="0"/>
          <a:chOff x="0" y="0"/>
          <a:chExt cx="0" cy="0"/>
        </a:xfrm>
      </p:grpSpPr>
      <p:sp>
        <p:nvSpPr>
          <p:cNvPr id="8" name="Rectángulo redondeado 7">
            <a:extLst>
              <a:ext uri="{FF2B5EF4-FFF2-40B4-BE49-F238E27FC236}">
                <a16:creationId xmlns:a16="http://schemas.microsoft.com/office/drawing/2014/main" id="{5631C826-CE82-B00E-72FA-18ACB2776C8C}"/>
              </a:ext>
            </a:extLst>
          </p:cNvPr>
          <p:cNvSpPr/>
          <p:nvPr/>
        </p:nvSpPr>
        <p:spPr>
          <a:xfrm>
            <a:off x="4572000" y="1936462"/>
            <a:ext cx="1250575" cy="1536160"/>
          </a:xfrm>
          <a:prstGeom prst="roundRect">
            <a:avLst>
              <a:gd name="adj" fmla="val 7348"/>
            </a:avLst>
          </a:prstGeom>
          <a:solidFill>
            <a:srgbClr val="003C5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err="1"/>
              <a:t>Linkedin</a:t>
            </a:r>
            <a:endParaRPr lang="es-ES_tradnl" dirty="0"/>
          </a:p>
          <a:p>
            <a:pPr algn="ctr"/>
            <a:endParaRPr lang="es-ES_tradnl" dirty="0"/>
          </a:p>
          <a:p>
            <a:pPr algn="ctr"/>
            <a:endParaRPr lang="es-ES_tradnl" dirty="0"/>
          </a:p>
          <a:p>
            <a:pPr algn="ctr"/>
            <a:endParaRPr lang="es-ES_tradnl" dirty="0"/>
          </a:p>
          <a:p>
            <a:pPr algn="ctr"/>
            <a:endParaRPr lang="es-ES_tradnl" dirty="0"/>
          </a:p>
        </p:txBody>
      </p:sp>
      <p:sp>
        <p:nvSpPr>
          <p:cNvPr id="2" name="Title 1">
            <a:extLst>
              <a:ext uri="{FF2B5EF4-FFF2-40B4-BE49-F238E27FC236}">
                <a16:creationId xmlns:a16="http://schemas.microsoft.com/office/drawing/2014/main" id="{27EDEE43-1743-A07D-C3CE-F6E43926DA88}"/>
              </a:ext>
            </a:extLst>
          </p:cNvPr>
          <p:cNvSpPr>
            <a:spLocks noGrp="1"/>
          </p:cNvSpPr>
          <p:nvPr>
            <p:ph type="title"/>
          </p:nvPr>
        </p:nvSpPr>
        <p:spPr>
          <a:xfrm>
            <a:off x="549612" y="1978959"/>
            <a:ext cx="3529329" cy="701759"/>
          </a:xfrm>
        </p:spPr>
        <p:txBody>
          <a:bodyPr>
            <a:normAutofit/>
          </a:bodyPr>
          <a:lstStyle/>
          <a:p>
            <a:pPr algn="l">
              <a:spcAft>
                <a:spcPts val="0"/>
              </a:spcAft>
            </a:pPr>
            <a:r>
              <a:rPr lang="es-419" sz="2200" b="1" i="0" dirty="0">
                <a:solidFill>
                  <a:srgbClr val="003C58"/>
                </a:solidFill>
                <a:latin typeface="Swis721 Cn BT"/>
              </a:rPr>
              <a:t>GRACIAS!</a:t>
            </a:r>
            <a:endParaRPr sz="2200" b="1" i="0" dirty="0">
              <a:solidFill>
                <a:srgbClr val="003C58"/>
              </a:solidFill>
              <a:latin typeface="Swis721 Cn BT"/>
            </a:endParaRPr>
          </a:p>
        </p:txBody>
      </p:sp>
      <p:sp>
        <p:nvSpPr>
          <p:cNvPr id="3" name="Text Placeholder 2">
            <a:extLst>
              <a:ext uri="{FF2B5EF4-FFF2-40B4-BE49-F238E27FC236}">
                <a16:creationId xmlns:a16="http://schemas.microsoft.com/office/drawing/2014/main" id="{4520E3A5-BFF3-C979-CFA2-607055F2CAC2}"/>
              </a:ext>
            </a:extLst>
          </p:cNvPr>
          <p:cNvSpPr>
            <a:spLocks noGrp="1"/>
          </p:cNvSpPr>
          <p:nvPr>
            <p:ph type="body" sz="quarter" idx="10"/>
          </p:nvPr>
        </p:nvSpPr>
        <p:spPr>
          <a:xfrm>
            <a:off x="549612" y="2550870"/>
            <a:ext cx="3430717" cy="259696"/>
          </a:xfrm>
        </p:spPr>
        <p:txBody>
          <a:bodyPr>
            <a:normAutofit fontScale="92500" lnSpcReduction="10000"/>
          </a:bodyPr>
          <a:lstStyle/>
          <a:p>
            <a:pPr algn="l">
              <a:spcAft>
                <a:spcPts val="0"/>
              </a:spcAft>
            </a:pPr>
            <a:r>
              <a:rPr sz="1400" b="0" i="0" dirty="0">
                <a:solidFill>
                  <a:srgbClr val="003C58"/>
                </a:solidFill>
                <a:latin typeface="Swis721 Cn BT"/>
              </a:rPr>
              <a:t>Jornada Alumni 2026 · </a:t>
            </a:r>
            <a:r>
              <a:rPr sz="1400" b="0" i="0" dirty="0" err="1">
                <a:solidFill>
                  <a:srgbClr val="003C58"/>
                </a:solidFill>
                <a:latin typeface="Swis721 Cn BT"/>
              </a:rPr>
              <a:t>Capacitación</a:t>
            </a:r>
            <a:endParaRPr sz="1400" b="0" i="0" dirty="0">
              <a:solidFill>
                <a:srgbClr val="003C58"/>
              </a:solidFill>
              <a:latin typeface="Swis721 Cn BT"/>
            </a:endParaRPr>
          </a:p>
        </p:txBody>
      </p:sp>
      <p:sp>
        <p:nvSpPr>
          <p:cNvPr id="4" name="Text Placeholder 3">
            <a:extLst>
              <a:ext uri="{FF2B5EF4-FFF2-40B4-BE49-F238E27FC236}">
                <a16:creationId xmlns:a16="http://schemas.microsoft.com/office/drawing/2014/main" id="{6444939F-B8C9-B68B-E790-A6AD2C779309}"/>
              </a:ext>
            </a:extLst>
          </p:cNvPr>
          <p:cNvSpPr>
            <a:spLocks noGrp="1"/>
          </p:cNvSpPr>
          <p:nvPr>
            <p:ph type="body" sz="quarter" idx="11"/>
          </p:nvPr>
        </p:nvSpPr>
        <p:spPr/>
        <p:txBody>
          <a:bodyPr>
            <a:normAutofit fontScale="92500" lnSpcReduction="10000"/>
          </a:bodyPr>
          <a:lstStyle/>
          <a:p>
            <a:pPr algn="l">
              <a:spcAft>
                <a:spcPts val="0"/>
              </a:spcAft>
            </a:pPr>
            <a:r>
              <a:rPr sz="1050" b="0" i="0">
                <a:solidFill>
                  <a:srgbClr val="003C58"/>
                </a:solidFill>
                <a:latin typeface="Swis721 Cn BT"/>
              </a:rPr>
              <a:t>Escuela de Obstetricia y Puericultura</a:t>
            </a:r>
          </a:p>
          <a:p>
            <a:pPr algn="l">
              <a:spcAft>
                <a:spcPts val="0"/>
              </a:spcAft>
            </a:pPr>
            <a:r>
              <a:rPr sz="1050" b="0" i="0">
                <a:solidFill>
                  <a:srgbClr val="003C58"/>
                </a:solidFill>
                <a:latin typeface="Swis721 Cn BT"/>
              </a:rPr>
              <a:t>Jornada Alumni 2026</a:t>
            </a:r>
          </a:p>
        </p:txBody>
      </p:sp>
      <p:sp>
        <p:nvSpPr>
          <p:cNvPr id="5" name="Marcador de texto 5">
            <a:extLst>
              <a:ext uri="{FF2B5EF4-FFF2-40B4-BE49-F238E27FC236}">
                <a16:creationId xmlns:a16="http://schemas.microsoft.com/office/drawing/2014/main" id="{6E19902E-8466-8C10-5BDB-B314BA8EF807}"/>
              </a:ext>
            </a:extLst>
          </p:cNvPr>
          <p:cNvSpPr txBox="1">
            <a:spLocks/>
          </p:cNvSpPr>
          <p:nvPr/>
        </p:nvSpPr>
        <p:spPr>
          <a:xfrm>
            <a:off x="4540625" y="3696657"/>
            <a:ext cx="4289609" cy="128771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rgbClr val="003C58"/>
                </a:solidFill>
                <a:latin typeface="Swis721 Cn BT" panose="020B050602020203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Swis721 Cn BT" panose="020B050602020203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Swis721 Cn BT" panose="020B050602020203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wis721 Cn BT" panose="020B050602020203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wis721 Cn BT" panose="020B050602020203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r>
              <a:rPr lang="es-CL" sz="1400" b="1" dirty="0"/>
              <a:t>Cristian Carreño León​ </a:t>
            </a:r>
            <a:r>
              <a:rPr lang="es-CL" sz="1400" b="1" dirty="0">
                <a:solidFill>
                  <a:srgbClr val="06717E"/>
                </a:solidFill>
              </a:rPr>
              <a:t>|</a:t>
            </a:r>
            <a:r>
              <a:rPr lang="es-CL" sz="1400" b="1" dirty="0"/>
              <a:t> </a:t>
            </a:r>
            <a:r>
              <a:rPr lang="es-CL" sz="1400" b="1" dirty="0" err="1"/>
              <a:t>cristian.carreno@uv.cl</a:t>
            </a:r>
            <a:br>
              <a:rPr lang="es-CL" sz="1400" dirty="0"/>
            </a:br>
            <a:r>
              <a:rPr lang="es-CL" sz="1400" dirty="0">
                <a:solidFill>
                  <a:srgbClr val="06717E"/>
                </a:solidFill>
              </a:rPr>
              <a:t>Profesor de Matemática y Computación.​</a:t>
            </a:r>
            <a:br>
              <a:rPr lang="es-CL" sz="1400" dirty="0">
                <a:solidFill>
                  <a:srgbClr val="06717E"/>
                </a:solidFill>
              </a:rPr>
            </a:br>
            <a:r>
              <a:rPr lang="es-CL" sz="1400" dirty="0">
                <a:solidFill>
                  <a:srgbClr val="06717E"/>
                </a:solidFill>
              </a:rPr>
              <a:t>Magíster Comunicación Educativa. Nuevas Tecnologías.​</a:t>
            </a:r>
            <a:br>
              <a:rPr lang="es-CL" sz="1400" dirty="0">
                <a:solidFill>
                  <a:srgbClr val="06717E"/>
                </a:solidFill>
              </a:rPr>
            </a:br>
            <a:r>
              <a:rPr lang="es-CL" sz="1400" dirty="0">
                <a:solidFill>
                  <a:srgbClr val="06717E"/>
                </a:solidFill>
              </a:rPr>
              <a:t>Diplomado en Data </a:t>
            </a:r>
            <a:r>
              <a:rPr lang="es-CL" sz="1400" dirty="0" err="1">
                <a:solidFill>
                  <a:srgbClr val="06717E"/>
                </a:solidFill>
              </a:rPr>
              <a:t>Science</a:t>
            </a:r>
            <a:r>
              <a:rPr lang="es-CL" sz="1400" dirty="0">
                <a:solidFill>
                  <a:srgbClr val="06717E"/>
                </a:solidFill>
              </a:rPr>
              <a:t>.​</a:t>
            </a:r>
            <a:br>
              <a:rPr lang="es-CL" sz="1400" dirty="0">
                <a:solidFill>
                  <a:srgbClr val="06717E"/>
                </a:solidFill>
              </a:rPr>
            </a:br>
            <a:r>
              <a:rPr lang="es-CL" sz="1400" dirty="0">
                <a:solidFill>
                  <a:srgbClr val="06717E"/>
                </a:solidFill>
              </a:rPr>
              <a:t>Diplomado en Formación Pedagógica.​</a:t>
            </a:r>
          </a:p>
        </p:txBody>
      </p:sp>
      <p:pic>
        <p:nvPicPr>
          <p:cNvPr id="6" name="Imagen 5">
            <a:extLst>
              <a:ext uri="{FF2B5EF4-FFF2-40B4-BE49-F238E27FC236}">
                <a16:creationId xmlns:a16="http://schemas.microsoft.com/office/drawing/2014/main" id="{8A6805E8-1479-A71F-FD9B-51F2D2B17445}"/>
              </a:ext>
            </a:extLst>
          </p:cNvPr>
          <p:cNvPicPr>
            <a:picLocks noChangeAspect="1"/>
          </p:cNvPicPr>
          <p:nvPr/>
        </p:nvPicPr>
        <p:blipFill>
          <a:blip r:embed="rId3"/>
          <a:stretch>
            <a:fillRect/>
          </a:stretch>
        </p:blipFill>
        <p:spPr>
          <a:xfrm>
            <a:off x="4744570" y="2370047"/>
            <a:ext cx="941294" cy="941294"/>
          </a:xfrm>
          <a:prstGeom prst="rect">
            <a:avLst/>
          </a:prstGeom>
        </p:spPr>
      </p:pic>
      <p:sp>
        <p:nvSpPr>
          <p:cNvPr id="9" name="Rectángulo redondeado 8">
            <a:extLst>
              <a:ext uri="{FF2B5EF4-FFF2-40B4-BE49-F238E27FC236}">
                <a16:creationId xmlns:a16="http://schemas.microsoft.com/office/drawing/2014/main" id="{3D32E558-CCF2-BAEC-36A4-D6B1C5128D30}"/>
              </a:ext>
            </a:extLst>
          </p:cNvPr>
          <p:cNvSpPr/>
          <p:nvPr/>
        </p:nvSpPr>
        <p:spPr>
          <a:xfrm>
            <a:off x="6273051" y="1936462"/>
            <a:ext cx="1250575" cy="1536160"/>
          </a:xfrm>
          <a:prstGeom prst="roundRect">
            <a:avLst>
              <a:gd name="adj" fmla="val 7348"/>
            </a:avLst>
          </a:prstGeom>
          <a:solidFill>
            <a:srgbClr val="06717E"/>
          </a:solidFill>
          <a:ln>
            <a:solidFill>
              <a:srgbClr val="0671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dirty="0"/>
              <a:t>ORCID</a:t>
            </a:r>
          </a:p>
          <a:p>
            <a:pPr algn="ctr"/>
            <a:endParaRPr lang="es-ES_tradnl" dirty="0"/>
          </a:p>
          <a:p>
            <a:pPr algn="ctr"/>
            <a:endParaRPr lang="es-ES_tradnl" dirty="0"/>
          </a:p>
          <a:p>
            <a:pPr algn="ctr"/>
            <a:endParaRPr lang="es-ES_tradnl" dirty="0"/>
          </a:p>
          <a:p>
            <a:pPr algn="ctr"/>
            <a:endParaRPr lang="es-ES_tradnl" dirty="0"/>
          </a:p>
        </p:txBody>
      </p:sp>
      <p:pic>
        <p:nvPicPr>
          <p:cNvPr id="11" name="Imagen 10">
            <a:extLst>
              <a:ext uri="{FF2B5EF4-FFF2-40B4-BE49-F238E27FC236}">
                <a16:creationId xmlns:a16="http://schemas.microsoft.com/office/drawing/2014/main" id="{E3EA452B-EF71-ACF6-86B5-A2E627740AB9}"/>
              </a:ext>
            </a:extLst>
          </p:cNvPr>
          <p:cNvPicPr>
            <a:picLocks noChangeAspect="1"/>
          </p:cNvPicPr>
          <p:nvPr/>
        </p:nvPicPr>
        <p:blipFill>
          <a:blip r:embed="rId4"/>
          <a:stretch>
            <a:fillRect/>
          </a:stretch>
        </p:blipFill>
        <p:spPr>
          <a:xfrm>
            <a:off x="6425990" y="2370047"/>
            <a:ext cx="962626" cy="962626"/>
          </a:xfrm>
          <a:prstGeom prst="rect">
            <a:avLst/>
          </a:prstGeom>
        </p:spPr>
      </p:pic>
    </p:spTree>
    <p:extLst>
      <p:ext uri="{BB962C8B-B14F-4D97-AF65-F5344CB8AC3E}">
        <p14:creationId xmlns:p14="http://schemas.microsoft.com/office/powerpoint/2010/main" val="1274236390"/>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6319FEBDE55BBC4C9423A487D4FB469E" ma:contentTypeVersion="17" ma:contentTypeDescription="Crear nuevo documento." ma:contentTypeScope="" ma:versionID="a5e4daa5fc68ecd23cbab21b5f616142">
  <xsd:schema xmlns:xsd="http://www.w3.org/2001/XMLSchema" xmlns:xs="http://www.w3.org/2001/XMLSchema" xmlns:p="http://schemas.microsoft.com/office/2006/metadata/properties" xmlns:ns2="58e3b983-b9c9-4a9a-8434-0fe099e73c0e" xmlns:ns3="39f852db-6116-43f0-a01a-f747f551a9b7" targetNamespace="http://schemas.microsoft.com/office/2006/metadata/properties" ma:root="true" ma:fieldsID="50fd15d83f0830bfa0f4239ae3043ea0" ns2:_="" ns3:_="">
    <xsd:import namespace="58e3b983-b9c9-4a9a-8434-0fe099e73c0e"/>
    <xsd:import namespace="39f852db-6116-43f0-a01a-f747f551a9b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e3b983-b9c9-4a9a-8434-0fe099e73c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Etiquetas de imagen" ma:readOnly="false" ma:fieldId="{5cf76f15-5ced-4ddc-b409-7134ff3c332f}" ma:taxonomyMulti="true" ma:sspId="705287f6-a0ce-4ec6-a30b-593201b7cd1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9f852db-6116-43f0-a01a-f747f551a9b7" elementFormDefault="qualified">
    <xsd:import namespace="http://schemas.microsoft.com/office/2006/documentManagement/types"/>
    <xsd:import namespace="http://schemas.microsoft.com/office/infopath/2007/PartnerControls"/>
    <xsd:element name="SharedWithUsers" ma:index="14"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Detalles de uso compartido" ma:internalName="SharedWithDetails" ma:readOnly="true">
      <xsd:simpleType>
        <xsd:restriction base="dms:Note">
          <xsd:maxLength value="255"/>
        </xsd:restriction>
      </xsd:simpleType>
    </xsd:element>
    <xsd:element name="TaxCatchAll" ma:index="18" nillable="true" ma:displayName="Taxonomy Catch All Column" ma:hidden="true" ma:list="{5877390e-fadc-49c0-bebe-b891182a55b4}" ma:internalName="TaxCatchAll" ma:showField="CatchAllData" ma:web="39f852db-6116-43f0-a01a-f747f551a9b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9f852db-6116-43f0-a01a-f747f551a9b7" xsi:nil="true"/>
    <lcf76f155ced4ddcb4097134ff3c332f xmlns="58e3b983-b9c9-4a9a-8434-0fe099e73c0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D3E1CB7-CB00-4B00-AA07-6BE50C641F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e3b983-b9c9-4a9a-8434-0fe099e73c0e"/>
    <ds:schemaRef ds:uri="39f852db-6116-43f0-a01a-f747f551a9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6FF4F38-7A2A-471E-A58C-16BD05A1D01B}">
  <ds:schemaRefs>
    <ds:schemaRef ds:uri="http://schemas.microsoft.com/sharepoint/v3/contenttype/forms"/>
  </ds:schemaRefs>
</ds:datastoreItem>
</file>

<file path=customXml/itemProps3.xml><?xml version="1.0" encoding="utf-8"?>
<ds:datastoreItem xmlns:ds="http://schemas.openxmlformats.org/officeDocument/2006/customXml" ds:itemID="{F864ECA2-A753-4D45-B299-F9626E461873}">
  <ds:schemaRefs>
    <ds:schemaRef ds:uri="58e3b983-b9c9-4a9a-8434-0fe099e73c0e"/>
    <ds:schemaRef ds:uri="http://purl.org/dc/elements/1.1/"/>
    <ds:schemaRef ds:uri="http://purl.org/dc/terms/"/>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39f852db-6116-43f0-a01a-f747f551a9b7"/>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498</TotalTime>
  <Words>7409</Words>
  <Application>Microsoft Macintosh PowerPoint</Application>
  <PresentationFormat>Presentación en pantalla (16:9)</PresentationFormat>
  <Paragraphs>609</Paragraphs>
  <Slides>37</Slides>
  <Notes>37</Notes>
  <HiddenSlides>2</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37</vt:i4>
      </vt:variant>
    </vt:vector>
  </HeadingPairs>
  <TitlesOfParts>
    <vt:vector size="40" baseType="lpstr">
      <vt:lpstr>Arial</vt:lpstr>
      <vt:lpstr>Swis721 Cn BT</vt:lpstr>
      <vt:lpstr>Tema de Office</vt:lpstr>
      <vt:lpstr>IA generativa en Matronería: elaboración de protocolos y material educativo</vt:lpstr>
      <vt:lpstr>Ruta de hoy: de entender la IA a usarla con criterio</vt:lpstr>
      <vt:lpstr>La evidencia sobre IA en matronería es incipiente</vt:lpstr>
      <vt:lpstr>Sección 1 de 5</vt:lpstr>
      <vt:lpstr>La neurona recibe, integra y decide si transmite</vt:lpstr>
      <vt:lpstr>Una neurona artificial: suma ponderada y umbral</vt:lpstr>
      <vt:lpstr>Una red neuronal: miles de neuronas organizadas en capas</vt:lpstr>
      <vt:lpstr>Aprender es equivocarse y corregir, millones de veces</vt:lpstr>
      <vt:lpstr>Para la IA, el texto son números: tokens y significado</vt:lpstr>
      <vt:lpstr>La atención: cada palabra se interpreta mirando a las demás</vt:lpstr>
      <vt:lpstr>Un modelo de lenguaje predice lo más probable, no lo verdadero</vt:lpstr>
      <vt:lpstr>Sección 2 de 5</vt:lpstr>
      <vt:lpstr>Cómo se construye un asistente como ChatGPT, Gemini o Claude</vt:lpstr>
      <vt:lpstr>Cuatro plataformas: misma base, distintos énfasis</vt:lpstr>
      <vt:lpstr>Tres familias de herramientas sobre una misma base</vt:lpstr>
      <vt:lpstr>Al compararlas, ninguna gana siempre: el método decide</vt:lpstr>
      <vt:lpstr>Sección 3 de 5</vt:lpstr>
      <vt:lpstr>El método es tuyo; el modelo es un componente reemplazable</vt:lpstr>
      <vt:lpstr>Elige por capacidad, no por marca</vt:lpstr>
      <vt:lpstr>Sección 4 de 5</vt:lpstr>
      <vt:lpstr>Método PARTO: cinco piezas de un buen prompt</vt:lpstr>
      <vt:lpstr>Mismo pedido, distinto resultado: el prompt hace la diferencia</vt:lpstr>
      <vt:lpstr>Seis técnicas que mejoran el resultado en cualquier modelo</vt:lpstr>
      <vt:lpstr>Semáforo de uso seguro</vt:lpstr>
      <vt:lpstr>Sección 5 de 5</vt:lpstr>
      <vt:lpstr>Seis pasos para elaborar o actualizar un protocolo</vt:lpstr>
      <vt:lpstr>Caso: dos protocolos vencidos, dos criterios distintos</vt:lpstr>
      <vt:lpstr>Una segunda IA como revisora crítica</vt:lpstr>
      <vt:lpstr>Tres ideas para llevar</vt:lpstr>
      <vt:lpstr>Ética, autoría y transparencia</vt:lpstr>
      <vt:lpstr>Lista de cotejo antes de usar un producto generado con IA</vt:lpstr>
      <vt:lpstr>Materiales educativos: la IA hace el borrador, la docente el nivel</vt:lpstr>
      <vt:lpstr>Dos prompts listos para adaptar a tu asignatura o servicio</vt:lpstr>
      <vt:lpstr>Referencias (1 de 3)</vt:lpstr>
      <vt:lpstr>Referencias (2 de 3)</vt:lpstr>
      <vt:lpstr>Referencias (3 de 3)</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generativa en Matronería: protocolos y material educativo</dc:title>
  <dc:subject>Jornada Alumni 2026 · Capacitación</dc:subject>
  <dc:creator>Escuela de Obstetricia y Puericultura, UV</dc:creator>
  <cp:lastModifiedBy>Cristian Carreño León</cp:lastModifiedBy>
  <cp:revision>27</cp:revision>
  <dcterms:created xsi:type="dcterms:W3CDTF">2021-05-11T17:31:24Z</dcterms:created>
  <dcterms:modified xsi:type="dcterms:W3CDTF">2026-10-28T14:08:18Z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0x0101006319FEBDE55BBC4C9423A487D4FB469E</vt:lpwstr>
  </property>
  <property fmtid="{D5CDD505-2E9C-101B-9397-08002B2CF9AE}" pid="3" name="MediaServiceImageTags">
    <vt:lpwstr/>
  </property>
</Properties>
</file>